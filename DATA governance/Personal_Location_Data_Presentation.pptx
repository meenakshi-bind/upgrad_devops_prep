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4400" y="5669280"/>
            <a:ext cx="82296" cy="82296"/>
          </a:xfrm>
          <a:prstGeom prst="ellipse">
            <a:avLst/>
          </a:prstGeom>
          <a:solidFill>
            <a:srgbClr val="3FA9B0">
              <a:alpha val="70000"/>
            </a:srgbClr>
          </a:solidFill>
          <a:ln/>
        </p:spPr>
      </p:sp>
      <p:sp>
        <p:nvSpPr>
          <p:cNvPr id="3" name="Shape 1"/>
          <p:cNvSpPr/>
          <p:nvPr/>
        </p:nvSpPr>
        <p:spPr>
          <a:xfrm>
            <a:off x="1463040" y="5303520"/>
            <a:ext cx="82296" cy="82296"/>
          </a:xfrm>
          <a:prstGeom prst="ellipse">
            <a:avLst/>
          </a:prstGeom>
          <a:solidFill>
            <a:srgbClr val="3FA9B0">
              <a:alpha val="70000"/>
            </a:srgbClr>
          </a:solidFill>
          <a:ln/>
        </p:spPr>
      </p:sp>
      <p:sp>
        <p:nvSpPr>
          <p:cNvPr id="4" name="Shape 2"/>
          <p:cNvSpPr/>
          <p:nvPr/>
        </p:nvSpPr>
        <p:spPr>
          <a:xfrm>
            <a:off x="2103120" y="5486400"/>
            <a:ext cx="82296" cy="82296"/>
          </a:xfrm>
          <a:prstGeom prst="ellipse">
            <a:avLst/>
          </a:prstGeom>
          <a:solidFill>
            <a:srgbClr val="3FA9B0">
              <a:alpha val="70000"/>
            </a:srgbClr>
          </a:solidFill>
          <a:ln/>
        </p:spPr>
      </p:sp>
      <p:sp>
        <p:nvSpPr>
          <p:cNvPr id="5" name="Shape 3"/>
          <p:cNvSpPr/>
          <p:nvPr/>
        </p:nvSpPr>
        <p:spPr>
          <a:xfrm>
            <a:off x="2743200" y="5120640"/>
            <a:ext cx="82296" cy="82296"/>
          </a:xfrm>
          <a:prstGeom prst="ellipse">
            <a:avLst/>
          </a:prstGeom>
          <a:solidFill>
            <a:srgbClr val="3FA9B0">
              <a:alpha val="70000"/>
            </a:srgbClr>
          </a:solidFill>
          <a:ln/>
        </p:spPr>
      </p:sp>
      <p:sp>
        <p:nvSpPr>
          <p:cNvPr id="6" name="Shape 4"/>
          <p:cNvSpPr/>
          <p:nvPr/>
        </p:nvSpPr>
        <p:spPr>
          <a:xfrm>
            <a:off x="3383280" y="5394960"/>
            <a:ext cx="82296" cy="82296"/>
          </a:xfrm>
          <a:prstGeom prst="ellipse">
            <a:avLst/>
          </a:prstGeom>
          <a:solidFill>
            <a:srgbClr val="3FA9B0">
              <a:alpha val="70000"/>
            </a:srgbClr>
          </a:solidFill>
          <a:ln/>
        </p:spPr>
      </p:sp>
      <p:sp>
        <p:nvSpPr>
          <p:cNvPr id="7" name="Shape 5"/>
          <p:cNvSpPr/>
          <p:nvPr/>
        </p:nvSpPr>
        <p:spPr>
          <a:xfrm>
            <a:off x="4023360" y="5029200"/>
            <a:ext cx="82296" cy="82296"/>
          </a:xfrm>
          <a:prstGeom prst="ellipse">
            <a:avLst/>
          </a:prstGeom>
          <a:solidFill>
            <a:srgbClr val="3FA9B0">
              <a:alpha val="70000"/>
            </a:srgbClr>
          </a:solidFill>
          <a:ln/>
        </p:spPr>
      </p:sp>
      <p:sp>
        <p:nvSpPr>
          <p:cNvPr id="8" name="Shape 6"/>
          <p:cNvSpPr/>
          <p:nvPr/>
        </p:nvSpPr>
        <p:spPr>
          <a:xfrm>
            <a:off x="822960" y="914400"/>
            <a:ext cx="822960" cy="822960"/>
          </a:xfrm>
          <a:prstGeom prst="ellipse">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36930" y="1128370"/>
            <a:ext cx="395021" cy="395021"/>
          </a:xfrm>
          <a:prstGeom prst="rect">
            <a:avLst/>
          </a:prstGeom>
        </p:spPr>
      </p:pic>
      <p:sp>
        <p:nvSpPr>
          <p:cNvPr id="10" name="Text 7"/>
          <p:cNvSpPr/>
          <p:nvPr/>
        </p:nvSpPr>
        <p:spPr>
          <a:xfrm>
            <a:off x="548640" y="1965960"/>
            <a:ext cx="1078992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Personal Location Data</a:t>
            </a:r>
            <a:endParaRPr lang="en-US" sz="4400" dirty="0"/>
          </a:p>
        </p:txBody>
      </p:sp>
      <p:sp>
        <p:nvSpPr>
          <p:cNvPr id="11" name="Text 8"/>
          <p:cNvSpPr/>
          <p:nvPr/>
        </p:nvSpPr>
        <p:spPr>
          <a:xfrm>
            <a:off x="548640" y="2880360"/>
            <a:ext cx="10515600" cy="548640"/>
          </a:xfrm>
          <a:prstGeom prst="rect">
            <a:avLst/>
          </a:prstGeom>
          <a:noFill/>
          <a:ln/>
        </p:spPr>
        <p:txBody>
          <a:bodyPr wrap="square" lIns="0" tIns="0" rIns="0" bIns="0" rtlCol="0" anchor="ctr"/>
          <a:lstStyle/>
          <a:p>
            <a:pPr indent="0" marL="0">
              <a:buNone/>
            </a:pPr>
            <a:r>
              <a:rPr lang="en-US" sz="1900" dirty="0">
                <a:solidFill>
                  <a:srgbClr val="CFE8E6"/>
                </a:solidFill>
                <a:latin typeface="Calibri" pitchFamily="34" charset="0"/>
                <a:ea typeface="Calibri" pitchFamily="34" charset="-122"/>
                <a:cs typeface="Calibri" pitchFamily="34" charset="-120"/>
              </a:rPr>
              <a:t>Social, Ethical and Governance Tensions in the Use of Location-Based Data</a:t>
            </a:r>
            <a:endParaRPr lang="en-US" sz="1900" dirty="0"/>
          </a:p>
        </p:txBody>
      </p:sp>
      <p:sp>
        <p:nvSpPr>
          <p:cNvPr id="12" name="Shape 9"/>
          <p:cNvSpPr/>
          <p:nvPr/>
        </p:nvSpPr>
        <p:spPr>
          <a:xfrm>
            <a:off x="566928" y="3520440"/>
            <a:ext cx="2194560" cy="0"/>
          </a:xfrm>
          <a:prstGeom prst="line">
            <a:avLst/>
          </a:prstGeom>
          <a:noFill/>
          <a:ln w="25400">
            <a:solidFill>
              <a:srgbClr val="3FA9B0"/>
            </a:solidFill>
            <a:prstDash val="solid"/>
          </a:ln>
        </p:spPr>
      </p:sp>
      <p:sp>
        <p:nvSpPr>
          <p:cNvPr id="13" name="Text 10"/>
          <p:cNvSpPr/>
          <p:nvPr/>
        </p:nvSpPr>
        <p:spPr>
          <a:xfrm>
            <a:off x="548640" y="3703320"/>
            <a:ext cx="10058400" cy="365760"/>
          </a:xfrm>
          <a:prstGeom prst="rect">
            <a:avLst/>
          </a:prstGeom>
          <a:noFill/>
          <a:ln/>
        </p:spPr>
        <p:txBody>
          <a:bodyPr wrap="square" lIns="0" tIns="0" rIns="0" bIns="0"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Case Study (Section 6) | Royal Society &amp; British Academy: Data Management and Use</a:t>
            </a:r>
            <a:endParaRPr lang="en-US" sz="1300" dirty="0"/>
          </a:p>
        </p:txBody>
      </p:sp>
      <p:sp>
        <p:nvSpPr>
          <p:cNvPr id="14" name="Text 11"/>
          <p:cNvSpPr/>
          <p:nvPr/>
        </p:nvSpPr>
        <p:spPr>
          <a:xfrm>
            <a:off x="548640" y="5806440"/>
            <a:ext cx="5486400" cy="320040"/>
          </a:xfrm>
          <a:prstGeom prst="rect">
            <a:avLst/>
          </a:prstGeom>
          <a:noFill/>
          <a:ln/>
        </p:spPr>
        <p:txBody>
          <a:bodyPr wrap="square" lIns="0" tIns="0" rIns="0" bIns="0" rtlCol="0" anchor="ctr"/>
          <a:lstStyle/>
          <a:p>
            <a:pPr indent="0" marL="0">
              <a:buNone/>
            </a:pPr>
            <a:r>
              <a:rPr lang="en-US" sz="1300" b="1" dirty="0">
                <a:solidFill>
                  <a:srgbClr val="CFE8E6"/>
                </a:solidFill>
                <a:latin typeface="Calibri" pitchFamily="34" charset="0"/>
                <a:ea typeface="Calibri" pitchFamily="34" charset="-122"/>
                <a:cs typeface="Calibri" pitchFamily="34" charset="-120"/>
              </a:rPr>
              <a:t>Group Number: </a:t>
            </a:r>
            <a:pPr indent="0" marL="0">
              <a:buNone/>
            </a:pPr>
            <a:r>
              <a:rPr lang="en-US" sz="1300" dirty="0">
                <a:solidFill>
                  <a:srgbClr val="CFE8E6"/>
                </a:solidFill>
                <a:latin typeface="Calibri" pitchFamily="34" charset="0"/>
                <a:ea typeface="Calibri" pitchFamily="34" charset="-122"/>
                <a:cs typeface="Calibri" pitchFamily="34" charset="-120"/>
              </a:rPr>
              <a:t>[Group Number]</a:t>
            </a:r>
            <a:endParaRPr lang="en-US" sz="1300" dirty="0"/>
          </a:p>
        </p:txBody>
      </p:sp>
      <p:sp>
        <p:nvSpPr>
          <p:cNvPr id="15" name="Text 12"/>
          <p:cNvSpPr/>
          <p:nvPr/>
        </p:nvSpPr>
        <p:spPr>
          <a:xfrm>
            <a:off x="548640" y="6108192"/>
            <a:ext cx="10972800" cy="320040"/>
          </a:xfrm>
          <a:prstGeom prst="rect">
            <a:avLst/>
          </a:prstGeom>
          <a:noFill/>
          <a:ln/>
        </p:spPr>
        <p:txBody>
          <a:bodyPr wrap="square" lIns="0" tIns="0" rIns="0" bIns="0" rtlCol="0" anchor="ctr"/>
          <a:lstStyle/>
          <a:p>
            <a:pPr indent="0" marL="0">
              <a:buNone/>
            </a:pPr>
            <a:r>
              <a:rPr lang="en-US" sz="1300" b="1" dirty="0">
                <a:solidFill>
                  <a:srgbClr val="CFE8E6"/>
                </a:solidFill>
                <a:latin typeface="Calibri" pitchFamily="34" charset="0"/>
                <a:ea typeface="Calibri" pitchFamily="34" charset="-122"/>
                <a:cs typeface="Calibri" pitchFamily="34" charset="-120"/>
              </a:rPr>
              <a:t>Presented by: </a:t>
            </a:r>
            <a:pPr indent="0" marL="0">
              <a:buNone/>
            </a:pPr>
            <a:r>
              <a:rPr lang="en-US" sz="1300" dirty="0">
                <a:solidFill>
                  <a:srgbClr val="CFE8E6"/>
                </a:solidFill>
                <a:latin typeface="Calibri" pitchFamily="34" charset="0"/>
                <a:ea typeface="Calibri" pitchFamily="34" charset="-122"/>
                <a:cs typeface="Calibri" pitchFamily="34" charset="-120"/>
              </a:rPr>
              <a:t>[Student Name 1], [Student Name 2], [Student Name 3], [Student Name 4]</a:t>
            </a:r>
            <a:endParaRPr lang="en-US" sz="1300" dirty="0"/>
          </a:p>
        </p:txBody>
      </p:sp>
      <p:sp>
        <p:nvSpPr>
          <p:cNvPr id="16" name="Text 13"/>
          <p:cNvSpPr/>
          <p:nvPr/>
        </p:nvSpPr>
        <p:spPr>
          <a:xfrm>
            <a:off x="548640" y="6446520"/>
            <a:ext cx="10972800" cy="274320"/>
          </a:xfrm>
          <a:prstGeom prst="rect">
            <a:avLst/>
          </a:prstGeom>
          <a:noFill/>
          <a:ln/>
        </p:spPr>
        <p:txBody>
          <a:bodyPr wrap="square" lIns="0" tIns="0" rIns="0" bIns="0" rtlCol="0" anchor="ctr"/>
          <a:lstStyle/>
          <a:p>
            <a:pPr indent="0" marL="0">
              <a:buNone/>
            </a:pPr>
            <a:r>
              <a:rPr lang="en-US" sz="1100" dirty="0">
                <a:solidFill>
                  <a:srgbClr val="5B6B7F"/>
                </a:solidFill>
                <a:latin typeface="Calibri" pitchFamily="34" charset="0"/>
                <a:ea typeface="Calibri" pitchFamily="34" charset="-122"/>
                <a:cs typeface="Calibri" pitchFamily="34" charset="-120"/>
              </a:rPr>
              <a:t>H9DGCE — Data Governance, Compliance and Ethics  |  National College of Ireland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We Will Cover</a:t>
            </a:r>
            <a:endParaRPr lang="en-US" sz="3000" dirty="0"/>
          </a:p>
        </p:txBody>
      </p:sp>
      <p:sp>
        <p:nvSpPr>
          <p:cNvPr id="4" name="Shape 2"/>
          <p:cNvSpPr/>
          <p:nvPr/>
        </p:nvSpPr>
        <p:spPr>
          <a:xfrm>
            <a:off x="548640" y="1600200"/>
            <a:ext cx="5349240" cy="1417320"/>
          </a:xfrm>
          <a:prstGeom prst="roundRect">
            <a:avLst>
              <a:gd name="adj" fmla="val 5161"/>
            </a:avLst>
          </a:prstGeom>
          <a:solidFill>
            <a:srgbClr val="F4F8F8"/>
          </a:solidFill>
          <a:ln/>
          <a:effectLst>
            <a:outerShdw sx="100000" sy="100000" kx="0" ky="0" algn="bl" rotWithShape="0" blurRad="50800" dist="12700" dir="5400000">
              <a:srgbClr val="000000">
                <a:alpha val="8000"/>
              </a:srgbClr>
            </a:outerShdw>
          </a:effectLst>
        </p:spPr>
      </p:sp>
      <p:sp>
        <p:nvSpPr>
          <p:cNvPr id="5" name="Shape 3"/>
          <p:cNvSpPr/>
          <p:nvPr/>
        </p:nvSpPr>
        <p:spPr>
          <a:xfrm>
            <a:off x="777240" y="1828800"/>
            <a:ext cx="566928" cy="566928"/>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7" name="Text 4"/>
          <p:cNvSpPr/>
          <p:nvPr/>
        </p:nvSpPr>
        <p:spPr>
          <a:xfrm>
            <a:off x="1508760" y="1801368"/>
            <a:ext cx="416052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1.  Introduction &amp; Relevance</a:t>
            </a:r>
            <a:endParaRPr lang="en-US" sz="1500" dirty="0"/>
          </a:p>
        </p:txBody>
      </p:sp>
      <p:sp>
        <p:nvSpPr>
          <p:cNvPr id="8" name="Text 5"/>
          <p:cNvSpPr/>
          <p:nvPr/>
        </p:nvSpPr>
        <p:spPr>
          <a:xfrm>
            <a:off x="1508760" y="2167128"/>
            <a:ext cx="4160520" cy="91440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What is personal location data, and why this topic matters to data governance</a:t>
            </a:r>
            <a:endParaRPr lang="en-US" sz="1150" dirty="0"/>
          </a:p>
        </p:txBody>
      </p:sp>
      <p:sp>
        <p:nvSpPr>
          <p:cNvPr id="9" name="Shape 6"/>
          <p:cNvSpPr/>
          <p:nvPr/>
        </p:nvSpPr>
        <p:spPr>
          <a:xfrm>
            <a:off x="6217920" y="1600200"/>
            <a:ext cx="5349240" cy="1417320"/>
          </a:xfrm>
          <a:prstGeom prst="roundRect">
            <a:avLst>
              <a:gd name="adj" fmla="val 5161"/>
            </a:avLst>
          </a:prstGeom>
          <a:solidFill>
            <a:srgbClr val="F4F8F8"/>
          </a:solidFill>
          <a:ln/>
          <a:effectLst>
            <a:outerShdw sx="100000" sy="100000" kx="0" ky="0" algn="bl" rotWithShape="0" blurRad="50800" dist="12700" dir="5400000">
              <a:srgbClr val="000000">
                <a:alpha val="8000"/>
              </a:srgbClr>
            </a:outerShdw>
          </a:effectLst>
        </p:spPr>
      </p:sp>
      <p:sp>
        <p:nvSpPr>
          <p:cNvPr id="10" name="Shape 7"/>
          <p:cNvSpPr/>
          <p:nvPr/>
        </p:nvSpPr>
        <p:spPr>
          <a:xfrm>
            <a:off x="6446520" y="1828800"/>
            <a:ext cx="566928" cy="566928"/>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6593921" y="1976201"/>
            <a:ext cx="272125" cy="272125"/>
          </a:xfrm>
          <a:prstGeom prst="rect">
            <a:avLst/>
          </a:prstGeom>
        </p:spPr>
      </p:pic>
      <p:sp>
        <p:nvSpPr>
          <p:cNvPr id="12" name="Text 8"/>
          <p:cNvSpPr/>
          <p:nvPr/>
        </p:nvSpPr>
        <p:spPr>
          <a:xfrm>
            <a:off x="7178040" y="1801368"/>
            <a:ext cx="416052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2.  Modes of Self-Tracking</a:t>
            </a:r>
            <a:endParaRPr lang="en-US" sz="1500" dirty="0"/>
          </a:p>
        </p:txBody>
      </p:sp>
      <p:sp>
        <p:nvSpPr>
          <p:cNvPr id="13" name="Text 9"/>
          <p:cNvSpPr/>
          <p:nvPr/>
        </p:nvSpPr>
        <p:spPr>
          <a:xfrm>
            <a:off x="7178040" y="2167128"/>
            <a:ext cx="4160520" cy="91440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Five categories: private, pushed, imposed, communal, exploited</a:t>
            </a:r>
            <a:endParaRPr lang="en-US" sz="1150" dirty="0"/>
          </a:p>
        </p:txBody>
      </p:sp>
      <p:sp>
        <p:nvSpPr>
          <p:cNvPr id="14" name="Shape 10"/>
          <p:cNvSpPr/>
          <p:nvPr/>
        </p:nvSpPr>
        <p:spPr>
          <a:xfrm>
            <a:off x="548640" y="3218688"/>
            <a:ext cx="5349240" cy="1417320"/>
          </a:xfrm>
          <a:prstGeom prst="roundRect">
            <a:avLst>
              <a:gd name="adj" fmla="val 5161"/>
            </a:avLst>
          </a:prstGeom>
          <a:solidFill>
            <a:srgbClr val="F4F8F8"/>
          </a:solidFill>
          <a:ln/>
          <a:effectLst>
            <a:outerShdw sx="100000" sy="100000" kx="0" ky="0" algn="bl" rotWithShape="0" blurRad="50800" dist="12700" dir="5400000">
              <a:srgbClr val="000000">
                <a:alpha val="8000"/>
              </a:srgbClr>
            </a:outerShdw>
          </a:effectLst>
        </p:spPr>
      </p:sp>
      <p:sp>
        <p:nvSpPr>
          <p:cNvPr id="15" name="Shape 11"/>
          <p:cNvSpPr/>
          <p:nvPr/>
        </p:nvSpPr>
        <p:spPr>
          <a:xfrm>
            <a:off x="777240" y="3447288"/>
            <a:ext cx="566928" cy="566928"/>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924641" y="3594689"/>
            <a:ext cx="272125" cy="272125"/>
          </a:xfrm>
          <a:prstGeom prst="rect">
            <a:avLst/>
          </a:prstGeom>
        </p:spPr>
      </p:pic>
      <p:sp>
        <p:nvSpPr>
          <p:cNvPr id="17" name="Text 12"/>
          <p:cNvSpPr/>
          <p:nvPr/>
        </p:nvSpPr>
        <p:spPr>
          <a:xfrm>
            <a:off x="1508760" y="3419856"/>
            <a:ext cx="416052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3.  Opportunities</a:t>
            </a:r>
            <a:endParaRPr lang="en-US" sz="1500" dirty="0"/>
          </a:p>
        </p:txBody>
      </p:sp>
      <p:sp>
        <p:nvSpPr>
          <p:cNvPr id="18" name="Text 13"/>
          <p:cNvSpPr/>
          <p:nvPr/>
        </p:nvSpPr>
        <p:spPr>
          <a:xfrm>
            <a:off x="1508760" y="3785616"/>
            <a:ext cx="4160520" cy="91440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Evidence-based planning using Strava, Uber Movement, Waze</a:t>
            </a:r>
            <a:endParaRPr lang="en-US" sz="1150" dirty="0"/>
          </a:p>
        </p:txBody>
      </p:sp>
      <p:sp>
        <p:nvSpPr>
          <p:cNvPr id="19" name="Shape 14"/>
          <p:cNvSpPr/>
          <p:nvPr/>
        </p:nvSpPr>
        <p:spPr>
          <a:xfrm>
            <a:off x="6217920" y="3218688"/>
            <a:ext cx="5349240" cy="1417320"/>
          </a:xfrm>
          <a:prstGeom prst="roundRect">
            <a:avLst>
              <a:gd name="adj" fmla="val 5161"/>
            </a:avLst>
          </a:prstGeom>
          <a:solidFill>
            <a:srgbClr val="F4F8F8"/>
          </a:solidFill>
          <a:ln/>
          <a:effectLst>
            <a:outerShdw sx="100000" sy="100000" kx="0" ky="0" algn="bl" rotWithShape="0" blurRad="50800" dist="12700" dir="5400000">
              <a:srgbClr val="000000">
                <a:alpha val="8000"/>
              </a:srgbClr>
            </a:outerShdw>
          </a:effectLst>
        </p:spPr>
      </p:sp>
      <p:sp>
        <p:nvSpPr>
          <p:cNvPr id="20" name="Shape 15"/>
          <p:cNvSpPr/>
          <p:nvPr/>
        </p:nvSpPr>
        <p:spPr>
          <a:xfrm>
            <a:off x="6446520" y="3447288"/>
            <a:ext cx="566928" cy="566928"/>
          </a:xfrm>
          <a:prstGeom prst="ellipse">
            <a:avLst/>
          </a:prstGeom>
          <a:solidFill>
            <a:srgbClr val="0E7C86"/>
          </a:solidFill>
          <a:ln/>
        </p:spPr>
      </p:sp>
      <p:pic>
        <p:nvPicPr>
          <p:cNvPr id="21" name="Image 3" descr="preencoded.png">    </p:cNvPr>
          <p:cNvPicPr>
            <a:picLocks noChangeAspect="1"/>
          </p:cNvPicPr>
          <p:nvPr/>
        </p:nvPicPr>
        <p:blipFill>
          <a:blip r:embed="rId4"/>
          <a:stretch>
            <a:fillRect/>
          </a:stretch>
        </p:blipFill>
        <p:spPr>
          <a:xfrm>
            <a:off x="6593921" y="3594689"/>
            <a:ext cx="272125" cy="272125"/>
          </a:xfrm>
          <a:prstGeom prst="rect">
            <a:avLst/>
          </a:prstGeom>
        </p:spPr>
      </p:pic>
      <p:sp>
        <p:nvSpPr>
          <p:cNvPr id="22" name="Text 16"/>
          <p:cNvSpPr/>
          <p:nvPr/>
        </p:nvSpPr>
        <p:spPr>
          <a:xfrm>
            <a:off x="7178040" y="3419856"/>
            <a:ext cx="416052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4.  Challenges</a:t>
            </a:r>
            <a:endParaRPr lang="en-US" sz="1500" dirty="0"/>
          </a:p>
        </p:txBody>
      </p:sp>
      <p:sp>
        <p:nvSpPr>
          <p:cNvPr id="23" name="Text 17"/>
          <p:cNvSpPr/>
          <p:nvPr/>
        </p:nvSpPr>
        <p:spPr>
          <a:xfrm>
            <a:off x="7178040" y="3785616"/>
            <a:ext cx="4160520" cy="91440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Re-identification, bias, consent, public safety (3 discussion topics)</a:t>
            </a:r>
            <a:endParaRPr lang="en-US" sz="1150" dirty="0"/>
          </a:p>
        </p:txBody>
      </p:sp>
      <p:sp>
        <p:nvSpPr>
          <p:cNvPr id="24" name="Shape 18"/>
          <p:cNvSpPr/>
          <p:nvPr/>
        </p:nvSpPr>
        <p:spPr>
          <a:xfrm>
            <a:off x="548640" y="4837176"/>
            <a:ext cx="5349240" cy="1417320"/>
          </a:xfrm>
          <a:prstGeom prst="roundRect">
            <a:avLst>
              <a:gd name="adj" fmla="val 5161"/>
            </a:avLst>
          </a:prstGeom>
          <a:solidFill>
            <a:srgbClr val="F4F8F8"/>
          </a:solidFill>
          <a:ln/>
          <a:effectLst>
            <a:outerShdw sx="100000" sy="100000" kx="0" ky="0" algn="bl" rotWithShape="0" blurRad="50800" dist="12700" dir="5400000">
              <a:srgbClr val="000000">
                <a:alpha val="8000"/>
              </a:srgbClr>
            </a:outerShdw>
          </a:effectLst>
        </p:spPr>
      </p:sp>
      <p:sp>
        <p:nvSpPr>
          <p:cNvPr id="25" name="Shape 19"/>
          <p:cNvSpPr/>
          <p:nvPr/>
        </p:nvSpPr>
        <p:spPr>
          <a:xfrm>
            <a:off x="777240" y="5065776"/>
            <a:ext cx="566928" cy="566928"/>
          </a:xfrm>
          <a:prstGeom prst="ellipse">
            <a:avLst/>
          </a:prstGeom>
          <a:solidFill>
            <a:srgbClr val="0E7C86"/>
          </a:solidFill>
          <a:ln/>
        </p:spPr>
      </p:sp>
      <p:pic>
        <p:nvPicPr>
          <p:cNvPr id="26" name="Image 4" descr="preencoded.png">    </p:cNvPr>
          <p:cNvPicPr>
            <a:picLocks noChangeAspect="1"/>
          </p:cNvPicPr>
          <p:nvPr/>
        </p:nvPicPr>
        <p:blipFill>
          <a:blip r:embed="rId5"/>
          <a:stretch>
            <a:fillRect/>
          </a:stretch>
        </p:blipFill>
        <p:spPr>
          <a:xfrm>
            <a:off x="924641" y="5213177"/>
            <a:ext cx="272125" cy="272125"/>
          </a:xfrm>
          <a:prstGeom prst="rect">
            <a:avLst/>
          </a:prstGeom>
        </p:spPr>
      </p:pic>
      <p:sp>
        <p:nvSpPr>
          <p:cNvPr id="27" name="Text 20"/>
          <p:cNvSpPr/>
          <p:nvPr/>
        </p:nvSpPr>
        <p:spPr>
          <a:xfrm>
            <a:off x="1508760" y="5038344"/>
            <a:ext cx="416052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5.  Governance</a:t>
            </a:r>
            <a:endParaRPr lang="en-US" sz="1500" dirty="0"/>
          </a:p>
        </p:txBody>
      </p:sp>
      <p:sp>
        <p:nvSpPr>
          <p:cNvPr id="28" name="Text 21"/>
          <p:cNvSpPr/>
          <p:nvPr/>
        </p:nvSpPr>
        <p:spPr>
          <a:xfrm>
            <a:off x="1508760" y="5404104"/>
            <a:ext cx="4160520" cy="91440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GDPR ambiguity, technical obfuscation, regulatory gaps</a:t>
            </a:r>
            <a:endParaRPr lang="en-US" sz="1150" dirty="0"/>
          </a:p>
        </p:txBody>
      </p:sp>
      <p:sp>
        <p:nvSpPr>
          <p:cNvPr id="29" name="Shape 22"/>
          <p:cNvSpPr/>
          <p:nvPr/>
        </p:nvSpPr>
        <p:spPr>
          <a:xfrm>
            <a:off x="6217920" y="4837176"/>
            <a:ext cx="5349240" cy="1417320"/>
          </a:xfrm>
          <a:prstGeom prst="roundRect">
            <a:avLst>
              <a:gd name="adj" fmla="val 5161"/>
            </a:avLst>
          </a:prstGeom>
          <a:solidFill>
            <a:srgbClr val="F4F8F8"/>
          </a:solidFill>
          <a:ln/>
          <a:effectLst>
            <a:outerShdw sx="100000" sy="100000" kx="0" ky="0" algn="bl" rotWithShape="0" blurRad="50800" dist="12700" dir="5400000">
              <a:srgbClr val="000000">
                <a:alpha val="8000"/>
              </a:srgbClr>
            </a:outerShdw>
          </a:effectLst>
        </p:spPr>
      </p:sp>
      <p:sp>
        <p:nvSpPr>
          <p:cNvPr id="30" name="Shape 23"/>
          <p:cNvSpPr/>
          <p:nvPr/>
        </p:nvSpPr>
        <p:spPr>
          <a:xfrm>
            <a:off x="6446520" y="5065776"/>
            <a:ext cx="566928" cy="566928"/>
          </a:xfrm>
          <a:prstGeom prst="ellipse">
            <a:avLst/>
          </a:prstGeom>
          <a:solidFill>
            <a:srgbClr val="0E7C86"/>
          </a:solidFill>
          <a:ln/>
        </p:spPr>
      </p:sp>
      <p:pic>
        <p:nvPicPr>
          <p:cNvPr id="31" name="Image 5" descr="preencoded.png">    </p:cNvPr>
          <p:cNvPicPr>
            <a:picLocks noChangeAspect="1"/>
          </p:cNvPicPr>
          <p:nvPr/>
        </p:nvPicPr>
        <p:blipFill>
          <a:blip r:embed="rId6"/>
          <a:stretch>
            <a:fillRect/>
          </a:stretch>
        </p:blipFill>
        <p:spPr>
          <a:xfrm>
            <a:off x="6593921" y="5213177"/>
            <a:ext cx="272125" cy="272125"/>
          </a:xfrm>
          <a:prstGeom prst="rect">
            <a:avLst/>
          </a:prstGeom>
        </p:spPr>
      </p:pic>
      <p:sp>
        <p:nvSpPr>
          <p:cNvPr id="32" name="Text 24"/>
          <p:cNvSpPr/>
          <p:nvPr/>
        </p:nvSpPr>
        <p:spPr>
          <a:xfrm>
            <a:off x="7178040" y="5038344"/>
            <a:ext cx="416052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6.  Critical Evaluation &amp; Conclusion</a:t>
            </a:r>
            <a:endParaRPr lang="en-US" sz="1500" dirty="0"/>
          </a:p>
        </p:txBody>
      </p:sp>
      <p:sp>
        <p:nvSpPr>
          <p:cNvPr id="33" name="Text 25"/>
          <p:cNvSpPr/>
          <p:nvPr/>
        </p:nvSpPr>
        <p:spPr>
          <a:xfrm>
            <a:off x="7178040" y="5404104"/>
            <a:ext cx="4160520" cy="91440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Scholarly response and key takeaways</a:t>
            </a:r>
            <a:endParaRPr lang="en-US" sz="1150" dirty="0"/>
          </a:p>
        </p:txBody>
      </p:sp>
      <p:sp>
        <p:nvSpPr>
          <p:cNvPr id="34" name="Text 2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35" name="Text 27"/>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Location Data, Why Now</a:t>
            </a:r>
            <a:endParaRPr lang="en-US" sz="3000" dirty="0"/>
          </a:p>
        </p:txBody>
      </p:sp>
      <p:sp>
        <p:nvSpPr>
          <p:cNvPr id="4" name="Text 2"/>
          <p:cNvSpPr/>
          <p:nvPr/>
        </p:nvSpPr>
        <p:spPr>
          <a:xfrm>
            <a:off x="548640" y="1691640"/>
            <a:ext cx="6400800" cy="1005840"/>
          </a:xfrm>
          <a:prstGeom prst="rect">
            <a:avLst/>
          </a:prstGeom>
          <a:noFill/>
          <a:ln/>
        </p:spPr>
        <p:txBody>
          <a:bodyPr wrap="square" lIns="0" tIns="0" rIns="0" bIns="0" rtlCol="0" anchor="t"/>
          <a:lstStyle/>
          <a:p>
            <a:pPr indent="0" marL="0">
              <a:buNone/>
            </a:pPr>
            <a:r>
              <a:rPr lang="en-US" sz="1500" dirty="0">
                <a:solidFill>
                  <a:srgbClr val="16213A"/>
                </a:solidFill>
                <a:latin typeface="Calibri" pitchFamily="34" charset="0"/>
                <a:ea typeface="Calibri" pitchFamily="34" charset="-122"/>
                <a:cs typeface="Calibri" pitchFamily="34" charset="-120"/>
              </a:rPr>
              <a:t>Location-based self-tracking technologies have moved from niche fitness gadgets to a routine feature of smartphones, cars, navigation apps and city infrastructure.</a:t>
            </a:r>
            <a:endParaRPr lang="en-US" sz="1500" dirty="0"/>
          </a:p>
        </p:txBody>
      </p:sp>
      <p:sp>
        <p:nvSpPr>
          <p:cNvPr id="5" name="Text 3"/>
          <p:cNvSpPr/>
          <p:nvPr/>
        </p:nvSpPr>
        <p:spPr>
          <a:xfrm>
            <a:off x="548640" y="2697480"/>
            <a:ext cx="6400800" cy="1188720"/>
          </a:xfrm>
          <a:prstGeom prst="rect">
            <a:avLst/>
          </a:prstGeom>
          <a:noFill/>
          <a:ln/>
        </p:spPr>
        <p:txBody>
          <a:bodyPr wrap="square" lIns="0" tIns="0" rIns="0" bIns="0" rtlCol="0" anchor="t"/>
          <a:lstStyle/>
          <a:p>
            <a:pPr indent="0" marL="0">
              <a:buNone/>
            </a:pPr>
            <a:r>
              <a:rPr lang="en-US" sz="1500" dirty="0">
                <a:solidFill>
                  <a:srgbClr val="16213A"/>
                </a:solidFill>
                <a:latin typeface="Calibri" pitchFamily="34" charset="0"/>
                <a:ea typeface="Calibri" pitchFamily="34" charset="-122"/>
                <a:cs typeface="Calibri" pitchFamily="34" charset="-120"/>
              </a:rPr>
              <a:t>This case study (Section 6 of the Royal Society / British Academy report) examines the social, ethical and governance tensions that arise when everyday movement becomes a data source for services, planning and commercial gain.</a:t>
            </a:r>
            <a:endParaRPr lang="en-US" sz="1500" dirty="0"/>
          </a:p>
        </p:txBody>
      </p:sp>
      <p:sp>
        <p:nvSpPr>
          <p:cNvPr id="6" name="Shape 4"/>
          <p:cNvSpPr/>
          <p:nvPr/>
        </p:nvSpPr>
        <p:spPr>
          <a:xfrm>
            <a:off x="548640" y="4160520"/>
            <a:ext cx="6400800" cy="1783080"/>
          </a:xfrm>
          <a:prstGeom prst="roundRect">
            <a:avLst>
              <a:gd name="adj" fmla="val 4103"/>
            </a:avLst>
          </a:prstGeom>
          <a:solidFill>
            <a:srgbClr val="0B1F3A"/>
          </a:solidFill>
          <a:ln/>
        </p:spPr>
      </p:sp>
      <p:sp>
        <p:nvSpPr>
          <p:cNvPr id="7" name="Text 5"/>
          <p:cNvSpPr/>
          <p:nvPr/>
        </p:nvSpPr>
        <p:spPr>
          <a:xfrm>
            <a:off x="822960" y="4343400"/>
            <a:ext cx="5852160" cy="320040"/>
          </a:xfrm>
          <a:prstGeom prst="rect">
            <a:avLst/>
          </a:prstGeom>
          <a:noFill/>
          <a:ln/>
        </p:spPr>
        <p:txBody>
          <a:bodyPr wrap="square" lIns="0" tIns="0" rIns="0" bIns="0" rtlCol="0" anchor="ctr"/>
          <a:lstStyle/>
          <a:p>
            <a:pPr indent="0" marL="0">
              <a:buNone/>
            </a:pPr>
            <a:r>
              <a:rPr lang="en-US" sz="1300" b="1" dirty="0">
                <a:solidFill>
                  <a:srgbClr val="3FA9B0"/>
                </a:solidFill>
                <a:latin typeface="Calibri" pitchFamily="34" charset="0"/>
                <a:ea typeface="Calibri" pitchFamily="34" charset="-122"/>
                <a:cs typeface="Calibri" pitchFamily="34" charset="-120"/>
              </a:rPr>
              <a:t>Relevance to this module:</a:t>
            </a:r>
            <a:endParaRPr lang="en-US" sz="1300" dirty="0"/>
          </a:p>
        </p:txBody>
      </p:sp>
      <p:sp>
        <p:nvSpPr>
          <p:cNvPr id="8" name="Text 6"/>
          <p:cNvSpPr/>
          <p:nvPr/>
        </p:nvSpPr>
        <p:spPr>
          <a:xfrm>
            <a:off x="822960" y="4681728"/>
            <a:ext cx="5852160" cy="1143000"/>
          </a:xfrm>
          <a:prstGeom prst="rect">
            <a:avLst/>
          </a:prstGeom>
          <a:noFill/>
          <a:ln/>
        </p:spPr>
        <p:txBody>
          <a:bodyPr wrap="square" lIns="0" tIns="0" rIns="0" bIns="0" rtlCol="0" anchor="t"/>
          <a:lstStyle/>
          <a:p>
            <a:pPr indent="0" marL="0">
              <a:buNone/>
            </a:pPr>
            <a:r>
              <a:rPr lang="en-US" sz="1300" dirty="0">
                <a:solidFill>
                  <a:srgbClr val="CFE8E6"/>
                </a:solidFill>
                <a:latin typeface="Calibri" pitchFamily="34" charset="0"/>
                <a:ea typeface="Calibri" pitchFamily="34" charset="-122"/>
                <a:cs typeface="Calibri" pitchFamily="34" charset="-120"/>
              </a:rPr>
              <a:t>Location data is a textbook case of the privacy vs. utility tension that runs through data governance — it is personal data under GDPR, yet immensely valuable for transport planning, public safety and new digital services.</a:t>
            </a:r>
            <a:endParaRPr lang="en-US" sz="1300" dirty="0"/>
          </a:p>
        </p:txBody>
      </p:sp>
      <p:sp>
        <p:nvSpPr>
          <p:cNvPr id="9" name="Shape 7"/>
          <p:cNvSpPr/>
          <p:nvPr/>
        </p:nvSpPr>
        <p:spPr>
          <a:xfrm>
            <a:off x="8321040" y="1828800"/>
            <a:ext cx="914400" cy="914400"/>
          </a:xfrm>
          <a:prstGeom prst="ellipse">
            <a:avLst/>
          </a:prstGeom>
          <a:solidFill>
            <a:srgbClr val="CFE8E6"/>
          </a:solidFill>
          <a:ln/>
        </p:spPr>
      </p:sp>
      <p:pic>
        <p:nvPicPr>
          <p:cNvPr id="10" name="Image 0" descr="preencoded.png">    </p:cNvPr>
          <p:cNvPicPr>
            <a:picLocks noChangeAspect="1"/>
          </p:cNvPicPr>
          <p:nvPr/>
        </p:nvPicPr>
        <p:blipFill>
          <a:blip r:embed="rId1"/>
          <a:stretch>
            <a:fillRect/>
          </a:stretch>
        </p:blipFill>
        <p:spPr>
          <a:xfrm>
            <a:off x="8558784" y="2066544"/>
            <a:ext cx="438912" cy="438912"/>
          </a:xfrm>
          <a:prstGeom prst="rect">
            <a:avLst/>
          </a:prstGeom>
        </p:spPr>
      </p:pic>
      <p:sp>
        <p:nvSpPr>
          <p:cNvPr id="11" name="Text 8"/>
          <p:cNvSpPr/>
          <p:nvPr/>
        </p:nvSpPr>
        <p:spPr>
          <a:xfrm>
            <a:off x="7406640" y="2880360"/>
            <a:ext cx="3840480" cy="548640"/>
          </a:xfrm>
          <a:prstGeom prst="rect">
            <a:avLst/>
          </a:prstGeom>
          <a:noFill/>
          <a:ln/>
        </p:spPr>
        <p:txBody>
          <a:bodyPr wrap="square" lIns="0" tIns="0" rIns="0" bIns="0" rtlCol="0" anchor="ctr"/>
          <a:lstStyle/>
          <a:p>
            <a:pPr algn="ctr" indent="0" marL="0">
              <a:buNone/>
            </a:pPr>
            <a:r>
              <a:rPr lang="en-US" sz="2600" b="1" dirty="0">
                <a:solidFill>
                  <a:srgbClr val="0E7C86"/>
                </a:solidFill>
                <a:latin typeface="Cambria" pitchFamily="34" charset="0"/>
                <a:ea typeface="Cambria" pitchFamily="34" charset="-122"/>
                <a:cs typeface="Cambria" pitchFamily="34" charset="-120"/>
              </a:rPr>
              <a:t>100s of billions</a:t>
            </a:r>
            <a:endParaRPr lang="en-US" sz="2600" dirty="0"/>
          </a:p>
        </p:txBody>
      </p:sp>
      <p:sp>
        <p:nvSpPr>
          <p:cNvPr id="12" name="Text 9"/>
          <p:cNvSpPr/>
          <p:nvPr/>
        </p:nvSpPr>
        <p:spPr>
          <a:xfrm>
            <a:off x="7406640" y="3429000"/>
            <a:ext cx="3840480" cy="82296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of GPS points logged by a single fitness app (Strava), growing by ~6 million activities a week</a:t>
            </a:r>
            <a:endParaRPr lang="en-US" sz="1200" dirty="0"/>
          </a:p>
        </p:txBody>
      </p:sp>
      <p:sp>
        <p:nvSpPr>
          <p:cNvPr id="13" name="Shape 10"/>
          <p:cNvSpPr/>
          <p:nvPr/>
        </p:nvSpPr>
        <p:spPr>
          <a:xfrm>
            <a:off x="7406640" y="4389120"/>
            <a:ext cx="3840480" cy="1554480"/>
          </a:xfrm>
          <a:prstGeom prst="roundRect">
            <a:avLst>
              <a:gd name="adj" fmla="val 4706"/>
            </a:avLst>
          </a:prstGeom>
          <a:solidFill>
            <a:srgbClr val="F4F8F8"/>
          </a:solidFill>
          <a:ln/>
        </p:spPr>
      </p:sp>
      <p:sp>
        <p:nvSpPr>
          <p:cNvPr id="14" name="Text 11"/>
          <p:cNvSpPr/>
          <p:nvPr/>
        </p:nvSpPr>
        <p:spPr>
          <a:xfrm>
            <a:off x="7635240" y="4526280"/>
            <a:ext cx="338328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Core tension:</a:t>
            </a:r>
            <a:endParaRPr lang="en-US" sz="1200" dirty="0"/>
          </a:p>
        </p:txBody>
      </p:sp>
      <p:sp>
        <p:nvSpPr>
          <p:cNvPr id="15" name="Text 12"/>
          <p:cNvSpPr/>
          <p:nvPr/>
        </p:nvSpPr>
        <p:spPr>
          <a:xfrm>
            <a:off x="7635240" y="4828032"/>
            <a:ext cx="3383280" cy="1005840"/>
          </a:xfrm>
          <a:prstGeom prst="rect">
            <a:avLst/>
          </a:prstGeom>
          <a:noFill/>
          <a:ln/>
        </p:spPr>
        <p:txBody>
          <a:bodyPr wrap="square" lIns="0" tIns="0" rIns="0" bIns="0" rtlCol="0" anchor="t"/>
          <a:lstStyle/>
          <a:p>
            <a:pPr indent="0" marL="0">
              <a:buNone/>
            </a:pPr>
            <a:r>
              <a:rPr lang="en-US" sz="1200" i="1" dirty="0">
                <a:solidFill>
                  <a:srgbClr val="16213A"/>
                </a:solidFill>
                <a:latin typeface="Calibri" pitchFamily="34" charset="0"/>
                <a:ea typeface="Calibri" pitchFamily="34" charset="-122"/>
                <a:cs typeface="Calibri" pitchFamily="34" charset="-120"/>
              </a:rPr>
              <a:t>Using everyday movement data to enable efficient services and public safety, while respecting individual spheres of privacy.</a:t>
            </a:r>
            <a:endParaRPr lang="en-US" sz="1200" dirty="0"/>
          </a:p>
        </p:txBody>
      </p:sp>
      <p:sp>
        <p:nvSpPr>
          <p:cNvPr id="16" name="Text 1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17" name="Text 14"/>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Counts as Location Data?</a:t>
            </a:r>
            <a:endParaRPr lang="en-US" sz="3000" dirty="0"/>
          </a:p>
        </p:txBody>
      </p:sp>
      <p:sp>
        <p:nvSpPr>
          <p:cNvPr id="4" name="Text 2"/>
          <p:cNvSpPr/>
          <p:nvPr/>
        </p:nvSpPr>
        <p:spPr>
          <a:xfrm>
            <a:off x="548640" y="1645920"/>
            <a:ext cx="10972800" cy="548640"/>
          </a:xfrm>
          <a:prstGeom prst="rect">
            <a:avLst/>
          </a:prstGeom>
          <a:noFill/>
          <a:ln/>
        </p:spPr>
        <p:txBody>
          <a:bodyPr wrap="square" lIns="0" tIns="0" rIns="0" bIns="0" rtlCol="0" anchor="ctr"/>
          <a:lstStyle/>
          <a:p>
            <a:pPr indent="0" marL="0">
              <a:buNone/>
            </a:pPr>
            <a:r>
              <a:rPr lang="en-US" sz="1450" dirty="0">
                <a:solidFill>
                  <a:srgbClr val="16213A"/>
                </a:solidFill>
                <a:latin typeface="Calibri" pitchFamily="34" charset="0"/>
                <a:ea typeface="Calibri" pitchFamily="34" charset="-122"/>
                <a:cs typeface="Calibri" pitchFamily="34" charset="-120"/>
              </a:rPr>
              <a:t>Location data is personal data under the GDPR — but the regulation never explicitly defines it. In practice, the category is broad and includes:</a:t>
            </a:r>
            <a:endParaRPr lang="en-US" sz="1450" dirty="0"/>
          </a:p>
        </p:txBody>
      </p:sp>
      <p:sp>
        <p:nvSpPr>
          <p:cNvPr id="5" name="Shape 3"/>
          <p:cNvSpPr/>
          <p:nvPr/>
        </p:nvSpPr>
        <p:spPr>
          <a:xfrm>
            <a:off x="548640" y="2423160"/>
            <a:ext cx="2697480" cy="1691640"/>
          </a:xfrm>
          <a:prstGeom prst="roundRect">
            <a:avLst>
              <a:gd name="adj" fmla="val 4324"/>
            </a:avLst>
          </a:prstGeom>
          <a:solidFill>
            <a:srgbClr val="F4F8F8"/>
          </a:solidFill>
          <a:ln/>
        </p:spPr>
      </p:sp>
      <p:sp>
        <p:nvSpPr>
          <p:cNvPr id="6" name="Shape 4"/>
          <p:cNvSpPr/>
          <p:nvPr/>
        </p:nvSpPr>
        <p:spPr>
          <a:xfrm>
            <a:off x="1577340" y="2624328"/>
            <a:ext cx="640080" cy="640080"/>
          </a:xfrm>
          <a:prstGeom prst="ellipse">
            <a:avLst/>
          </a:prstGeom>
          <a:solidFill>
            <a:srgbClr val="0E7C86"/>
          </a:solidFill>
          <a:ln/>
        </p:spPr>
      </p:sp>
      <p:pic>
        <p:nvPicPr>
          <p:cNvPr id="7" name="Image 0" descr="preencoded.png">    </p:cNvPr>
          <p:cNvPicPr>
            <a:picLocks noChangeAspect="1"/>
          </p:cNvPicPr>
          <p:nvPr/>
        </p:nvPicPr>
        <p:blipFill>
          <a:blip r:embed="rId1"/>
          <a:stretch>
            <a:fillRect/>
          </a:stretch>
        </p:blipFill>
        <p:spPr>
          <a:xfrm>
            <a:off x="1743761" y="2790749"/>
            <a:ext cx="307238" cy="307238"/>
          </a:xfrm>
          <a:prstGeom prst="rect">
            <a:avLst/>
          </a:prstGeom>
        </p:spPr>
      </p:pic>
      <p:sp>
        <p:nvSpPr>
          <p:cNvPr id="8" name="Text 5"/>
          <p:cNvSpPr/>
          <p:nvPr/>
        </p:nvSpPr>
        <p:spPr>
          <a:xfrm>
            <a:off x="658368" y="3383280"/>
            <a:ext cx="2478024"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Physical addresses</a:t>
            </a:r>
            <a:endParaRPr lang="en-US" sz="1300" dirty="0"/>
          </a:p>
        </p:txBody>
      </p:sp>
      <p:sp>
        <p:nvSpPr>
          <p:cNvPr id="9" name="Text 6"/>
          <p:cNvSpPr/>
          <p:nvPr/>
        </p:nvSpPr>
        <p:spPr>
          <a:xfrm>
            <a:off x="658368" y="3749040"/>
            <a:ext cx="2478024"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Home, work, postal addresses</a:t>
            </a:r>
            <a:endParaRPr lang="en-US" sz="1100" dirty="0"/>
          </a:p>
        </p:txBody>
      </p:sp>
      <p:sp>
        <p:nvSpPr>
          <p:cNvPr id="10" name="Shape 7"/>
          <p:cNvSpPr/>
          <p:nvPr/>
        </p:nvSpPr>
        <p:spPr>
          <a:xfrm>
            <a:off x="3429000" y="2423160"/>
            <a:ext cx="2697480" cy="1691640"/>
          </a:xfrm>
          <a:prstGeom prst="roundRect">
            <a:avLst>
              <a:gd name="adj" fmla="val 4324"/>
            </a:avLst>
          </a:prstGeom>
          <a:solidFill>
            <a:srgbClr val="F4F8F8"/>
          </a:solidFill>
          <a:ln/>
        </p:spPr>
      </p:sp>
      <p:sp>
        <p:nvSpPr>
          <p:cNvPr id="11" name="Shape 8"/>
          <p:cNvSpPr/>
          <p:nvPr/>
        </p:nvSpPr>
        <p:spPr>
          <a:xfrm>
            <a:off x="4457700" y="2624328"/>
            <a:ext cx="640080" cy="640080"/>
          </a:xfrm>
          <a:prstGeom prst="ellipse">
            <a:avLst/>
          </a:prstGeom>
          <a:solidFill>
            <a:srgbClr val="0E7C86"/>
          </a:solidFill>
          <a:ln/>
        </p:spPr>
      </p:sp>
      <p:pic>
        <p:nvPicPr>
          <p:cNvPr id="12" name="Image 1" descr="preencoded.png">    </p:cNvPr>
          <p:cNvPicPr>
            <a:picLocks noChangeAspect="1"/>
          </p:cNvPicPr>
          <p:nvPr/>
        </p:nvPicPr>
        <p:blipFill>
          <a:blip r:embed="rId2"/>
          <a:stretch>
            <a:fillRect/>
          </a:stretch>
        </p:blipFill>
        <p:spPr>
          <a:xfrm>
            <a:off x="4624121" y="2790749"/>
            <a:ext cx="307238" cy="307238"/>
          </a:xfrm>
          <a:prstGeom prst="rect">
            <a:avLst/>
          </a:prstGeom>
        </p:spPr>
      </p:pic>
      <p:sp>
        <p:nvSpPr>
          <p:cNvPr id="13" name="Text 9"/>
          <p:cNvSpPr/>
          <p:nvPr/>
        </p:nvSpPr>
        <p:spPr>
          <a:xfrm>
            <a:off x="3538728" y="3383280"/>
            <a:ext cx="2478024"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GPS coordinates</a:t>
            </a:r>
            <a:endParaRPr lang="en-US" sz="1300" dirty="0"/>
          </a:p>
        </p:txBody>
      </p:sp>
      <p:sp>
        <p:nvSpPr>
          <p:cNvPr id="14" name="Text 10"/>
          <p:cNvSpPr/>
          <p:nvPr/>
        </p:nvSpPr>
        <p:spPr>
          <a:xfrm>
            <a:off x="3538728" y="3749040"/>
            <a:ext cx="2478024"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Latitude / longitude from devices</a:t>
            </a:r>
            <a:endParaRPr lang="en-US" sz="1100" dirty="0"/>
          </a:p>
        </p:txBody>
      </p:sp>
      <p:sp>
        <p:nvSpPr>
          <p:cNvPr id="15" name="Shape 11"/>
          <p:cNvSpPr/>
          <p:nvPr/>
        </p:nvSpPr>
        <p:spPr>
          <a:xfrm>
            <a:off x="6309360" y="2423160"/>
            <a:ext cx="2697480" cy="1691640"/>
          </a:xfrm>
          <a:prstGeom prst="roundRect">
            <a:avLst>
              <a:gd name="adj" fmla="val 4324"/>
            </a:avLst>
          </a:prstGeom>
          <a:solidFill>
            <a:srgbClr val="F4F8F8"/>
          </a:solidFill>
          <a:ln/>
        </p:spPr>
      </p:sp>
      <p:sp>
        <p:nvSpPr>
          <p:cNvPr id="16" name="Shape 12"/>
          <p:cNvSpPr/>
          <p:nvPr/>
        </p:nvSpPr>
        <p:spPr>
          <a:xfrm>
            <a:off x="7338060" y="2624328"/>
            <a:ext cx="640080" cy="640080"/>
          </a:xfrm>
          <a:prstGeom prst="ellipse">
            <a:avLst/>
          </a:prstGeom>
          <a:solidFill>
            <a:srgbClr val="0E7C86"/>
          </a:solidFill>
          <a:ln/>
        </p:spPr>
      </p:sp>
      <p:pic>
        <p:nvPicPr>
          <p:cNvPr id="17" name="Image 2" descr="preencoded.png">    </p:cNvPr>
          <p:cNvPicPr>
            <a:picLocks noChangeAspect="1"/>
          </p:cNvPicPr>
          <p:nvPr/>
        </p:nvPicPr>
        <p:blipFill>
          <a:blip r:embed="rId3"/>
          <a:stretch>
            <a:fillRect/>
          </a:stretch>
        </p:blipFill>
        <p:spPr>
          <a:xfrm>
            <a:off x="7504481" y="2790749"/>
            <a:ext cx="307238" cy="307238"/>
          </a:xfrm>
          <a:prstGeom prst="rect">
            <a:avLst/>
          </a:prstGeom>
        </p:spPr>
      </p:pic>
      <p:sp>
        <p:nvSpPr>
          <p:cNvPr id="18" name="Text 13"/>
          <p:cNvSpPr/>
          <p:nvPr/>
        </p:nvSpPr>
        <p:spPr>
          <a:xfrm>
            <a:off x="6419088" y="3383280"/>
            <a:ext cx="2478024"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Network addresses</a:t>
            </a:r>
            <a:endParaRPr lang="en-US" sz="1300" dirty="0"/>
          </a:p>
        </p:txBody>
      </p:sp>
      <p:sp>
        <p:nvSpPr>
          <p:cNvPr id="19" name="Text 14"/>
          <p:cNvSpPr/>
          <p:nvPr/>
        </p:nvSpPr>
        <p:spPr>
          <a:xfrm>
            <a:off x="6419088" y="3749040"/>
            <a:ext cx="2478024"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IP addresses (can be spoofed)</a:t>
            </a:r>
            <a:endParaRPr lang="en-US" sz="1100" dirty="0"/>
          </a:p>
        </p:txBody>
      </p:sp>
      <p:sp>
        <p:nvSpPr>
          <p:cNvPr id="20" name="Shape 15"/>
          <p:cNvSpPr/>
          <p:nvPr/>
        </p:nvSpPr>
        <p:spPr>
          <a:xfrm>
            <a:off x="9189720" y="2423160"/>
            <a:ext cx="2697480" cy="1691640"/>
          </a:xfrm>
          <a:prstGeom prst="roundRect">
            <a:avLst>
              <a:gd name="adj" fmla="val 4324"/>
            </a:avLst>
          </a:prstGeom>
          <a:solidFill>
            <a:srgbClr val="F4F8F8"/>
          </a:solidFill>
          <a:ln/>
        </p:spPr>
      </p:sp>
      <p:sp>
        <p:nvSpPr>
          <p:cNvPr id="21" name="Shape 16"/>
          <p:cNvSpPr/>
          <p:nvPr/>
        </p:nvSpPr>
        <p:spPr>
          <a:xfrm>
            <a:off x="10218420" y="2624328"/>
            <a:ext cx="640080" cy="640080"/>
          </a:xfrm>
          <a:prstGeom prst="ellipse">
            <a:avLst/>
          </a:prstGeom>
          <a:solidFill>
            <a:srgbClr val="0E7C86"/>
          </a:solidFill>
          <a:ln/>
        </p:spPr>
      </p:sp>
      <p:pic>
        <p:nvPicPr>
          <p:cNvPr id="22" name="Image 3" descr="preencoded.png">    </p:cNvPr>
          <p:cNvPicPr>
            <a:picLocks noChangeAspect="1"/>
          </p:cNvPicPr>
          <p:nvPr/>
        </p:nvPicPr>
        <p:blipFill>
          <a:blip r:embed="rId4"/>
          <a:stretch>
            <a:fillRect/>
          </a:stretch>
        </p:blipFill>
        <p:spPr>
          <a:xfrm>
            <a:off x="10384841" y="2790749"/>
            <a:ext cx="307238" cy="307238"/>
          </a:xfrm>
          <a:prstGeom prst="rect">
            <a:avLst/>
          </a:prstGeom>
        </p:spPr>
      </p:pic>
      <p:sp>
        <p:nvSpPr>
          <p:cNvPr id="23" name="Text 17"/>
          <p:cNvSpPr/>
          <p:nvPr/>
        </p:nvSpPr>
        <p:spPr>
          <a:xfrm>
            <a:off x="9299448" y="3383280"/>
            <a:ext cx="2478024"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Hardware identifiers</a:t>
            </a:r>
            <a:endParaRPr lang="en-US" sz="1300" dirty="0"/>
          </a:p>
        </p:txBody>
      </p:sp>
      <p:sp>
        <p:nvSpPr>
          <p:cNvPr id="24" name="Text 18"/>
          <p:cNvSpPr/>
          <p:nvPr/>
        </p:nvSpPr>
        <p:spPr>
          <a:xfrm>
            <a:off x="9299448" y="3749040"/>
            <a:ext cx="2478024"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MAC addresses, IMEI numbers</a:t>
            </a:r>
            <a:endParaRPr lang="en-US" sz="1100" dirty="0"/>
          </a:p>
        </p:txBody>
      </p:sp>
      <p:sp>
        <p:nvSpPr>
          <p:cNvPr id="25" name="Shape 19"/>
          <p:cNvSpPr/>
          <p:nvPr/>
        </p:nvSpPr>
        <p:spPr>
          <a:xfrm>
            <a:off x="548640" y="4434840"/>
            <a:ext cx="11018520" cy="1508760"/>
          </a:xfrm>
          <a:prstGeom prst="roundRect">
            <a:avLst>
              <a:gd name="adj" fmla="val 4848"/>
            </a:avLst>
          </a:prstGeom>
          <a:solidFill>
            <a:srgbClr val="0B1F3A"/>
          </a:solidFill>
          <a:ln/>
        </p:spPr>
      </p:sp>
      <p:sp>
        <p:nvSpPr>
          <p:cNvPr id="26" name="Shape 20"/>
          <p:cNvSpPr/>
          <p:nvPr/>
        </p:nvSpPr>
        <p:spPr>
          <a:xfrm>
            <a:off x="777240" y="4663440"/>
            <a:ext cx="548640" cy="548640"/>
          </a:xfrm>
          <a:prstGeom prst="ellipse">
            <a:avLst/>
          </a:prstGeom>
          <a:solidFill>
            <a:srgbClr val="E08E1D"/>
          </a:solidFill>
          <a:ln/>
        </p:spPr>
      </p:sp>
      <p:pic>
        <p:nvPicPr>
          <p:cNvPr id="27" name="Image 4" descr="preencoded.png">    </p:cNvPr>
          <p:cNvPicPr>
            <a:picLocks noChangeAspect="1"/>
          </p:cNvPicPr>
          <p:nvPr/>
        </p:nvPicPr>
        <p:blipFill>
          <a:blip r:embed="rId5"/>
          <a:stretch>
            <a:fillRect/>
          </a:stretch>
        </p:blipFill>
        <p:spPr>
          <a:xfrm>
            <a:off x="919886" y="4806086"/>
            <a:ext cx="263347" cy="263347"/>
          </a:xfrm>
          <a:prstGeom prst="rect">
            <a:avLst/>
          </a:prstGeom>
        </p:spPr>
      </p:pic>
      <p:sp>
        <p:nvSpPr>
          <p:cNvPr id="28" name="Text 21"/>
          <p:cNvSpPr/>
          <p:nvPr/>
        </p:nvSpPr>
        <p:spPr>
          <a:xfrm>
            <a:off x="1508760" y="4617720"/>
            <a:ext cx="9601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this matters: jurisdiction is fuzzy</a:t>
            </a:r>
            <a:endParaRPr lang="en-US" sz="1400" dirty="0"/>
          </a:p>
        </p:txBody>
      </p:sp>
      <p:sp>
        <p:nvSpPr>
          <p:cNvPr id="29" name="Text 22"/>
          <p:cNvSpPr/>
          <p:nvPr/>
        </p:nvSpPr>
        <p:spPr>
          <a:xfrm>
            <a:off x="1508760" y="4956048"/>
            <a:ext cx="9601200" cy="868680"/>
          </a:xfrm>
          <a:prstGeom prst="rect">
            <a:avLst/>
          </a:prstGeom>
          <a:noFill/>
          <a:ln/>
        </p:spPr>
        <p:txBody>
          <a:bodyPr wrap="square" lIns="0" tIns="0" rIns="0" bIns="0" rtlCol="0" anchor="t"/>
          <a:lstStyle/>
          <a:p>
            <a:pPr indent="0" marL="0">
              <a:buNone/>
            </a:pPr>
            <a:r>
              <a:rPr lang="en-US" sz="1250" dirty="0">
                <a:solidFill>
                  <a:srgbClr val="CFE8E6"/>
                </a:solidFill>
                <a:latin typeface="Calibri" pitchFamily="34" charset="0"/>
                <a:ea typeface="Calibri" pitchFamily="34" charset="-122"/>
                <a:cs typeface="Calibri" pitchFamily="34" charset="-120"/>
              </a:rPr>
              <a:t>GDPR applies to natural persons within EU jurisdiction — but someone outside that jurisdiction using a VPN can appear to be a different person entirely. For a business to stay compliant, it must, in practice, treat anyone who plausibly could be in-scope as if they are.</a:t>
            </a:r>
            <a:endParaRPr lang="en-US" sz="1250" dirty="0"/>
          </a:p>
        </p:txBody>
      </p:sp>
      <p:sp>
        <p:nvSpPr>
          <p:cNvPr id="30"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31" name="Text 24"/>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Five Modes of Location Self-Tracking</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indent="0" marL="0">
              <a:buNone/>
            </a:pPr>
            <a:r>
              <a:rPr lang="en-US" sz="1350" i="1" dirty="0">
                <a:solidFill>
                  <a:srgbClr val="5B6B7F"/>
                </a:solidFill>
                <a:latin typeface="Calibri" pitchFamily="34" charset="0"/>
                <a:ea typeface="Calibri" pitchFamily="34" charset="-122"/>
                <a:cs typeface="Calibri" pitchFamily="34" charset="-120"/>
              </a:rPr>
              <a:t>Lupton's taxonomy, organised by who initiates tracking and how much autonomy the individual retains.</a:t>
            </a:r>
            <a:endParaRPr lang="en-US" sz="1350" dirty="0"/>
          </a:p>
        </p:txBody>
      </p:sp>
      <p:sp>
        <p:nvSpPr>
          <p:cNvPr id="5" name="Shape 3"/>
          <p:cNvSpPr/>
          <p:nvPr/>
        </p:nvSpPr>
        <p:spPr>
          <a:xfrm>
            <a:off x="548640" y="1965960"/>
            <a:ext cx="2121408" cy="4160520"/>
          </a:xfrm>
          <a:prstGeom prst="roundRect">
            <a:avLst>
              <a:gd name="adj" fmla="val 3448"/>
            </a:avLst>
          </a:prstGeom>
          <a:solidFill>
            <a:srgbClr val="F4F8F8"/>
          </a:solidFill>
          <a:ln/>
        </p:spPr>
      </p:sp>
      <p:sp>
        <p:nvSpPr>
          <p:cNvPr id="6" name="Shape 4"/>
          <p:cNvSpPr/>
          <p:nvPr/>
        </p:nvSpPr>
        <p:spPr>
          <a:xfrm>
            <a:off x="548640" y="1965960"/>
            <a:ext cx="2121408" cy="502920"/>
          </a:xfrm>
          <a:prstGeom prst="roundRect">
            <a:avLst>
              <a:gd name="adj" fmla="val 14545"/>
            </a:avLst>
          </a:prstGeom>
          <a:solidFill>
            <a:srgbClr val="1E8E5A"/>
          </a:solidFill>
          <a:ln/>
        </p:spPr>
      </p:sp>
      <p:sp>
        <p:nvSpPr>
          <p:cNvPr id="7" name="Shape 5"/>
          <p:cNvSpPr/>
          <p:nvPr/>
        </p:nvSpPr>
        <p:spPr>
          <a:xfrm>
            <a:off x="548640" y="2240280"/>
            <a:ext cx="2121408" cy="228600"/>
          </a:xfrm>
          <a:prstGeom prst="rect">
            <a:avLst/>
          </a:prstGeom>
          <a:solidFill>
            <a:srgbClr val="1E8E5A"/>
          </a:solidFill>
          <a:ln/>
        </p:spPr>
      </p:sp>
      <p:sp>
        <p:nvSpPr>
          <p:cNvPr id="8" name="Shape 6"/>
          <p:cNvSpPr/>
          <p:nvPr/>
        </p:nvSpPr>
        <p:spPr>
          <a:xfrm>
            <a:off x="1335024" y="2606040"/>
            <a:ext cx="548640" cy="54864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477670" y="2748686"/>
            <a:ext cx="263347" cy="263347"/>
          </a:xfrm>
          <a:prstGeom prst="rect">
            <a:avLst/>
          </a:prstGeom>
        </p:spPr>
      </p:pic>
      <p:sp>
        <p:nvSpPr>
          <p:cNvPr id="10" name="Text 7"/>
          <p:cNvSpPr/>
          <p:nvPr/>
        </p:nvSpPr>
        <p:spPr>
          <a:xfrm>
            <a:off x="621792" y="2011680"/>
            <a:ext cx="1975104"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Private</a:t>
            </a:r>
            <a:endParaRPr lang="en-US" sz="1350" dirty="0"/>
          </a:p>
        </p:txBody>
      </p:sp>
      <p:sp>
        <p:nvSpPr>
          <p:cNvPr id="11" name="Text 8"/>
          <p:cNvSpPr/>
          <p:nvPr/>
        </p:nvSpPr>
        <p:spPr>
          <a:xfrm>
            <a:off x="685800" y="3383280"/>
            <a:ext cx="1847088" cy="2606040"/>
          </a:xfrm>
          <a:prstGeom prst="rect">
            <a:avLst/>
          </a:prstGeom>
          <a:noFill/>
          <a:ln/>
        </p:spPr>
        <p:txBody>
          <a:bodyPr wrap="square" lIns="0" tIns="0" rIns="0" bIns="0" rtlCol="0" anchor="t"/>
          <a:lstStyle/>
          <a:p>
            <a:pPr algn="l" indent="0" marL="0">
              <a:buNone/>
            </a:pPr>
            <a:r>
              <a:rPr lang="en-US" sz="1080" dirty="0">
                <a:solidFill>
                  <a:srgbClr val="16213A"/>
                </a:solidFill>
                <a:latin typeface="Calibri" pitchFamily="34" charset="0"/>
                <a:ea typeface="Calibri" pitchFamily="34" charset="-122"/>
                <a:cs typeface="Calibri" pitchFamily="34" charset="-120"/>
              </a:rPr>
              <a:t>Individual tracks their own behaviour for self-reflection (e.g., wearable fitness trackers)</a:t>
            </a:r>
            <a:endParaRPr lang="en-US" sz="1080" dirty="0"/>
          </a:p>
        </p:txBody>
      </p:sp>
      <p:sp>
        <p:nvSpPr>
          <p:cNvPr id="12" name="Shape 9"/>
          <p:cNvSpPr/>
          <p:nvPr/>
        </p:nvSpPr>
        <p:spPr>
          <a:xfrm>
            <a:off x="2788920" y="1965960"/>
            <a:ext cx="2121408" cy="4160520"/>
          </a:xfrm>
          <a:prstGeom prst="roundRect">
            <a:avLst>
              <a:gd name="adj" fmla="val 3448"/>
            </a:avLst>
          </a:prstGeom>
          <a:solidFill>
            <a:srgbClr val="F4F8F8"/>
          </a:solidFill>
          <a:ln/>
        </p:spPr>
      </p:sp>
      <p:sp>
        <p:nvSpPr>
          <p:cNvPr id="13" name="Shape 10"/>
          <p:cNvSpPr/>
          <p:nvPr/>
        </p:nvSpPr>
        <p:spPr>
          <a:xfrm>
            <a:off x="2788920" y="1965960"/>
            <a:ext cx="2121408" cy="502920"/>
          </a:xfrm>
          <a:prstGeom prst="roundRect">
            <a:avLst>
              <a:gd name="adj" fmla="val 14545"/>
            </a:avLst>
          </a:prstGeom>
          <a:solidFill>
            <a:srgbClr val="0E7C86"/>
          </a:solidFill>
          <a:ln/>
        </p:spPr>
      </p:sp>
      <p:sp>
        <p:nvSpPr>
          <p:cNvPr id="14" name="Shape 11"/>
          <p:cNvSpPr/>
          <p:nvPr/>
        </p:nvSpPr>
        <p:spPr>
          <a:xfrm>
            <a:off x="2788920" y="2240280"/>
            <a:ext cx="2121408" cy="228600"/>
          </a:xfrm>
          <a:prstGeom prst="rect">
            <a:avLst/>
          </a:prstGeom>
          <a:solidFill>
            <a:srgbClr val="0E7C86"/>
          </a:solidFill>
          <a:ln/>
        </p:spPr>
      </p:sp>
      <p:sp>
        <p:nvSpPr>
          <p:cNvPr id="15" name="Shape 12"/>
          <p:cNvSpPr/>
          <p:nvPr/>
        </p:nvSpPr>
        <p:spPr>
          <a:xfrm>
            <a:off x="3575304" y="2606040"/>
            <a:ext cx="548640" cy="548640"/>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3717950" y="2748686"/>
            <a:ext cx="263347" cy="263347"/>
          </a:xfrm>
          <a:prstGeom prst="rect">
            <a:avLst/>
          </a:prstGeom>
        </p:spPr>
      </p:pic>
      <p:sp>
        <p:nvSpPr>
          <p:cNvPr id="17" name="Text 13"/>
          <p:cNvSpPr/>
          <p:nvPr/>
        </p:nvSpPr>
        <p:spPr>
          <a:xfrm>
            <a:off x="2862072" y="2011680"/>
            <a:ext cx="1975104"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Pushed</a:t>
            </a:r>
            <a:endParaRPr lang="en-US" sz="1350" dirty="0"/>
          </a:p>
        </p:txBody>
      </p:sp>
      <p:sp>
        <p:nvSpPr>
          <p:cNvPr id="18" name="Text 14"/>
          <p:cNvSpPr/>
          <p:nvPr/>
        </p:nvSpPr>
        <p:spPr>
          <a:xfrm>
            <a:off x="2926080" y="3383280"/>
            <a:ext cx="1847088" cy="2606040"/>
          </a:xfrm>
          <a:prstGeom prst="rect">
            <a:avLst/>
          </a:prstGeom>
          <a:noFill/>
          <a:ln/>
        </p:spPr>
        <p:txBody>
          <a:bodyPr wrap="square" lIns="0" tIns="0" rIns="0" bIns="0" rtlCol="0" anchor="t"/>
          <a:lstStyle/>
          <a:p>
            <a:pPr algn="l" indent="0" marL="0">
              <a:buNone/>
            </a:pPr>
            <a:r>
              <a:rPr lang="en-US" sz="1080" dirty="0">
                <a:solidFill>
                  <a:srgbClr val="16213A"/>
                </a:solidFill>
                <a:latin typeface="Calibri" pitchFamily="34" charset="0"/>
                <a:ea typeface="Calibri" pitchFamily="34" charset="-122"/>
                <a:cs typeface="Calibri" pitchFamily="34" charset="-120"/>
              </a:rPr>
              <a:t>Incentivised by another actor for behaviour change or financial reward (e.g., insurer discounts)</a:t>
            </a:r>
            <a:endParaRPr lang="en-US" sz="1080" dirty="0"/>
          </a:p>
        </p:txBody>
      </p:sp>
      <p:sp>
        <p:nvSpPr>
          <p:cNvPr id="19" name="Shape 15"/>
          <p:cNvSpPr/>
          <p:nvPr/>
        </p:nvSpPr>
        <p:spPr>
          <a:xfrm>
            <a:off x="5029200" y="1965960"/>
            <a:ext cx="2121408" cy="4160520"/>
          </a:xfrm>
          <a:prstGeom prst="roundRect">
            <a:avLst>
              <a:gd name="adj" fmla="val 3448"/>
            </a:avLst>
          </a:prstGeom>
          <a:solidFill>
            <a:srgbClr val="F4F8F8"/>
          </a:solidFill>
          <a:ln/>
        </p:spPr>
      </p:sp>
      <p:sp>
        <p:nvSpPr>
          <p:cNvPr id="20" name="Shape 16"/>
          <p:cNvSpPr/>
          <p:nvPr/>
        </p:nvSpPr>
        <p:spPr>
          <a:xfrm>
            <a:off x="5029200" y="1965960"/>
            <a:ext cx="2121408" cy="502920"/>
          </a:xfrm>
          <a:prstGeom prst="roundRect">
            <a:avLst>
              <a:gd name="adj" fmla="val 14545"/>
            </a:avLst>
          </a:prstGeom>
          <a:solidFill>
            <a:srgbClr val="E08E1D"/>
          </a:solidFill>
          <a:ln/>
        </p:spPr>
      </p:sp>
      <p:sp>
        <p:nvSpPr>
          <p:cNvPr id="21" name="Shape 17"/>
          <p:cNvSpPr/>
          <p:nvPr/>
        </p:nvSpPr>
        <p:spPr>
          <a:xfrm>
            <a:off x="5029200" y="2240280"/>
            <a:ext cx="2121408" cy="228600"/>
          </a:xfrm>
          <a:prstGeom prst="rect">
            <a:avLst/>
          </a:prstGeom>
          <a:solidFill>
            <a:srgbClr val="E08E1D"/>
          </a:solidFill>
          <a:ln/>
        </p:spPr>
      </p:sp>
      <p:sp>
        <p:nvSpPr>
          <p:cNvPr id="22" name="Shape 18"/>
          <p:cNvSpPr/>
          <p:nvPr/>
        </p:nvSpPr>
        <p:spPr>
          <a:xfrm>
            <a:off x="5815584" y="2606040"/>
            <a:ext cx="548640" cy="548640"/>
          </a:xfrm>
          <a:prstGeom prst="ellipse">
            <a:avLst/>
          </a:prstGeom>
          <a:solidFill>
            <a:srgbClr val="FFFFFF"/>
          </a:solidFill>
          <a:ln/>
        </p:spPr>
      </p:sp>
      <p:pic>
        <p:nvPicPr>
          <p:cNvPr id="23" name="Image 2" descr="preencoded.png">    </p:cNvPr>
          <p:cNvPicPr>
            <a:picLocks noChangeAspect="1"/>
          </p:cNvPicPr>
          <p:nvPr/>
        </p:nvPicPr>
        <p:blipFill>
          <a:blip r:embed="rId3"/>
          <a:stretch>
            <a:fillRect/>
          </a:stretch>
        </p:blipFill>
        <p:spPr>
          <a:xfrm>
            <a:off x="5958230" y="2748686"/>
            <a:ext cx="263347" cy="263347"/>
          </a:xfrm>
          <a:prstGeom prst="rect">
            <a:avLst/>
          </a:prstGeom>
        </p:spPr>
      </p:pic>
      <p:sp>
        <p:nvSpPr>
          <p:cNvPr id="24" name="Text 19"/>
          <p:cNvSpPr/>
          <p:nvPr/>
        </p:nvSpPr>
        <p:spPr>
          <a:xfrm>
            <a:off x="5102352" y="2011680"/>
            <a:ext cx="1975104"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Imposed</a:t>
            </a:r>
            <a:endParaRPr lang="en-US" sz="1350" dirty="0"/>
          </a:p>
        </p:txBody>
      </p:sp>
      <p:sp>
        <p:nvSpPr>
          <p:cNvPr id="25" name="Text 20"/>
          <p:cNvSpPr/>
          <p:nvPr/>
        </p:nvSpPr>
        <p:spPr>
          <a:xfrm>
            <a:off x="5166360" y="3383280"/>
            <a:ext cx="1847088" cy="2606040"/>
          </a:xfrm>
          <a:prstGeom prst="rect">
            <a:avLst/>
          </a:prstGeom>
          <a:noFill/>
          <a:ln/>
        </p:spPr>
        <p:txBody>
          <a:bodyPr wrap="square" lIns="0" tIns="0" rIns="0" bIns="0" rtlCol="0" anchor="t"/>
          <a:lstStyle/>
          <a:p>
            <a:pPr algn="l" indent="0" marL="0">
              <a:buNone/>
            </a:pPr>
            <a:r>
              <a:rPr lang="en-US" sz="1080" dirty="0">
                <a:solidFill>
                  <a:srgbClr val="16213A"/>
                </a:solidFill>
                <a:latin typeface="Calibri" pitchFamily="34" charset="0"/>
                <a:ea typeface="Calibri" pitchFamily="34" charset="-122"/>
                <a:cs typeface="Calibri" pitchFamily="34" charset="-120"/>
              </a:rPr>
              <a:t>Coercively enforced to access a needed product or service (e.g., car insurance tracking boxes)</a:t>
            </a:r>
            <a:endParaRPr lang="en-US" sz="1080" dirty="0"/>
          </a:p>
        </p:txBody>
      </p:sp>
      <p:sp>
        <p:nvSpPr>
          <p:cNvPr id="26" name="Shape 21"/>
          <p:cNvSpPr/>
          <p:nvPr/>
        </p:nvSpPr>
        <p:spPr>
          <a:xfrm>
            <a:off x="7269480" y="1965960"/>
            <a:ext cx="2121408" cy="4160520"/>
          </a:xfrm>
          <a:prstGeom prst="roundRect">
            <a:avLst>
              <a:gd name="adj" fmla="val 3448"/>
            </a:avLst>
          </a:prstGeom>
          <a:solidFill>
            <a:srgbClr val="F4F8F8"/>
          </a:solidFill>
          <a:ln/>
        </p:spPr>
      </p:sp>
      <p:sp>
        <p:nvSpPr>
          <p:cNvPr id="27" name="Shape 22"/>
          <p:cNvSpPr/>
          <p:nvPr/>
        </p:nvSpPr>
        <p:spPr>
          <a:xfrm>
            <a:off x="7269480" y="1965960"/>
            <a:ext cx="2121408" cy="502920"/>
          </a:xfrm>
          <a:prstGeom prst="roundRect">
            <a:avLst>
              <a:gd name="adj" fmla="val 14545"/>
            </a:avLst>
          </a:prstGeom>
          <a:solidFill>
            <a:srgbClr val="3FA9B0"/>
          </a:solidFill>
          <a:ln/>
        </p:spPr>
      </p:sp>
      <p:sp>
        <p:nvSpPr>
          <p:cNvPr id="28" name="Shape 23"/>
          <p:cNvSpPr/>
          <p:nvPr/>
        </p:nvSpPr>
        <p:spPr>
          <a:xfrm>
            <a:off x="7269480" y="2240280"/>
            <a:ext cx="2121408" cy="228600"/>
          </a:xfrm>
          <a:prstGeom prst="rect">
            <a:avLst/>
          </a:prstGeom>
          <a:solidFill>
            <a:srgbClr val="3FA9B0"/>
          </a:solidFill>
          <a:ln/>
        </p:spPr>
      </p:sp>
      <p:sp>
        <p:nvSpPr>
          <p:cNvPr id="29" name="Shape 24"/>
          <p:cNvSpPr/>
          <p:nvPr/>
        </p:nvSpPr>
        <p:spPr>
          <a:xfrm>
            <a:off x="8055864" y="2606040"/>
            <a:ext cx="548640" cy="548640"/>
          </a:xfrm>
          <a:prstGeom prst="ellipse">
            <a:avLst/>
          </a:prstGeom>
          <a:solidFill>
            <a:srgbClr val="FFFFFF"/>
          </a:solidFill>
          <a:ln/>
        </p:spPr>
      </p:sp>
      <p:pic>
        <p:nvPicPr>
          <p:cNvPr id="30" name="Image 3" descr="preencoded.png">    </p:cNvPr>
          <p:cNvPicPr>
            <a:picLocks noChangeAspect="1"/>
          </p:cNvPicPr>
          <p:nvPr/>
        </p:nvPicPr>
        <p:blipFill>
          <a:blip r:embed="rId4"/>
          <a:stretch>
            <a:fillRect/>
          </a:stretch>
        </p:blipFill>
        <p:spPr>
          <a:xfrm>
            <a:off x="8198510" y="2748686"/>
            <a:ext cx="263347" cy="263347"/>
          </a:xfrm>
          <a:prstGeom prst="rect">
            <a:avLst/>
          </a:prstGeom>
        </p:spPr>
      </p:pic>
      <p:sp>
        <p:nvSpPr>
          <p:cNvPr id="31" name="Text 25"/>
          <p:cNvSpPr/>
          <p:nvPr/>
        </p:nvSpPr>
        <p:spPr>
          <a:xfrm>
            <a:off x="7342632" y="2011680"/>
            <a:ext cx="1975104"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Communal</a:t>
            </a:r>
            <a:endParaRPr lang="en-US" sz="1350" dirty="0"/>
          </a:p>
        </p:txBody>
      </p:sp>
      <p:sp>
        <p:nvSpPr>
          <p:cNvPr id="32" name="Text 26"/>
          <p:cNvSpPr/>
          <p:nvPr/>
        </p:nvSpPr>
        <p:spPr>
          <a:xfrm>
            <a:off x="7406640" y="3383280"/>
            <a:ext cx="1847088" cy="2606040"/>
          </a:xfrm>
          <a:prstGeom prst="rect">
            <a:avLst/>
          </a:prstGeom>
          <a:noFill/>
          <a:ln/>
        </p:spPr>
        <p:txBody>
          <a:bodyPr wrap="square" lIns="0" tIns="0" rIns="0" bIns="0" rtlCol="0" anchor="t"/>
          <a:lstStyle/>
          <a:p>
            <a:pPr algn="l" indent="0" marL="0">
              <a:buNone/>
            </a:pPr>
            <a:r>
              <a:rPr lang="en-US" sz="1080" dirty="0">
                <a:solidFill>
                  <a:srgbClr val="16213A"/>
                </a:solidFill>
                <a:latin typeface="Calibri" pitchFamily="34" charset="0"/>
                <a:ea typeface="Calibri" pitchFamily="34" charset="-122"/>
                <a:cs typeface="Calibri" pitchFamily="34" charset="-120"/>
              </a:rPr>
              <a:t>Emerges from pooling private tracking data for shared benefit (e.g., CleanSpace air-quality crowdsourcing)</a:t>
            </a:r>
            <a:endParaRPr lang="en-US" sz="1080" dirty="0"/>
          </a:p>
        </p:txBody>
      </p:sp>
      <p:sp>
        <p:nvSpPr>
          <p:cNvPr id="33" name="Shape 27"/>
          <p:cNvSpPr/>
          <p:nvPr/>
        </p:nvSpPr>
        <p:spPr>
          <a:xfrm>
            <a:off x="9509760" y="1965960"/>
            <a:ext cx="2121408" cy="4160520"/>
          </a:xfrm>
          <a:prstGeom prst="roundRect">
            <a:avLst>
              <a:gd name="adj" fmla="val 3448"/>
            </a:avLst>
          </a:prstGeom>
          <a:solidFill>
            <a:srgbClr val="F4F8F8"/>
          </a:solidFill>
          <a:ln/>
        </p:spPr>
      </p:sp>
      <p:sp>
        <p:nvSpPr>
          <p:cNvPr id="34" name="Shape 28"/>
          <p:cNvSpPr/>
          <p:nvPr/>
        </p:nvSpPr>
        <p:spPr>
          <a:xfrm>
            <a:off x="9509760" y="1965960"/>
            <a:ext cx="2121408" cy="502920"/>
          </a:xfrm>
          <a:prstGeom prst="roundRect">
            <a:avLst>
              <a:gd name="adj" fmla="val 14545"/>
            </a:avLst>
          </a:prstGeom>
          <a:solidFill>
            <a:srgbClr val="C0392B"/>
          </a:solidFill>
          <a:ln/>
        </p:spPr>
      </p:sp>
      <p:sp>
        <p:nvSpPr>
          <p:cNvPr id="35" name="Shape 29"/>
          <p:cNvSpPr/>
          <p:nvPr/>
        </p:nvSpPr>
        <p:spPr>
          <a:xfrm>
            <a:off x="9509760" y="2240280"/>
            <a:ext cx="2121408" cy="228600"/>
          </a:xfrm>
          <a:prstGeom prst="rect">
            <a:avLst/>
          </a:prstGeom>
          <a:solidFill>
            <a:srgbClr val="C0392B"/>
          </a:solidFill>
          <a:ln/>
        </p:spPr>
      </p:sp>
      <p:sp>
        <p:nvSpPr>
          <p:cNvPr id="36" name="Shape 30"/>
          <p:cNvSpPr/>
          <p:nvPr/>
        </p:nvSpPr>
        <p:spPr>
          <a:xfrm>
            <a:off x="10296144" y="2606040"/>
            <a:ext cx="548640" cy="548640"/>
          </a:xfrm>
          <a:prstGeom prst="ellipse">
            <a:avLst/>
          </a:prstGeom>
          <a:solidFill>
            <a:srgbClr val="FFFFFF"/>
          </a:solidFill>
          <a:ln/>
        </p:spPr>
      </p:sp>
      <p:pic>
        <p:nvPicPr>
          <p:cNvPr id="37" name="Image 4" descr="preencoded.png">    </p:cNvPr>
          <p:cNvPicPr>
            <a:picLocks noChangeAspect="1"/>
          </p:cNvPicPr>
          <p:nvPr/>
        </p:nvPicPr>
        <p:blipFill>
          <a:blip r:embed="rId5"/>
          <a:stretch>
            <a:fillRect/>
          </a:stretch>
        </p:blipFill>
        <p:spPr>
          <a:xfrm>
            <a:off x="10438790" y="2748686"/>
            <a:ext cx="263347" cy="263347"/>
          </a:xfrm>
          <a:prstGeom prst="rect">
            <a:avLst/>
          </a:prstGeom>
        </p:spPr>
      </p:pic>
      <p:sp>
        <p:nvSpPr>
          <p:cNvPr id="38" name="Text 31"/>
          <p:cNvSpPr/>
          <p:nvPr/>
        </p:nvSpPr>
        <p:spPr>
          <a:xfrm>
            <a:off x="9582912" y="2011680"/>
            <a:ext cx="1975104" cy="4114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Exploited</a:t>
            </a:r>
            <a:endParaRPr lang="en-US" sz="1350" dirty="0"/>
          </a:p>
        </p:txBody>
      </p:sp>
      <p:sp>
        <p:nvSpPr>
          <p:cNvPr id="39" name="Text 32"/>
          <p:cNvSpPr/>
          <p:nvPr/>
        </p:nvSpPr>
        <p:spPr>
          <a:xfrm>
            <a:off x="9646920" y="3383280"/>
            <a:ext cx="1847088" cy="2606040"/>
          </a:xfrm>
          <a:prstGeom prst="rect">
            <a:avLst/>
          </a:prstGeom>
          <a:noFill/>
          <a:ln/>
        </p:spPr>
        <p:txBody>
          <a:bodyPr wrap="square" lIns="0" tIns="0" rIns="0" bIns="0" rtlCol="0" anchor="t"/>
          <a:lstStyle/>
          <a:p>
            <a:pPr algn="l" indent="0" marL="0">
              <a:buNone/>
            </a:pPr>
            <a:r>
              <a:rPr lang="en-US" sz="1080" dirty="0">
                <a:solidFill>
                  <a:srgbClr val="16213A"/>
                </a:solidFill>
                <a:latin typeface="Calibri" pitchFamily="34" charset="0"/>
                <a:ea typeface="Calibri" pitchFamily="34" charset="-122"/>
                <a:cs typeface="Calibri" pitchFamily="34" charset="-120"/>
              </a:rPr>
              <a:t>Insights from ostensibly self-tracking data are sold or reused for other purposes (e.g., Pokemon Go location data)</a:t>
            </a:r>
            <a:endParaRPr lang="en-US" sz="1080" dirty="0"/>
          </a:p>
        </p:txBody>
      </p:sp>
      <p:sp>
        <p:nvSpPr>
          <p:cNvPr id="40" name="Text 3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41" name="Text 34"/>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Core Social &amp; Ethical Tension</a:t>
            </a:r>
            <a:endParaRPr lang="en-US" sz="3000" dirty="0"/>
          </a:p>
        </p:txBody>
      </p:sp>
      <p:sp>
        <p:nvSpPr>
          <p:cNvPr id="4" name="Shape 2"/>
          <p:cNvSpPr/>
          <p:nvPr/>
        </p:nvSpPr>
        <p:spPr>
          <a:xfrm>
            <a:off x="1097280" y="2103120"/>
            <a:ext cx="4297680" cy="3291840"/>
          </a:xfrm>
          <a:prstGeom prst="roundRect">
            <a:avLst>
              <a:gd name="adj" fmla="val 2778"/>
            </a:avLst>
          </a:prstGeom>
          <a:solidFill>
            <a:srgbClr val="0E7C86"/>
          </a:solidFill>
          <a:ln/>
        </p:spPr>
      </p:sp>
      <p:sp>
        <p:nvSpPr>
          <p:cNvPr id="5" name="Shape 3"/>
          <p:cNvSpPr/>
          <p:nvPr/>
        </p:nvSpPr>
        <p:spPr>
          <a:xfrm>
            <a:off x="2880360" y="2423160"/>
            <a:ext cx="914400" cy="91440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3118104" y="2660904"/>
            <a:ext cx="438912" cy="438912"/>
          </a:xfrm>
          <a:prstGeom prst="rect">
            <a:avLst/>
          </a:prstGeom>
        </p:spPr>
      </p:pic>
      <p:sp>
        <p:nvSpPr>
          <p:cNvPr id="7" name="Text 4"/>
          <p:cNvSpPr/>
          <p:nvPr/>
        </p:nvSpPr>
        <p:spPr>
          <a:xfrm>
            <a:off x="1417320" y="3520440"/>
            <a:ext cx="3657600" cy="137160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Using everyday movement data to deliver efficient services, better planning, and public safety</a:t>
            </a:r>
            <a:endParaRPr lang="en-US" sz="1500" dirty="0"/>
          </a:p>
        </p:txBody>
      </p:sp>
      <p:sp>
        <p:nvSpPr>
          <p:cNvPr id="8" name="Shape 5"/>
          <p:cNvSpPr/>
          <p:nvPr/>
        </p:nvSpPr>
        <p:spPr>
          <a:xfrm>
            <a:off x="5623560" y="3520440"/>
            <a:ext cx="914400" cy="914400"/>
          </a:xfrm>
          <a:prstGeom prst="ellipse">
            <a:avLst/>
          </a:prstGeom>
          <a:solidFill>
            <a:srgbClr val="E08E1D"/>
          </a:solidFill>
          <a:ln/>
        </p:spPr>
      </p:sp>
      <p:sp>
        <p:nvSpPr>
          <p:cNvPr id="9" name="Text 6"/>
          <p:cNvSpPr/>
          <p:nvPr/>
        </p:nvSpPr>
        <p:spPr>
          <a:xfrm>
            <a:off x="5623560" y="3520440"/>
            <a:ext cx="914400" cy="914400"/>
          </a:xfrm>
          <a:prstGeom prst="rect">
            <a:avLst/>
          </a:prstGeom>
          <a:noFill/>
          <a:ln/>
        </p:spPr>
        <p:txBody>
          <a:bodyPr wrap="square" lIns="0" tIns="0" rIns="0" bIns="0" rtlCol="0" anchor="ctr"/>
          <a:lstStyle/>
          <a:p>
            <a:pPr algn="ctr" indent="0" marL="0">
              <a:buNone/>
            </a:pPr>
            <a:r>
              <a:rPr lang="en-US" sz="2000" b="1" dirty="0">
                <a:solidFill>
                  <a:srgbClr val="0B1F3A"/>
                </a:solidFill>
                <a:latin typeface="Cambria" pitchFamily="34" charset="0"/>
                <a:ea typeface="Cambria" pitchFamily="34" charset="-122"/>
                <a:cs typeface="Cambria" pitchFamily="34" charset="-120"/>
              </a:rPr>
              <a:t>VS</a:t>
            </a:r>
            <a:endParaRPr lang="en-US" sz="2000" dirty="0"/>
          </a:p>
        </p:txBody>
      </p:sp>
      <p:sp>
        <p:nvSpPr>
          <p:cNvPr id="10" name="Shape 7"/>
          <p:cNvSpPr/>
          <p:nvPr/>
        </p:nvSpPr>
        <p:spPr>
          <a:xfrm>
            <a:off x="6766560" y="2103120"/>
            <a:ext cx="4297680" cy="3291840"/>
          </a:xfrm>
          <a:prstGeom prst="roundRect">
            <a:avLst>
              <a:gd name="adj" fmla="val 2778"/>
            </a:avLst>
          </a:prstGeom>
          <a:solidFill>
            <a:srgbClr val="3FA9B0"/>
          </a:solidFill>
          <a:ln/>
        </p:spPr>
      </p:sp>
      <p:sp>
        <p:nvSpPr>
          <p:cNvPr id="11" name="Shape 8"/>
          <p:cNvSpPr/>
          <p:nvPr/>
        </p:nvSpPr>
        <p:spPr>
          <a:xfrm>
            <a:off x="8549640" y="2423160"/>
            <a:ext cx="914400" cy="91440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8787384" y="2660904"/>
            <a:ext cx="438912" cy="438912"/>
          </a:xfrm>
          <a:prstGeom prst="rect">
            <a:avLst/>
          </a:prstGeom>
        </p:spPr>
      </p:pic>
      <p:sp>
        <p:nvSpPr>
          <p:cNvPr id="13" name="Text 9"/>
          <p:cNvSpPr/>
          <p:nvPr/>
        </p:nvSpPr>
        <p:spPr>
          <a:xfrm>
            <a:off x="7086600" y="3520440"/>
            <a:ext cx="3657600" cy="137160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Respecting the individual sphere of privacy — what people don't choose to reveal about themselves</a:t>
            </a:r>
            <a:endParaRPr lang="en-US" sz="1500" dirty="0"/>
          </a:p>
        </p:txBody>
      </p:sp>
      <p:sp>
        <p:nvSpPr>
          <p:cNvPr id="14" name="Text 10"/>
          <p:cNvSpPr/>
          <p:nvPr/>
        </p:nvSpPr>
        <p:spPr>
          <a:xfrm>
            <a:off x="1097280" y="5715000"/>
            <a:ext cx="9966960" cy="457200"/>
          </a:xfrm>
          <a:prstGeom prst="rect">
            <a:avLst/>
          </a:prstGeom>
          <a:noFill/>
          <a:ln/>
        </p:spPr>
        <p:txBody>
          <a:bodyPr wrap="square" lIns="0" tIns="0" rIns="0" bIns="0" rtlCol="0" anchor="ctr"/>
          <a:lstStyle/>
          <a:p>
            <a:pPr algn="ctr" indent="0" marL="0">
              <a:buNone/>
            </a:pPr>
            <a:r>
              <a:rPr lang="en-US" sz="1350" i="1" dirty="0">
                <a:solidFill>
                  <a:srgbClr val="CFE8E6"/>
                </a:solidFill>
                <a:latin typeface="Calibri" pitchFamily="34" charset="0"/>
                <a:ea typeface="Calibri" pitchFamily="34" charset="-122"/>
                <a:cs typeface="Calibri" pitchFamily="34" charset="-120"/>
              </a:rPr>
              <a:t>This single tension underlies every opportunity and every challenge discussed in this case study.</a:t>
            </a:r>
            <a:endParaRPr lang="en-US" sz="1350" dirty="0"/>
          </a:p>
        </p:txBody>
      </p:sp>
      <p:sp>
        <p:nvSpPr>
          <p:cNvPr id="15" name="Text 11"/>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16" name="Text 12"/>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OPPORTUNITIES</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Evidence-Based Planning from Everyday Data</a:t>
            </a:r>
            <a:endParaRPr lang="en-US" sz="3000" dirty="0"/>
          </a:p>
        </p:txBody>
      </p:sp>
      <p:sp>
        <p:nvSpPr>
          <p:cNvPr id="4" name="Text 2"/>
          <p:cNvSpPr/>
          <p:nvPr/>
        </p:nvSpPr>
        <p:spPr>
          <a:xfrm>
            <a:off x="548640" y="1600200"/>
            <a:ext cx="10972800" cy="548640"/>
          </a:xfrm>
          <a:prstGeom prst="rect">
            <a:avLst/>
          </a:prstGeom>
          <a:noFill/>
          <a:ln/>
        </p:spPr>
        <p:txBody>
          <a:bodyPr wrap="square" lIns="0" tIns="0" rIns="0" bIns="0" rtlCol="0" anchor="ctr"/>
          <a:lstStyle/>
          <a:p>
            <a:pPr indent="0" marL="0">
              <a:buNone/>
            </a:pPr>
            <a:r>
              <a:rPr lang="en-US" sz="1450" dirty="0">
                <a:solidFill>
                  <a:srgbClr val="16213A"/>
                </a:solidFill>
                <a:latin typeface="Calibri" pitchFamily="34" charset="0"/>
                <a:ea typeface="Calibri" pitchFamily="34" charset="-122"/>
                <a:cs typeface="Calibri" pitchFamily="34" charset="-120"/>
              </a:rPr>
              <a:t>Firms whose apps generate large location datasets have found value in trading that data with public authorities — turning private app usage into public planning evidence.</a:t>
            </a:r>
            <a:endParaRPr lang="en-US" sz="1450" dirty="0"/>
          </a:p>
        </p:txBody>
      </p:sp>
      <p:sp>
        <p:nvSpPr>
          <p:cNvPr id="5" name="Shape 3"/>
          <p:cNvSpPr/>
          <p:nvPr/>
        </p:nvSpPr>
        <p:spPr>
          <a:xfrm>
            <a:off x="548640" y="2377440"/>
            <a:ext cx="3520440" cy="3291840"/>
          </a:xfrm>
          <a:prstGeom prst="roundRect">
            <a:avLst>
              <a:gd name="adj" fmla="val 2778"/>
            </a:avLst>
          </a:prstGeom>
          <a:solidFill>
            <a:srgbClr val="F4F8F8"/>
          </a:solidFill>
          <a:ln/>
          <a:effectLst>
            <a:outerShdw sx="100000" sy="100000" kx="0" ky="0" algn="bl" rotWithShape="0" blurRad="50800" dist="12700" dir="5400000">
              <a:srgbClr val="000000">
                <a:alpha val="8000"/>
              </a:srgbClr>
            </a:outerShdw>
          </a:effectLst>
        </p:spPr>
      </p:sp>
      <p:sp>
        <p:nvSpPr>
          <p:cNvPr id="6" name="Shape 4"/>
          <p:cNvSpPr/>
          <p:nvPr/>
        </p:nvSpPr>
        <p:spPr>
          <a:xfrm>
            <a:off x="1874520" y="2697480"/>
            <a:ext cx="868680" cy="868680"/>
          </a:xfrm>
          <a:prstGeom prst="ellipse">
            <a:avLst/>
          </a:prstGeom>
          <a:solidFill>
            <a:srgbClr val="0E7C86"/>
          </a:solidFill>
          <a:ln/>
        </p:spPr>
      </p:sp>
      <p:pic>
        <p:nvPicPr>
          <p:cNvPr id="7" name="Image 0" descr="preencoded.png">    </p:cNvPr>
          <p:cNvPicPr>
            <a:picLocks noChangeAspect="1"/>
          </p:cNvPicPr>
          <p:nvPr/>
        </p:nvPicPr>
        <p:blipFill>
          <a:blip r:embed="rId1"/>
          <a:stretch>
            <a:fillRect/>
          </a:stretch>
        </p:blipFill>
        <p:spPr>
          <a:xfrm>
            <a:off x="2100377" y="2923337"/>
            <a:ext cx="416966" cy="416966"/>
          </a:xfrm>
          <a:prstGeom prst="rect">
            <a:avLst/>
          </a:prstGeom>
        </p:spPr>
      </p:pic>
      <p:sp>
        <p:nvSpPr>
          <p:cNvPr id="8" name="Text 5"/>
          <p:cNvSpPr/>
          <p:nvPr/>
        </p:nvSpPr>
        <p:spPr>
          <a:xfrm>
            <a:off x="731520" y="3749040"/>
            <a:ext cx="3154680" cy="411480"/>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Strava</a:t>
            </a:r>
            <a:endParaRPr lang="en-US" sz="1700" dirty="0"/>
          </a:p>
        </p:txBody>
      </p:sp>
      <p:sp>
        <p:nvSpPr>
          <p:cNvPr id="9" name="Text 6"/>
          <p:cNvSpPr/>
          <p:nvPr/>
        </p:nvSpPr>
        <p:spPr>
          <a:xfrm>
            <a:off x="822960" y="4251960"/>
            <a:ext cx="2971800" cy="1280160"/>
          </a:xfrm>
          <a:prstGeom prst="rect">
            <a:avLst/>
          </a:prstGeom>
          <a:noFill/>
          <a:ln/>
        </p:spPr>
        <p:txBody>
          <a:bodyPr wrap="square" lIns="0" tIns="0" rIns="0" bIns="0" rtlCol="0" anchor="t"/>
          <a:lstStyle/>
          <a:p>
            <a:pPr algn="ctr" indent="0" marL="0">
              <a:buNone/>
            </a:pPr>
            <a:r>
              <a:rPr lang="en-US" sz="1250" dirty="0">
                <a:solidFill>
                  <a:srgbClr val="5B6B7F"/>
                </a:solidFill>
                <a:latin typeface="Calibri" pitchFamily="34" charset="0"/>
                <a:ea typeface="Calibri" pitchFamily="34" charset="-122"/>
                <a:cs typeface="Calibri" pitchFamily="34" charset="-120"/>
              </a:rPr>
              <a:t>Sells cycling/running activity data to local authorities to inform infrastructure planning</a:t>
            </a:r>
            <a:endParaRPr lang="en-US" sz="1250" dirty="0"/>
          </a:p>
        </p:txBody>
      </p:sp>
      <p:sp>
        <p:nvSpPr>
          <p:cNvPr id="10" name="Shape 7"/>
          <p:cNvSpPr/>
          <p:nvPr/>
        </p:nvSpPr>
        <p:spPr>
          <a:xfrm>
            <a:off x="4315968" y="2377440"/>
            <a:ext cx="3520440" cy="3291840"/>
          </a:xfrm>
          <a:prstGeom prst="roundRect">
            <a:avLst>
              <a:gd name="adj" fmla="val 2778"/>
            </a:avLst>
          </a:prstGeom>
          <a:solidFill>
            <a:srgbClr val="F4F8F8"/>
          </a:solidFill>
          <a:ln/>
          <a:effectLst>
            <a:outerShdw sx="100000" sy="100000" kx="0" ky="0" algn="bl" rotWithShape="0" blurRad="50800" dist="12700" dir="5400000">
              <a:srgbClr val="000000">
                <a:alpha val="8000"/>
              </a:srgbClr>
            </a:outerShdw>
          </a:effectLst>
        </p:spPr>
      </p:sp>
      <p:sp>
        <p:nvSpPr>
          <p:cNvPr id="11" name="Shape 8"/>
          <p:cNvSpPr/>
          <p:nvPr/>
        </p:nvSpPr>
        <p:spPr>
          <a:xfrm>
            <a:off x="5641848" y="2697480"/>
            <a:ext cx="868680" cy="868680"/>
          </a:xfrm>
          <a:prstGeom prst="ellipse">
            <a:avLst/>
          </a:prstGeom>
          <a:solidFill>
            <a:srgbClr val="0E7C86"/>
          </a:solidFill>
          <a:ln/>
        </p:spPr>
      </p:sp>
      <p:pic>
        <p:nvPicPr>
          <p:cNvPr id="12" name="Image 1" descr="preencoded.png">    </p:cNvPr>
          <p:cNvPicPr>
            <a:picLocks noChangeAspect="1"/>
          </p:cNvPicPr>
          <p:nvPr/>
        </p:nvPicPr>
        <p:blipFill>
          <a:blip r:embed="rId2"/>
          <a:stretch>
            <a:fillRect/>
          </a:stretch>
        </p:blipFill>
        <p:spPr>
          <a:xfrm>
            <a:off x="5867705" y="2923337"/>
            <a:ext cx="416966" cy="416966"/>
          </a:xfrm>
          <a:prstGeom prst="rect">
            <a:avLst/>
          </a:prstGeom>
        </p:spPr>
      </p:pic>
      <p:sp>
        <p:nvSpPr>
          <p:cNvPr id="13" name="Text 9"/>
          <p:cNvSpPr/>
          <p:nvPr/>
        </p:nvSpPr>
        <p:spPr>
          <a:xfrm>
            <a:off x="4498848" y="3749040"/>
            <a:ext cx="3154680" cy="411480"/>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Uber Movement</a:t>
            </a:r>
            <a:endParaRPr lang="en-US" sz="1700" dirty="0"/>
          </a:p>
        </p:txBody>
      </p:sp>
      <p:sp>
        <p:nvSpPr>
          <p:cNvPr id="14" name="Text 10"/>
          <p:cNvSpPr/>
          <p:nvPr/>
        </p:nvSpPr>
        <p:spPr>
          <a:xfrm>
            <a:off x="4590288" y="4251960"/>
            <a:ext cx="2971800" cy="1280160"/>
          </a:xfrm>
          <a:prstGeom prst="rect">
            <a:avLst/>
          </a:prstGeom>
          <a:noFill/>
          <a:ln/>
        </p:spPr>
        <p:txBody>
          <a:bodyPr wrap="square" lIns="0" tIns="0" rIns="0" bIns="0" rtlCol="0" anchor="t"/>
          <a:lstStyle/>
          <a:p>
            <a:pPr algn="ctr" indent="0" marL="0">
              <a:buNone/>
            </a:pPr>
            <a:r>
              <a:rPr lang="en-US" sz="1250" dirty="0">
                <a:solidFill>
                  <a:srgbClr val="5B6B7F"/>
                </a:solidFill>
                <a:latin typeface="Calibri" pitchFamily="34" charset="0"/>
                <a:ea typeface="Calibri" pitchFamily="34" charset="-122"/>
                <a:cs typeface="Calibri" pitchFamily="34" charset="-120"/>
              </a:rPr>
              <a:t>Provides free, limited summary journey data to city planners</a:t>
            </a:r>
            <a:endParaRPr lang="en-US" sz="1250" dirty="0"/>
          </a:p>
        </p:txBody>
      </p:sp>
      <p:sp>
        <p:nvSpPr>
          <p:cNvPr id="15" name="Shape 11"/>
          <p:cNvSpPr/>
          <p:nvPr/>
        </p:nvSpPr>
        <p:spPr>
          <a:xfrm>
            <a:off x="8083296" y="2377440"/>
            <a:ext cx="3520440" cy="3291840"/>
          </a:xfrm>
          <a:prstGeom prst="roundRect">
            <a:avLst>
              <a:gd name="adj" fmla="val 2778"/>
            </a:avLst>
          </a:prstGeom>
          <a:solidFill>
            <a:srgbClr val="F4F8F8"/>
          </a:solidFill>
          <a:ln/>
          <a:effectLst>
            <a:outerShdw sx="100000" sy="100000" kx="0" ky="0" algn="bl" rotWithShape="0" blurRad="50800" dist="12700" dir="5400000">
              <a:srgbClr val="000000">
                <a:alpha val="8000"/>
              </a:srgbClr>
            </a:outerShdw>
          </a:effectLst>
        </p:spPr>
      </p:sp>
      <p:sp>
        <p:nvSpPr>
          <p:cNvPr id="16" name="Shape 12"/>
          <p:cNvSpPr/>
          <p:nvPr/>
        </p:nvSpPr>
        <p:spPr>
          <a:xfrm>
            <a:off x="9409176" y="2697480"/>
            <a:ext cx="868680" cy="868680"/>
          </a:xfrm>
          <a:prstGeom prst="ellipse">
            <a:avLst/>
          </a:prstGeom>
          <a:solidFill>
            <a:srgbClr val="0E7C86"/>
          </a:solidFill>
          <a:ln/>
        </p:spPr>
      </p:sp>
      <p:pic>
        <p:nvPicPr>
          <p:cNvPr id="17" name="Image 2" descr="preencoded.png">    </p:cNvPr>
          <p:cNvPicPr>
            <a:picLocks noChangeAspect="1"/>
          </p:cNvPicPr>
          <p:nvPr/>
        </p:nvPicPr>
        <p:blipFill>
          <a:blip r:embed="rId3"/>
          <a:stretch>
            <a:fillRect/>
          </a:stretch>
        </p:blipFill>
        <p:spPr>
          <a:xfrm>
            <a:off x="9635033" y="2923337"/>
            <a:ext cx="416966" cy="416966"/>
          </a:xfrm>
          <a:prstGeom prst="rect">
            <a:avLst/>
          </a:prstGeom>
        </p:spPr>
      </p:pic>
      <p:sp>
        <p:nvSpPr>
          <p:cNvPr id="18" name="Text 13"/>
          <p:cNvSpPr/>
          <p:nvPr/>
        </p:nvSpPr>
        <p:spPr>
          <a:xfrm>
            <a:off x="8266176" y="3749040"/>
            <a:ext cx="3154680" cy="411480"/>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Waze</a:t>
            </a:r>
            <a:endParaRPr lang="en-US" sz="1700" dirty="0"/>
          </a:p>
        </p:txBody>
      </p:sp>
      <p:sp>
        <p:nvSpPr>
          <p:cNvPr id="19" name="Text 14"/>
          <p:cNvSpPr/>
          <p:nvPr/>
        </p:nvSpPr>
        <p:spPr>
          <a:xfrm>
            <a:off x="8357616" y="4251960"/>
            <a:ext cx="2971800" cy="1280160"/>
          </a:xfrm>
          <a:prstGeom prst="rect">
            <a:avLst/>
          </a:prstGeom>
          <a:noFill/>
          <a:ln/>
        </p:spPr>
        <p:txBody>
          <a:bodyPr wrap="square" lIns="0" tIns="0" rIns="0" bIns="0" rtlCol="0" anchor="t"/>
          <a:lstStyle/>
          <a:p>
            <a:pPr algn="ctr" indent="0" marL="0">
              <a:buNone/>
            </a:pPr>
            <a:r>
              <a:rPr lang="en-US" sz="1250" dirty="0">
                <a:solidFill>
                  <a:srgbClr val="5B6B7F"/>
                </a:solidFill>
                <a:latin typeface="Calibri" pitchFamily="34" charset="0"/>
                <a:ea typeface="Calibri" pitchFamily="34" charset="-122"/>
                <a:cs typeface="Calibri" pitchFamily="34" charset="-120"/>
              </a:rPr>
              <a:t>Partners with cities and GIS providers to support local planning and operations</a:t>
            </a:r>
            <a:endParaRPr lang="en-US" sz="1250" dirty="0"/>
          </a:p>
        </p:txBody>
      </p:sp>
      <p:sp>
        <p:nvSpPr>
          <p:cNvPr id="20" name="Text 15"/>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1" name="Text 16"/>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OPPORTUNITIES</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Example: Strava and Cycling Infrastructure</a:t>
            </a:r>
            <a:endParaRPr lang="en-US" sz="3000" dirty="0"/>
          </a:p>
        </p:txBody>
      </p:sp>
      <p:sp>
        <p:nvSpPr>
          <p:cNvPr id="4" name="Text 2"/>
          <p:cNvSpPr/>
          <p:nvPr/>
        </p:nvSpPr>
        <p:spPr>
          <a:xfrm>
            <a:off x="548640" y="1645920"/>
            <a:ext cx="6126480" cy="777240"/>
          </a:xfrm>
          <a:prstGeom prst="rect">
            <a:avLst/>
          </a:prstGeom>
          <a:noFill/>
          <a:ln/>
        </p:spPr>
        <p:txBody>
          <a:bodyPr wrap="square" lIns="0" tIns="0" rIns="0" bIns="0" rtlCol="0" anchor="t"/>
          <a:lstStyle/>
          <a:p>
            <a:pPr indent="0" marL="0">
              <a:buNone/>
            </a:pPr>
            <a:r>
              <a:rPr lang="en-US" sz="1400" dirty="0">
                <a:solidFill>
                  <a:srgbClr val="16213A"/>
                </a:solidFill>
                <a:latin typeface="Calibri" pitchFamily="34" charset="0"/>
                <a:ea typeface="Calibri" pitchFamily="34" charset="-122"/>
                <a:cs typeface="Calibri" pitchFamily="34" charset="-120"/>
              </a:rPr>
              <a:t>Strava lets runners and cyclists record and share activity data. The scale of this dataset is what makes it valuable for planning:</a:t>
            </a:r>
            <a:endParaRPr lang="en-US" sz="1400" dirty="0"/>
          </a:p>
        </p:txBody>
      </p:sp>
      <p:sp>
        <p:nvSpPr>
          <p:cNvPr id="5" name="Shape 3"/>
          <p:cNvSpPr/>
          <p:nvPr/>
        </p:nvSpPr>
        <p:spPr>
          <a:xfrm>
            <a:off x="548640" y="2560320"/>
            <a:ext cx="6126480" cy="868680"/>
          </a:xfrm>
          <a:prstGeom prst="roundRect">
            <a:avLst>
              <a:gd name="adj" fmla="val 8421"/>
            </a:avLst>
          </a:prstGeom>
          <a:solidFill>
            <a:srgbClr val="F4F8F8"/>
          </a:solidFill>
          <a:ln/>
        </p:spPr>
      </p:sp>
      <p:sp>
        <p:nvSpPr>
          <p:cNvPr id="6" name="Text 4"/>
          <p:cNvSpPr/>
          <p:nvPr/>
        </p:nvSpPr>
        <p:spPr>
          <a:xfrm>
            <a:off x="777240" y="2633472"/>
            <a:ext cx="2377440" cy="731520"/>
          </a:xfrm>
          <a:prstGeom prst="rect">
            <a:avLst/>
          </a:prstGeom>
          <a:noFill/>
          <a:ln/>
        </p:spPr>
        <p:txBody>
          <a:bodyPr wrap="square" lIns="0" tIns="0" rIns="0" bIns="0" rtlCol="0" anchor="ctr"/>
          <a:lstStyle/>
          <a:p>
            <a:pPr indent="0" marL="0">
              <a:buNone/>
            </a:pPr>
            <a:r>
              <a:rPr lang="en-US" sz="2300" b="1" dirty="0">
                <a:solidFill>
                  <a:srgbClr val="0E7C86"/>
                </a:solidFill>
                <a:latin typeface="Cambria" pitchFamily="34" charset="0"/>
                <a:ea typeface="Cambria" pitchFamily="34" charset="-122"/>
                <a:cs typeface="Cambria" pitchFamily="34" charset="-120"/>
              </a:rPr>
              <a:t>100s of billions</a:t>
            </a:r>
            <a:endParaRPr lang="en-US" sz="2300" dirty="0"/>
          </a:p>
        </p:txBody>
      </p:sp>
      <p:sp>
        <p:nvSpPr>
          <p:cNvPr id="7" name="Text 5"/>
          <p:cNvSpPr/>
          <p:nvPr/>
        </p:nvSpPr>
        <p:spPr>
          <a:xfrm>
            <a:off x="3246120" y="2633472"/>
            <a:ext cx="3291840" cy="731520"/>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GPS points collected across the platform</a:t>
            </a:r>
            <a:endParaRPr lang="en-US" sz="1200" dirty="0"/>
          </a:p>
        </p:txBody>
      </p:sp>
      <p:sp>
        <p:nvSpPr>
          <p:cNvPr id="8" name="Shape 6"/>
          <p:cNvSpPr/>
          <p:nvPr/>
        </p:nvSpPr>
        <p:spPr>
          <a:xfrm>
            <a:off x="548640" y="3593592"/>
            <a:ext cx="6126480" cy="868680"/>
          </a:xfrm>
          <a:prstGeom prst="roundRect">
            <a:avLst>
              <a:gd name="adj" fmla="val 8421"/>
            </a:avLst>
          </a:prstGeom>
          <a:solidFill>
            <a:srgbClr val="F4F8F8"/>
          </a:solidFill>
          <a:ln/>
        </p:spPr>
      </p:sp>
      <p:sp>
        <p:nvSpPr>
          <p:cNvPr id="9" name="Text 7"/>
          <p:cNvSpPr/>
          <p:nvPr/>
        </p:nvSpPr>
        <p:spPr>
          <a:xfrm>
            <a:off x="777240" y="3666744"/>
            <a:ext cx="2377440" cy="731520"/>
          </a:xfrm>
          <a:prstGeom prst="rect">
            <a:avLst/>
          </a:prstGeom>
          <a:noFill/>
          <a:ln/>
        </p:spPr>
        <p:txBody>
          <a:bodyPr wrap="square" lIns="0" tIns="0" rIns="0" bIns="0" rtlCol="0" anchor="ctr"/>
          <a:lstStyle/>
          <a:p>
            <a:pPr indent="0" marL="0">
              <a:buNone/>
            </a:pPr>
            <a:r>
              <a:rPr lang="en-US" sz="2300" b="1" dirty="0">
                <a:solidFill>
                  <a:srgbClr val="0E7C86"/>
                </a:solidFill>
                <a:latin typeface="Cambria" pitchFamily="34" charset="0"/>
                <a:ea typeface="Cambria" pitchFamily="34" charset="-122"/>
                <a:cs typeface="Cambria" pitchFamily="34" charset="-120"/>
              </a:rPr>
              <a:t>~6 million</a:t>
            </a:r>
            <a:endParaRPr lang="en-US" sz="2300" dirty="0"/>
          </a:p>
        </p:txBody>
      </p:sp>
      <p:sp>
        <p:nvSpPr>
          <p:cNvPr id="10" name="Text 8"/>
          <p:cNvSpPr/>
          <p:nvPr/>
        </p:nvSpPr>
        <p:spPr>
          <a:xfrm>
            <a:off x="3246120" y="3666744"/>
            <a:ext cx="3291840" cy="731520"/>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new activities logged every week</a:t>
            </a:r>
            <a:endParaRPr lang="en-US" sz="1200" dirty="0"/>
          </a:p>
        </p:txBody>
      </p:sp>
      <p:sp>
        <p:nvSpPr>
          <p:cNvPr id="11" name="Shape 9"/>
          <p:cNvSpPr/>
          <p:nvPr/>
        </p:nvSpPr>
        <p:spPr>
          <a:xfrm>
            <a:off x="548640" y="4626864"/>
            <a:ext cx="6126480" cy="868680"/>
          </a:xfrm>
          <a:prstGeom prst="roundRect">
            <a:avLst>
              <a:gd name="adj" fmla="val 8421"/>
            </a:avLst>
          </a:prstGeom>
          <a:solidFill>
            <a:srgbClr val="F4F8F8"/>
          </a:solidFill>
          <a:ln/>
        </p:spPr>
      </p:sp>
      <p:sp>
        <p:nvSpPr>
          <p:cNvPr id="12" name="Text 10"/>
          <p:cNvSpPr/>
          <p:nvPr/>
        </p:nvSpPr>
        <p:spPr>
          <a:xfrm>
            <a:off x="777240" y="4700016"/>
            <a:ext cx="2377440" cy="731520"/>
          </a:xfrm>
          <a:prstGeom prst="rect">
            <a:avLst/>
          </a:prstGeom>
          <a:noFill/>
          <a:ln/>
        </p:spPr>
        <p:txBody>
          <a:bodyPr wrap="square" lIns="0" tIns="0" rIns="0" bIns="0" rtlCol="0" anchor="ctr"/>
          <a:lstStyle/>
          <a:p>
            <a:pPr indent="0" marL="0">
              <a:buNone/>
            </a:pPr>
            <a:r>
              <a:rPr lang="en-US" sz="2300" b="1" dirty="0">
                <a:solidFill>
                  <a:srgbClr val="0E7C86"/>
                </a:solidFill>
                <a:latin typeface="Cambria" pitchFamily="34" charset="0"/>
                <a:ea typeface="Cambria" pitchFamily="34" charset="-122"/>
                <a:cs typeface="Cambria" pitchFamily="34" charset="-120"/>
              </a:rPr>
              <a:t>~7 million</a:t>
            </a:r>
            <a:endParaRPr lang="en-US" sz="2300" dirty="0"/>
          </a:p>
        </p:txBody>
      </p:sp>
      <p:sp>
        <p:nvSpPr>
          <p:cNvPr id="13" name="Text 11"/>
          <p:cNvSpPr/>
          <p:nvPr/>
        </p:nvSpPr>
        <p:spPr>
          <a:xfrm>
            <a:off x="3246120" y="4700016"/>
            <a:ext cx="3291840" cy="731520"/>
          </a:xfrm>
          <a:prstGeom prst="rect">
            <a:avLst/>
          </a:prstGeom>
          <a:noFill/>
          <a:ln/>
        </p:spPr>
        <p:txBody>
          <a:bodyPr wrap="square" lIns="0" tIns="0" rIns="0" bIns="0" rtlCol="0" anchor="ctr"/>
          <a:lstStyle/>
          <a:p>
            <a:pPr indent="0" marL="0">
              <a:buNone/>
            </a:pPr>
            <a:r>
              <a:rPr lang="en-US" sz="1200" dirty="0">
                <a:solidFill>
                  <a:srgbClr val="16213A"/>
                </a:solidFill>
                <a:latin typeface="Calibri" pitchFamily="34" charset="0"/>
                <a:ea typeface="Calibri" pitchFamily="34" charset="-122"/>
                <a:cs typeface="Calibri" pitchFamily="34" charset="-120"/>
              </a:rPr>
              <a:t>cycle journeys uploaded in London (2015-16)</a:t>
            </a:r>
            <a:endParaRPr lang="en-US" sz="1200" dirty="0"/>
          </a:p>
        </p:txBody>
      </p:sp>
      <p:sp>
        <p:nvSpPr>
          <p:cNvPr id="14" name="Shape 12"/>
          <p:cNvSpPr/>
          <p:nvPr/>
        </p:nvSpPr>
        <p:spPr>
          <a:xfrm>
            <a:off x="6995160" y="1645920"/>
            <a:ext cx="4617720" cy="4206240"/>
          </a:xfrm>
          <a:prstGeom prst="roundRect">
            <a:avLst>
              <a:gd name="adj" fmla="val 2174"/>
            </a:avLst>
          </a:prstGeom>
          <a:solidFill>
            <a:srgbClr val="0B1F3A"/>
          </a:solidFill>
          <a:ln/>
        </p:spPr>
      </p:sp>
      <p:sp>
        <p:nvSpPr>
          <p:cNvPr id="15" name="Shape 13"/>
          <p:cNvSpPr/>
          <p:nvPr/>
        </p:nvSpPr>
        <p:spPr>
          <a:xfrm>
            <a:off x="7269480" y="1874520"/>
            <a:ext cx="594360" cy="594360"/>
          </a:xfrm>
          <a:prstGeom prst="ellipse">
            <a:avLst/>
          </a:prstGeom>
          <a:solidFill>
            <a:srgbClr val="E08E1D"/>
          </a:solidFill>
          <a:ln/>
        </p:spPr>
      </p:sp>
      <p:pic>
        <p:nvPicPr>
          <p:cNvPr id="16" name="Image 0" descr="preencoded.png">    </p:cNvPr>
          <p:cNvPicPr>
            <a:picLocks noChangeAspect="1"/>
          </p:cNvPicPr>
          <p:nvPr/>
        </p:nvPicPr>
        <p:blipFill>
          <a:blip r:embed="rId1"/>
          <a:stretch>
            <a:fillRect/>
          </a:stretch>
        </p:blipFill>
        <p:spPr>
          <a:xfrm>
            <a:off x="7424014" y="2029054"/>
            <a:ext cx="285293" cy="285293"/>
          </a:xfrm>
          <a:prstGeom prst="rect">
            <a:avLst/>
          </a:prstGeom>
        </p:spPr>
      </p:pic>
      <p:sp>
        <p:nvSpPr>
          <p:cNvPr id="17" name="Text 14"/>
          <p:cNvSpPr/>
          <p:nvPr/>
        </p:nvSpPr>
        <p:spPr>
          <a:xfrm>
            <a:off x="8001000" y="1920240"/>
            <a:ext cx="3429000"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But: is the data representative?</a:t>
            </a:r>
            <a:endParaRPr lang="en-US" sz="1500" dirty="0"/>
          </a:p>
        </p:txBody>
      </p:sp>
      <p:sp>
        <p:nvSpPr>
          <p:cNvPr id="18" name="Shape 15"/>
          <p:cNvSpPr/>
          <p:nvPr/>
        </p:nvSpPr>
        <p:spPr>
          <a:xfrm>
            <a:off x="7178040" y="2651760"/>
            <a:ext cx="109728" cy="109728"/>
          </a:xfrm>
          <a:prstGeom prst="ellipse">
            <a:avLst/>
          </a:prstGeom>
          <a:solidFill>
            <a:srgbClr val="E08E1D"/>
          </a:solidFill>
          <a:ln/>
        </p:spPr>
      </p:sp>
      <p:sp>
        <p:nvSpPr>
          <p:cNvPr id="19" name="Text 16"/>
          <p:cNvSpPr/>
          <p:nvPr/>
        </p:nvSpPr>
        <p:spPr>
          <a:xfrm>
            <a:off x="7406640" y="2542032"/>
            <a:ext cx="4023360" cy="685800"/>
          </a:xfrm>
          <a:prstGeom prst="rect">
            <a:avLst/>
          </a:prstGeom>
          <a:noFill/>
          <a:ln/>
        </p:spPr>
        <p:txBody>
          <a:bodyPr wrap="square" lIns="0" tIns="0" rIns="0" bIns="0" rtlCol="0" anchor="t"/>
          <a:lstStyle/>
          <a:p>
            <a:pPr indent="0" marL="0">
              <a:buNone/>
            </a:pPr>
            <a:r>
              <a:rPr lang="en-US" sz="1150" dirty="0">
                <a:solidFill>
                  <a:srgbClr val="CFE8E6"/>
                </a:solidFill>
                <a:latin typeface="Calibri" pitchFamily="34" charset="0"/>
                <a:ea typeface="Calibri" pitchFamily="34" charset="-122"/>
                <a:cs typeface="Calibri" pitchFamily="34" charset="-120"/>
              </a:rPr>
              <a:t>~90% of Strava users are male, vs. ~75/25 male-female split among London cyclists</a:t>
            </a:r>
            <a:endParaRPr lang="en-US" sz="1150" dirty="0"/>
          </a:p>
        </p:txBody>
      </p:sp>
      <p:sp>
        <p:nvSpPr>
          <p:cNvPr id="20" name="Shape 17"/>
          <p:cNvSpPr/>
          <p:nvPr/>
        </p:nvSpPr>
        <p:spPr>
          <a:xfrm>
            <a:off x="7178040" y="3429000"/>
            <a:ext cx="109728" cy="109728"/>
          </a:xfrm>
          <a:prstGeom prst="ellipse">
            <a:avLst/>
          </a:prstGeom>
          <a:solidFill>
            <a:srgbClr val="E08E1D"/>
          </a:solidFill>
          <a:ln/>
        </p:spPr>
      </p:sp>
      <p:sp>
        <p:nvSpPr>
          <p:cNvPr id="21" name="Text 18"/>
          <p:cNvSpPr/>
          <p:nvPr/>
        </p:nvSpPr>
        <p:spPr>
          <a:xfrm>
            <a:off x="7406640" y="3319272"/>
            <a:ext cx="4023360" cy="685800"/>
          </a:xfrm>
          <a:prstGeom prst="rect">
            <a:avLst/>
          </a:prstGeom>
          <a:noFill/>
          <a:ln/>
        </p:spPr>
        <p:txBody>
          <a:bodyPr wrap="square" lIns="0" tIns="0" rIns="0" bIns="0" rtlCol="0" anchor="t"/>
          <a:lstStyle/>
          <a:p>
            <a:pPr indent="0" marL="0">
              <a:buNone/>
            </a:pPr>
            <a:r>
              <a:rPr lang="en-US" sz="1150" dirty="0">
                <a:solidFill>
                  <a:srgbClr val="CFE8E6"/>
                </a:solidFill>
                <a:latin typeface="Calibri" pitchFamily="34" charset="0"/>
                <a:ea typeface="Calibri" pitchFamily="34" charset="-122"/>
                <a:cs typeface="Calibri" pitchFamily="34" charset="-120"/>
              </a:rPr>
              <a:t>Disproportionately used by sports cyclists rather than casual commuters</a:t>
            </a:r>
            <a:endParaRPr lang="en-US" sz="1150" dirty="0"/>
          </a:p>
        </p:txBody>
      </p:sp>
      <p:sp>
        <p:nvSpPr>
          <p:cNvPr id="22" name="Shape 19"/>
          <p:cNvSpPr/>
          <p:nvPr/>
        </p:nvSpPr>
        <p:spPr>
          <a:xfrm>
            <a:off x="7178040" y="4206240"/>
            <a:ext cx="109728" cy="109728"/>
          </a:xfrm>
          <a:prstGeom prst="ellipse">
            <a:avLst/>
          </a:prstGeom>
          <a:solidFill>
            <a:srgbClr val="E08E1D"/>
          </a:solidFill>
          <a:ln/>
        </p:spPr>
      </p:sp>
      <p:sp>
        <p:nvSpPr>
          <p:cNvPr id="23" name="Text 20"/>
          <p:cNvSpPr/>
          <p:nvPr/>
        </p:nvSpPr>
        <p:spPr>
          <a:xfrm>
            <a:off x="7406640" y="4096512"/>
            <a:ext cx="4023360" cy="685800"/>
          </a:xfrm>
          <a:prstGeom prst="rect">
            <a:avLst/>
          </a:prstGeom>
          <a:noFill/>
          <a:ln/>
        </p:spPr>
        <p:txBody>
          <a:bodyPr wrap="square" lIns="0" tIns="0" rIns="0" bIns="0" rtlCol="0" anchor="t"/>
          <a:lstStyle/>
          <a:p>
            <a:pPr indent="0" marL="0">
              <a:buNone/>
            </a:pPr>
            <a:r>
              <a:rPr lang="en-US" sz="1150" dirty="0">
                <a:solidFill>
                  <a:srgbClr val="CFE8E6"/>
                </a:solidFill>
                <a:latin typeface="Calibri" pitchFamily="34" charset="0"/>
                <a:ea typeface="Calibri" pitchFamily="34" charset="-122"/>
                <a:cs typeface="Calibri" pitchFamily="34" charset="-120"/>
              </a:rPr>
              <a:t>Usage skews toward richer, safer parts of cities (e.g., gated communities)</a:t>
            </a:r>
            <a:endParaRPr lang="en-US" sz="1150" dirty="0"/>
          </a:p>
        </p:txBody>
      </p:sp>
      <p:sp>
        <p:nvSpPr>
          <p:cNvPr id="24" name="Shape 21"/>
          <p:cNvSpPr/>
          <p:nvPr/>
        </p:nvSpPr>
        <p:spPr>
          <a:xfrm>
            <a:off x="7178040" y="4983480"/>
            <a:ext cx="109728" cy="109728"/>
          </a:xfrm>
          <a:prstGeom prst="ellipse">
            <a:avLst/>
          </a:prstGeom>
          <a:solidFill>
            <a:srgbClr val="E08E1D"/>
          </a:solidFill>
          <a:ln/>
        </p:spPr>
      </p:sp>
      <p:sp>
        <p:nvSpPr>
          <p:cNvPr id="25" name="Text 22"/>
          <p:cNvSpPr/>
          <p:nvPr/>
        </p:nvSpPr>
        <p:spPr>
          <a:xfrm>
            <a:off x="7406640" y="4873752"/>
            <a:ext cx="4023360" cy="685800"/>
          </a:xfrm>
          <a:prstGeom prst="rect">
            <a:avLst/>
          </a:prstGeom>
          <a:noFill/>
          <a:ln/>
        </p:spPr>
        <p:txBody>
          <a:bodyPr wrap="square" lIns="0" tIns="0" rIns="0" bIns="0" rtlCol="0" anchor="t"/>
          <a:lstStyle/>
          <a:p>
            <a:pPr indent="0" marL="0">
              <a:buNone/>
            </a:pPr>
            <a:r>
              <a:rPr lang="en-US" sz="1150" dirty="0">
                <a:solidFill>
                  <a:srgbClr val="CFE8E6"/>
                </a:solidFill>
                <a:latin typeface="Calibri" pitchFamily="34" charset="0"/>
                <a:ea typeface="Calibri" pitchFamily="34" charset="-122"/>
                <a:cs typeface="Calibri" pitchFamily="34" charset="-120"/>
              </a:rPr>
              <a:t>Strava provides demographic metadata to help, but does not publish technical justification for some claims</a:t>
            </a:r>
            <a:endParaRPr lang="en-US" sz="115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7" name="Text 24"/>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OPPORTUNITIES</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This Matters for Government &amp; Cities</a:t>
            </a:r>
            <a:endParaRPr lang="en-US" sz="3000" dirty="0"/>
          </a:p>
        </p:txBody>
      </p:sp>
      <p:sp>
        <p:nvSpPr>
          <p:cNvPr id="4" name="Shape 2"/>
          <p:cNvSpPr/>
          <p:nvPr/>
        </p:nvSpPr>
        <p:spPr>
          <a:xfrm>
            <a:off x="548640" y="1783080"/>
            <a:ext cx="731520" cy="731520"/>
          </a:xfrm>
          <a:prstGeom prst="ellipse">
            <a:avLst/>
          </a:prstGeom>
          <a:solidFill>
            <a:srgbClr val="0E7C86"/>
          </a:solidFill>
          <a:ln/>
        </p:spPr>
      </p:sp>
      <p:pic>
        <p:nvPicPr>
          <p:cNvPr id="5" name="Image 0" descr="preencoded.png">    </p:cNvPr>
          <p:cNvPicPr>
            <a:picLocks noChangeAspect="1"/>
          </p:cNvPicPr>
          <p:nvPr/>
        </p:nvPicPr>
        <p:blipFill>
          <a:blip r:embed="rId1"/>
          <a:stretch>
            <a:fillRect/>
          </a:stretch>
        </p:blipFill>
        <p:spPr>
          <a:xfrm>
            <a:off x="738835" y="1973275"/>
            <a:ext cx="351130" cy="351130"/>
          </a:xfrm>
          <a:prstGeom prst="rect">
            <a:avLst/>
          </a:prstGeom>
        </p:spPr>
      </p:pic>
      <p:sp>
        <p:nvSpPr>
          <p:cNvPr id="6" name="Text 3"/>
          <p:cNvSpPr/>
          <p:nvPr/>
        </p:nvSpPr>
        <p:spPr>
          <a:xfrm>
            <a:off x="1508760" y="1764792"/>
            <a:ext cx="9875520" cy="36576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Cheaper, richer evidence</a:t>
            </a:r>
            <a:endParaRPr lang="en-US" sz="1600" dirty="0"/>
          </a:p>
        </p:txBody>
      </p:sp>
      <p:sp>
        <p:nvSpPr>
          <p:cNvPr id="7" name="Text 4"/>
          <p:cNvSpPr/>
          <p:nvPr/>
        </p:nvSpPr>
        <p:spPr>
          <a:xfrm>
            <a:off x="1508760" y="2130552"/>
            <a:ext cx="9875520" cy="5486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A major improvement in data quantity and quality compared to manual surveys or volunteer counting, at lower cost</a:t>
            </a:r>
            <a:endParaRPr lang="en-US" sz="1300" dirty="0"/>
          </a:p>
        </p:txBody>
      </p:sp>
      <p:sp>
        <p:nvSpPr>
          <p:cNvPr id="8" name="Shape 5"/>
          <p:cNvSpPr/>
          <p:nvPr/>
        </p:nvSpPr>
        <p:spPr>
          <a:xfrm>
            <a:off x="548640" y="3017520"/>
            <a:ext cx="731520" cy="731520"/>
          </a:xfrm>
          <a:prstGeom prst="ellipse">
            <a:avLst/>
          </a:prstGeom>
          <a:solidFill>
            <a:srgbClr val="0E7C86"/>
          </a:solidFill>
          <a:ln/>
        </p:spPr>
      </p:sp>
      <p:pic>
        <p:nvPicPr>
          <p:cNvPr id="9" name="Image 1" descr="preencoded.png">    </p:cNvPr>
          <p:cNvPicPr>
            <a:picLocks noChangeAspect="1"/>
          </p:cNvPicPr>
          <p:nvPr/>
        </p:nvPicPr>
        <p:blipFill>
          <a:blip r:embed="rId2"/>
          <a:stretch>
            <a:fillRect/>
          </a:stretch>
        </p:blipFill>
        <p:spPr>
          <a:xfrm>
            <a:off x="738835" y="3207715"/>
            <a:ext cx="351130" cy="351130"/>
          </a:xfrm>
          <a:prstGeom prst="rect">
            <a:avLst/>
          </a:prstGeom>
        </p:spPr>
      </p:pic>
      <p:sp>
        <p:nvSpPr>
          <p:cNvPr id="10" name="Text 6"/>
          <p:cNvSpPr/>
          <p:nvPr/>
        </p:nvSpPr>
        <p:spPr>
          <a:xfrm>
            <a:off x="1508760" y="2999232"/>
            <a:ext cx="9875520" cy="36576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Capacity for low-resource governments</a:t>
            </a:r>
            <a:endParaRPr lang="en-US" sz="1600" dirty="0"/>
          </a:p>
        </p:txBody>
      </p:sp>
      <p:sp>
        <p:nvSpPr>
          <p:cNvPr id="11" name="Text 7"/>
          <p:cNvSpPr/>
          <p:nvPr/>
        </p:nvSpPr>
        <p:spPr>
          <a:xfrm>
            <a:off x="1508760" y="3364992"/>
            <a:ext cx="9875520" cy="5486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Transferable methodologies and tools give insight even to parts of government with little analytical capacity or budget</a:t>
            </a:r>
            <a:endParaRPr lang="en-US" sz="1300" dirty="0"/>
          </a:p>
        </p:txBody>
      </p:sp>
      <p:sp>
        <p:nvSpPr>
          <p:cNvPr id="12" name="Shape 8"/>
          <p:cNvSpPr/>
          <p:nvPr/>
        </p:nvSpPr>
        <p:spPr>
          <a:xfrm>
            <a:off x="548640" y="4251960"/>
            <a:ext cx="731520" cy="731520"/>
          </a:xfrm>
          <a:prstGeom prst="ellipse">
            <a:avLst/>
          </a:prstGeom>
          <a:solidFill>
            <a:srgbClr val="0E7C86"/>
          </a:solidFill>
          <a:ln/>
        </p:spPr>
      </p:sp>
      <p:pic>
        <p:nvPicPr>
          <p:cNvPr id="13" name="Image 2" descr="preencoded.png">    </p:cNvPr>
          <p:cNvPicPr>
            <a:picLocks noChangeAspect="1"/>
          </p:cNvPicPr>
          <p:nvPr/>
        </p:nvPicPr>
        <p:blipFill>
          <a:blip r:embed="rId3"/>
          <a:stretch>
            <a:fillRect/>
          </a:stretch>
        </p:blipFill>
        <p:spPr>
          <a:xfrm>
            <a:off x="738835" y="4442155"/>
            <a:ext cx="351130" cy="351130"/>
          </a:xfrm>
          <a:prstGeom prst="rect">
            <a:avLst/>
          </a:prstGeom>
        </p:spPr>
      </p:pic>
      <p:sp>
        <p:nvSpPr>
          <p:cNvPr id="14" name="Text 9"/>
          <p:cNvSpPr/>
          <p:nvPr/>
        </p:nvSpPr>
        <p:spPr>
          <a:xfrm>
            <a:off x="1508760" y="4233672"/>
            <a:ext cx="9875520" cy="36576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Real-world behaviour, not surveys</a:t>
            </a:r>
            <a:endParaRPr lang="en-US" sz="1600" dirty="0"/>
          </a:p>
        </p:txBody>
      </p:sp>
      <p:sp>
        <p:nvSpPr>
          <p:cNvPr id="15" name="Text 10"/>
          <p:cNvSpPr/>
          <p:nvPr/>
        </p:nvSpPr>
        <p:spPr>
          <a:xfrm>
            <a:off x="1508760" y="4599432"/>
            <a:ext cx="9875520" cy="5486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Captures what people actually do (routes, timing, volume) rather than what they report in a survey</a:t>
            </a:r>
            <a:endParaRPr lang="en-US" sz="1300" dirty="0"/>
          </a:p>
        </p:txBody>
      </p:sp>
      <p:sp>
        <p:nvSpPr>
          <p:cNvPr id="16" name="Shape 11"/>
          <p:cNvSpPr/>
          <p:nvPr/>
        </p:nvSpPr>
        <p:spPr>
          <a:xfrm>
            <a:off x="548640" y="5532120"/>
            <a:ext cx="11018520" cy="777240"/>
          </a:xfrm>
          <a:prstGeom prst="roundRect">
            <a:avLst>
              <a:gd name="adj" fmla="val 9412"/>
            </a:avLst>
          </a:prstGeom>
          <a:solidFill>
            <a:srgbClr val="CFE8E6"/>
          </a:solidFill>
          <a:ln/>
        </p:spPr>
      </p:sp>
      <p:sp>
        <p:nvSpPr>
          <p:cNvPr id="17" name="Text 12"/>
          <p:cNvSpPr/>
          <p:nvPr/>
        </p:nvSpPr>
        <p:spPr>
          <a:xfrm>
            <a:off x="822960" y="5532120"/>
            <a:ext cx="10469880" cy="777240"/>
          </a:xfrm>
          <a:prstGeom prst="rect">
            <a:avLst/>
          </a:prstGeom>
          <a:noFill/>
          <a:ln/>
        </p:spPr>
        <p:txBody>
          <a:bodyPr wrap="square" lIns="0" tIns="0" rIns="0" bIns="0" rtlCol="0" anchor="ctr"/>
          <a:lstStyle/>
          <a:p>
            <a:pPr indent="0" marL="0">
              <a:buNone/>
            </a:pPr>
            <a:r>
              <a:rPr lang="en-US" sz="1250" i="1" dirty="0">
                <a:solidFill>
                  <a:srgbClr val="0B1F3A"/>
                </a:solidFill>
                <a:latin typeface="Calibri" pitchFamily="34" charset="0"/>
                <a:ea typeface="Calibri" pitchFamily="34" charset="-122"/>
                <a:cs typeface="Calibri" pitchFamily="34" charset="-120"/>
              </a:rPr>
              <a:t>Takeaway: location data converts millions of individual, mundane journeys into a public good for planning — but only if its blind spots are understood.</a:t>
            </a:r>
            <a:endParaRPr lang="en-US" sz="1250" dirty="0"/>
          </a:p>
        </p:txBody>
      </p:sp>
      <p:sp>
        <p:nvSpPr>
          <p:cNvPr id="18" name="Text 1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19" name="Text 14"/>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CHALLENGES</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Key Challenges</a:t>
            </a:r>
            <a:endParaRPr lang="en-US" sz="3000" dirty="0"/>
          </a:p>
        </p:txBody>
      </p:sp>
      <p:sp>
        <p:nvSpPr>
          <p:cNvPr id="4" name="Shape 2"/>
          <p:cNvSpPr/>
          <p:nvPr/>
        </p:nvSpPr>
        <p:spPr>
          <a:xfrm>
            <a:off x="548640" y="2103120"/>
            <a:ext cx="2606040" cy="3657600"/>
          </a:xfrm>
          <a:prstGeom prst="roundRect">
            <a:avLst>
              <a:gd name="adj" fmla="val 3509"/>
            </a:avLst>
          </a:prstGeom>
          <a:solidFill>
            <a:srgbClr val="16335C"/>
          </a:solidFill>
          <a:ln/>
        </p:spPr>
      </p:sp>
      <p:sp>
        <p:nvSpPr>
          <p:cNvPr id="5" name="Shape 3"/>
          <p:cNvSpPr/>
          <p:nvPr/>
        </p:nvSpPr>
        <p:spPr>
          <a:xfrm>
            <a:off x="1463040" y="2423160"/>
            <a:ext cx="777240" cy="777240"/>
          </a:xfrm>
          <a:prstGeom prst="ellipse">
            <a:avLst/>
          </a:prstGeom>
          <a:solidFill>
            <a:srgbClr val="E08E1D"/>
          </a:solidFill>
          <a:ln/>
        </p:spPr>
      </p:sp>
      <p:pic>
        <p:nvPicPr>
          <p:cNvPr id="6" name="Image 0" descr="preencoded.png">    </p:cNvPr>
          <p:cNvPicPr>
            <a:picLocks noChangeAspect="1"/>
          </p:cNvPicPr>
          <p:nvPr/>
        </p:nvPicPr>
        <p:blipFill>
          <a:blip r:embed="rId1"/>
          <a:stretch>
            <a:fillRect/>
          </a:stretch>
        </p:blipFill>
        <p:spPr>
          <a:xfrm>
            <a:off x="1665122" y="2625242"/>
            <a:ext cx="373075" cy="373075"/>
          </a:xfrm>
          <a:prstGeom prst="rect">
            <a:avLst/>
          </a:prstGeom>
        </p:spPr>
      </p:pic>
      <p:sp>
        <p:nvSpPr>
          <p:cNvPr id="7" name="Text 4"/>
          <p:cNvSpPr/>
          <p:nvPr/>
        </p:nvSpPr>
        <p:spPr>
          <a:xfrm>
            <a:off x="2651760" y="2212848"/>
            <a:ext cx="365760" cy="365760"/>
          </a:xfrm>
          <a:prstGeom prst="rect">
            <a:avLst/>
          </a:prstGeom>
          <a:noFill/>
          <a:ln/>
        </p:spPr>
        <p:txBody>
          <a:bodyPr wrap="square" lIns="0" tIns="0" rIns="0" bIns="0" rtlCol="0" anchor="ctr"/>
          <a:lstStyle/>
          <a:p>
            <a:pPr algn="r" indent="0" marL="0">
              <a:buNone/>
            </a:pPr>
            <a:r>
              <a:rPr lang="en-US" sz="1600" b="1" dirty="0">
                <a:solidFill>
                  <a:srgbClr val="3FA9B0"/>
                </a:solidFill>
                <a:latin typeface="Cambria" pitchFamily="34" charset="0"/>
                <a:ea typeface="Cambria" pitchFamily="34" charset="-122"/>
                <a:cs typeface="Cambria" pitchFamily="34" charset="-120"/>
              </a:rPr>
              <a:t>1</a:t>
            </a:r>
            <a:endParaRPr lang="en-US" sz="1600" dirty="0"/>
          </a:p>
        </p:txBody>
      </p:sp>
      <p:sp>
        <p:nvSpPr>
          <p:cNvPr id="8" name="Text 5"/>
          <p:cNvSpPr/>
          <p:nvPr/>
        </p:nvSpPr>
        <p:spPr>
          <a:xfrm>
            <a:off x="713232" y="3383280"/>
            <a:ext cx="2276856" cy="685800"/>
          </a:xfrm>
          <a:prstGeom prst="rect">
            <a:avLst/>
          </a:prstGeom>
          <a:noFill/>
          <a:ln/>
        </p:spPr>
        <p:txBody>
          <a:bodyPr wrap="square" lIns="0" tIns="0" rIns="0" bIns="0" rtlCol="0" anchor="t"/>
          <a:lstStyle/>
          <a:p>
            <a:pPr algn="ctr" indent="0" marL="0">
              <a:buNone/>
            </a:pPr>
            <a:r>
              <a:rPr lang="en-US" sz="1450" b="1" dirty="0">
                <a:solidFill>
                  <a:srgbClr val="FFFFFF"/>
                </a:solidFill>
                <a:latin typeface="Calibri" pitchFamily="34" charset="0"/>
                <a:ea typeface="Calibri" pitchFamily="34" charset="-122"/>
                <a:cs typeface="Calibri" pitchFamily="34" charset="-120"/>
              </a:rPr>
              <a:t>Re-identification &amp; Inference</a:t>
            </a:r>
            <a:endParaRPr lang="en-US" sz="1450" dirty="0"/>
          </a:p>
        </p:txBody>
      </p:sp>
      <p:sp>
        <p:nvSpPr>
          <p:cNvPr id="9" name="Text 6"/>
          <p:cNvSpPr/>
          <p:nvPr/>
        </p:nvSpPr>
        <p:spPr>
          <a:xfrm>
            <a:off x="713232" y="4160520"/>
            <a:ext cx="2276856" cy="1417320"/>
          </a:xfrm>
          <a:prstGeom prst="rect">
            <a:avLst/>
          </a:prstGeom>
          <a:noFill/>
          <a:ln/>
        </p:spPr>
        <p:txBody>
          <a:bodyPr wrap="square" lIns="0" tIns="0" rIns="0" bIns="0" rtlCol="0" anchor="t"/>
          <a:lstStyle/>
          <a:p>
            <a:pPr algn="ctr" indent="0" marL="0">
              <a:buNone/>
            </a:pPr>
            <a:r>
              <a:rPr lang="en-US" sz="1150" dirty="0">
                <a:solidFill>
                  <a:srgbClr val="CFE8E6"/>
                </a:solidFill>
                <a:latin typeface="Calibri" pitchFamily="34" charset="0"/>
                <a:ea typeface="Calibri" pitchFamily="34" charset="-122"/>
                <a:cs typeface="Calibri" pitchFamily="34" charset="-120"/>
              </a:rPr>
              <a:t>How few points are needed to identify someone, and what can be inferred</a:t>
            </a:r>
            <a:endParaRPr lang="en-US" sz="1150" dirty="0"/>
          </a:p>
        </p:txBody>
      </p:sp>
      <p:sp>
        <p:nvSpPr>
          <p:cNvPr id="10" name="Shape 7"/>
          <p:cNvSpPr/>
          <p:nvPr/>
        </p:nvSpPr>
        <p:spPr>
          <a:xfrm>
            <a:off x="3355848" y="2103120"/>
            <a:ext cx="2606040" cy="3657600"/>
          </a:xfrm>
          <a:prstGeom prst="roundRect">
            <a:avLst>
              <a:gd name="adj" fmla="val 3509"/>
            </a:avLst>
          </a:prstGeom>
          <a:solidFill>
            <a:srgbClr val="16335C"/>
          </a:solidFill>
          <a:ln/>
        </p:spPr>
      </p:sp>
      <p:sp>
        <p:nvSpPr>
          <p:cNvPr id="11" name="Shape 8"/>
          <p:cNvSpPr/>
          <p:nvPr/>
        </p:nvSpPr>
        <p:spPr>
          <a:xfrm>
            <a:off x="4270248" y="2423160"/>
            <a:ext cx="777240" cy="777240"/>
          </a:xfrm>
          <a:prstGeom prst="ellipse">
            <a:avLst/>
          </a:prstGeom>
          <a:solidFill>
            <a:srgbClr val="E08E1D"/>
          </a:solidFill>
          <a:ln/>
        </p:spPr>
      </p:sp>
      <p:pic>
        <p:nvPicPr>
          <p:cNvPr id="12" name="Image 1" descr="preencoded.png">    </p:cNvPr>
          <p:cNvPicPr>
            <a:picLocks noChangeAspect="1"/>
          </p:cNvPicPr>
          <p:nvPr/>
        </p:nvPicPr>
        <p:blipFill>
          <a:blip r:embed="rId2"/>
          <a:stretch>
            <a:fillRect/>
          </a:stretch>
        </p:blipFill>
        <p:spPr>
          <a:xfrm>
            <a:off x="4472330" y="2625242"/>
            <a:ext cx="373075" cy="373075"/>
          </a:xfrm>
          <a:prstGeom prst="rect">
            <a:avLst/>
          </a:prstGeom>
        </p:spPr>
      </p:pic>
      <p:sp>
        <p:nvSpPr>
          <p:cNvPr id="13" name="Text 9"/>
          <p:cNvSpPr/>
          <p:nvPr/>
        </p:nvSpPr>
        <p:spPr>
          <a:xfrm>
            <a:off x="5458968" y="2212848"/>
            <a:ext cx="365760" cy="365760"/>
          </a:xfrm>
          <a:prstGeom prst="rect">
            <a:avLst/>
          </a:prstGeom>
          <a:noFill/>
          <a:ln/>
        </p:spPr>
        <p:txBody>
          <a:bodyPr wrap="square" lIns="0" tIns="0" rIns="0" bIns="0" rtlCol="0" anchor="ctr"/>
          <a:lstStyle/>
          <a:p>
            <a:pPr algn="r" indent="0" marL="0">
              <a:buNone/>
            </a:pPr>
            <a:r>
              <a:rPr lang="en-US" sz="1600" b="1" dirty="0">
                <a:solidFill>
                  <a:srgbClr val="3FA9B0"/>
                </a:solidFill>
                <a:latin typeface="Cambria" pitchFamily="34" charset="0"/>
                <a:ea typeface="Cambria" pitchFamily="34" charset="-122"/>
                <a:cs typeface="Cambria" pitchFamily="34" charset="-120"/>
              </a:rPr>
              <a:t>2</a:t>
            </a:r>
            <a:endParaRPr lang="en-US" sz="1600" dirty="0"/>
          </a:p>
        </p:txBody>
      </p:sp>
      <p:sp>
        <p:nvSpPr>
          <p:cNvPr id="14" name="Text 10"/>
          <p:cNvSpPr/>
          <p:nvPr/>
        </p:nvSpPr>
        <p:spPr>
          <a:xfrm>
            <a:off x="3520440" y="3383280"/>
            <a:ext cx="2276856" cy="685800"/>
          </a:xfrm>
          <a:prstGeom prst="rect">
            <a:avLst/>
          </a:prstGeom>
          <a:noFill/>
          <a:ln/>
        </p:spPr>
        <p:txBody>
          <a:bodyPr wrap="square" lIns="0" tIns="0" rIns="0" bIns="0" rtlCol="0" anchor="t"/>
          <a:lstStyle/>
          <a:p>
            <a:pPr algn="ctr" indent="0" marL="0">
              <a:buNone/>
            </a:pPr>
            <a:r>
              <a:rPr lang="en-US" sz="1450" b="1" dirty="0">
                <a:solidFill>
                  <a:srgbClr val="FFFFFF"/>
                </a:solidFill>
                <a:latin typeface="Calibri" pitchFamily="34" charset="0"/>
                <a:ea typeface="Calibri" pitchFamily="34" charset="-122"/>
                <a:cs typeface="Calibri" pitchFamily="34" charset="-120"/>
              </a:rPr>
              <a:t>Bias in Datasets</a:t>
            </a:r>
            <a:endParaRPr lang="en-US" sz="1450" dirty="0"/>
          </a:p>
        </p:txBody>
      </p:sp>
      <p:sp>
        <p:nvSpPr>
          <p:cNvPr id="15" name="Text 11"/>
          <p:cNvSpPr/>
          <p:nvPr/>
        </p:nvSpPr>
        <p:spPr>
          <a:xfrm>
            <a:off x="3520440" y="4160520"/>
            <a:ext cx="2276856" cy="1417320"/>
          </a:xfrm>
          <a:prstGeom prst="rect">
            <a:avLst/>
          </a:prstGeom>
          <a:noFill/>
          <a:ln/>
        </p:spPr>
        <p:txBody>
          <a:bodyPr wrap="square" lIns="0" tIns="0" rIns="0" bIns="0" rtlCol="0" anchor="t"/>
          <a:lstStyle/>
          <a:p>
            <a:pPr algn="ctr" indent="0" marL="0">
              <a:buNone/>
            </a:pPr>
            <a:r>
              <a:rPr lang="en-US" sz="1150" dirty="0">
                <a:solidFill>
                  <a:srgbClr val="CFE8E6"/>
                </a:solidFill>
                <a:latin typeface="Calibri" pitchFamily="34" charset="0"/>
                <a:ea typeface="Calibri" pitchFamily="34" charset="-122"/>
                <a:cs typeface="Calibri" pitchFamily="34" charset="-120"/>
              </a:rPr>
              <a:t>Whose movement gets counted, and whose doesn't</a:t>
            </a:r>
            <a:endParaRPr lang="en-US" sz="1150" dirty="0"/>
          </a:p>
        </p:txBody>
      </p:sp>
      <p:sp>
        <p:nvSpPr>
          <p:cNvPr id="16" name="Shape 12"/>
          <p:cNvSpPr/>
          <p:nvPr/>
        </p:nvSpPr>
        <p:spPr>
          <a:xfrm>
            <a:off x="6163056" y="2103120"/>
            <a:ext cx="2606040" cy="3657600"/>
          </a:xfrm>
          <a:prstGeom prst="roundRect">
            <a:avLst>
              <a:gd name="adj" fmla="val 3509"/>
            </a:avLst>
          </a:prstGeom>
          <a:solidFill>
            <a:srgbClr val="16335C"/>
          </a:solidFill>
          <a:ln/>
        </p:spPr>
      </p:sp>
      <p:sp>
        <p:nvSpPr>
          <p:cNvPr id="17" name="Shape 13"/>
          <p:cNvSpPr/>
          <p:nvPr/>
        </p:nvSpPr>
        <p:spPr>
          <a:xfrm>
            <a:off x="7077456" y="2423160"/>
            <a:ext cx="777240" cy="777240"/>
          </a:xfrm>
          <a:prstGeom prst="ellipse">
            <a:avLst/>
          </a:prstGeom>
          <a:solidFill>
            <a:srgbClr val="E08E1D"/>
          </a:solidFill>
          <a:ln/>
        </p:spPr>
      </p:sp>
      <p:pic>
        <p:nvPicPr>
          <p:cNvPr id="18" name="Image 2" descr="preencoded.png">    </p:cNvPr>
          <p:cNvPicPr>
            <a:picLocks noChangeAspect="1"/>
          </p:cNvPicPr>
          <p:nvPr/>
        </p:nvPicPr>
        <p:blipFill>
          <a:blip r:embed="rId3"/>
          <a:stretch>
            <a:fillRect/>
          </a:stretch>
        </p:blipFill>
        <p:spPr>
          <a:xfrm>
            <a:off x="7279538" y="2625242"/>
            <a:ext cx="373075" cy="373075"/>
          </a:xfrm>
          <a:prstGeom prst="rect">
            <a:avLst/>
          </a:prstGeom>
        </p:spPr>
      </p:pic>
      <p:sp>
        <p:nvSpPr>
          <p:cNvPr id="19" name="Text 14"/>
          <p:cNvSpPr/>
          <p:nvPr/>
        </p:nvSpPr>
        <p:spPr>
          <a:xfrm>
            <a:off x="8266176" y="2212848"/>
            <a:ext cx="365760" cy="365760"/>
          </a:xfrm>
          <a:prstGeom prst="rect">
            <a:avLst/>
          </a:prstGeom>
          <a:noFill/>
          <a:ln/>
        </p:spPr>
        <p:txBody>
          <a:bodyPr wrap="square" lIns="0" tIns="0" rIns="0" bIns="0" rtlCol="0" anchor="ctr"/>
          <a:lstStyle/>
          <a:p>
            <a:pPr algn="r" indent="0" marL="0">
              <a:buNone/>
            </a:pPr>
            <a:r>
              <a:rPr lang="en-US" sz="1600" b="1" dirty="0">
                <a:solidFill>
                  <a:srgbClr val="3FA9B0"/>
                </a:solidFill>
                <a:latin typeface="Cambria" pitchFamily="34" charset="0"/>
                <a:ea typeface="Cambria" pitchFamily="34" charset="-122"/>
                <a:cs typeface="Cambria" pitchFamily="34" charset="-120"/>
              </a:rPr>
              <a:t>3</a:t>
            </a:r>
            <a:endParaRPr lang="en-US" sz="1600" dirty="0"/>
          </a:p>
        </p:txBody>
      </p:sp>
      <p:sp>
        <p:nvSpPr>
          <p:cNvPr id="20" name="Text 15"/>
          <p:cNvSpPr/>
          <p:nvPr/>
        </p:nvSpPr>
        <p:spPr>
          <a:xfrm>
            <a:off x="6327648" y="3383280"/>
            <a:ext cx="2276856" cy="685800"/>
          </a:xfrm>
          <a:prstGeom prst="rect">
            <a:avLst/>
          </a:prstGeom>
          <a:noFill/>
          <a:ln/>
        </p:spPr>
        <p:txBody>
          <a:bodyPr wrap="square" lIns="0" tIns="0" rIns="0" bIns="0" rtlCol="0" anchor="t"/>
          <a:lstStyle/>
          <a:p>
            <a:pPr algn="ctr" indent="0" marL="0">
              <a:buNone/>
            </a:pPr>
            <a:r>
              <a:rPr lang="en-US" sz="1450" b="1" dirty="0">
                <a:solidFill>
                  <a:srgbClr val="FFFFFF"/>
                </a:solidFill>
                <a:latin typeface="Calibri" pitchFamily="34" charset="0"/>
                <a:ea typeface="Calibri" pitchFamily="34" charset="-122"/>
                <a:cs typeface="Calibri" pitchFamily="34" charset="-120"/>
              </a:rPr>
              <a:t>Consent</a:t>
            </a:r>
            <a:endParaRPr lang="en-US" sz="1450" dirty="0"/>
          </a:p>
        </p:txBody>
      </p:sp>
      <p:sp>
        <p:nvSpPr>
          <p:cNvPr id="21" name="Text 16"/>
          <p:cNvSpPr/>
          <p:nvPr/>
        </p:nvSpPr>
        <p:spPr>
          <a:xfrm>
            <a:off x="6327648" y="4160520"/>
            <a:ext cx="2276856" cy="1417320"/>
          </a:xfrm>
          <a:prstGeom prst="rect">
            <a:avLst/>
          </a:prstGeom>
          <a:noFill/>
          <a:ln/>
        </p:spPr>
        <p:txBody>
          <a:bodyPr wrap="square" lIns="0" tIns="0" rIns="0" bIns="0" rtlCol="0" anchor="t"/>
          <a:lstStyle/>
          <a:p>
            <a:pPr algn="ctr" indent="0" marL="0">
              <a:buNone/>
            </a:pPr>
            <a:r>
              <a:rPr lang="en-US" sz="1150" dirty="0">
                <a:solidFill>
                  <a:srgbClr val="CFE8E6"/>
                </a:solidFill>
                <a:latin typeface="Calibri" pitchFamily="34" charset="0"/>
                <a:ea typeface="Calibri" pitchFamily="34" charset="-122"/>
                <a:cs typeface="Calibri" pitchFamily="34" charset="-120"/>
              </a:rPr>
              <a:t>What 'meaningful consent' even means for invisible, continuous tracking</a:t>
            </a:r>
            <a:endParaRPr lang="en-US" sz="1150" dirty="0"/>
          </a:p>
        </p:txBody>
      </p:sp>
      <p:sp>
        <p:nvSpPr>
          <p:cNvPr id="22" name="Shape 17"/>
          <p:cNvSpPr/>
          <p:nvPr/>
        </p:nvSpPr>
        <p:spPr>
          <a:xfrm>
            <a:off x="8970264" y="2103120"/>
            <a:ext cx="2606040" cy="3657600"/>
          </a:xfrm>
          <a:prstGeom prst="roundRect">
            <a:avLst>
              <a:gd name="adj" fmla="val 3509"/>
            </a:avLst>
          </a:prstGeom>
          <a:solidFill>
            <a:srgbClr val="16335C"/>
          </a:solidFill>
          <a:ln/>
        </p:spPr>
      </p:sp>
      <p:sp>
        <p:nvSpPr>
          <p:cNvPr id="23" name="Shape 18"/>
          <p:cNvSpPr/>
          <p:nvPr/>
        </p:nvSpPr>
        <p:spPr>
          <a:xfrm>
            <a:off x="9884664" y="2423160"/>
            <a:ext cx="777240" cy="777240"/>
          </a:xfrm>
          <a:prstGeom prst="ellipse">
            <a:avLst/>
          </a:prstGeom>
          <a:solidFill>
            <a:srgbClr val="E08E1D"/>
          </a:solidFill>
          <a:ln/>
        </p:spPr>
      </p:sp>
      <p:pic>
        <p:nvPicPr>
          <p:cNvPr id="24" name="Image 3" descr="preencoded.png">    </p:cNvPr>
          <p:cNvPicPr>
            <a:picLocks noChangeAspect="1"/>
          </p:cNvPicPr>
          <p:nvPr/>
        </p:nvPicPr>
        <p:blipFill>
          <a:blip r:embed="rId4"/>
          <a:stretch>
            <a:fillRect/>
          </a:stretch>
        </p:blipFill>
        <p:spPr>
          <a:xfrm>
            <a:off x="10086746" y="2625242"/>
            <a:ext cx="373075" cy="373075"/>
          </a:xfrm>
          <a:prstGeom prst="rect">
            <a:avLst/>
          </a:prstGeom>
        </p:spPr>
      </p:pic>
      <p:sp>
        <p:nvSpPr>
          <p:cNvPr id="25" name="Text 19"/>
          <p:cNvSpPr/>
          <p:nvPr/>
        </p:nvSpPr>
        <p:spPr>
          <a:xfrm>
            <a:off x="11073384" y="2212848"/>
            <a:ext cx="365760" cy="365760"/>
          </a:xfrm>
          <a:prstGeom prst="rect">
            <a:avLst/>
          </a:prstGeom>
          <a:noFill/>
          <a:ln/>
        </p:spPr>
        <p:txBody>
          <a:bodyPr wrap="square" lIns="0" tIns="0" rIns="0" bIns="0" rtlCol="0" anchor="ctr"/>
          <a:lstStyle/>
          <a:p>
            <a:pPr algn="r" indent="0" marL="0">
              <a:buNone/>
            </a:pPr>
            <a:r>
              <a:rPr lang="en-US" sz="1600" b="1" dirty="0">
                <a:solidFill>
                  <a:srgbClr val="3FA9B0"/>
                </a:solidFill>
                <a:latin typeface="Cambria" pitchFamily="34" charset="0"/>
                <a:ea typeface="Cambria" pitchFamily="34" charset="-122"/>
                <a:cs typeface="Cambria" pitchFamily="34" charset="-120"/>
              </a:rPr>
              <a:t>4</a:t>
            </a:r>
            <a:endParaRPr lang="en-US" sz="1600" dirty="0"/>
          </a:p>
        </p:txBody>
      </p:sp>
      <p:sp>
        <p:nvSpPr>
          <p:cNvPr id="26" name="Text 20"/>
          <p:cNvSpPr/>
          <p:nvPr/>
        </p:nvSpPr>
        <p:spPr>
          <a:xfrm>
            <a:off x="9134856" y="3383280"/>
            <a:ext cx="2276856" cy="685800"/>
          </a:xfrm>
          <a:prstGeom prst="rect">
            <a:avLst/>
          </a:prstGeom>
          <a:noFill/>
          <a:ln/>
        </p:spPr>
        <p:txBody>
          <a:bodyPr wrap="square" lIns="0" tIns="0" rIns="0" bIns="0" rtlCol="0" anchor="t"/>
          <a:lstStyle/>
          <a:p>
            <a:pPr algn="ctr" indent="0" marL="0">
              <a:buNone/>
            </a:pPr>
            <a:r>
              <a:rPr lang="en-US" sz="1450" b="1" dirty="0">
                <a:solidFill>
                  <a:srgbClr val="FFFFFF"/>
                </a:solidFill>
                <a:latin typeface="Calibri" pitchFamily="34" charset="0"/>
                <a:ea typeface="Calibri" pitchFamily="34" charset="-122"/>
                <a:cs typeface="Calibri" pitchFamily="34" charset="-120"/>
              </a:rPr>
              <a:t>Public Safety &amp; Feedback Effects</a:t>
            </a:r>
            <a:endParaRPr lang="en-US" sz="1450" dirty="0"/>
          </a:p>
        </p:txBody>
      </p:sp>
      <p:sp>
        <p:nvSpPr>
          <p:cNvPr id="27" name="Text 21"/>
          <p:cNvSpPr/>
          <p:nvPr/>
        </p:nvSpPr>
        <p:spPr>
          <a:xfrm>
            <a:off x="9134856" y="4160520"/>
            <a:ext cx="2276856" cy="1417320"/>
          </a:xfrm>
          <a:prstGeom prst="rect">
            <a:avLst/>
          </a:prstGeom>
          <a:noFill/>
          <a:ln/>
        </p:spPr>
        <p:txBody>
          <a:bodyPr wrap="square" lIns="0" tIns="0" rIns="0" bIns="0" rtlCol="0" anchor="t"/>
          <a:lstStyle/>
          <a:p>
            <a:pPr algn="ctr" indent="0" marL="0">
              <a:buNone/>
            </a:pPr>
            <a:r>
              <a:rPr lang="en-US" sz="1150" dirty="0">
                <a:solidFill>
                  <a:srgbClr val="CFE8E6"/>
                </a:solidFill>
                <a:latin typeface="Calibri" pitchFamily="34" charset="0"/>
                <a:ea typeface="Calibri" pitchFamily="34" charset="-122"/>
                <a:cs typeface="Calibri" pitchFamily="34" charset="-120"/>
              </a:rPr>
              <a:t>When crowdsourced location data is weaponised or misused</a:t>
            </a:r>
            <a:endParaRPr lang="en-US" sz="1150" dirty="0"/>
          </a:p>
        </p:txBody>
      </p:sp>
      <p:sp>
        <p:nvSpPr>
          <p:cNvPr id="28" name="Text 2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9" name="Text 23"/>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CHALLENGES — DISCUSSION TOPIC 1</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How Easily Can Location Data Identify You?</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Discussion Topic 1: Re-identification risk in “anonymised” location data</a:t>
            </a:r>
            <a:endParaRPr lang="en-US" sz="1400" dirty="0"/>
          </a:p>
        </p:txBody>
      </p:sp>
      <p:sp>
        <p:nvSpPr>
          <p:cNvPr id="5" name="Shape 3"/>
          <p:cNvSpPr/>
          <p:nvPr/>
        </p:nvSpPr>
        <p:spPr>
          <a:xfrm>
            <a:off x="548640" y="1965960"/>
            <a:ext cx="3520440" cy="2331720"/>
          </a:xfrm>
          <a:prstGeom prst="roundRect">
            <a:avLst>
              <a:gd name="adj" fmla="val 3922"/>
            </a:avLst>
          </a:prstGeom>
          <a:solidFill>
            <a:srgbClr val="F4F8F8"/>
          </a:solidFill>
          <a:ln/>
        </p:spPr>
      </p:sp>
      <p:sp>
        <p:nvSpPr>
          <p:cNvPr id="6" name="Shape 4"/>
          <p:cNvSpPr/>
          <p:nvPr/>
        </p:nvSpPr>
        <p:spPr>
          <a:xfrm>
            <a:off x="2011680" y="2167128"/>
            <a:ext cx="594360" cy="594360"/>
          </a:xfrm>
          <a:prstGeom prst="ellipse">
            <a:avLst/>
          </a:prstGeom>
          <a:solidFill>
            <a:srgbClr val="0E7C86"/>
          </a:solidFill>
          <a:ln/>
        </p:spPr>
      </p:sp>
      <p:pic>
        <p:nvPicPr>
          <p:cNvPr id="7" name="Image 0" descr="preencoded.png">    </p:cNvPr>
          <p:cNvPicPr>
            <a:picLocks noChangeAspect="1"/>
          </p:cNvPicPr>
          <p:nvPr/>
        </p:nvPicPr>
        <p:blipFill>
          <a:blip r:embed="rId1"/>
          <a:stretch>
            <a:fillRect/>
          </a:stretch>
        </p:blipFill>
        <p:spPr>
          <a:xfrm>
            <a:off x="2166214" y="2321662"/>
            <a:ext cx="285293" cy="285293"/>
          </a:xfrm>
          <a:prstGeom prst="rect">
            <a:avLst/>
          </a:prstGeom>
        </p:spPr>
      </p:pic>
      <p:sp>
        <p:nvSpPr>
          <p:cNvPr id="8" name="Text 5"/>
          <p:cNvSpPr/>
          <p:nvPr/>
        </p:nvSpPr>
        <p:spPr>
          <a:xfrm>
            <a:off x="685800" y="2862072"/>
            <a:ext cx="3246120" cy="50292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87%</a:t>
            </a:r>
            <a:endParaRPr lang="en-US" sz="2600" dirty="0"/>
          </a:p>
        </p:txBody>
      </p:sp>
      <p:sp>
        <p:nvSpPr>
          <p:cNvPr id="9" name="Text 6"/>
          <p:cNvSpPr/>
          <p:nvPr/>
        </p:nvSpPr>
        <p:spPr>
          <a:xfrm>
            <a:off x="731520" y="3383280"/>
            <a:ext cx="3154680" cy="86868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of Americans are uniquely identifiable from just postal code, date of birth, and gender (Sweeney, 2000)</a:t>
            </a:r>
            <a:endParaRPr lang="en-US" sz="1100" dirty="0"/>
          </a:p>
        </p:txBody>
      </p:sp>
      <p:sp>
        <p:nvSpPr>
          <p:cNvPr id="10" name="Shape 7"/>
          <p:cNvSpPr/>
          <p:nvPr/>
        </p:nvSpPr>
        <p:spPr>
          <a:xfrm>
            <a:off x="4315968" y="1965960"/>
            <a:ext cx="3520440" cy="2331720"/>
          </a:xfrm>
          <a:prstGeom prst="roundRect">
            <a:avLst>
              <a:gd name="adj" fmla="val 3922"/>
            </a:avLst>
          </a:prstGeom>
          <a:solidFill>
            <a:srgbClr val="F4F8F8"/>
          </a:solidFill>
          <a:ln/>
        </p:spPr>
      </p:sp>
      <p:sp>
        <p:nvSpPr>
          <p:cNvPr id="11" name="Shape 8"/>
          <p:cNvSpPr/>
          <p:nvPr/>
        </p:nvSpPr>
        <p:spPr>
          <a:xfrm>
            <a:off x="5779008" y="2167128"/>
            <a:ext cx="594360" cy="594360"/>
          </a:xfrm>
          <a:prstGeom prst="ellipse">
            <a:avLst/>
          </a:prstGeom>
          <a:solidFill>
            <a:srgbClr val="0E7C86"/>
          </a:solidFill>
          <a:ln/>
        </p:spPr>
      </p:sp>
      <p:pic>
        <p:nvPicPr>
          <p:cNvPr id="12" name="Image 1" descr="preencoded.png">    </p:cNvPr>
          <p:cNvPicPr>
            <a:picLocks noChangeAspect="1"/>
          </p:cNvPicPr>
          <p:nvPr/>
        </p:nvPicPr>
        <p:blipFill>
          <a:blip r:embed="rId2"/>
          <a:stretch>
            <a:fillRect/>
          </a:stretch>
        </p:blipFill>
        <p:spPr>
          <a:xfrm>
            <a:off x="5933542" y="2321662"/>
            <a:ext cx="285293" cy="285293"/>
          </a:xfrm>
          <a:prstGeom prst="rect">
            <a:avLst/>
          </a:prstGeom>
        </p:spPr>
      </p:pic>
      <p:sp>
        <p:nvSpPr>
          <p:cNvPr id="13" name="Text 9"/>
          <p:cNvSpPr/>
          <p:nvPr/>
        </p:nvSpPr>
        <p:spPr>
          <a:xfrm>
            <a:off x="4453128" y="2862072"/>
            <a:ext cx="3246120" cy="50292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4 points</a:t>
            </a:r>
            <a:endParaRPr lang="en-US" sz="2600" dirty="0"/>
          </a:p>
        </p:txBody>
      </p:sp>
      <p:sp>
        <p:nvSpPr>
          <p:cNvPr id="14" name="Text 10"/>
          <p:cNvSpPr/>
          <p:nvPr/>
        </p:nvSpPr>
        <p:spPr>
          <a:xfrm>
            <a:off x="4498848" y="3383280"/>
            <a:ext cx="3154680" cy="86868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of spatiotemporal data are enough to uniquely identify 95% of individuals (de Montjoye et al., 2013)</a:t>
            </a:r>
            <a:endParaRPr lang="en-US" sz="1100" dirty="0"/>
          </a:p>
        </p:txBody>
      </p:sp>
      <p:sp>
        <p:nvSpPr>
          <p:cNvPr id="15" name="Shape 11"/>
          <p:cNvSpPr/>
          <p:nvPr/>
        </p:nvSpPr>
        <p:spPr>
          <a:xfrm>
            <a:off x="8083296" y="1965960"/>
            <a:ext cx="3520440" cy="2331720"/>
          </a:xfrm>
          <a:prstGeom prst="roundRect">
            <a:avLst>
              <a:gd name="adj" fmla="val 3922"/>
            </a:avLst>
          </a:prstGeom>
          <a:solidFill>
            <a:srgbClr val="F4F8F8"/>
          </a:solidFill>
          <a:ln/>
        </p:spPr>
      </p:sp>
      <p:sp>
        <p:nvSpPr>
          <p:cNvPr id="16" name="Shape 12"/>
          <p:cNvSpPr/>
          <p:nvPr/>
        </p:nvSpPr>
        <p:spPr>
          <a:xfrm>
            <a:off x="9546336" y="2167128"/>
            <a:ext cx="594360" cy="594360"/>
          </a:xfrm>
          <a:prstGeom prst="ellipse">
            <a:avLst/>
          </a:prstGeom>
          <a:solidFill>
            <a:srgbClr val="0E7C86"/>
          </a:solidFill>
          <a:ln/>
        </p:spPr>
      </p:sp>
      <p:pic>
        <p:nvPicPr>
          <p:cNvPr id="17" name="Image 2" descr="preencoded.png">    </p:cNvPr>
          <p:cNvPicPr>
            <a:picLocks noChangeAspect="1"/>
          </p:cNvPicPr>
          <p:nvPr/>
        </p:nvPicPr>
        <p:blipFill>
          <a:blip r:embed="rId3"/>
          <a:stretch>
            <a:fillRect/>
          </a:stretch>
        </p:blipFill>
        <p:spPr>
          <a:xfrm>
            <a:off x="9700870" y="2321662"/>
            <a:ext cx="285293" cy="285293"/>
          </a:xfrm>
          <a:prstGeom prst="rect">
            <a:avLst/>
          </a:prstGeom>
        </p:spPr>
      </p:pic>
      <p:sp>
        <p:nvSpPr>
          <p:cNvPr id="18" name="Text 13"/>
          <p:cNvSpPr/>
          <p:nvPr/>
        </p:nvSpPr>
        <p:spPr>
          <a:xfrm>
            <a:off x="8220456" y="2862072"/>
            <a:ext cx="3246120" cy="50292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88%</a:t>
            </a:r>
            <a:endParaRPr lang="en-US" sz="2600" dirty="0"/>
          </a:p>
        </p:txBody>
      </p:sp>
      <p:sp>
        <p:nvSpPr>
          <p:cNvPr id="19" name="Text 14"/>
          <p:cNvSpPr/>
          <p:nvPr/>
        </p:nvSpPr>
        <p:spPr>
          <a:xfrm>
            <a:off x="8266176" y="3383280"/>
            <a:ext cx="3154680" cy="86868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theoretical accuracy bound for predicting someone's future location using machine learning</a:t>
            </a:r>
            <a:endParaRPr lang="en-US" sz="1100" dirty="0"/>
          </a:p>
        </p:txBody>
      </p:sp>
      <p:sp>
        <p:nvSpPr>
          <p:cNvPr id="20" name="Shape 15"/>
          <p:cNvSpPr/>
          <p:nvPr/>
        </p:nvSpPr>
        <p:spPr>
          <a:xfrm>
            <a:off x="548640" y="4526280"/>
            <a:ext cx="11018520" cy="1508760"/>
          </a:xfrm>
          <a:prstGeom prst="roundRect">
            <a:avLst>
              <a:gd name="adj" fmla="val 4848"/>
            </a:avLst>
          </a:prstGeom>
          <a:solidFill>
            <a:srgbClr val="0B1F3A"/>
          </a:solidFill>
          <a:ln/>
        </p:spPr>
      </p:sp>
      <p:sp>
        <p:nvSpPr>
          <p:cNvPr id="21" name="Shape 16"/>
          <p:cNvSpPr/>
          <p:nvPr/>
        </p:nvSpPr>
        <p:spPr>
          <a:xfrm>
            <a:off x="777240" y="4754880"/>
            <a:ext cx="548640" cy="548640"/>
          </a:xfrm>
          <a:prstGeom prst="ellipse">
            <a:avLst/>
          </a:prstGeom>
          <a:solidFill>
            <a:srgbClr val="E08E1D"/>
          </a:solidFill>
          <a:ln/>
        </p:spPr>
      </p:sp>
      <p:pic>
        <p:nvPicPr>
          <p:cNvPr id="22" name="Image 3" descr="preencoded.png">    </p:cNvPr>
          <p:cNvPicPr>
            <a:picLocks noChangeAspect="1"/>
          </p:cNvPicPr>
          <p:nvPr/>
        </p:nvPicPr>
        <p:blipFill>
          <a:blip r:embed="rId4"/>
          <a:stretch>
            <a:fillRect/>
          </a:stretch>
        </p:blipFill>
        <p:spPr>
          <a:xfrm>
            <a:off x="919886" y="4897526"/>
            <a:ext cx="263347" cy="263347"/>
          </a:xfrm>
          <a:prstGeom prst="rect">
            <a:avLst/>
          </a:prstGeom>
        </p:spPr>
      </p:pic>
      <p:sp>
        <p:nvSpPr>
          <p:cNvPr id="23" name="Text 17"/>
          <p:cNvSpPr/>
          <p:nvPr/>
        </p:nvSpPr>
        <p:spPr>
          <a:xfrm>
            <a:off x="1508760" y="4681728"/>
            <a:ext cx="960120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Why this is a governance problem, not just a technical one:</a:t>
            </a:r>
            <a:endParaRPr lang="en-US" sz="1350" dirty="0"/>
          </a:p>
        </p:txBody>
      </p:sp>
      <p:sp>
        <p:nvSpPr>
          <p:cNvPr id="24" name="Text 18"/>
          <p:cNvSpPr/>
          <p:nvPr/>
        </p:nvSpPr>
        <p:spPr>
          <a:xfrm>
            <a:off x="1508760" y="5010912"/>
            <a:ext cx="9601200" cy="914400"/>
          </a:xfrm>
          <a:prstGeom prst="rect">
            <a:avLst/>
          </a:prstGeom>
          <a:noFill/>
          <a:ln/>
        </p:spPr>
        <p:txBody>
          <a:bodyPr wrap="square" lIns="0" tIns="0" rIns="0" bIns="0" rtlCol="0" anchor="t"/>
          <a:lstStyle/>
          <a:p>
            <a:pPr indent="0" marL="0">
              <a:buNone/>
            </a:pPr>
            <a:r>
              <a:rPr lang="en-US" sz="1200" dirty="0">
                <a:solidFill>
                  <a:srgbClr val="CFE8E6"/>
                </a:solidFill>
                <a:latin typeface="Calibri" pitchFamily="34" charset="0"/>
                <a:ea typeface="Calibri" pitchFamily="34" charset="-122"/>
                <a:cs typeface="Calibri" pitchFamily="34" charset="-120"/>
              </a:rPr>
              <a:t>Making location datasets coarser (lower resolution) does not solve re-identification — it only takes a handful of extra points to re-identify someone again. Combined with freely available open data (social media, landmarks, reviews), the pool of people capable of running this kind of attack is far larger than traditional data-linking would suggest.</a:t>
            </a:r>
            <a:endParaRPr lang="en-US" sz="1200" dirty="0"/>
          </a:p>
        </p:txBody>
      </p:sp>
      <p:sp>
        <p:nvSpPr>
          <p:cNvPr id="25" name="Text 19"/>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6" name="Text 20"/>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CHALLENGES</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Beyond Identity: What Location Data Reveals</a:t>
            </a:r>
            <a:endParaRPr lang="en-US" sz="3000" dirty="0"/>
          </a:p>
        </p:txBody>
      </p:sp>
      <p:sp>
        <p:nvSpPr>
          <p:cNvPr id="4" name="Text 2"/>
          <p:cNvSpPr/>
          <p:nvPr/>
        </p:nvSpPr>
        <p:spPr>
          <a:xfrm>
            <a:off x="548640" y="1463040"/>
            <a:ext cx="10972800" cy="365760"/>
          </a:xfrm>
          <a:prstGeom prst="rect">
            <a:avLst/>
          </a:prstGeom>
          <a:noFill/>
          <a:ln/>
        </p:spPr>
        <p:txBody>
          <a:bodyPr wrap="square" lIns="0" tIns="0" rIns="0" bIns="0" rtlCol="0" anchor="ctr"/>
          <a:lstStyle/>
          <a:p>
            <a:pPr indent="0" marL="0">
              <a:buNone/>
            </a:pPr>
            <a:r>
              <a:rPr lang="en-US" sz="1400" dirty="0">
                <a:solidFill>
                  <a:srgbClr val="16213A"/>
                </a:solidFill>
                <a:latin typeface="Calibri" pitchFamily="34" charset="0"/>
                <a:ea typeface="Calibri" pitchFamily="34" charset="-122"/>
                <a:cs typeface="Calibri" pitchFamily="34" charset="-120"/>
              </a:rPr>
              <a:t>Even at relatively low quality, location traces reveal far more than just 'where':</a:t>
            </a:r>
            <a:endParaRPr lang="en-US" sz="1400" dirty="0"/>
          </a:p>
        </p:txBody>
      </p:sp>
      <p:sp>
        <p:nvSpPr>
          <p:cNvPr id="5" name="Shape 3"/>
          <p:cNvSpPr/>
          <p:nvPr/>
        </p:nvSpPr>
        <p:spPr>
          <a:xfrm>
            <a:off x="548640" y="2103120"/>
            <a:ext cx="2697480" cy="2286000"/>
          </a:xfrm>
          <a:prstGeom prst="roundRect">
            <a:avLst>
              <a:gd name="adj" fmla="val 4000"/>
            </a:avLst>
          </a:prstGeom>
          <a:solidFill>
            <a:srgbClr val="F4F8F8"/>
          </a:solidFill>
          <a:ln/>
        </p:spPr>
      </p:sp>
      <p:sp>
        <p:nvSpPr>
          <p:cNvPr id="6" name="Shape 4"/>
          <p:cNvSpPr/>
          <p:nvPr/>
        </p:nvSpPr>
        <p:spPr>
          <a:xfrm>
            <a:off x="1577340" y="2331720"/>
            <a:ext cx="640080" cy="640080"/>
          </a:xfrm>
          <a:prstGeom prst="ellipse">
            <a:avLst/>
          </a:prstGeom>
          <a:solidFill>
            <a:srgbClr val="0E7C86"/>
          </a:solidFill>
          <a:ln/>
        </p:spPr>
      </p:sp>
      <p:pic>
        <p:nvPicPr>
          <p:cNvPr id="7" name="Image 0" descr="preencoded.png">    </p:cNvPr>
          <p:cNvPicPr>
            <a:picLocks noChangeAspect="1"/>
          </p:cNvPicPr>
          <p:nvPr/>
        </p:nvPicPr>
        <p:blipFill>
          <a:blip r:embed="rId1"/>
          <a:stretch>
            <a:fillRect/>
          </a:stretch>
        </p:blipFill>
        <p:spPr>
          <a:xfrm>
            <a:off x="1743761" y="2498141"/>
            <a:ext cx="307238" cy="307238"/>
          </a:xfrm>
          <a:prstGeom prst="rect">
            <a:avLst/>
          </a:prstGeom>
        </p:spPr>
      </p:pic>
      <p:sp>
        <p:nvSpPr>
          <p:cNvPr id="8" name="Text 5"/>
          <p:cNvSpPr/>
          <p:nvPr/>
        </p:nvSpPr>
        <p:spPr>
          <a:xfrm>
            <a:off x="658368" y="3108960"/>
            <a:ext cx="2478024" cy="502920"/>
          </a:xfrm>
          <a:prstGeom prst="rect">
            <a:avLst/>
          </a:prstGeom>
          <a:noFill/>
          <a:ln/>
        </p:spPr>
        <p:txBody>
          <a:bodyPr wrap="square" lIns="0" tIns="0" rIns="0" bIns="0" rtlCol="0" anchor="t"/>
          <a:lstStyle/>
          <a:p>
            <a:pPr algn="ctr" indent="0" marL="0">
              <a:buNone/>
            </a:pPr>
            <a:r>
              <a:rPr lang="en-US" sz="1300" b="1" dirty="0">
                <a:solidFill>
                  <a:srgbClr val="0B1F3A"/>
                </a:solidFill>
                <a:latin typeface="Calibri" pitchFamily="34" charset="0"/>
                <a:ea typeface="Calibri" pitchFamily="34" charset="-122"/>
                <a:cs typeface="Calibri" pitchFamily="34" charset="-120"/>
              </a:rPr>
              <a:t>Mode of transport</a:t>
            </a:r>
            <a:endParaRPr lang="en-US" sz="1300" dirty="0"/>
          </a:p>
        </p:txBody>
      </p:sp>
      <p:sp>
        <p:nvSpPr>
          <p:cNvPr id="9" name="Text 6"/>
          <p:cNvSpPr/>
          <p:nvPr/>
        </p:nvSpPr>
        <p:spPr>
          <a:xfrm>
            <a:off x="685800" y="3611880"/>
            <a:ext cx="2423160" cy="731520"/>
          </a:xfrm>
          <a:prstGeom prst="rect">
            <a:avLst/>
          </a:prstGeom>
          <a:noFill/>
          <a:ln/>
        </p:spPr>
        <p:txBody>
          <a:bodyPr wrap="square" lIns="0" tIns="0" rIns="0" bIns="0" rtlCol="0" anchor="t"/>
          <a:lstStyle/>
          <a:p>
            <a:pPr algn="ctr" indent="0" marL="0">
              <a:buNone/>
            </a:pPr>
            <a:r>
              <a:rPr lang="en-US" sz="1080" dirty="0">
                <a:solidFill>
                  <a:srgbClr val="5B6B7F"/>
                </a:solidFill>
                <a:latin typeface="Calibri" pitchFamily="34" charset="0"/>
                <a:ea typeface="Calibri" pitchFamily="34" charset="-122"/>
                <a:cs typeface="Calibri" pitchFamily="34" charset="-120"/>
              </a:rPr>
              <a:t>Walking, cycling, driving inferred from movement patterns</a:t>
            </a:r>
            <a:endParaRPr lang="en-US" sz="1080" dirty="0"/>
          </a:p>
        </p:txBody>
      </p:sp>
      <p:sp>
        <p:nvSpPr>
          <p:cNvPr id="10" name="Shape 7"/>
          <p:cNvSpPr/>
          <p:nvPr/>
        </p:nvSpPr>
        <p:spPr>
          <a:xfrm>
            <a:off x="3429000" y="2103120"/>
            <a:ext cx="2697480" cy="2286000"/>
          </a:xfrm>
          <a:prstGeom prst="roundRect">
            <a:avLst>
              <a:gd name="adj" fmla="val 4000"/>
            </a:avLst>
          </a:prstGeom>
          <a:solidFill>
            <a:srgbClr val="F4F8F8"/>
          </a:solidFill>
          <a:ln/>
        </p:spPr>
      </p:sp>
      <p:sp>
        <p:nvSpPr>
          <p:cNvPr id="11" name="Shape 8"/>
          <p:cNvSpPr/>
          <p:nvPr/>
        </p:nvSpPr>
        <p:spPr>
          <a:xfrm>
            <a:off x="4457700" y="2331720"/>
            <a:ext cx="640080" cy="640080"/>
          </a:xfrm>
          <a:prstGeom prst="ellipse">
            <a:avLst/>
          </a:prstGeom>
          <a:solidFill>
            <a:srgbClr val="0E7C86"/>
          </a:solidFill>
          <a:ln/>
        </p:spPr>
      </p:sp>
      <p:pic>
        <p:nvPicPr>
          <p:cNvPr id="12" name="Image 1" descr="preencoded.png">    </p:cNvPr>
          <p:cNvPicPr>
            <a:picLocks noChangeAspect="1"/>
          </p:cNvPicPr>
          <p:nvPr/>
        </p:nvPicPr>
        <p:blipFill>
          <a:blip r:embed="rId2"/>
          <a:stretch>
            <a:fillRect/>
          </a:stretch>
        </p:blipFill>
        <p:spPr>
          <a:xfrm>
            <a:off x="4624121" y="2498141"/>
            <a:ext cx="307238" cy="307238"/>
          </a:xfrm>
          <a:prstGeom prst="rect">
            <a:avLst/>
          </a:prstGeom>
        </p:spPr>
      </p:pic>
      <p:sp>
        <p:nvSpPr>
          <p:cNvPr id="13" name="Text 9"/>
          <p:cNvSpPr/>
          <p:nvPr/>
        </p:nvSpPr>
        <p:spPr>
          <a:xfrm>
            <a:off x="3538728" y="3108960"/>
            <a:ext cx="2478024" cy="502920"/>
          </a:xfrm>
          <a:prstGeom prst="rect">
            <a:avLst/>
          </a:prstGeom>
          <a:noFill/>
          <a:ln/>
        </p:spPr>
        <p:txBody>
          <a:bodyPr wrap="square" lIns="0" tIns="0" rIns="0" bIns="0" rtlCol="0" anchor="t"/>
          <a:lstStyle/>
          <a:p>
            <a:pPr algn="ctr" indent="0" marL="0">
              <a:buNone/>
            </a:pPr>
            <a:r>
              <a:rPr lang="en-US" sz="1300" b="1" dirty="0">
                <a:solidFill>
                  <a:srgbClr val="0B1F3A"/>
                </a:solidFill>
                <a:latin typeface="Calibri" pitchFamily="34" charset="0"/>
                <a:ea typeface="Calibri" pitchFamily="34" charset="-122"/>
                <a:cs typeface="Calibri" pitchFamily="34" charset="-120"/>
              </a:rPr>
              <a:t>Important locations</a:t>
            </a:r>
            <a:endParaRPr lang="en-US" sz="1300" dirty="0"/>
          </a:p>
        </p:txBody>
      </p:sp>
      <p:sp>
        <p:nvSpPr>
          <p:cNvPr id="14" name="Text 10"/>
          <p:cNvSpPr/>
          <p:nvPr/>
        </p:nvSpPr>
        <p:spPr>
          <a:xfrm>
            <a:off x="3566160" y="3611880"/>
            <a:ext cx="2423160" cy="731520"/>
          </a:xfrm>
          <a:prstGeom prst="rect">
            <a:avLst/>
          </a:prstGeom>
          <a:noFill/>
          <a:ln/>
        </p:spPr>
        <p:txBody>
          <a:bodyPr wrap="square" lIns="0" tIns="0" rIns="0" bIns="0" rtlCol="0" anchor="t"/>
          <a:lstStyle/>
          <a:p>
            <a:pPr algn="ctr" indent="0" marL="0">
              <a:buNone/>
            </a:pPr>
            <a:r>
              <a:rPr lang="en-US" sz="1080" dirty="0">
                <a:solidFill>
                  <a:srgbClr val="5B6B7F"/>
                </a:solidFill>
                <a:latin typeface="Calibri" pitchFamily="34" charset="0"/>
                <a:ea typeface="Calibri" pitchFamily="34" charset="-122"/>
                <a:cs typeface="Calibri" pitchFamily="34" charset="-120"/>
              </a:rPr>
              <a:t>Home, workplace, places of worship, clinics</a:t>
            </a:r>
            <a:endParaRPr lang="en-US" sz="1080" dirty="0"/>
          </a:p>
        </p:txBody>
      </p:sp>
      <p:sp>
        <p:nvSpPr>
          <p:cNvPr id="15" name="Shape 11"/>
          <p:cNvSpPr/>
          <p:nvPr/>
        </p:nvSpPr>
        <p:spPr>
          <a:xfrm>
            <a:off x="6309360" y="2103120"/>
            <a:ext cx="2697480" cy="2286000"/>
          </a:xfrm>
          <a:prstGeom prst="roundRect">
            <a:avLst>
              <a:gd name="adj" fmla="val 4000"/>
            </a:avLst>
          </a:prstGeom>
          <a:solidFill>
            <a:srgbClr val="F4F8F8"/>
          </a:solidFill>
          <a:ln/>
        </p:spPr>
      </p:sp>
      <p:sp>
        <p:nvSpPr>
          <p:cNvPr id="16" name="Shape 12"/>
          <p:cNvSpPr/>
          <p:nvPr/>
        </p:nvSpPr>
        <p:spPr>
          <a:xfrm>
            <a:off x="7338060" y="2331720"/>
            <a:ext cx="640080" cy="640080"/>
          </a:xfrm>
          <a:prstGeom prst="ellipse">
            <a:avLst/>
          </a:prstGeom>
          <a:solidFill>
            <a:srgbClr val="0E7C86"/>
          </a:solidFill>
          <a:ln/>
        </p:spPr>
      </p:sp>
      <p:pic>
        <p:nvPicPr>
          <p:cNvPr id="17" name="Image 2" descr="preencoded.png">    </p:cNvPr>
          <p:cNvPicPr>
            <a:picLocks noChangeAspect="1"/>
          </p:cNvPicPr>
          <p:nvPr/>
        </p:nvPicPr>
        <p:blipFill>
          <a:blip r:embed="rId3"/>
          <a:stretch>
            <a:fillRect/>
          </a:stretch>
        </p:blipFill>
        <p:spPr>
          <a:xfrm>
            <a:off x="7504481" y="2498141"/>
            <a:ext cx="307238" cy="307238"/>
          </a:xfrm>
          <a:prstGeom prst="rect">
            <a:avLst/>
          </a:prstGeom>
        </p:spPr>
      </p:pic>
      <p:sp>
        <p:nvSpPr>
          <p:cNvPr id="18" name="Text 13"/>
          <p:cNvSpPr/>
          <p:nvPr/>
        </p:nvSpPr>
        <p:spPr>
          <a:xfrm>
            <a:off x="6419088" y="3108960"/>
            <a:ext cx="2478024" cy="502920"/>
          </a:xfrm>
          <a:prstGeom prst="rect">
            <a:avLst/>
          </a:prstGeom>
          <a:noFill/>
          <a:ln/>
        </p:spPr>
        <p:txBody>
          <a:bodyPr wrap="square" lIns="0" tIns="0" rIns="0" bIns="0" rtlCol="0" anchor="t"/>
          <a:lstStyle/>
          <a:p>
            <a:pPr algn="ctr" indent="0" marL="0">
              <a:buNone/>
            </a:pPr>
            <a:r>
              <a:rPr lang="en-US" sz="1300" b="1" dirty="0">
                <a:solidFill>
                  <a:srgbClr val="0B1F3A"/>
                </a:solidFill>
                <a:latin typeface="Calibri" pitchFamily="34" charset="0"/>
                <a:ea typeface="Calibri" pitchFamily="34" charset="-122"/>
                <a:cs typeface="Calibri" pitchFamily="34" charset="-120"/>
              </a:rPr>
              <a:t>Income level</a:t>
            </a:r>
            <a:endParaRPr lang="en-US" sz="1300" dirty="0"/>
          </a:p>
        </p:txBody>
      </p:sp>
      <p:sp>
        <p:nvSpPr>
          <p:cNvPr id="19" name="Text 14"/>
          <p:cNvSpPr/>
          <p:nvPr/>
        </p:nvSpPr>
        <p:spPr>
          <a:xfrm>
            <a:off x="6446520" y="3611880"/>
            <a:ext cx="2423160" cy="731520"/>
          </a:xfrm>
          <a:prstGeom prst="rect">
            <a:avLst/>
          </a:prstGeom>
          <a:noFill/>
          <a:ln/>
        </p:spPr>
        <p:txBody>
          <a:bodyPr wrap="square" lIns="0" tIns="0" rIns="0" bIns="0" rtlCol="0" anchor="t"/>
          <a:lstStyle/>
          <a:p>
            <a:pPr algn="ctr" indent="0" marL="0">
              <a:buNone/>
            </a:pPr>
            <a:r>
              <a:rPr lang="en-US" sz="1080" dirty="0">
                <a:solidFill>
                  <a:srgbClr val="5B6B7F"/>
                </a:solidFill>
                <a:latin typeface="Calibri" pitchFamily="34" charset="0"/>
                <a:ea typeface="Calibri" pitchFamily="34" charset="-122"/>
                <a:cs typeface="Calibri" pitchFamily="34" charset="-120"/>
              </a:rPr>
              <a:t>Estimated from aggregated mobile communication patterns</a:t>
            </a:r>
            <a:endParaRPr lang="en-US" sz="1080" dirty="0"/>
          </a:p>
        </p:txBody>
      </p:sp>
      <p:sp>
        <p:nvSpPr>
          <p:cNvPr id="20" name="Shape 15"/>
          <p:cNvSpPr/>
          <p:nvPr/>
        </p:nvSpPr>
        <p:spPr>
          <a:xfrm>
            <a:off x="9189720" y="2103120"/>
            <a:ext cx="2697480" cy="2286000"/>
          </a:xfrm>
          <a:prstGeom prst="roundRect">
            <a:avLst>
              <a:gd name="adj" fmla="val 4000"/>
            </a:avLst>
          </a:prstGeom>
          <a:solidFill>
            <a:srgbClr val="F4F8F8"/>
          </a:solidFill>
          <a:ln/>
        </p:spPr>
      </p:sp>
      <p:sp>
        <p:nvSpPr>
          <p:cNvPr id="21" name="Shape 16"/>
          <p:cNvSpPr/>
          <p:nvPr/>
        </p:nvSpPr>
        <p:spPr>
          <a:xfrm>
            <a:off x="10218420" y="2331720"/>
            <a:ext cx="640080" cy="640080"/>
          </a:xfrm>
          <a:prstGeom prst="ellipse">
            <a:avLst/>
          </a:prstGeom>
          <a:solidFill>
            <a:srgbClr val="0E7C86"/>
          </a:solidFill>
          <a:ln/>
        </p:spPr>
      </p:sp>
      <p:pic>
        <p:nvPicPr>
          <p:cNvPr id="22" name="Image 3" descr="preencoded.png">    </p:cNvPr>
          <p:cNvPicPr>
            <a:picLocks noChangeAspect="1"/>
          </p:cNvPicPr>
          <p:nvPr/>
        </p:nvPicPr>
        <p:blipFill>
          <a:blip r:embed="rId4"/>
          <a:stretch>
            <a:fillRect/>
          </a:stretch>
        </p:blipFill>
        <p:spPr>
          <a:xfrm>
            <a:off x="10384841" y="2498141"/>
            <a:ext cx="307238" cy="307238"/>
          </a:xfrm>
          <a:prstGeom prst="rect">
            <a:avLst/>
          </a:prstGeom>
        </p:spPr>
      </p:pic>
      <p:sp>
        <p:nvSpPr>
          <p:cNvPr id="23" name="Text 17"/>
          <p:cNvSpPr/>
          <p:nvPr/>
        </p:nvSpPr>
        <p:spPr>
          <a:xfrm>
            <a:off x="9299448" y="3108960"/>
            <a:ext cx="2478024" cy="502920"/>
          </a:xfrm>
          <a:prstGeom prst="rect">
            <a:avLst/>
          </a:prstGeom>
          <a:noFill/>
          <a:ln/>
        </p:spPr>
        <p:txBody>
          <a:bodyPr wrap="square" lIns="0" tIns="0" rIns="0" bIns="0" rtlCol="0" anchor="t"/>
          <a:lstStyle/>
          <a:p>
            <a:pPr algn="ctr" indent="0" marL="0">
              <a:buNone/>
            </a:pPr>
            <a:r>
              <a:rPr lang="en-US" sz="1300" b="1" dirty="0">
                <a:solidFill>
                  <a:srgbClr val="0B1F3A"/>
                </a:solidFill>
                <a:latin typeface="Calibri" pitchFamily="34" charset="0"/>
                <a:ea typeface="Calibri" pitchFamily="34" charset="-122"/>
                <a:cs typeface="Calibri" pitchFamily="34" charset="-120"/>
              </a:rPr>
              <a:t>High-level behaviour</a:t>
            </a:r>
            <a:endParaRPr lang="en-US" sz="1300" dirty="0"/>
          </a:p>
        </p:txBody>
      </p:sp>
      <p:sp>
        <p:nvSpPr>
          <p:cNvPr id="24" name="Text 18"/>
          <p:cNvSpPr/>
          <p:nvPr/>
        </p:nvSpPr>
        <p:spPr>
          <a:xfrm>
            <a:off x="9326880" y="3611880"/>
            <a:ext cx="2423160" cy="731520"/>
          </a:xfrm>
          <a:prstGeom prst="rect">
            <a:avLst/>
          </a:prstGeom>
          <a:noFill/>
          <a:ln/>
        </p:spPr>
        <p:txBody>
          <a:bodyPr wrap="square" lIns="0" tIns="0" rIns="0" bIns="0" rtlCol="0" anchor="t"/>
          <a:lstStyle/>
          <a:p>
            <a:pPr algn="ctr" indent="0" marL="0">
              <a:buNone/>
            </a:pPr>
            <a:r>
              <a:rPr lang="en-US" sz="1080" dirty="0">
                <a:solidFill>
                  <a:srgbClr val="5B6B7F"/>
                </a:solidFill>
                <a:latin typeface="Calibri" pitchFamily="34" charset="0"/>
                <a:ea typeface="Calibri" pitchFamily="34" charset="-122"/>
                <a:cs typeface="Calibri" pitchFamily="34" charset="-120"/>
              </a:rPr>
              <a:t>Time spent out at night, leisure/work/education patterns, visits to gender-specific spaces</a:t>
            </a:r>
            <a:endParaRPr lang="en-US" sz="1080" dirty="0"/>
          </a:p>
        </p:txBody>
      </p:sp>
      <p:sp>
        <p:nvSpPr>
          <p:cNvPr id="25" name="Text 19"/>
          <p:cNvSpPr/>
          <p:nvPr/>
        </p:nvSpPr>
        <p:spPr>
          <a:xfrm>
            <a:off x="548640" y="4709160"/>
            <a:ext cx="11018520" cy="777240"/>
          </a:xfrm>
          <a:prstGeom prst="rect">
            <a:avLst/>
          </a:prstGeom>
          <a:noFill/>
          <a:ln/>
        </p:spPr>
        <p:txBody>
          <a:bodyPr wrap="square" lIns="0" tIns="0" rIns="0" bIns="0" rtlCol="0" anchor="t"/>
          <a:lstStyle/>
          <a:p>
            <a:pPr indent="0" marL="0">
              <a:buNone/>
            </a:pPr>
            <a:r>
              <a:rPr lang="en-US" sz="1300" i="1" dirty="0">
                <a:solidFill>
                  <a:srgbClr val="5B6B7F"/>
                </a:solidFill>
                <a:latin typeface="Calibri" pitchFamily="34" charset="0"/>
                <a:ea typeface="Calibri" pitchFamily="34" charset="-122"/>
                <a:cs typeface="Calibri" pitchFamily="34" charset="-120"/>
              </a:rPr>
              <a:t>Implication: purpose limitation under data protection law is difficult to enforce in practice, because the inferential power of location data extends far beyond its original collection purpose.</a:t>
            </a:r>
            <a:endParaRPr lang="en-US" sz="1300" dirty="0"/>
          </a:p>
        </p:txBody>
      </p:sp>
      <p:sp>
        <p:nvSpPr>
          <p:cNvPr id="26" name="Text 2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7" name="Text 21"/>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CHALLENGES — DISCUSSION TOPIC 2</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Whose Movement Gets Counted?</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Discussion Topic 2: Bias and representativeness in location datasets</a:t>
            </a:r>
            <a:endParaRPr lang="en-US" sz="1400" dirty="0"/>
          </a:p>
        </p:txBody>
      </p:sp>
      <p:sp>
        <p:nvSpPr>
          <p:cNvPr id="5" name="Text 3"/>
          <p:cNvSpPr/>
          <p:nvPr/>
        </p:nvSpPr>
        <p:spPr>
          <a:xfrm>
            <a:off x="548640" y="1874520"/>
            <a:ext cx="5943600" cy="777240"/>
          </a:xfrm>
          <a:prstGeom prst="rect">
            <a:avLst/>
          </a:prstGeom>
          <a:noFill/>
          <a:ln/>
        </p:spPr>
        <p:txBody>
          <a:bodyPr wrap="square" lIns="0" tIns="0" rIns="0" bIns="0" rtlCol="0" anchor="t"/>
          <a:lstStyle/>
          <a:p>
            <a:pPr indent="0" marL="0">
              <a:buNone/>
            </a:pPr>
            <a:r>
              <a:rPr lang="en-US" sz="1400" dirty="0">
                <a:solidFill>
                  <a:srgbClr val="16213A"/>
                </a:solidFill>
                <a:latin typeface="Calibri" pitchFamily="34" charset="0"/>
                <a:ea typeface="Calibri" pitchFamily="34" charset="-122"/>
                <a:cs typeface="Calibri" pitchFamily="34" charset="-120"/>
              </a:rPr>
              <a:t>Big data is rarely 'n = all'. Tracking technology cost, and the capacity to use its insights, restricts location datasets to specific groups.</a:t>
            </a:r>
            <a:endParaRPr lang="en-US" sz="1400" dirty="0"/>
          </a:p>
        </p:txBody>
      </p:sp>
      <p:sp>
        <p:nvSpPr>
          <p:cNvPr id="6" name="Shape 4"/>
          <p:cNvSpPr/>
          <p:nvPr/>
        </p:nvSpPr>
        <p:spPr>
          <a:xfrm>
            <a:off x="548640" y="2697480"/>
            <a:ext cx="5943600" cy="1554480"/>
          </a:xfrm>
          <a:prstGeom prst="roundRect">
            <a:avLst>
              <a:gd name="adj" fmla="val 4706"/>
            </a:avLst>
          </a:prstGeom>
          <a:solidFill>
            <a:srgbClr val="F4F8F8"/>
          </a:solidFill>
          <a:ln/>
        </p:spPr>
      </p:sp>
      <p:sp>
        <p:nvSpPr>
          <p:cNvPr id="7" name="Shape 5"/>
          <p:cNvSpPr/>
          <p:nvPr/>
        </p:nvSpPr>
        <p:spPr>
          <a:xfrm>
            <a:off x="777240" y="2907792"/>
            <a:ext cx="548640" cy="548640"/>
          </a:xfrm>
          <a:prstGeom prst="ellipse">
            <a:avLst/>
          </a:prstGeom>
          <a:solidFill>
            <a:srgbClr val="E08E1D"/>
          </a:solidFill>
          <a:ln/>
        </p:spPr>
      </p:sp>
      <p:pic>
        <p:nvPicPr>
          <p:cNvPr id="8" name="Image 0" descr="preencoded.png">    </p:cNvPr>
          <p:cNvPicPr>
            <a:picLocks noChangeAspect="1"/>
          </p:cNvPicPr>
          <p:nvPr/>
        </p:nvPicPr>
        <p:blipFill>
          <a:blip r:embed="rId1"/>
          <a:stretch>
            <a:fillRect/>
          </a:stretch>
        </p:blipFill>
        <p:spPr>
          <a:xfrm>
            <a:off x="919886" y="3050438"/>
            <a:ext cx="263347" cy="263347"/>
          </a:xfrm>
          <a:prstGeom prst="rect">
            <a:avLst/>
          </a:prstGeom>
        </p:spPr>
      </p:pic>
      <p:sp>
        <p:nvSpPr>
          <p:cNvPr id="9" name="Text 6"/>
          <p:cNvSpPr/>
          <p:nvPr/>
        </p:nvSpPr>
        <p:spPr>
          <a:xfrm>
            <a:off x="1463040" y="2834640"/>
            <a:ext cx="4892040" cy="32004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Example: pothole-flagging app</a:t>
            </a:r>
            <a:endParaRPr lang="en-US" sz="1350" dirty="0"/>
          </a:p>
        </p:txBody>
      </p:sp>
      <p:sp>
        <p:nvSpPr>
          <p:cNvPr id="10" name="Text 7"/>
          <p:cNvSpPr/>
          <p:nvPr/>
        </p:nvSpPr>
        <p:spPr>
          <a:xfrm>
            <a:off x="1463040" y="3182112"/>
            <a:ext cx="4892040" cy="960120"/>
          </a:xfrm>
          <a:prstGeom prst="rect">
            <a:avLst/>
          </a:prstGeom>
          <a:noFill/>
          <a:ln/>
        </p:spPr>
        <p:txBody>
          <a:bodyPr wrap="square" lIns="0" tIns="0" rIns="0" bIns="0" rtlCol="0" anchor="t"/>
          <a:lstStyle/>
          <a:p>
            <a:pPr indent="0" marL="0">
              <a:buNone/>
            </a:pPr>
            <a:r>
              <a:rPr lang="en-US" sz="1180" dirty="0">
                <a:solidFill>
                  <a:srgbClr val="16213A"/>
                </a:solidFill>
                <a:latin typeface="Calibri" pitchFamily="34" charset="0"/>
                <a:ea typeface="Calibri" pitchFamily="34" charset="-122"/>
                <a:cs typeface="Calibri" pitchFamily="34" charset="-120"/>
              </a:rPr>
              <a:t>A smartphone-accelerometer app for flagging potholes ended up focusing only on certain parts of the city — because it excluded groups in the population unlikely to own smartphones.</a:t>
            </a:r>
            <a:endParaRPr lang="en-US" sz="1180" dirty="0"/>
          </a:p>
        </p:txBody>
      </p:sp>
      <p:sp>
        <p:nvSpPr>
          <p:cNvPr id="11" name="Shape 8"/>
          <p:cNvSpPr/>
          <p:nvPr/>
        </p:nvSpPr>
        <p:spPr>
          <a:xfrm>
            <a:off x="548640" y="4434840"/>
            <a:ext cx="5943600" cy="1600200"/>
          </a:xfrm>
          <a:prstGeom prst="roundRect">
            <a:avLst>
              <a:gd name="adj" fmla="val 4571"/>
            </a:avLst>
          </a:prstGeom>
          <a:solidFill>
            <a:srgbClr val="F4F8F8"/>
          </a:solidFill>
          <a:ln/>
        </p:spPr>
      </p:sp>
      <p:sp>
        <p:nvSpPr>
          <p:cNvPr id="12" name="Shape 9"/>
          <p:cNvSpPr/>
          <p:nvPr/>
        </p:nvSpPr>
        <p:spPr>
          <a:xfrm>
            <a:off x="777240" y="4645152"/>
            <a:ext cx="548640" cy="548640"/>
          </a:xfrm>
          <a:prstGeom prst="ellipse">
            <a:avLst/>
          </a:prstGeom>
          <a:solidFill>
            <a:srgbClr val="E08E1D"/>
          </a:solidFill>
          <a:ln/>
        </p:spPr>
      </p:sp>
      <p:pic>
        <p:nvPicPr>
          <p:cNvPr id="13" name="Image 1" descr="preencoded.png">    </p:cNvPr>
          <p:cNvPicPr>
            <a:picLocks noChangeAspect="1"/>
          </p:cNvPicPr>
          <p:nvPr/>
        </p:nvPicPr>
        <p:blipFill>
          <a:blip r:embed="rId2"/>
          <a:stretch>
            <a:fillRect/>
          </a:stretch>
        </p:blipFill>
        <p:spPr>
          <a:xfrm>
            <a:off x="919886" y="4787798"/>
            <a:ext cx="263347" cy="263347"/>
          </a:xfrm>
          <a:prstGeom prst="rect">
            <a:avLst/>
          </a:prstGeom>
        </p:spPr>
      </p:pic>
      <p:sp>
        <p:nvSpPr>
          <p:cNvPr id="14" name="Text 10"/>
          <p:cNvSpPr/>
          <p:nvPr/>
        </p:nvSpPr>
        <p:spPr>
          <a:xfrm>
            <a:off x="1463040" y="4572000"/>
            <a:ext cx="4892040" cy="32004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Key distinction for analysts</a:t>
            </a:r>
            <a:endParaRPr lang="en-US" sz="1350" dirty="0"/>
          </a:p>
        </p:txBody>
      </p:sp>
      <p:sp>
        <p:nvSpPr>
          <p:cNvPr id="15" name="Text 11"/>
          <p:cNvSpPr/>
          <p:nvPr/>
        </p:nvSpPr>
        <p:spPr>
          <a:xfrm>
            <a:off x="1463040" y="4919472"/>
            <a:ext cx="4892040" cy="1051560"/>
          </a:xfrm>
          <a:prstGeom prst="rect">
            <a:avLst/>
          </a:prstGeom>
          <a:noFill/>
          <a:ln/>
        </p:spPr>
        <p:txBody>
          <a:bodyPr wrap="square" lIns="0" tIns="0" rIns="0" bIns="0" rtlCol="0" anchor="t"/>
          <a:lstStyle/>
          <a:p>
            <a:pPr indent="0" marL="0">
              <a:buNone/>
            </a:pPr>
            <a:r>
              <a:rPr lang="en-US" sz="1150" dirty="0">
                <a:solidFill>
                  <a:srgbClr val="16213A"/>
                </a:solidFill>
                <a:latin typeface="Calibri" pitchFamily="34" charset="0"/>
                <a:ea typeface="Calibri" pitchFamily="34" charset="-122"/>
                <a:cs typeface="Calibri" pitchFamily="34" charset="-120"/>
              </a:rPr>
              <a:t>Datasets that capture a reasonable cross-section of the population are not the same as datasets that reflect only the users of a particular app. Holistic analysis can compensate for some bias — uncritical use risks perverse outcomes, especially in areas with low analytical capacity.</a:t>
            </a:r>
            <a:endParaRPr lang="en-US" sz="1150" dirty="0"/>
          </a:p>
        </p:txBody>
      </p:sp>
      <p:sp>
        <p:nvSpPr>
          <p:cNvPr id="16" name="Shape 12"/>
          <p:cNvSpPr/>
          <p:nvPr/>
        </p:nvSpPr>
        <p:spPr>
          <a:xfrm>
            <a:off x="6903720" y="2697480"/>
            <a:ext cx="4663440" cy="3337560"/>
          </a:xfrm>
          <a:prstGeom prst="roundRect">
            <a:avLst>
              <a:gd name="adj" fmla="val 2740"/>
            </a:avLst>
          </a:prstGeom>
          <a:solidFill>
            <a:srgbClr val="0B1F3A"/>
          </a:solidFill>
          <a:ln/>
        </p:spPr>
      </p:sp>
      <p:sp>
        <p:nvSpPr>
          <p:cNvPr id="17" name="Shape 13"/>
          <p:cNvSpPr/>
          <p:nvPr/>
        </p:nvSpPr>
        <p:spPr>
          <a:xfrm>
            <a:off x="7178040" y="2926080"/>
            <a:ext cx="640080" cy="640080"/>
          </a:xfrm>
          <a:prstGeom prst="ellipse">
            <a:avLst/>
          </a:prstGeom>
          <a:solidFill>
            <a:srgbClr val="3FA9B0"/>
          </a:solidFill>
          <a:ln/>
        </p:spPr>
      </p:sp>
      <p:pic>
        <p:nvPicPr>
          <p:cNvPr id="18" name="Image 2" descr="preencoded.png">    </p:cNvPr>
          <p:cNvPicPr>
            <a:picLocks noChangeAspect="1"/>
          </p:cNvPicPr>
          <p:nvPr/>
        </p:nvPicPr>
        <p:blipFill>
          <a:blip r:embed="rId3"/>
          <a:stretch>
            <a:fillRect/>
          </a:stretch>
        </p:blipFill>
        <p:spPr>
          <a:xfrm>
            <a:off x="7344461" y="3092501"/>
            <a:ext cx="307238" cy="307238"/>
          </a:xfrm>
          <a:prstGeom prst="rect">
            <a:avLst/>
          </a:prstGeom>
        </p:spPr>
      </p:pic>
      <p:sp>
        <p:nvSpPr>
          <p:cNvPr id="19" name="Text 14"/>
          <p:cNvSpPr/>
          <p:nvPr/>
        </p:nvSpPr>
        <p:spPr>
          <a:xfrm>
            <a:off x="7955280" y="2971800"/>
            <a:ext cx="342900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Recurring case: Strava's gender skew</a:t>
            </a:r>
            <a:endParaRPr lang="en-US" sz="1450" dirty="0"/>
          </a:p>
        </p:txBody>
      </p:sp>
      <p:sp>
        <p:nvSpPr>
          <p:cNvPr id="20" name="Text 15"/>
          <p:cNvSpPr/>
          <p:nvPr/>
        </p:nvSpPr>
        <p:spPr>
          <a:xfrm>
            <a:off x="7178040" y="3749040"/>
            <a:ext cx="4023360" cy="548640"/>
          </a:xfrm>
          <a:prstGeom prst="rect">
            <a:avLst/>
          </a:prstGeom>
          <a:noFill/>
          <a:ln/>
        </p:spPr>
        <p:txBody>
          <a:bodyPr wrap="square" lIns="0" tIns="0" rIns="0" bIns="0" rtlCol="0" anchor="ctr"/>
          <a:lstStyle/>
          <a:p>
            <a:pPr indent="0" marL="0">
              <a:buNone/>
            </a:pPr>
            <a:r>
              <a:rPr lang="en-US" sz="3000" b="1" dirty="0">
                <a:solidFill>
                  <a:srgbClr val="3FA9B0"/>
                </a:solidFill>
                <a:latin typeface="Cambria" pitchFamily="34" charset="0"/>
                <a:ea typeface="Cambria" pitchFamily="34" charset="-122"/>
                <a:cs typeface="Cambria" pitchFamily="34" charset="-120"/>
              </a:rPr>
              <a:t>~90%</a:t>
            </a:r>
            <a:endParaRPr lang="en-US" sz="3000" dirty="0"/>
          </a:p>
        </p:txBody>
      </p:sp>
      <p:sp>
        <p:nvSpPr>
          <p:cNvPr id="21" name="Text 16"/>
          <p:cNvSpPr/>
          <p:nvPr/>
        </p:nvSpPr>
        <p:spPr>
          <a:xfrm>
            <a:off x="7178040" y="4279392"/>
            <a:ext cx="4023360" cy="365760"/>
          </a:xfrm>
          <a:prstGeom prst="rect">
            <a:avLst/>
          </a:prstGeom>
          <a:noFill/>
          <a:ln/>
        </p:spPr>
        <p:txBody>
          <a:bodyPr wrap="square" lIns="0" tIns="0" rIns="0" bIns="0" rtlCol="0" anchor="ctr"/>
          <a:lstStyle/>
          <a:p>
            <a:pPr indent="0" marL="0">
              <a:buNone/>
            </a:pPr>
            <a:r>
              <a:rPr lang="en-US" sz="1200" dirty="0">
                <a:solidFill>
                  <a:srgbClr val="CFE8E6"/>
                </a:solidFill>
                <a:latin typeface="Calibri" pitchFamily="34" charset="0"/>
                <a:ea typeface="Calibri" pitchFamily="34" charset="-122"/>
                <a:cs typeface="Calibri" pitchFamily="34" charset="-120"/>
              </a:rPr>
              <a:t>of Strava users are reported male</a:t>
            </a:r>
            <a:endParaRPr lang="en-US" sz="1200" dirty="0"/>
          </a:p>
        </p:txBody>
      </p:sp>
      <p:sp>
        <p:nvSpPr>
          <p:cNvPr id="22" name="Text 17"/>
          <p:cNvSpPr/>
          <p:nvPr/>
        </p:nvSpPr>
        <p:spPr>
          <a:xfrm>
            <a:off x="7178040" y="4709160"/>
            <a:ext cx="4023360" cy="1188720"/>
          </a:xfrm>
          <a:prstGeom prst="rect">
            <a:avLst/>
          </a:prstGeom>
          <a:noFill/>
          <a:ln/>
        </p:spPr>
        <p:txBody>
          <a:bodyPr wrap="square" lIns="0" tIns="0" rIns="0" bIns="0" rtlCol="0" anchor="t"/>
          <a:lstStyle/>
          <a:p>
            <a:pPr indent="0" marL="0">
              <a:buNone/>
            </a:pPr>
            <a:r>
              <a:rPr lang="en-US" sz="1150" i="1" dirty="0">
                <a:solidFill>
                  <a:srgbClr val="CFE8E6"/>
                </a:solidFill>
                <a:latin typeface="Calibri" pitchFamily="34" charset="0"/>
                <a:ea typeface="Calibri" pitchFamily="34" charset="-122"/>
                <a:cs typeface="Calibri" pitchFamily="34" charset="-120"/>
              </a:rPr>
              <a:t>vs. an approx. 75% male / 25% female split among London cyclists overall (2011 Census) — though near gender parity in Cambridge</a:t>
            </a:r>
            <a:endParaRPr lang="en-US" sz="1150" dirty="0"/>
          </a:p>
        </p:txBody>
      </p:sp>
      <p:sp>
        <p:nvSpPr>
          <p:cNvPr id="23"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4" name="Text 19"/>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CHALLENGES — DISCUSSION TOPIC 3</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Can You Really Consent to Location Tracking?</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Discussion Topic 3: The limits of meaningful consent</a:t>
            </a:r>
            <a:endParaRPr lang="en-US" sz="1400" dirty="0"/>
          </a:p>
        </p:txBody>
      </p:sp>
      <p:sp>
        <p:nvSpPr>
          <p:cNvPr id="5" name="Shape 3"/>
          <p:cNvSpPr/>
          <p:nvPr/>
        </p:nvSpPr>
        <p:spPr>
          <a:xfrm>
            <a:off x="548640" y="1920240"/>
            <a:ext cx="594360" cy="59436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703174" y="2074774"/>
            <a:ext cx="285293" cy="285293"/>
          </a:xfrm>
          <a:prstGeom prst="rect">
            <a:avLst/>
          </a:prstGeom>
        </p:spPr>
      </p:pic>
      <p:sp>
        <p:nvSpPr>
          <p:cNvPr id="7" name="Text 4"/>
          <p:cNvSpPr/>
          <p:nvPr/>
        </p:nvSpPr>
        <p:spPr>
          <a:xfrm>
            <a:off x="1371600" y="1892808"/>
            <a:ext cx="1005840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Invisible capture</a:t>
            </a:r>
            <a:endParaRPr lang="en-US" sz="1450" dirty="0"/>
          </a:p>
        </p:txBody>
      </p:sp>
      <p:sp>
        <p:nvSpPr>
          <p:cNvPr id="8" name="Text 5"/>
          <p:cNvSpPr/>
          <p:nvPr/>
        </p:nvSpPr>
        <p:spPr>
          <a:xfrm>
            <a:off x="1371600" y="2221992"/>
            <a:ext cx="1005840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Users often don't realise location is being captured — wireless signal triangulation and even inaudible ultrasound beacons embedded in ads can track location without GPS</a:t>
            </a:r>
            <a:endParaRPr lang="en-US" sz="1200" dirty="0"/>
          </a:p>
        </p:txBody>
      </p:sp>
      <p:sp>
        <p:nvSpPr>
          <p:cNvPr id="9" name="Shape 6"/>
          <p:cNvSpPr/>
          <p:nvPr/>
        </p:nvSpPr>
        <p:spPr>
          <a:xfrm>
            <a:off x="548640" y="2926080"/>
            <a:ext cx="594360" cy="594360"/>
          </a:xfrm>
          <a:prstGeom prst="ellipse">
            <a:avLst/>
          </a:prstGeom>
          <a:solidFill>
            <a:srgbClr val="0E7C86"/>
          </a:solidFill>
          <a:ln/>
        </p:spPr>
      </p:sp>
      <p:pic>
        <p:nvPicPr>
          <p:cNvPr id="10" name="Image 1" descr="preencoded.png">    </p:cNvPr>
          <p:cNvPicPr>
            <a:picLocks noChangeAspect="1"/>
          </p:cNvPicPr>
          <p:nvPr/>
        </p:nvPicPr>
        <p:blipFill>
          <a:blip r:embed="rId2"/>
          <a:stretch>
            <a:fillRect/>
          </a:stretch>
        </p:blipFill>
        <p:spPr>
          <a:xfrm>
            <a:off x="703174" y="3080614"/>
            <a:ext cx="285293" cy="285293"/>
          </a:xfrm>
          <a:prstGeom prst="rect">
            <a:avLst/>
          </a:prstGeom>
        </p:spPr>
      </p:pic>
      <p:sp>
        <p:nvSpPr>
          <p:cNvPr id="11" name="Text 7"/>
          <p:cNvSpPr/>
          <p:nvPr/>
        </p:nvSpPr>
        <p:spPr>
          <a:xfrm>
            <a:off x="1371600" y="2898648"/>
            <a:ext cx="1005840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Coercive 'choice'</a:t>
            </a:r>
            <a:endParaRPr lang="en-US" sz="1450" dirty="0"/>
          </a:p>
        </p:txBody>
      </p:sp>
      <p:sp>
        <p:nvSpPr>
          <p:cNvPr id="12" name="Text 8"/>
          <p:cNvSpPr/>
          <p:nvPr/>
        </p:nvSpPr>
        <p:spPr>
          <a:xfrm>
            <a:off x="1371600" y="3227832"/>
            <a:ext cx="1005840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Pushed self-tracking can be coercive in practice: if standard car insurance is unaffordable, a tracking device becomes the only realistic option for a lower premium</a:t>
            </a:r>
            <a:endParaRPr lang="en-US" sz="1200" dirty="0"/>
          </a:p>
        </p:txBody>
      </p:sp>
      <p:sp>
        <p:nvSpPr>
          <p:cNvPr id="13" name="Shape 9"/>
          <p:cNvSpPr/>
          <p:nvPr/>
        </p:nvSpPr>
        <p:spPr>
          <a:xfrm>
            <a:off x="548640" y="3931920"/>
            <a:ext cx="594360" cy="594360"/>
          </a:xfrm>
          <a:prstGeom prst="ellipse">
            <a:avLst/>
          </a:prstGeom>
          <a:solidFill>
            <a:srgbClr val="0E7C86"/>
          </a:solidFill>
          <a:ln/>
        </p:spPr>
      </p:sp>
      <p:pic>
        <p:nvPicPr>
          <p:cNvPr id="14" name="Image 2" descr="preencoded.png">    </p:cNvPr>
          <p:cNvPicPr>
            <a:picLocks noChangeAspect="1"/>
          </p:cNvPicPr>
          <p:nvPr/>
        </p:nvPicPr>
        <p:blipFill>
          <a:blip r:embed="rId3"/>
          <a:stretch>
            <a:fillRect/>
          </a:stretch>
        </p:blipFill>
        <p:spPr>
          <a:xfrm>
            <a:off x="703174" y="4086454"/>
            <a:ext cx="285293" cy="285293"/>
          </a:xfrm>
          <a:prstGeom prst="rect">
            <a:avLst/>
          </a:prstGeom>
        </p:spPr>
      </p:pic>
      <p:sp>
        <p:nvSpPr>
          <p:cNvPr id="15" name="Text 10"/>
          <p:cNvSpPr/>
          <p:nvPr/>
        </p:nvSpPr>
        <p:spPr>
          <a:xfrm>
            <a:off x="1371600" y="3904488"/>
            <a:ext cx="1005840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Other people's consent</a:t>
            </a:r>
            <a:endParaRPr lang="en-US" sz="1450" dirty="0"/>
          </a:p>
        </p:txBody>
      </p:sp>
      <p:sp>
        <p:nvSpPr>
          <p:cNvPr id="16" name="Text 11"/>
          <p:cNvSpPr/>
          <p:nvPr/>
        </p:nvSpPr>
        <p:spPr>
          <a:xfrm>
            <a:off x="1371600" y="4233672"/>
            <a:ext cx="1005840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The inferences possible about you can depend on the consent of people travelling with you, who may be releasing your information without your knowledge</a:t>
            </a:r>
            <a:endParaRPr lang="en-US" sz="1200" dirty="0"/>
          </a:p>
        </p:txBody>
      </p:sp>
      <p:sp>
        <p:nvSpPr>
          <p:cNvPr id="17" name="Shape 12"/>
          <p:cNvSpPr/>
          <p:nvPr/>
        </p:nvSpPr>
        <p:spPr>
          <a:xfrm>
            <a:off x="548640" y="4937760"/>
            <a:ext cx="594360" cy="594360"/>
          </a:xfrm>
          <a:prstGeom prst="ellipse">
            <a:avLst/>
          </a:prstGeom>
          <a:solidFill>
            <a:srgbClr val="0E7C86"/>
          </a:solidFill>
          <a:ln/>
        </p:spPr>
      </p:sp>
      <p:pic>
        <p:nvPicPr>
          <p:cNvPr id="18" name="Image 3" descr="preencoded.png">    </p:cNvPr>
          <p:cNvPicPr>
            <a:picLocks noChangeAspect="1"/>
          </p:cNvPicPr>
          <p:nvPr/>
        </p:nvPicPr>
        <p:blipFill>
          <a:blip r:embed="rId4"/>
          <a:stretch>
            <a:fillRect/>
          </a:stretch>
        </p:blipFill>
        <p:spPr>
          <a:xfrm>
            <a:off x="703174" y="5092294"/>
            <a:ext cx="285293" cy="285293"/>
          </a:xfrm>
          <a:prstGeom prst="rect">
            <a:avLst/>
          </a:prstGeom>
        </p:spPr>
      </p:pic>
      <p:sp>
        <p:nvSpPr>
          <p:cNvPr id="19" name="Text 13"/>
          <p:cNvSpPr/>
          <p:nvPr/>
        </p:nvSpPr>
        <p:spPr>
          <a:xfrm>
            <a:off x="1371600" y="4910328"/>
            <a:ext cx="1005840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Public ≠ fair game</a:t>
            </a:r>
            <a:endParaRPr lang="en-US" sz="1450" dirty="0"/>
          </a:p>
        </p:txBody>
      </p:sp>
      <p:sp>
        <p:nvSpPr>
          <p:cNvPr id="20" name="Text 14"/>
          <p:cNvSpPr/>
          <p:nvPr/>
        </p:nvSpPr>
        <p:spPr>
          <a:xfrm>
            <a:off x="1371600" y="5239512"/>
            <a:ext cx="1005840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Re-purposing publicly posted data (e.g., a researcher scraping a dating site's public profiles) is seen by many as a privacy breach, even though no individual setting was technically violated</a:t>
            </a:r>
            <a:endParaRPr lang="en-US" sz="1200" dirty="0"/>
          </a:p>
        </p:txBody>
      </p:sp>
      <p:sp>
        <p:nvSpPr>
          <p:cNvPr id="21" name="Text 15"/>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2" name="Text 16"/>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CHALLENGES — CASE EXAMPLE</a:t>
            </a:r>
            <a:endParaRPr lang="en-US" sz="1200" dirty="0"/>
          </a:p>
        </p:txBody>
      </p:sp>
      <p:sp>
        <p:nvSpPr>
          <p:cNvPr id="3" name="Text 1"/>
          <p:cNvSpPr/>
          <p:nvPr/>
        </p:nvSpPr>
        <p:spPr>
          <a:xfrm>
            <a:off x="548640" y="685800"/>
            <a:ext cx="1097280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Case Example: Waze and Public Safety</a:t>
            </a:r>
            <a:endParaRPr lang="en-US" sz="2800" dirty="0"/>
          </a:p>
        </p:txBody>
      </p:sp>
      <p:sp>
        <p:nvSpPr>
          <p:cNvPr id="4" name="Text 2"/>
          <p:cNvSpPr/>
          <p:nvPr/>
        </p:nvSpPr>
        <p:spPr>
          <a:xfrm>
            <a:off x="548640" y="1371600"/>
            <a:ext cx="10972800" cy="365760"/>
          </a:xfrm>
          <a:prstGeom prst="rect">
            <a:avLst/>
          </a:prstGeom>
          <a:noFill/>
          <a:ln/>
        </p:spPr>
        <p:txBody>
          <a:bodyPr wrap="square" lIns="0" tIns="0" rIns="0" bIns="0" rtlCol="0" anchor="ctr"/>
          <a:lstStyle/>
          <a:p>
            <a:pPr indent="0" marL="0">
              <a:buNone/>
            </a:pPr>
            <a:r>
              <a:rPr lang="en-US" sz="1400" i="1" dirty="0">
                <a:solidFill>
                  <a:srgbClr val="CFE8E6"/>
                </a:solidFill>
                <a:latin typeface="Calibri" pitchFamily="34" charset="0"/>
                <a:ea typeface="Calibri" pitchFamily="34" charset="-122"/>
                <a:cs typeface="Calibri" pitchFamily="34" charset="-120"/>
              </a:rPr>
              <a:t>How a navigation app's crowdsourced location data became a public-safety flashpoint</a:t>
            </a:r>
            <a:endParaRPr lang="en-US" sz="1400" dirty="0"/>
          </a:p>
        </p:txBody>
      </p:sp>
      <p:sp>
        <p:nvSpPr>
          <p:cNvPr id="5" name="Shape 3"/>
          <p:cNvSpPr/>
          <p:nvPr/>
        </p:nvSpPr>
        <p:spPr>
          <a:xfrm>
            <a:off x="548640" y="1920240"/>
            <a:ext cx="5394960" cy="4160520"/>
          </a:xfrm>
          <a:prstGeom prst="roundRect">
            <a:avLst>
              <a:gd name="adj" fmla="val 2198"/>
            </a:avLst>
          </a:prstGeom>
          <a:solidFill>
            <a:srgbClr val="16335C"/>
          </a:solidFill>
          <a:ln/>
        </p:spPr>
      </p:sp>
      <p:sp>
        <p:nvSpPr>
          <p:cNvPr id="6" name="Shape 4"/>
          <p:cNvSpPr/>
          <p:nvPr/>
        </p:nvSpPr>
        <p:spPr>
          <a:xfrm>
            <a:off x="822960" y="2148840"/>
            <a:ext cx="594360" cy="594360"/>
          </a:xfrm>
          <a:prstGeom prst="ellipse">
            <a:avLst/>
          </a:prstGeom>
          <a:solidFill>
            <a:srgbClr val="3FA9B0"/>
          </a:solidFill>
          <a:ln/>
        </p:spPr>
      </p:sp>
      <p:pic>
        <p:nvPicPr>
          <p:cNvPr id="7" name="Image 0" descr="preencoded.png">    </p:cNvPr>
          <p:cNvPicPr>
            <a:picLocks noChangeAspect="1"/>
          </p:cNvPicPr>
          <p:nvPr/>
        </p:nvPicPr>
        <p:blipFill>
          <a:blip r:embed="rId1"/>
          <a:stretch>
            <a:fillRect/>
          </a:stretch>
        </p:blipFill>
        <p:spPr>
          <a:xfrm>
            <a:off x="977494" y="2303374"/>
            <a:ext cx="285293" cy="285293"/>
          </a:xfrm>
          <a:prstGeom prst="rect">
            <a:avLst/>
          </a:prstGeom>
        </p:spPr>
      </p:pic>
      <p:sp>
        <p:nvSpPr>
          <p:cNvPr id="8" name="Text 5"/>
          <p:cNvSpPr/>
          <p:nvPr/>
        </p:nvSpPr>
        <p:spPr>
          <a:xfrm>
            <a:off x="1554480" y="2212848"/>
            <a:ext cx="42062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Waze does</a:t>
            </a:r>
            <a:endParaRPr lang="en-US" sz="1500" dirty="0"/>
          </a:p>
        </p:txBody>
      </p:sp>
      <p:sp>
        <p:nvSpPr>
          <p:cNvPr id="9" name="Text 6"/>
          <p:cNvSpPr/>
          <p:nvPr/>
        </p:nvSpPr>
        <p:spPr>
          <a:xfrm>
            <a:off x="822960" y="2697480"/>
            <a:ext cx="4846320" cy="1051560"/>
          </a:xfrm>
          <a:prstGeom prst="rect">
            <a:avLst/>
          </a:prstGeom>
          <a:noFill/>
          <a:ln/>
        </p:spPr>
        <p:txBody>
          <a:bodyPr wrap="square" lIns="0" tIns="0" rIns="0" bIns="0" rtlCol="0" anchor="t"/>
          <a:lstStyle/>
          <a:p>
            <a:pPr indent="0" marL="0">
              <a:buNone/>
            </a:pPr>
            <a:r>
              <a:rPr lang="en-US" sz="1250" dirty="0">
                <a:solidFill>
                  <a:srgbClr val="CFE8E6"/>
                </a:solidFill>
                <a:latin typeface="Calibri" pitchFamily="34" charset="0"/>
                <a:ea typeface="Calibri" pitchFamily="34" charset="-122"/>
                <a:cs typeface="Calibri" pitchFamily="34" charset="-120"/>
              </a:rPr>
              <a:t>Users share anonymous location data and flag incidents (traffic, accidents) in exchange for optimised routing. The app 'gamifies' the experience with avatars of nearby users and community-building mechanics.</a:t>
            </a:r>
            <a:endParaRPr lang="en-US" sz="1250" dirty="0"/>
          </a:p>
        </p:txBody>
      </p:sp>
      <p:sp>
        <p:nvSpPr>
          <p:cNvPr id="10" name="Shape 7"/>
          <p:cNvSpPr/>
          <p:nvPr/>
        </p:nvSpPr>
        <p:spPr>
          <a:xfrm>
            <a:off x="822960" y="3840480"/>
            <a:ext cx="4846320" cy="18288"/>
          </a:xfrm>
          <a:prstGeom prst="rect">
            <a:avLst/>
          </a:prstGeom>
          <a:solidFill>
            <a:srgbClr val="3FA9B0"/>
          </a:solidFill>
          <a:ln/>
        </p:spPr>
      </p:sp>
      <p:sp>
        <p:nvSpPr>
          <p:cNvPr id="11" name="Shape 8"/>
          <p:cNvSpPr/>
          <p:nvPr/>
        </p:nvSpPr>
        <p:spPr>
          <a:xfrm>
            <a:off x="822960" y="4023360"/>
            <a:ext cx="594360" cy="594360"/>
          </a:xfrm>
          <a:prstGeom prst="ellipse">
            <a:avLst/>
          </a:prstGeom>
          <a:solidFill>
            <a:srgbClr val="E08E1D"/>
          </a:solidFill>
          <a:ln/>
        </p:spPr>
      </p:sp>
      <p:pic>
        <p:nvPicPr>
          <p:cNvPr id="12" name="Image 1" descr="preencoded.png">    </p:cNvPr>
          <p:cNvPicPr>
            <a:picLocks noChangeAspect="1"/>
          </p:cNvPicPr>
          <p:nvPr/>
        </p:nvPicPr>
        <p:blipFill>
          <a:blip r:embed="rId2"/>
          <a:stretch>
            <a:fillRect/>
          </a:stretch>
        </p:blipFill>
        <p:spPr>
          <a:xfrm>
            <a:off x="977494" y="4177894"/>
            <a:ext cx="285293" cy="285293"/>
          </a:xfrm>
          <a:prstGeom prst="rect">
            <a:avLst/>
          </a:prstGeom>
        </p:spPr>
      </p:pic>
      <p:sp>
        <p:nvSpPr>
          <p:cNvPr id="13" name="Text 9"/>
          <p:cNvSpPr/>
          <p:nvPr/>
        </p:nvSpPr>
        <p:spPr>
          <a:xfrm>
            <a:off x="1554480" y="4087368"/>
            <a:ext cx="42062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it went wrong</a:t>
            </a:r>
            <a:endParaRPr lang="en-US" sz="1500" dirty="0"/>
          </a:p>
        </p:txBody>
      </p:sp>
      <p:sp>
        <p:nvSpPr>
          <p:cNvPr id="14" name="Text 10"/>
          <p:cNvSpPr/>
          <p:nvPr/>
        </p:nvSpPr>
        <p:spPr>
          <a:xfrm>
            <a:off x="822960" y="4572000"/>
            <a:ext cx="4846320" cy="1371600"/>
          </a:xfrm>
          <a:prstGeom prst="rect">
            <a:avLst/>
          </a:prstGeom>
          <a:noFill/>
          <a:ln/>
        </p:spPr>
        <p:txBody>
          <a:bodyPr wrap="square" lIns="0" tIns="0" rIns="0" bIns="0" rtlCol="0" anchor="t"/>
          <a:lstStyle/>
          <a:p>
            <a:pPr indent="0" marL="0">
              <a:buNone/>
            </a:pPr>
            <a:r>
              <a:rPr lang="en-US" sz="1200" dirty="0">
                <a:solidFill>
                  <a:srgbClr val="CFE8E6"/>
                </a:solidFill>
                <a:latin typeface="Calibri" pitchFamily="34" charset="0"/>
                <a:ea typeface="Calibri" pitchFamily="34" charset="-122"/>
                <a:cs typeface="Calibri" pitchFamily="34" charset="-120"/>
              </a:rPr>
              <a:t>LAPD raised concerns that Waze's police-tracking feature could let people avoid or target officers — citing the 2014 killing of two NYPD officers by an attacker who had used the app beforehand. Waze has also been blamed for stigmatising 'dangerous' areas, and for at least one death from misdirection into an unsafe area.</a:t>
            </a:r>
            <a:endParaRPr lang="en-US" sz="1200" dirty="0"/>
          </a:p>
        </p:txBody>
      </p:sp>
      <p:sp>
        <p:nvSpPr>
          <p:cNvPr id="15" name="Shape 11"/>
          <p:cNvSpPr/>
          <p:nvPr/>
        </p:nvSpPr>
        <p:spPr>
          <a:xfrm>
            <a:off x="6217920" y="1920240"/>
            <a:ext cx="5349240" cy="4160520"/>
          </a:xfrm>
          <a:prstGeom prst="roundRect">
            <a:avLst>
              <a:gd name="adj" fmla="val 2198"/>
            </a:avLst>
          </a:prstGeom>
          <a:solidFill>
            <a:srgbClr val="16335C"/>
          </a:solidFill>
          <a:ln/>
        </p:spPr>
      </p:sp>
      <p:sp>
        <p:nvSpPr>
          <p:cNvPr id="16" name="Shape 12"/>
          <p:cNvSpPr/>
          <p:nvPr/>
        </p:nvSpPr>
        <p:spPr>
          <a:xfrm>
            <a:off x="6492240" y="2148840"/>
            <a:ext cx="594360" cy="594360"/>
          </a:xfrm>
          <a:prstGeom prst="ellipse">
            <a:avLst/>
          </a:prstGeom>
          <a:solidFill>
            <a:srgbClr val="3FA9B0"/>
          </a:solidFill>
          <a:ln/>
        </p:spPr>
      </p:sp>
      <p:pic>
        <p:nvPicPr>
          <p:cNvPr id="17" name="Image 2" descr="preencoded.png">    </p:cNvPr>
          <p:cNvPicPr>
            <a:picLocks noChangeAspect="1"/>
          </p:cNvPicPr>
          <p:nvPr/>
        </p:nvPicPr>
        <p:blipFill>
          <a:blip r:embed="rId3"/>
          <a:stretch>
            <a:fillRect/>
          </a:stretch>
        </p:blipFill>
        <p:spPr>
          <a:xfrm>
            <a:off x="6646774" y="2303374"/>
            <a:ext cx="285293" cy="285293"/>
          </a:xfrm>
          <a:prstGeom prst="rect">
            <a:avLst/>
          </a:prstGeom>
        </p:spPr>
      </p:pic>
      <p:sp>
        <p:nvSpPr>
          <p:cNvPr id="18" name="Text 13"/>
          <p:cNvSpPr/>
          <p:nvPr/>
        </p:nvSpPr>
        <p:spPr>
          <a:xfrm>
            <a:off x="7223760" y="2212848"/>
            <a:ext cx="4114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Feedback-loop &amp; gaming risks</a:t>
            </a:r>
            <a:endParaRPr lang="en-US" sz="1500" dirty="0"/>
          </a:p>
        </p:txBody>
      </p:sp>
      <p:sp>
        <p:nvSpPr>
          <p:cNvPr id="19" name="Shape 14"/>
          <p:cNvSpPr/>
          <p:nvPr/>
        </p:nvSpPr>
        <p:spPr>
          <a:xfrm>
            <a:off x="6492240" y="2843784"/>
            <a:ext cx="91440" cy="91440"/>
          </a:xfrm>
          <a:prstGeom prst="ellipse">
            <a:avLst/>
          </a:prstGeom>
          <a:solidFill>
            <a:srgbClr val="E08E1D"/>
          </a:solidFill>
          <a:ln/>
        </p:spPr>
      </p:sp>
      <p:sp>
        <p:nvSpPr>
          <p:cNvPr id="20" name="Text 15"/>
          <p:cNvSpPr/>
          <p:nvPr/>
        </p:nvSpPr>
        <p:spPr>
          <a:xfrm>
            <a:off x="6720840" y="2715768"/>
            <a:ext cx="4709160" cy="777240"/>
          </a:xfrm>
          <a:prstGeom prst="rect">
            <a:avLst/>
          </a:prstGeom>
          <a:noFill/>
          <a:ln/>
        </p:spPr>
        <p:txBody>
          <a:bodyPr wrap="square" lIns="0" tIns="0" rIns="0" bIns="0" rtlCol="0" anchor="t"/>
          <a:lstStyle/>
          <a:p>
            <a:pPr indent="0" marL="0">
              <a:buNone/>
            </a:pPr>
            <a:r>
              <a:rPr lang="en-US" sz="1130" dirty="0">
                <a:solidFill>
                  <a:srgbClr val="CFE8E6"/>
                </a:solidFill>
                <a:latin typeface="Calibri" pitchFamily="34" charset="0"/>
                <a:ea typeface="Calibri" pitchFamily="34" charset="-122"/>
                <a:cs typeface="Calibri" pitchFamily="34" charset="-120"/>
              </a:rPr>
              <a:t>Selection bias: if most users get routed one way, the app has little data on alternative roads</a:t>
            </a:r>
            <a:endParaRPr lang="en-US" sz="1130" dirty="0"/>
          </a:p>
        </p:txBody>
      </p:sp>
      <p:sp>
        <p:nvSpPr>
          <p:cNvPr id="21" name="Shape 16"/>
          <p:cNvSpPr/>
          <p:nvPr/>
        </p:nvSpPr>
        <p:spPr>
          <a:xfrm>
            <a:off x="6492240" y="3630168"/>
            <a:ext cx="91440" cy="91440"/>
          </a:xfrm>
          <a:prstGeom prst="ellipse">
            <a:avLst/>
          </a:prstGeom>
          <a:solidFill>
            <a:srgbClr val="E08E1D"/>
          </a:solidFill>
          <a:ln/>
        </p:spPr>
      </p:sp>
      <p:sp>
        <p:nvSpPr>
          <p:cNvPr id="22" name="Text 17"/>
          <p:cNvSpPr/>
          <p:nvPr/>
        </p:nvSpPr>
        <p:spPr>
          <a:xfrm>
            <a:off x="6720840" y="3502152"/>
            <a:ext cx="4709160" cy="777240"/>
          </a:xfrm>
          <a:prstGeom prst="rect">
            <a:avLst/>
          </a:prstGeom>
          <a:noFill/>
          <a:ln/>
        </p:spPr>
        <p:txBody>
          <a:bodyPr wrap="square" lIns="0" tIns="0" rIns="0" bIns="0" rtlCol="0" anchor="t"/>
          <a:lstStyle/>
          <a:p>
            <a:pPr indent="0" marL="0">
              <a:buNone/>
            </a:pPr>
            <a:r>
              <a:rPr lang="en-US" sz="1130" dirty="0">
                <a:solidFill>
                  <a:srgbClr val="CFE8E6"/>
                </a:solidFill>
                <a:latin typeface="Calibri" pitchFamily="34" charset="0"/>
                <a:ea typeface="Calibri" pitchFamily="34" charset="-122"/>
                <a:cs typeface="Calibri" pitchFamily="34" charset="-120"/>
              </a:rPr>
              <a:t>Research-ethics question: is rerouting users partly to gather data for the aggregate user base itself an experiment on people who haven't consented to be subjects?</a:t>
            </a:r>
            <a:endParaRPr lang="en-US" sz="1130" dirty="0"/>
          </a:p>
        </p:txBody>
      </p:sp>
      <p:sp>
        <p:nvSpPr>
          <p:cNvPr id="23" name="Shape 18"/>
          <p:cNvSpPr/>
          <p:nvPr/>
        </p:nvSpPr>
        <p:spPr>
          <a:xfrm>
            <a:off x="6492240" y="4416552"/>
            <a:ext cx="91440" cy="91440"/>
          </a:xfrm>
          <a:prstGeom prst="ellipse">
            <a:avLst/>
          </a:prstGeom>
          <a:solidFill>
            <a:srgbClr val="E08E1D"/>
          </a:solidFill>
          <a:ln/>
        </p:spPr>
      </p:sp>
      <p:sp>
        <p:nvSpPr>
          <p:cNvPr id="24" name="Text 19"/>
          <p:cNvSpPr/>
          <p:nvPr/>
        </p:nvSpPr>
        <p:spPr>
          <a:xfrm>
            <a:off x="6720840" y="4288536"/>
            <a:ext cx="4709160" cy="777240"/>
          </a:xfrm>
          <a:prstGeom prst="rect">
            <a:avLst/>
          </a:prstGeom>
          <a:noFill/>
          <a:ln/>
        </p:spPr>
        <p:txBody>
          <a:bodyPr wrap="square" lIns="0" tIns="0" rIns="0" bIns="0" rtlCol="0" anchor="t"/>
          <a:lstStyle/>
          <a:p>
            <a:pPr indent="0" marL="0">
              <a:buNone/>
            </a:pPr>
            <a:r>
              <a:rPr lang="en-US" sz="1130" dirty="0">
                <a:solidFill>
                  <a:srgbClr val="CFE8E6"/>
                </a:solidFill>
                <a:latin typeface="Calibri" pitchFamily="34" charset="0"/>
                <a:ea typeface="Calibri" pitchFamily="34" charset="-122"/>
                <a:cs typeface="Calibri" pitchFamily="34" charset="-120"/>
              </a:rPr>
              <a:t>Gaming attack 1: reporting fake incidents to reroute traffic and reduce congestion for the attacker</a:t>
            </a:r>
            <a:endParaRPr lang="en-US" sz="1130" dirty="0"/>
          </a:p>
        </p:txBody>
      </p:sp>
      <p:sp>
        <p:nvSpPr>
          <p:cNvPr id="25" name="Shape 20"/>
          <p:cNvSpPr/>
          <p:nvPr/>
        </p:nvSpPr>
        <p:spPr>
          <a:xfrm>
            <a:off x="6492240" y="5202936"/>
            <a:ext cx="91440" cy="91440"/>
          </a:xfrm>
          <a:prstGeom prst="ellipse">
            <a:avLst/>
          </a:prstGeom>
          <a:solidFill>
            <a:srgbClr val="E08E1D"/>
          </a:solidFill>
          <a:ln/>
        </p:spPr>
      </p:sp>
      <p:sp>
        <p:nvSpPr>
          <p:cNvPr id="26" name="Text 21"/>
          <p:cNvSpPr/>
          <p:nvPr/>
        </p:nvSpPr>
        <p:spPr>
          <a:xfrm>
            <a:off x="6720840" y="5074920"/>
            <a:ext cx="4709160" cy="777240"/>
          </a:xfrm>
          <a:prstGeom prst="rect">
            <a:avLst/>
          </a:prstGeom>
          <a:noFill/>
          <a:ln/>
        </p:spPr>
        <p:txBody>
          <a:bodyPr wrap="square" lIns="0" tIns="0" rIns="0" bIns="0" rtlCol="0" anchor="t"/>
          <a:lstStyle/>
          <a:p>
            <a:pPr indent="0" marL="0">
              <a:buNone/>
            </a:pPr>
            <a:r>
              <a:rPr lang="en-US" sz="1130" dirty="0">
                <a:solidFill>
                  <a:srgbClr val="CFE8E6"/>
                </a:solidFill>
                <a:latin typeface="Calibri" pitchFamily="34" charset="0"/>
                <a:ea typeface="Calibri" pitchFamily="34" charset="-122"/>
                <a:cs typeface="Calibri" pitchFamily="34" charset="-120"/>
              </a:rPr>
              <a:t>Gaming attack 2: simulated/fake vehicle data to directly cause rerouting or lend credibility to a fake incident report</a:t>
            </a:r>
            <a:endParaRPr lang="en-US" sz="1130" dirty="0"/>
          </a:p>
        </p:txBody>
      </p:sp>
      <p:sp>
        <p:nvSpPr>
          <p:cNvPr id="27" name="Text 2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8" name="Text 23"/>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CHALLENGES — SUMMARY</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Challenges at a Glance</a:t>
            </a:r>
            <a:endParaRPr lang="en-US" sz="3000" dirty="0"/>
          </a:p>
        </p:txBody>
      </p:sp>
      <p:sp>
        <p:nvSpPr>
          <p:cNvPr id="4" name="Shape 2"/>
          <p:cNvSpPr/>
          <p:nvPr/>
        </p:nvSpPr>
        <p:spPr>
          <a:xfrm>
            <a:off x="548640" y="1783080"/>
            <a:ext cx="11018520" cy="457200"/>
          </a:xfrm>
          <a:prstGeom prst="rect">
            <a:avLst/>
          </a:prstGeom>
          <a:solidFill>
            <a:srgbClr val="0B1F3A"/>
          </a:solidFill>
          <a:ln/>
        </p:spPr>
      </p:sp>
      <p:sp>
        <p:nvSpPr>
          <p:cNvPr id="5" name="Text 3"/>
          <p:cNvSpPr/>
          <p:nvPr/>
        </p:nvSpPr>
        <p:spPr>
          <a:xfrm>
            <a:off x="777240" y="1783080"/>
            <a:ext cx="25603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Challenge</a:t>
            </a:r>
            <a:endParaRPr lang="en-US" sz="1300" dirty="0"/>
          </a:p>
        </p:txBody>
      </p:sp>
      <p:sp>
        <p:nvSpPr>
          <p:cNvPr id="6" name="Text 4"/>
          <p:cNvSpPr/>
          <p:nvPr/>
        </p:nvSpPr>
        <p:spPr>
          <a:xfrm>
            <a:off x="3383280" y="1783080"/>
            <a:ext cx="79552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Core Issue</a:t>
            </a:r>
            <a:endParaRPr lang="en-US" sz="1300" dirty="0"/>
          </a:p>
        </p:txBody>
      </p:sp>
      <p:sp>
        <p:nvSpPr>
          <p:cNvPr id="7" name="Shape 5"/>
          <p:cNvSpPr/>
          <p:nvPr/>
        </p:nvSpPr>
        <p:spPr>
          <a:xfrm>
            <a:off x="548640" y="2240280"/>
            <a:ext cx="11018520" cy="868680"/>
          </a:xfrm>
          <a:prstGeom prst="rect">
            <a:avLst/>
          </a:prstGeom>
          <a:solidFill>
            <a:srgbClr val="F4F8F8"/>
          </a:solidFill>
          <a:ln/>
        </p:spPr>
      </p:sp>
      <p:sp>
        <p:nvSpPr>
          <p:cNvPr id="8" name="Text 6"/>
          <p:cNvSpPr/>
          <p:nvPr/>
        </p:nvSpPr>
        <p:spPr>
          <a:xfrm>
            <a:off x="777240" y="2240280"/>
            <a:ext cx="2560320" cy="868680"/>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Re-identification</a:t>
            </a:r>
            <a:endParaRPr lang="en-US" sz="1350" dirty="0"/>
          </a:p>
        </p:txBody>
      </p:sp>
      <p:sp>
        <p:nvSpPr>
          <p:cNvPr id="9" name="Text 7"/>
          <p:cNvSpPr/>
          <p:nvPr/>
        </p:nvSpPr>
        <p:spPr>
          <a:xfrm>
            <a:off x="3383280" y="2240280"/>
            <a:ext cx="7955280" cy="868680"/>
          </a:xfrm>
          <a:prstGeom prst="rect">
            <a:avLst/>
          </a:prstGeom>
          <a:noFill/>
          <a:ln/>
        </p:spPr>
        <p:txBody>
          <a:bodyPr wrap="square" lIns="0" tIns="0" rIns="0" bIns="0" rtlCol="0" anchor="ctr"/>
          <a:lstStyle/>
          <a:p>
            <a:pPr indent="0" marL="0">
              <a:buNone/>
            </a:pPr>
            <a:r>
              <a:rPr lang="en-US" sz="1250" dirty="0">
                <a:solidFill>
                  <a:srgbClr val="16213A"/>
                </a:solidFill>
                <a:latin typeface="Calibri" pitchFamily="34" charset="0"/>
                <a:ea typeface="Calibri" pitchFamily="34" charset="-122"/>
                <a:cs typeface="Calibri" pitchFamily="34" charset="-120"/>
              </a:rPr>
              <a:t>Even 'coarse' or anonymised data can re-identify individuals with very few data points</a:t>
            </a:r>
            <a:endParaRPr lang="en-US" sz="1250" dirty="0"/>
          </a:p>
        </p:txBody>
      </p:sp>
      <p:sp>
        <p:nvSpPr>
          <p:cNvPr id="10" name="Shape 8"/>
          <p:cNvSpPr/>
          <p:nvPr/>
        </p:nvSpPr>
        <p:spPr>
          <a:xfrm>
            <a:off x="548640" y="3108960"/>
            <a:ext cx="11018520" cy="868680"/>
          </a:xfrm>
          <a:prstGeom prst="rect">
            <a:avLst/>
          </a:prstGeom>
          <a:solidFill>
            <a:srgbClr val="FFFFFF"/>
          </a:solidFill>
          <a:ln/>
        </p:spPr>
      </p:sp>
      <p:sp>
        <p:nvSpPr>
          <p:cNvPr id="11" name="Text 9"/>
          <p:cNvSpPr/>
          <p:nvPr/>
        </p:nvSpPr>
        <p:spPr>
          <a:xfrm>
            <a:off x="777240" y="3108960"/>
            <a:ext cx="2560320" cy="868680"/>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Bias</a:t>
            </a:r>
            <a:endParaRPr lang="en-US" sz="1350" dirty="0"/>
          </a:p>
        </p:txBody>
      </p:sp>
      <p:sp>
        <p:nvSpPr>
          <p:cNvPr id="12" name="Text 10"/>
          <p:cNvSpPr/>
          <p:nvPr/>
        </p:nvSpPr>
        <p:spPr>
          <a:xfrm>
            <a:off x="3383280" y="3108960"/>
            <a:ext cx="7955280" cy="868680"/>
          </a:xfrm>
          <a:prstGeom prst="rect">
            <a:avLst/>
          </a:prstGeom>
          <a:noFill/>
          <a:ln/>
        </p:spPr>
        <p:txBody>
          <a:bodyPr wrap="square" lIns="0" tIns="0" rIns="0" bIns="0" rtlCol="0" anchor="ctr"/>
          <a:lstStyle/>
          <a:p>
            <a:pPr indent="0" marL="0">
              <a:buNone/>
            </a:pPr>
            <a:r>
              <a:rPr lang="en-US" sz="1250" dirty="0">
                <a:solidFill>
                  <a:srgbClr val="16213A"/>
                </a:solidFill>
                <a:latin typeface="Calibri" pitchFamily="34" charset="0"/>
                <a:ea typeface="Calibri" pitchFamily="34" charset="-122"/>
                <a:cs typeface="Calibri" pitchFamily="34" charset="-120"/>
              </a:rPr>
              <a:t>Datasets reflect who uses the app — not the whole population — and can mislead uncritical planners</a:t>
            </a:r>
            <a:endParaRPr lang="en-US" sz="1250" dirty="0"/>
          </a:p>
        </p:txBody>
      </p:sp>
      <p:sp>
        <p:nvSpPr>
          <p:cNvPr id="13" name="Shape 11"/>
          <p:cNvSpPr/>
          <p:nvPr/>
        </p:nvSpPr>
        <p:spPr>
          <a:xfrm>
            <a:off x="548640" y="3977640"/>
            <a:ext cx="11018520" cy="868680"/>
          </a:xfrm>
          <a:prstGeom prst="rect">
            <a:avLst/>
          </a:prstGeom>
          <a:solidFill>
            <a:srgbClr val="F4F8F8"/>
          </a:solidFill>
          <a:ln/>
        </p:spPr>
      </p:sp>
      <p:sp>
        <p:nvSpPr>
          <p:cNvPr id="14" name="Text 12"/>
          <p:cNvSpPr/>
          <p:nvPr/>
        </p:nvSpPr>
        <p:spPr>
          <a:xfrm>
            <a:off x="777240" y="3977640"/>
            <a:ext cx="2560320" cy="868680"/>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Consent</a:t>
            </a:r>
            <a:endParaRPr lang="en-US" sz="1350" dirty="0"/>
          </a:p>
        </p:txBody>
      </p:sp>
      <p:sp>
        <p:nvSpPr>
          <p:cNvPr id="15" name="Text 13"/>
          <p:cNvSpPr/>
          <p:nvPr/>
        </p:nvSpPr>
        <p:spPr>
          <a:xfrm>
            <a:off x="3383280" y="3977640"/>
            <a:ext cx="7955280" cy="868680"/>
          </a:xfrm>
          <a:prstGeom prst="rect">
            <a:avLst/>
          </a:prstGeom>
          <a:noFill/>
          <a:ln/>
        </p:spPr>
        <p:txBody>
          <a:bodyPr wrap="square" lIns="0" tIns="0" rIns="0" bIns="0" rtlCol="0" anchor="ctr"/>
          <a:lstStyle/>
          <a:p>
            <a:pPr indent="0" marL="0">
              <a:buNone/>
            </a:pPr>
            <a:r>
              <a:rPr lang="en-US" sz="1250" dirty="0">
                <a:solidFill>
                  <a:srgbClr val="16213A"/>
                </a:solidFill>
                <a:latin typeface="Calibri" pitchFamily="34" charset="0"/>
                <a:ea typeface="Calibri" pitchFamily="34" charset="-122"/>
                <a:cs typeface="Calibri" pitchFamily="34" charset="-120"/>
              </a:rPr>
              <a:t>Continuous, often invisible tracking makes genuinely informed, voluntary consent hard to achieve</a:t>
            </a:r>
            <a:endParaRPr lang="en-US" sz="1250" dirty="0"/>
          </a:p>
        </p:txBody>
      </p:sp>
      <p:sp>
        <p:nvSpPr>
          <p:cNvPr id="16" name="Shape 14"/>
          <p:cNvSpPr/>
          <p:nvPr/>
        </p:nvSpPr>
        <p:spPr>
          <a:xfrm>
            <a:off x="548640" y="4846320"/>
            <a:ext cx="11018520" cy="868680"/>
          </a:xfrm>
          <a:prstGeom prst="rect">
            <a:avLst/>
          </a:prstGeom>
          <a:solidFill>
            <a:srgbClr val="FFFFFF"/>
          </a:solidFill>
          <a:ln/>
        </p:spPr>
      </p:sp>
      <p:sp>
        <p:nvSpPr>
          <p:cNvPr id="17" name="Text 15"/>
          <p:cNvSpPr/>
          <p:nvPr/>
        </p:nvSpPr>
        <p:spPr>
          <a:xfrm>
            <a:off x="777240" y="4846320"/>
            <a:ext cx="2560320" cy="868680"/>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Public safety</a:t>
            </a:r>
            <a:endParaRPr lang="en-US" sz="1350" dirty="0"/>
          </a:p>
        </p:txBody>
      </p:sp>
      <p:sp>
        <p:nvSpPr>
          <p:cNvPr id="18" name="Text 16"/>
          <p:cNvSpPr/>
          <p:nvPr/>
        </p:nvSpPr>
        <p:spPr>
          <a:xfrm>
            <a:off x="3383280" y="4846320"/>
            <a:ext cx="7955280" cy="868680"/>
          </a:xfrm>
          <a:prstGeom prst="rect">
            <a:avLst/>
          </a:prstGeom>
          <a:noFill/>
          <a:ln/>
        </p:spPr>
        <p:txBody>
          <a:bodyPr wrap="square" lIns="0" tIns="0" rIns="0" bIns="0" rtlCol="0" anchor="ctr"/>
          <a:lstStyle/>
          <a:p>
            <a:pPr indent="0" marL="0">
              <a:buNone/>
            </a:pPr>
            <a:r>
              <a:rPr lang="en-US" sz="1250" dirty="0">
                <a:solidFill>
                  <a:srgbClr val="16213A"/>
                </a:solidFill>
                <a:latin typeface="Calibri" pitchFamily="34" charset="0"/>
                <a:ea typeface="Calibri" pitchFamily="34" charset="-122"/>
                <a:cs typeface="Calibri" pitchFamily="34" charset="-120"/>
              </a:rPr>
              <a:t>Crowdsourced location data can be misused for surveillance, evasion, or even targeting individuals</a:t>
            </a:r>
            <a:endParaRPr lang="en-US" sz="1250" dirty="0"/>
          </a:p>
        </p:txBody>
      </p:sp>
      <p:sp>
        <p:nvSpPr>
          <p:cNvPr id="19"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0" name="Text 18"/>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GDPR: Broad Coverage, Exploitable Gaps</a:t>
            </a:r>
            <a:endParaRPr lang="en-US" sz="3000" dirty="0"/>
          </a:p>
        </p:txBody>
      </p:sp>
      <p:sp>
        <p:nvSpPr>
          <p:cNvPr id="4" name="Shape 2"/>
          <p:cNvSpPr/>
          <p:nvPr/>
        </p:nvSpPr>
        <p:spPr>
          <a:xfrm>
            <a:off x="548640" y="1691640"/>
            <a:ext cx="5349240" cy="1965960"/>
          </a:xfrm>
          <a:prstGeom prst="roundRect">
            <a:avLst>
              <a:gd name="adj" fmla="val 4651"/>
            </a:avLst>
          </a:prstGeom>
          <a:solidFill>
            <a:srgbClr val="F4F8F8"/>
          </a:solidFill>
          <a:ln/>
        </p:spPr>
      </p:sp>
      <p:sp>
        <p:nvSpPr>
          <p:cNvPr id="5" name="Shape 3"/>
          <p:cNvSpPr/>
          <p:nvPr/>
        </p:nvSpPr>
        <p:spPr>
          <a:xfrm>
            <a:off x="777240" y="1901952"/>
            <a:ext cx="594360" cy="59436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931774" y="2056486"/>
            <a:ext cx="285293" cy="285293"/>
          </a:xfrm>
          <a:prstGeom prst="rect">
            <a:avLst/>
          </a:prstGeom>
        </p:spPr>
      </p:pic>
      <p:sp>
        <p:nvSpPr>
          <p:cNvPr id="7" name="Text 4"/>
          <p:cNvSpPr/>
          <p:nvPr/>
        </p:nvSpPr>
        <p:spPr>
          <a:xfrm>
            <a:off x="1508760" y="1938528"/>
            <a:ext cx="425196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Location data IS personal data</a:t>
            </a:r>
            <a:endParaRPr lang="en-US" sz="1450" dirty="0"/>
          </a:p>
        </p:txBody>
      </p:sp>
      <p:sp>
        <p:nvSpPr>
          <p:cNvPr id="8" name="Text 5"/>
          <p:cNvSpPr/>
          <p:nvPr/>
        </p:nvSpPr>
        <p:spPr>
          <a:xfrm>
            <a:off x="822960" y="2514600"/>
            <a:ext cx="4846320" cy="1051560"/>
          </a:xfrm>
          <a:prstGeom prst="rect">
            <a:avLst/>
          </a:prstGeom>
          <a:noFill/>
          <a:ln/>
        </p:spPr>
        <p:txBody>
          <a:bodyPr wrap="square" lIns="0" tIns="0" rIns="0" bIns="0" rtlCol="0" anchor="t"/>
          <a:lstStyle/>
          <a:p>
            <a:pPr indent="0" marL="0">
              <a:buNone/>
            </a:pPr>
            <a:r>
              <a:rPr lang="en-US" sz="1250" dirty="0">
                <a:solidFill>
                  <a:srgbClr val="16213A"/>
                </a:solidFill>
                <a:latin typeface="Calibri" pitchFamily="34" charset="0"/>
                <a:ea typeface="Calibri" pitchFamily="34" charset="-122"/>
                <a:cs typeface="Calibri" pitchFamily="34" charset="-120"/>
              </a:rPr>
              <a:t>Given the high re-identifiability shown earlier, location data is treated as personal data under GDPR — even though the regulation never explicitly defines the term.</a:t>
            </a:r>
            <a:endParaRPr lang="en-US" sz="1250" dirty="0"/>
          </a:p>
        </p:txBody>
      </p:sp>
      <p:sp>
        <p:nvSpPr>
          <p:cNvPr id="9" name="Shape 6"/>
          <p:cNvSpPr/>
          <p:nvPr/>
        </p:nvSpPr>
        <p:spPr>
          <a:xfrm>
            <a:off x="6035040" y="1691640"/>
            <a:ext cx="5532120" cy="1965960"/>
          </a:xfrm>
          <a:prstGeom prst="roundRect">
            <a:avLst>
              <a:gd name="adj" fmla="val 4651"/>
            </a:avLst>
          </a:prstGeom>
          <a:solidFill>
            <a:srgbClr val="F4F8F8"/>
          </a:solidFill>
          <a:ln/>
        </p:spPr>
      </p:sp>
      <p:sp>
        <p:nvSpPr>
          <p:cNvPr id="10" name="Shape 7"/>
          <p:cNvSpPr/>
          <p:nvPr/>
        </p:nvSpPr>
        <p:spPr>
          <a:xfrm>
            <a:off x="6263640" y="1901952"/>
            <a:ext cx="594360" cy="594360"/>
          </a:xfrm>
          <a:prstGeom prst="ellipse">
            <a:avLst/>
          </a:prstGeom>
          <a:solidFill>
            <a:srgbClr val="E08E1D"/>
          </a:solidFill>
          <a:ln/>
        </p:spPr>
      </p:sp>
      <p:pic>
        <p:nvPicPr>
          <p:cNvPr id="11" name="Image 1" descr="preencoded.png">    </p:cNvPr>
          <p:cNvPicPr>
            <a:picLocks noChangeAspect="1"/>
          </p:cNvPicPr>
          <p:nvPr/>
        </p:nvPicPr>
        <p:blipFill>
          <a:blip r:embed="rId2"/>
          <a:stretch>
            <a:fillRect/>
          </a:stretch>
        </p:blipFill>
        <p:spPr>
          <a:xfrm>
            <a:off x="6418174" y="2056486"/>
            <a:ext cx="285293" cy="285293"/>
          </a:xfrm>
          <a:prstGeom prst="rect">
            <a:avLst/>
          </a:prstGeom>
        </p:spPr>
      </p:pic>
      <p:sp>
        <p:nvSpPr>
          <p:cNvPr id="12" name="Text 8"/>
          <p:cNvSpPr/>
          <p:nvPr/>
        </p:nvSpPr>
        <p:spPr>
          <a:xfrm>
            <a:off x="6995160" y="1938528"/>
            <a:ext cx="443484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But jurisdiction is gameable</a:t>
            </a:r>
            <a:endParaRPr lang="en-US" sz="1450" dirty="0"/>
          </a:p>
        </p:txBody>
      </p:sp>
      <p:sp>
        <p:nvSpPr>
          <p:cNvPr id="13" name="Text 9"/>
          <p:cNvSpPr/>
          <p:nvPr/>
        </p:nvSpPr>
        <p:spPr>
          <a:xfrm>
            <a:off x="6309360" y="2514600"/>
            <a:ext cx="5120640" cy="1051560"/>
          </a:xfrm>
          <a:prstGeom prst="rect">
            <a:avLst/>
          </a:prstGeom>
          <a:noFill/>
          <a:ln/>
        </p:spPr>
        <p:txBody>
          <a:bodyPr wrap="square" lIns="0" tIns="0" rIns="0" bIns="0" rtlCol="0" anchor="t"/>
          <a:lstStyle/>
          <a:p>
            <a:pPr indent="0" marL="0">
              <a:buNone/>
            </a:pPr>
            <a:r>
              <a:rPr lang="en-US" sz="1250" dirty="0">
                <a:solidFill>
                  <a:srgbClr val="16213A"/>
                </a:solidFill>
                <a:latin typeface="Calibri" pitchFamily="34" charset="0"/>
                <a:ea typeface="Calibri" pitchFamily="34" charset="-122"/>
                <a:cs typeface="Calibri" pitchFamily="34" charset="-120"/>
              </a:rPr>
              <a:t>Someone outside EU jurisdiction using a VPN can appear in scope. To be safe, businesses must treat anyone who plausibly could be covered as if they are — an awkward, costly compliance posture.</a:t>
            </a:r>
            <a:endParaRPr lang="en-US" sz="1250" dirty="0"/>
          </a:p>
        </p:txBody>
      </p:sp>
      <p:sp>
        <p:nvSpPr>
          <p:cNvPr id="14" name="Shape 10"/>
          <p:cNvSpPr/>
          <p:nvPr/>
        </p:nvSpPr>
        <p:spPr>
          <a:xfrm>
            <a:off x="548640" y="3886200"/>
            <a:ext cx="11018520" cy="2011680"/>
          </a:xfrm>
          <a:prstGeom prst="roundRect">
            <a:avLst>
              <a:gd name="adj" fmla="val 4545"/>
            </a:avLst>
          </a:prstGeom>
          <a:solidFill>
            <a:srgbClr val="0B1F3A"/>
          </a:solidFill>
          <a:ln/>
        </p:spPr>
      </p:sp>
      <p:sp>
        <p:nvSpPr>
          <p:cNvPr id="15" name="Shape 11"/>
          <p:cNvSpPr/>
          <p:nvPr/>
        </p:nvSpPr>
        <p:spPr>
          <a:xfrm>
            <a:off x="822960" y="4114800"/>
            <a:ext cx="594360" cy="594360"/>
          </a:xfrm>
          <a:prstGeom prst="ellipse">
            <a:avLst/>
          </a:prstGeom>
          <a:solidFill>
            <a:srgbClr val="E08E1D"/>
          </a:solidFill>
          <a:ln/>
        </p:spPr>
      </p:sp>
      <p:pic>
        <p:nvPicPr>
          <p:cNvPr id="16" name="Image 2" descr="preencoded.png">    </p:cNvPr>
          <p:cNvPicPr>
            <a:picLocks noChangeAspect="1"/>
          </p:cNvPicPr>
          <p:nvPr/>
        </p:nvPicPr>
        <p:blipFill>
          <a:blip r:embed="rId3"/>
          <a:stretch>
            <a:fillRect/>
          </a:stretch>
        </p:blipFill>
        <p:spPr>
          <a:xfrm>
            <a:off x="977494" y="4269334"/>
            <a:ext cx="285293" cy="285293"/>
          </a:xfrm>
          <a:prstGeom prst="rect">
            <a:avLst/>
          </a:prstGeom>
        </p:spPr>
      </p:pic>
      <p:sp>
        <p:nvSpPr>
          <p:cNvPr id="17" name="Text 12"/>
          <p:cNvSpPr/>
          <p:nvPr/>
        </p:nvSpPr>
        <p:spPr>
          <a:xfrm>
            <a:off x="1554480" y="4160520"/>
            <a:ext cx="9601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'health purposes' loophole</a:t>
            </a:r>
            <a:endParaRPr lang="en-US" sz="1500" dirty="0"/>
          </a:p>
        </p:txBody>
      </p:sp>
      <p:sp>
        <p:nvSpPr>
          <p:cNvPr id="18" name="Text 13"/>
          <p:cNvSpPr/>
          <p:nvPr/>
        </p:nvSpPr>
        <p:spPr>
          <a:xfrm>
            <a:off x="1554480" y="4526280"/>
            <a:ext cx="9692640" cy="1280160"/>
          </a:xfrm>
          <a:prstGeom prst="rect">
            <a:avLst/>
          </a:prstGeom>
          <a:noFill/>
          <a:ln/>
        </p:spPr>
        <p:txBody>
          <a:bodyPr wrap="square" lIns="0" tIns="0" rIns="0" bIns="0" rtlCol="0" anchor="t"/>
          <a:lstStyle/>
          <a:p>
            <a:pPr indent="0" marL="0">
              <a:buNone/>
            </a:pPr>
            <a:r>
              <a:rPr lang="en-US" sz="1250" dirty="0">
                <a:solidFill>
                  <a:srgbClr val="CFE8E6"/>
                </a:solidFill>
                <a:latin typeface="Calibri" pitchFamily="34" charset="0"/>
                <a:ea typeface="Calibri" pitchFamily="34" charset="-122"/>
                <a:cs typeface="Calibri" pitchFamily="34" charset="-120"/>
              </a:rPr>
              <a:t>GDPR is stricter about collecting health data than 'lifestyle' data, but more lenient about processing data for health purposes once it exists. This creates a gaming opportunity: an app can collect location data framed as 'lifestyle' tracking, then process it for health-related purposes to take advantage of the more lenient rules — exploiting the gap between collection grounds and processing grounds.</a:t>
            </a:r>
            <a:endParaRPr lang="en-US" sz="1250" dirty="0"/>
          </a:p>
        </p:txBody>
      </p:sp>
      <p:sp>
        <p:nvSpPr>
          <p:cNvPr id="19" name="Text 14"/>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0" name="Text 15"/>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Technical Governance: Obscuring Location</a:t>
            </a:r>
            <a:endParaRPr lang="en-US" sz="3000" dirty="0"/>
          </a:p>
        </p:txBody>
      </p:sp>
      <p:sp>
        <p:nvSpPr>
          <p:cNvPr id="4" name="Text 2"/>
          <p:cNvSpPr/>
          <p:nvPr/>
        </p:nvSpPr>
        <p:spPr>
          <a:xfrm>
            <a:off x="548640" y="1554480"/>
            <a:ext cx="10972800" cy="457200"/>
          </a:xfrm>
          <a:prstGeom prst="rect">
            <a:avLst/>
          </a:prstGeom>
          <a:noFill/>
          <a:ln/>
        </p:spPr>
        <p:txBody>
          <a:bodyPr wrap="square" lIns="0" tIns="0" rIns="0" bIns="0" rtlCol="0" anchor="ctr"/>
          <a:lstStyle/>
          <a:p>
            <a:pPr indent="0" marL="0">
              <a:buNone/>
            </a:pPr>
            <a:r>
              <a:rPr lang="en-US" sz="1400" dirty="0">
                <a:solidFill>
                  <a:srgbClr val="16213A"/>
                </a:solidFill>
                <a:latin typeface="Calibri" pitchFamily="34" charset="0"/>
                <a:ea typeface="Calibri" pitchFamily="34" charset="-122"/>
                <a:cs typeface="Calibri" pitchFamily="34" charset="-120"/>
              </a:rPr>
              <a:t>Beyond legal rules, technical approaches try to give individuals more direct control over their own location signal:</a:t>
            </a:r>
            <a:endParaRPr lang="en-US" sz="1400" dirty="0"/>
          </a:p>
        </p:txBody>
      </p:sp>
      <p:sp>
        <p:nvSpPr>
          <p:cNvPr id="5" name="Shape 3"/>
          <p:cNvSpPr/>
          <p:nvPr/>
        </p:nvSpPr>
        <p:spPr>
          <a:xfrm>
            <a:off x="548640" y="2286000"/>
            <a:ext cx="3520440" cy="2331720"/>
          </a:xfrm>
          <a:prstGeom prst="roundRect">
            <a:avLst>
              <a:gd name="adj" fmla="val 3922"/>
            </a:avLst>
          </a:prstGeom>
          <a:solidFill>
            <a:srgbClr val="F4F8F8"/>
          </a:solidFill>
          <a:ln/>
        </p:spPr>
      </p:sp>
      <p:sp>
        <p:nvSpPr>
          <p:cNvPr id="6" name="Shape 4"/>
          <p:cNvSpPr/>
          <p:nvPr/>
        </p:nvSpPr>
        <p:spPr>
          <a:xfrm>
            <a:off x="1965960" y="2514600"/>
            <a:ext cx="685800" cy="685800"/>
          </a:xfrm>
          <a:prstGeom prst="ellipse">
            <a:avLst/>
          </a:prstGeom>
          <a:solidFill>
            <a:srgbClr val="0E7C86"/>
          </a:solidFill>
          <a:ln/>
        </p:spPr>
      </p:sp>
      <p:pic>
        <p:nvPicPr>
          <p:cNvPr id="7" name="Image 0" descr="preencoded.png">    </p:cNvPr>
          <p:cNvPicPr>
            <a:picLocks noChangeAspect="1"/>
          </p:cNvPicPr>
          <p:nvPr/>
        </p:nvPicPr>
        <p:blipFill>
          <a:blip r:embed="rId1"/>
          <a:stretch>
            <a:fillRect/>
          </a:stretch>
        </p:blipFill>
        <p:spPr>
          <a:xfrm>
            <a:off x="2144268" y="2692908"/>
            <a:ext cx="329184" cy="329184"/>
          </a:xfrm>
          <a:prstGeom prst="rect">
            <a:avLst/>
          </a:prstGeom>
        </p:spPr>
      </p:pic>
      <p:sp>
        <p:nvSpPr>
          <p:cNvPr id="8" name="Text 5"/>
          <p:cNvSpPr/>
          <p:nvPr/>
        </p:nvSpPr>
        <p:spPr>
          <a:xfrm>
            <a:off x="685800" y="3291840"/>
            <a:ext cx="3246120" cy="457200"/>
          </a:xfrm>
          <a:prstGeom prst="rect">
            <a:avLst/>
          </a:prstGeom>
          <a:noFill/>
          <a:ln/>
        </p:spPr>
        <p:txBody>
          <a:bodyPr wrap="square" lIns="0" tIns="0" rIns="0" bIns="0" rtlCol="0" anchor="t"/>
          <a:lstStyle/>
          <a:p>
            <a:pPr algn="ctr" indent="0" marL="0">
              <a:buNone/>
            </a:pPr>
            <a:r>
              <a:rPr lang="en-US" sz="1350" b="1" dirty="0">
                <a:solidFill>
                  <a:srgbClr val="0B1F3A"/>
                </a:solidFill>
                <a:latin typeface="Calibri" pitchFamily="34" charset="0"/>
                <a:ea typeface="Calibri" pitchFamily="34" charset="-122"/>
                <a:cs typeface="Calibri" pitchFamily="34" charset="-120"/>
              </a:rPr>
              <a:t>Software spoofing</a:t>
            </a:r>
            <a:endParaRPr lang="en-US" sz="1350" dirty="0"/>
          </a:p>
        </p:txBody>
      </p:sp>
      <p:sp>
        <p:nvSpPr>
          <p:cNvPr id="9" name="Text 6"/>
          <p:cNvSpPr/>
          <p:nvPr/>
        </p:nvSpPr>
        <p:spPr>
          <a:xfrm>
            <a:off x="731520" y="3794760"/>
            <a:ext cx="3154680" cy="77724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A layer between hardware and apps that alters or replaces sensor signals (e.g., GPS) to 'fool' apps into seeing a different location</a:t>
            </a:r>
            <a:endParaRPr lang="en-US" sz="1100" dirty="0"/>
          </a:p>
        </p:txBody>
      </p:sp>
      <p:sp>
        <p:nvSpPr>
          <p:cNvPr id="10" name="Shape 7"/>
          <p:cNvSpPr/>
          <p:nvPr/>
        </p:nvSpPr>
        <p:spPr>
          <a:xfrm>
            <a:off x="4315968" y="2286000"/>
            <a:ext cx="3520440" cy="2331720"/>
          </a:xfrm>
          <a:prstGeom prst="roundRect">
            <a:avLst>
              <a:gd name="adj" fmla="val 3922"/>
            </a:avLst>
          </a:prstGeom>
          <a:solidFill>
            <a:srgbClr val="F4F8F8"/>
          </a:solidFill>
          <a:ln/>
        </p:spPr>
      </p:sp>
      <p:sp>
        <p:nvSpPr>
          <p:cNvPr id="11" name="Shape 8"/>
          <p:cNvSpPr/>
          <p:nvPr/>
        </p:nvSpPr>
        <p:spPr>
          <a:xfrm>
            <a:off x="5733288" y="2514600"/>
            <a:ext cx="685800" cy="685800"/>
          </a:xfrm>
          <a:prstGeom prst="ellipse">
            <a:avLst/>
          </a:prstGeom>
          <a:solidFill>
            <a:srgbClr val="0E7C86"/>
          </a:solidFill>
          <a:ln/>
        </p:spPr>
      </p:sp>
      <p:pic>
        <p:nvPicPr>
          <p:cNvPr id="12" name="Image 1" descr="preencoded.png">    </p:cNvPr>
          <p:cNvPicPr>
            <a:picLocks noChangeAspect="1"/>
          </p:cNvPicPr>
          <p:nvPr/>
        </p:nvPicPr>
        <p:blipFill>
          <a:blip r:embed="rId2"/>
          <a:stretch>
            <a:fillRect/>
          </a:stretch>
        </p:blipFill>
        <p:spPr>
          <a:xfrm>
            <a:off x="5911596" y="2692908"/>
            <a:ext cx="329184" cy="329184"/>
          </a:xfrm>
          <a:prstGeom prst="rect">
            <a:avLst/>
          </a:prstGeom>
        </p:spPr>
      </p:pic>
      <p:sp>
        <p:nvSpPr>
          <p:cNvPr id="13" name="Text 9"/>
          <p:cNvSpPr/>
          <p:nvPr/>
        </p:nvSpPr>
        <p:spPr>
          <a:xfrm>
            <a:off x="4453128" y="3291840"/>
            <a:ext cx="3246120" cy="457200"/>
          </a:xfrm>
          <a:prstGeom prst="rect">
            <a:avLst/>
          </a:prstGeom>
          <a:noFill/>
          <a:ln/>
        </p:spPr>
        <p:txBody>
          <a:bodyPr wrap="square" lIns="0" tIns="0" rIns="0" bIns="0" rtlCol="0" anchor="t"/>
          <a:lstStyle/>
          <a:p>
            <a:pPr algn="ctr" indent="0" marL="0">
              <a:buNone/>
            </a:pPr>
            <a:r>
              <a:rPr lang="en-US" sz="1350" b="1" dirty="0">
                <a:solidFill>
                  <a:srgbClr val="0B1F3A"/>
                </a:solidFill>
                <a:latin typeface="Calibri" pitchFamily="34" charset="0"/>
                <a:ea typeface="Calibri" pitchFamily="34" charset="-122"/>
                <a:cs typeface="Calibri" pitchFamily="34" charset="-120"/>
              </a:rPr>
              <a:t>RFID-proof bags/clothing</a:t>
            </a:r>
            <a:endParaRPr lang="en-US" sz="1350" dirty="0"/>
          </a:p>
        </p:txBody>
      </p:sp>
      <p:sp>
        <p:nvSpPr>
          <p:cNvPr id="14" name="Text 10"/>
          <p:cNvSpPr/>
          <p:nvPr/>
        </p:nvSpPr>
        <p:spPr>
          <a:xfrm>
            <a:off x="4498848" y="3794760"/>
            <a:ext cx="3154680" cy="77724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Physical shielding products that block RFID and similar wireless signals from being read</a:t>
            </a:r>
            <a:endParaRPr lang="en-US" sz="1100" dirty="0"/>
          </a:p>
        </p:txBody>
      </p:sp>
      <p:sp>
        <p:nvSpPr>
          <p:cNvPr id="15" name="Shape 11"/>
          <p:cNvSpPr/>
          <p:nvPr/>
        </p:nvSpPr>
        <p:spPr>
          <a:xfrm>
            <a:off x="8083296" y="2286000"/>
            <a:ext cx="3520440" cy="2331720"/>
          </a:xfrm>
          <a:prstGeom prst="roundRect">
            <a:avLst>
              <a:gd name="adj" fmla="val 3922"/>
            </a:avLst>
          </a:prstGeom>
          <a:solidFill>
            <a:srgbClr val="F4F8F8"/>
          </a:solidFill>
          <a:ln/>
        </p:spPr>
      </p:sp>
      <p:sp>
        <p:nvSpPr>
          <p:cNvPr id="16" name="Shape 12"/>
          <p:cNvSpPr/>
          <p:nvPr/>
        </p:nvSpPr>
        <p:spPr>
          <a:xfrm>
            <a:off x="9500616" y="2514600"/>
            <a:ext cx="685800" cy="685800"/>
          </a:xfrm>
          <a:prstGeom prst="ellipse">
            <a:avLst/>
          </a:prstGeom>
          <a:solidFill>
            <a:srgbClr val="0E7C86"/>
          </a:solidFill>
          <a:ln/>
        </p:spPr>
      </p:sp>
      <p:pic>
        <p:nvPicPr>
          <p:cNvPr id="17" name="Image 2" descr="preencoded.png">    </p:cNvPr>
          <p:cNvPicPr>
            <a:picLocks noChangeAspect="1"/>
          </p:cNvPicPr>
          <p:nvPr/>
        </p:nvPicPr>
        <p:blipFill>
          <a:blip r:embed="rId3"/>
          <a:stretch>
            <a:fillRect/>
          </a:stretch>
        </p:blipFill>
        <p:spPr>
          <a:xfrm>
            <a:off x="9678924" y="2692908"/>
            <a:ext cx="329184" cy="329184"/>
          </a:xfrm>
          <a:prstGeom prst="rect">
            <a:avLst/>
          </a:prstGeom>
        </p:spPr>
      </p:pic>
      <p:sp>
        <p:nvSpPr>
          <p:cNvPr id="18" name="Text 13"/>
          <p:cNvSpPr/>
          <p:nvPr/>
        </p:nvSpPr>
        <p:spPr>
          <a:xfrm>
            <a:off x="8220456" y="3291840"/>
            <a:ext cx="3246120" cy="457200"/>
          </a:xfrm>
          <a:prstGeom prst="rect">
            <a:avLst/>
          </a:prstGeom>
          <a:noFill/>
          <a:ln/>
        </p:spPr>
        <p:txBody>
          <a:bodyPr wrap="square" lIns="0" tIns="0" rIns="0" bIns="0" rtlCol="0" anchor="t"/>
          <a:lstStyle/>
          <a:p>
            <a:pPr algn="ctr" indent="0" marL="0">
              <a:buNone/>
            </a:pPr>
            <a:r>
              <a:rPr lang="en-US" sz="1350" b="1" dirty="0">
                <a:solidFill>
                  <a:srgbClr val="0B1F3A"/>
                </a:solidFill>
                <a:latin typeface="Calibri" pitchFamily="34" charset="0"/>
                <a:ea typeface="Calibri" pitchFamily="34" charset="-122"/>
                <a:cs typeface="Calibri" pitchFamily="34" charset="-120"/>
              </a:rPr>
              <a:t>RFID blocker tags</a:t>
            </a:r>
            <a:endParaRPr lang="en-US" sz="1350" dirty="0"/>
          </a:p>
        </p:txBody>
      </p:sp>
      <p:sp>
        <p:nvSpPr>
          <p:cNvPr id="19" name="Text 14"/>
          <p:cNvSpPr/>
          <p:nvPr/>
        </p:nvSpPr>
        <p:spPr>
          <a:xfrm>
            <a:off x="8266176" y="3794760"/>
            <a:ext cx="3154680" cy="77724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Devices that jam RFID readers by simulating a wide range of RFID codes simultaneously</a:t>
            </a:r>
            <a:endParaRPr lang="en-US" sz="1100" dirty="0"/>
          </a:p>
        </p:txBody>
      </p:sp>
      <p:sp>
        <p:nvSpPr>
          <p:cNvPr id="20" name="Shape 15"/>
          <p:cNvSpPr/>
          <p:nvPr/>
        </p:nvSpPr>
        <p:spPr>
          <a:xfrm>
            <a:off x="548640" y="4937760"/>
            <a:ext cx="11018520" cy="1188720"/>
          </a:xfrm>
          <a:prstGeom prst="roundRect">
            <a:avLst>
              <a:gd name="adj" fmla="val 6154"/>
            </a:avLst>
          </a:prstGeom>
          <a:solidFill>
            <a:srgbClr val="0B1F3A"/>
          </a:solidFill>
          <a:ln/>
        </p:spPr>
      </p:sp>
      <p:sp>
        <p:nvSpPr>
          <p:cNvPr id="21" name="Shape 16"/>
          <p:cNvSpPr/>
          <p:nvPr/>
        </p:nvSpPr>
        <p:spPr>
          <a:xfrm>
            <a:off x="777240" y="5120640"/>
            <a:ext cx="548640" cy="548640"/>
          </a:xfrm>
          <a:prstGeom prst="ellipse">
            <a:avLst/>
          </a:prstGeom>
          <a:solidFill>
            <a:srgbClr val="E08E1D"/>
          </a:solidFill>
          <a:ln/>
        </p:spPr>
      </p:sp>
      <p:pic>
        <p:nvPicPr>
          <p:cNvPr id="22" name="Image 3" descr="preencoded.png">    </p:cNvPr>
          <p:cNvPicPr>
            <a:picLocks noChangeAspect="1"/>
          </p:cNvPicPr>
          <p:nvPr/>
        </p:nvPicPr>
        <p:blipFill>
          <a:blip r:embed="rId4"/>
          <a:stretch>
            <a:fillRect/>
          </a:stretch>
        </p:blipFill>
        <p:spPr>
          <a:xfrm>
            <a:off x="919886" y="5263286"/>
            <a:ext cx="263347" cy="263347"/>
          </a:xfrm>
          <a:prstGeom prst="rect">
            <a:avLst/>
          </a:prstGeom>
        </p:spPr>
      </p:pic>
      <p:sp>
        <p:nvSpPr>
          <p:cNvPr id="23" name="Text 17"/>
          <p:cNvSpPr/>
          <p:nvPr/>
        </p:nvSpPr>
        <p:spPr>
          <a:xfrm>
            <a:off x="1508760" y="5074920"/>
            <a:ext cx="9601200" cy="914400"/>
          </a:xfrm>
          <a:prstGeom prst="rect">
            <a:avLst/>
          </a:prstGeom>
          <a:noFill/>
          <a:ln/>
        </p:spPr>
        <p:txBody>
          <a:bodyPr wrap="square" lIns="0" tIns="0" rIns="0" bIns="0" rtlCol="0" anchor="t"/>
          <a:lstStyle/>
          <a:p>
            <a:pPr indent="0" marL="0">
              <a:buNone/>
            </a:pPr>
            <a:r>
              <a:rPr lang="en-US" sz="1300" i="1" dirty="0">
                <a:solidFill>
                  <a:srgbClr val="CFE8E6"/>
                </a:solidFill>
                <a:latin typeface="Calibri" pitchFamily="34" charset="0"/>
                <a:ea typeface="Calibri" pitchFamily="34" charset="-122"/>
                <a:cs typeface="Calibri" pitchFamily="34" charset="-120"/>
              </a:rPr>
              <a:t>Caveat: these tools do not always work reliably, and can give users a false sense of security — technical obfuscation is a partial mitigation, not a substitute for institutional governance.</a:t>
            </a:r>
            <a:endParaRPr lang="en-US" sz="1300" dirty="0"/>
          </a:p>
        </p:txBody>
      </p:sp>
      <p:sp>
        <p:nvSpPr>
          <p:cNvPr id="24"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5" name="Text 19"/>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GOVERNANCE — SUMMARY</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Governance Needs for Location Data</a:t>
            </a:r>
            <a:endParaRPr lang="en-US" sz="3000" dirty="0"/>
          </a:p>
        </p:txBody>
      </p:sp>
      <p:sp>
        <p:nvSpPr>
          <p:cNvPr id="4" name="Shape 2"/>
          <p:cNvSpPr/>
          <p:nvPr/>
        </p:nvSpPr>
        <p:spPr>
          <a:xfrm>
            <a:off x="548640" y="1783080"/>
            <a:ext cx="640080" cy="640080"/>
          </a:xfrm>
          <a:prstGeom prst="ellipse">
            <a:avLst/>
          </a:prstGeom>
          <a:solidFill>
            <a:srgbClr val="0E7C86"/>
          </a:solidFill>
          <a:ln/>
        </p:spPr>
      </p:sp>
      <p:pic>
        <p:nvPicPr>
          <p:cNvPr id="5" name="Image 0" descr="preencoded.png">    </p:cNvPr>
          <p:cNvPicPr>
            <a:picLocks noChangeAspect="1"/>
          </p:cNvPicPr>
          <p:nvPr/>
        </p:nvPicPr>
        <p:blipFill>
          <a:blip r:embed="rId1"/>
          <a:stretch>
            <a:fillRect/>
          </a:stretch>
        </p:blipFill>
        <p:spPr>
          <a:xfrm>
            <a:off x="715061" y="1949501"/>
            <a:ext cx="307238" cy="307238"/>
          </a:xfrm>
          <a:prstGeom prst="rect">
            <a:avLst/>
          </a:prstGeom>
        </p:spPr>
      </p:pic>
      <p:sp>
        <p:nvSpPr>
          <p:cNvPr id="6" name="Text 3"/>
          <p:cNvSpPr/>
          <p:nvPr/>
        </p:nvSpPr>
        <p:spPr>
          <a:xfrm>
            <a:off x="1417320" y="1764792"/>
            <a:ext cx="1005840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Clarify what 'meaningful consent' requires</a:t>
            </a:r>
            <a:endParaRPr lang="en-US" sz="1500" dirty="0"/>
          </a:p>
        </p:txBody>
      </p:sp>
      <p:sp>
        <p:nvSpPr>
          <p:cNvPr id="7" name="Text 4"/>
          <p:cNvSpPr/>
          <p:nvPr/>
        </p:nvSpPr>
        <p:spPr>
          <a:xfrm>
            <a:off x="1417320" y="2148840"/>
            <a:ext cx="10058400" cy="45720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for continuous, often invisible, multi-modal location capture</a:t>
            </a:r>
            <a:endParaRPr lang="en-US" sz="1250" dirty="0"/>
          </a:p>
        </p:txBody>
      </p:sp>
      <p:sp>
        <p:nvSpPr>
          <p:cNvPr id="8" name="Shape 5"/>
          <p:cNvSpPr/>
          <p:nvPr/>
        </p:nvSpPr>
        <p:spPr>
          <a:xfrm>
            <a:off x="548640" y="2862072"/>
            <a:ext cx="640080" cy="640080"/>
          </a:xfrm>
          <a:prstGeom prst="ellipse">
            <a:avLst/>
          </a:prstGeom>
          <a:solidFill>
            <a:srgbClr val="0E7C86"/>
          </a:solidFill>
          <a:ln/>
        </p:spPr>
      </p:sp>
      <p:pic>
        <p:nvPicPr>
          <p:cNvPr id="9" name="Image 1" descr="preencoded.png">    </p:cNvPr>
          <p:cNvPicPr>
            <a:picLocks noChangeAspect="1"/>
          </p:cNvPicPr>
          <p:nvPr/>
        </p:nvPicPr>
        <p:blipFill>
          <a:blip r:embed="rId2"/>
          <a:stretch>
            <a:fillRect/>
          </a:stretch>
        </p:blipFill>
        <p:spPr>
          <a:xfrm>
            <a:off x="715061" y="3028493"/>
            <a:ext cx="307238" cy="307238"/>
          </a:xfrm>
          <a:prstGeom prst="rect">
            <a:avLst/>
          </a:prstGeom>
        </p:spPr>
      </p:pic>
      <p:sp>
        <p:nvSpPr>
          <p:cNvPr id="10" name="Text 6"/>
          <p:cNvSpPr/>
          <p:nvPr/>
        </p:nvSpPr>
        <p:spPr>
          <a:xfrm>
            <a:off x="1417320" y="2843784"/>
            <a:ext cx="1005840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Define location data more precisely</a:t>
            </a:r>
            <a:endParaRPr lang="en-US" sz="1500" dirty="0"/>
          </a:p>
        </p:txBody>
      </p:sp>
      <p:sp>
        <p:nvSpPr>
          <p:cNvPr id="11" name="Text 7"/>
          <p:cNvSpPr/>
          <p:nvPr/>
        </p:nvSpPr>
        <p:spPr>
          <a:xfrm>
            <a:off x="1417320" y="3227832"/>
            <a:ext cx="10058400" cy="45720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given GDPR's broad but undefined scope and jurisdictional ambiguity</a:t>
            </a:r>
            <a:endParaRPr lang="en-US" sz="1250" dirty="0"/>
          </a:p>
        </p:txBody>
      </p:sp>
      <p:sp>
        <p:nvSpPr>
          <p:cNvPr id="12" name="Shape 8"/>
          <p:cNvSpPr/>
          <p:nvPr/>
        </p:nvSpPr>
        <p:spPr>
          <a:xfrm>
            <a:off x="548640" y="3941064"/>
            <a:ext cx="640080" cy="640080"/>
          </a:xfrm>
          <a:prstGeom prst="ellipse">
            <a:avLst/>
          </a:prstGeom>
          <a:solidFill>
            <a:srgbClr val="0E7C86"/>
          </a:solidFill>
          <a:ln/>
        </p:spPr>
      </p:sp>
      <p:pic>
        <p:nvPicPr>
          <p:cNvPr id="13" name="Image 2" descr="preencoded.png">    </p:cNvPr>
          <p:cNvPicPr>
            <a:picLocks noChangeAspect="1"/>
          </p:cNvPicPr>
          <p:nvPr/>
        </p:nvPicPr>
        <p:blipFill>
          <a:blip r:embed="rId3"/>
          <a:stretch>
            <a:fillRect/>
          </a:stretch>
        </p:blipFill>
        <p:spPr>
          <a:xfrm>
            <a:off x="715061" y="4107485"/>
            <a:ext cx="307238" cy="307238"/>
          </a:xfrm>
          <a:prstGeom prst="rect">
            <a:avLst/>
          </a:prstGeom>
        </p:spPr>
      </p:pic>
      <p:sp>
        <p:nvSpPr>
          <p:cNvPr id="14" name="Text 9"/>
          <p:cNvSpPr/>
          <p:nvPr/>
        </p:nvSpPr>
        <p:spPr>
          <a:xfrm>
            <a:off x="1417320" y="3922776"/>
            <a:ext cx="1005840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Require representativeness checks</a:t>
            </a:r>
            <a:endParaRPr lang="en-US" sz="1500" dirty="0"/>
          </a:p>
        </p:txBody>
      </p:sp>
      <p:sp>
        <p:nvSpPr>
          <p:cNvPr id="15" name="Text 10"/>
          <p:cNvSpPr/>
          <p:nvPr/>
        </p:nvSpPr>
        <p:spPr>
          <a:xfrm>
            <a:off x="1417320" y="4306824"/>
            <a:ext cx="10058400" cy="45720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before crowdsourced/app-derived location data informs public decisions</a:t>
            </a:r>
            <a:endParaRPr lang="en-US" sz="1250" dirty="0"/>
          </a:p>
        </p:txBody>
      </p:sp>
      <p:sp>
        <p:nvSpPr>
          <p:cNvPr id="16" name="Shape 11"/>
          <p:cNvSpPr/>
          <p:nvPr/>
        </p:nvSpPr>
        <p:spPr>
          <a:xfrm>
            <a:off x="548640" y="5020056"/>
            <a:ext cx="640080" cy="640080"/>
          </a:xfrm>
          <a:prstGeom prst="ellipse">
            <a:avLst/>
          </a:prstGeom>
          <a:solidFill>
            <a:srgbClr val="0E7C86"/>
          </a:solidFill>
          <a:ln/>
        </p:spPr>
      </p:sp>
      <p:pic>
        <p:nvPicPr>
          <p:cNvPr id="17" name="Image 3" descr="preencoded.png">    </p:cNvPr>
          <p:cNvPicPr>
            <a:picLocks noChangeAspect="1"/>
          </p:cNvPicPr>
          <p:nvPr/>
        </p:nvPicPr>
        <p:blipFill>
          <a:blip r:embed="rId4"/>
          <a:stretch>
            <a:fillRect/>
          </a:stretch>
        </p:blipFill>
        <p:spPr>
          <a:xfrm>
            <a:off x="715061" y="5186477"/>
            <a:ext cx="307238" cy="307238"/>
          </a:xfrm>
          <a:prstGeom prst="rect">
            <a:avLst/>
          </a:prstGeom>
        </p:spPr>
      </p:pic>
      <p:sp>
        <p:nvSpPr>
          <p:cNvPr id="18" name="Text 12"/>
          <p:cNvSpPr/>
          <p:nvPr/>
        </p:nvSpPr>
        <p:spPr>
          <a:xfrm>
            <a:off x="1417320" y="5001768"/>
            <a:ext cx="1005840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Build in safeguards against misuse</a:t>
            </a:r>
            <a:endParaRPr lang="en-US" sz="1500" dirty="0"/>
          </a:p>
        </p:txBody>
      </p:sp>
      <p:sp>
        <p:nvSpPr>
          <p:cNvPr id="19" name="Text 13"/>
          <p:cNvSpPr/>
          <p:nvPr/>
        </p:nvSpPr>
        <p:spPr>
          <a:xfrm>
            <a:off x="1417320" y="5385816"/>
            <a:ext cx="10058400" cy="45720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for public safety, surveillance, and gaming/Sybil-style attacks on crowdsourced systems</a:t>
            </a:r>
            <a:endParaRPr lang="en-US" sz="1250" dirty="0"/>
          </a:p>
        </p:txBody>
      </p:sp>
      <p:sp>
        <p:nvSpPr>
          <p:cNvPr id="20" name="Text 14"/>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1" name="Text 15"/>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CASE ANALYSIS</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Case Analysis: Waze, Revisited</a:t>
            </a:r>
            <a:endParaRPr lang="en-US" sz="3000" dirty="0"/>
          </a:p>
        </p:txBody>
      </p:sp>
      <p:sp>
        <p:nvSpPr>
          <p:cNvPr id="4" name="Text 2"/>
          <p:cNvSpPr/>
          <p:nvPr/>
        </p:nvSpPr>
        <p:spPr>
          <a:xfrm>
            <a:off x="548640" y="1463040"/>
            <a:ext cx="10972800" cy="365760"/>
          </a:xfrm>
          <a:prstGeom prst="rect">
            <a:avLst/>
          </a:prstGeom>
          <a:noFill/>
          <a:ln/>
        </p:spPr>
        <p:txBody>
          <a:bodyPr wrap="square" lIns="0" tIns="0" rIns="0" bIns="0" rtlCol="0" anchor="ctr"/>
          <a:lstStyle/>
          <a:p>
            <a:pPr indent="0" marL="0">
              <a:buNone/>
            </a:pPr>
            <a:r>
              <a:rPr lang="en-US" sz="1350" i="1" dirty="0">
                <a:solidFill>
                  <a:srgbClr val="5B6B7F"/>
                </a:solidFill>
                <a:latin typeface="Calibri" pitchFamily="34" charset="0"/>
                <a:ea typeface="Calibri" pitchFamily="34" charset="-122"/>
                <a:cs typeface="Calibri" pitchFamily="34" charset="-120"/>
              </a:rPr>
              <a:t>Applying a structured wrong / right / improvement lens to the Waze public-safety case:</a:t>
            </a:r>
            <a:endParaRPr lang="en-US" sz="1350" dirty="0"/>
          </a:p>
        </p:txBody>
      </p:sp>
      <p:sp>
        <p:nvSpPr>
          <p:cNvPr id="5" name="Shape 3"/>
          <p:cNvSpPr/>
          <p:nvPr/>
        </p:nvSpPr>
        <p:spPr>
          <a:xfrm>
            <a:off x="548640" y="1965960"/>
            <a:ext cx="3520440" cy="4069080"/>
          </a:xfrm>
          <a:prstGeom prst="roundRect">
            <a:avLst>
              <a:gd name="adj" fmla="val 2597"/>
            </a:avLst>
          </a:prstGeom>
          <a:solidFill>
            <a:srgbClr val="F4F8F8"/>
          </a:solidFill>
          <a:ln/>
        </p:spPr>
      </p:sp>
      <p:sp>
        <p:nvSpPr>
          <p:cNvPr id="6" name="Shape 4"/>
          <p:cNvSpPr/>
          <p:nvPr/>
        </p:nvSpPr>
        <p:spPr>
          <a:xfrm>
            <a:off x="548640" y="1965960"/>
            <a:ext cx="3520440" cy="594360"/>
          </a:xfrm>
          <a:prstGeom prst="roundRect">
            <a:avLst>
              <a:gd name="adj" fmla="val 15385"/>
            </a:avLst>
          </a:prstGeom>
          <a:solidFill>
            <a:srgbClr val="C0392B"/>
          </a:solidFill>
          <a:ln/>
        </p:spPr>
      </p:sp>
      <p:sp>
        <p:nvSpPr>
          <p:cNvPr id="7" name="Shape 5"/>
          <p:cNvSpPr/>
          <p:nvPr/>
        </p:nvSpPr>
        <p:spPr>
          <a:xfrm>
            <a:off x="548640" y="2286000"/>
            <a:ext cx="3520440" cy="274320"/>
          </a:xfrm>
          <a:prstGeom prst="rect">
            <a:avLst/>
          </a:prstGeom>
          <a:solidFill>
            <a:srgbClr val="C0392B"/>
          </a:solidFill>
          <a:ln/>
        </p:spPr>
      </p:sp>
      <p:sp>
        <p:nvSpPr>
          <p:cNvPr id="8" name="Text 6"/>
          <p:cNvSpPr/>
          <p:nvPr/>
        </p:nvSpPr>
        <p:spPr>
          <a:xfrm>
            <a:off x="685800" y="1965960"/>
            <a:ext cx="32461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was done wrong</a:t>
            </a:r>
            <a:endParaRPr lang="en-US" sz="1400" dirty="0"/>
          </a:p>
        </p:txBody>
      </p:sp>
      <p:sp>
        <p:nvSpPr>
          <p:cNvPr id="9" name="Shape 7"/>
          <p:cNvSpPr/>
          <p:nvPr/>
        </p:nvSpPr>
        <p:spPr>
          <a:xfrm>
            <a:off x="713232" y="2788920"/>
            <a:ext cx="91440" cy="91440"/>
          </a:xfrm>
          <a:prstGeom prst="ellipse">
            <a:avLst/>
          </a:prstGeom>
          <a:solidFill>
            <a:srgbClr val="C0392B"/>
          </a:solidFill>
          <a:ln/>
        </p:spPr>
      </p:sp>
      <p:sp>
        <p:nvSpPr>
          <p:cNvPr id="10" name="Text 8"/>
          <p:cNvSpPr/>
          <p:nvPr/>
        </p:nvSpPr>
        <p:spPr>
          <a:xfrm>
            <a:off x="914400" y="2679192"/>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Police-tracking feature shipped without an apparent assessment of misuse risk for law-enforcement safety</a:t>
            </a:r>
            <a:endParaRPr lang="en-US" sz="1080" dirty="0"/>
          </a:p>
        </p:txBody>
      </p:sp>
      <p:sp>
        <p:nvSpPr>
          <p:cNvPr id="11" name="Shape 9"/>
          <p:cNvSpPr/>
          <p:nvPr/>
        </p:nvSpPr>
        <p:spPr>
          <a:xfrm>
            <a:off x="713232" y="3867912"/>
            <a:ext cx="91440" cy="91440"/>
          </a:xfrm>
          <a:prstGeom prst="ellipse">
            <a:avLst/>
          </a:prstGeom>
          <a:solidFill>
            <a:srgbClr val="C0392B"/>
          </a:solidFill>
          <a:ln/>
        </p:spPr>
      </p:sp>
      <p:sp>
        <p:nvSpPr>
          <p:cNvPr id="12" name="Text 10"/>
          <p:cNvSpPr/>
          <p:nvPr/>
        </p:nvSpPr>
        <p:spPr>
          <a:xfrm>
            <a:off x="914400" y="3758184"/>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No visible mechanism to verify the credibility of crowdsourced incident reports before acting on them</a:t>
            </a:r>
            <a:endParaRPr lang="en-US" sz="1080" dirty="0"/>
          </a:p>
        </p:txBody>
      </p:sp>
      <p:sp>
        <p:nvSpPr>
          <p:cNvPr id="13" name="Shape 11"/>
          <p:cNvSpPr/>
          <p:nvPr/>
        </p:nvSpPr>
        <p:spPr>
          <a:xfrm>
            <a:off x="713232" y="4946904"/>
            <a:ext cx="91440" cy="91440"/>
          </a:xfrm>
          <a:prstGeom prst="ellipse">
            <a:avLst/>
          </a:prstGeom>
          <a:solidFill>
            <a:srgbClr val="C0392B"/>
          </a:solidFill>
          <a:ln/>
        </p:spPr>
      </p:sp>
      <p:sp>
        <p:nvSpPr>
          <p:cNvPr id="14" name="Text 12"/>
          <p:cNvSpPr/>
          <p:nvPr/>
        </p:nvSpPr>
        <p:spPr>
          <a:xfrm>
            <a:off x="914400" y="4837176"/>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Routing decisions doubled as a data-gathering exercise on users without treating this as research requiring ethical review</a:t>
            </a:r>
            <a:endParaRPr lang="en-US" sz="1080" dirty="0"/>
          </a:p>
        </p:txBody>
      </p:sp>
      <p:sp>
        <p:nvSpPr>
          <p:cNvPr id="15" name="Shape 13"/>
          <p:cNvSpPr/>
          <p:nvPr/>
        </p:nvSpPr>
        <p:spPr>
          <a:xfrm>
            <a:off x="4315968" y="1965960"/>
            <a:ext cx="3520440" cy="4069080"/>
          </a:xfrm>
          <a:prstGeom prst="roundRect">
            <a:avLst>
              <a:gd name="adj" fmla="val 2597"/>
            </a:avLst>
          </a:prstGeom>
          <a:solidFill>
            <a:srgbClr val="F4F8F8"/>
          </a:solidFill>
          <a:ln/>
        </p:spPr>
      </p:sp>
      <p:sp>
        <p:nvSpPr>
          <p:cNvPr id="16" name="Shape 14"/>
          <p:cNvSpPr/>
          <p:nvPr/>
        </p:nvSpPr>
        <p:spPr>
          <a:xfrm>
            <a:off x="4315968" y="1965960"/>
            <a:ext cx="3520440" cy="594360"/>
          </a:xfrm>
          <a:prstGeom prst="roundRect">
            <a:avLst>
              <a:gd name="adj" fmla="val 15385"/>
            </a:avLst>
          </a:prstGeom>
          <a:solidFill>
            <a:srgbClr val="1E8E5A"/>
          </a:solidFill>
          <a:ln/>
        </p:spPr>
      </p:sp>
      <p:sp>
        <p:nvSpPr>
          <p:cNvPr id="17" name="Shape 15"/>
          <p:cNvSpPr/>
          <p:nvPr/>
        </p:nvSpPr>
        <p:spPr>
          <a:xfrm>
            <a:off x="4315968" y="2286000"/>
            <a:ext cx="3520440" cy="274320"/>
          </a:xfrm>
          <a:prstGeom prst="rect">
            <a:avLst/>
          </a:prstGeom>
          <a:solidFill>
            <a:srgbClr val="1E8E5A"/>
          </a:solidFill>
          <a:ln/>
        </p:spPr>
      </p:sp>
      <p:sp>
        <p:nvSpPr>
          <p:cNvPr id="18" name="Text 16"/>
          <p:cNvSpPr/>
          <p:nvPr/>
        </p:nvSpPr>
        <p:spPr>
          <a:xfrm>
            <a:off x="4453128" y="1965960"/>
            <a:ext cx="32461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was done right</a:t>
            </a:r>
            <a:endParaRPr lang="en-US" sz="1400" dirty="0"/>
          </a:p>
        </p:txBody>
      </p:sp>
      <p:sp>
        <p:nvSpPr>
          <p:cNvPr id="19" name="Shape 17"/>
          <p:cNvSpPr/>
          <p:nvPr/>
        </p:nvSpPr>
        <p:spPr>
          <a:xfrm>
            <a:off x="4480560" y="2788920"/>
            <a:ext cx="91440" cy="91440"/>
          </a:xfrm>
          <a:prstGeom prst="ellipse">
            <a:avLst/>
          </a:prstGeom>
          <a:solidFill>
            <a:srgbClr val="1E8E5A"/>
          </a:solidFill>
          <a:ln/>
        </p:spPr>
      </p:sp>
      <p:sp>
        <p:nvSpPr>
          <p:cNvPr id="20" name="Text 18"/>
          <p:cNvSpPr/>
          <p:nvPr/>
        </p:nvSpPr>
        <p:spPr>
          <a:xfrm>
            <a:off x="4681728" y="2679192"/>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Anonymised contribution model for everyday location/incident sharing</a:t>
            </a:r>
            <a:endParaRPr lang="en-US" sz="1080" dirty="0"/>
          </a:p>
        </p:txBody>
      </p:sp>
      <p:sp>
        <p:nvSpPr>
          <p:cNvPr id="21" name="Shape 19"/>
          <p:cNvSpPr/>
          <p:nvPr/>
        </p:nvSpPr>
        <p:spPr>
          <a:xfrm>
            <a:off x="4480560" y="3867912"/>
            <a:ext cx="91440" cy="91440"/>
          </a:xfrm>
          <a:prstGeom prst="ellipse">
            <a:avLst/>
          </a:prstGeom>
          <a:solidFill>
            <a:srgbClr val="1E8E5A"/>
          </a:solidFill>
          <a:ln/>
        </p:spPr>
      </p:sp>
      <p:sp>
        <p:nvSpPr>
          <p:cNvPr id="22" name="Text 20"/>
          <p:cNvSpPr/>
          <p:nvPr/>
        </p:nvSpPr>
        <p:spPr>
          <a:xfrm>
            <a:off x="4681728" y="3758184"/>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Genuine, measurable public benefit: optimised routing and congestion reduction at scale</a:t>
            </a:r>
            <a:endParaRPr lang="en-US" sz="1080" dirty="0"/>
          </a:p>
        </p:txBody>
      </p:sp>
      <p:sp>
        <p:nvSpPr>
          <p:cNvPr id="23" name="Shape 21"/>
          <p:cNvSpPr/>
          <p:nvPr/>
        </p:nvSpPr>
        <p:spPr>
          <a:xfrm>
            <a:off x="4480560" y="4946904"/>
            <a:ext cx="91440" cy="91440"/>
          </a:xfrm>
          <a:prstGeom prst="ellipse">
            <a:avLst/>
          </a:prstGeom>
          <a:solidFill>
            <a:srgbClr val="1E8E5A"/>
          </a:solidFill>
          <a:ln/>
        </p:spPr>
      </p:sp>
      <p:sp>
        <p:nvSpPr>
          <p:cNvPr id="24" name="Text 22"/>
          <p:cNvSpPr/>
          <p:nvPr/>
        </p:nvSpPr>
        <p:spPr>
          <a:xfrm>
            <a:off x="4681728" y="4837176"/>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Responded to external stakeholder concern (LAPD letter) rather than ignoring it</a:t>
            </a:r>
            <a:endParaRPr lang="en-US" sz="1080" dirty="0"/>
          </a:p>
        </p:txBody>
      </p:sp>
      <p:sp>
        <p:nvSpPr>
          <p:cNvPr id="25" name="Shape 23"/>
          <p:cNvSpPr/>
          <p:nvPr/>
        </p:nvSpPr>
        <p:spPr>
          <a:xfrm>
            <a:off x="8083296" y="1965960"/>
            <a:ext cx="3520440" cy="4069080"/>
          </a:xfrm>
          <a:prstGeom prst="roundRect">
            <a:avLst>
              <a:gd name="adj" fmla="val 2597"/>
            </a:avLst>
          </a:prstGeom>
          <a:solidFill>
            <a:srgbClr val="F4F8F8"/>
          </a:solidFill>
          <a:ln/>
        </p:spPr>
      </p:sp>
      <p:sp>
        <p:nvSpPr>
          <p:cNvPr id="26" name="Shape 24"/>
          <p:cNvSpPr/>
          <p:nvPr/>
        </p:nvSpPr>
        <p:spPr>
          <a:xfrm>
            <a:off x="8083296" y="1965960"/>
            <a:ext cx="3520440" cy="594360"/>
          </a:xfrm>
          <a:prstGeom prst="roundRect">
            <a:avLst>
              <a:gd name="adj" fmla="val 15385"/>
            </a:avLst>
          </a:prstGeom>
          <a:solidFill>
            <a:srgbClr val="0E7C86"/>
          </a:solidFill>
          <a:ln/>
        </p:spPr>
      </p:sp>
      <p:sp>
        <p:nvSpPr>
          <p:cNvPr id="27" name="Shape 25"/>
          <p:cNvSpPr/>
          <p:nvPr/>
        </p:nvSpPr>
        <p:spPr>
          <a:xfrm>
            <a:off x="8083296" y="2286000"/>
            <a:ext cx="3520440" cy="274320"/>
          </a:xfrm>
          <a:prstGeom prst="rect">
            <a:avLst/>
          </a:prstGeom>
          <a:solidFill>
            <a:srgbClr val="0E7C86"/>
          </a:solidFill>
          <a:ln/>
        </p:spPr>
      </p:sp>
      <p:sp>
        <p:nvSpPr>
          <p:cNvPr id="28" name="Text 26"/>
          <p:cNvSpPr/>
          <p:nvPr/>
        </p:nvSpPr>
        <p:spPr>
          <a:xfrm>
            <a:off x="8220456" y="1965960"/>
            <a:ext cx="32461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could improve</a:t>
            </a:r>
            <a:endParaRPr lang="en-US" sz="1400" dirty="0"/>
          </a:p>
        </p:txBody>
      </p:sp>
      <p:sp>
        <p:nvSpPr>
          <p:cNvPr id="29" name="Shape 27"/>
          <p:cNvSpPr/>
          <p:nvPr/>
        </p:nvSpPr>
        <p:spPr>
          <a:xfrm>
            <a:off x="8247888" y="2788920"/>
            <a:ext cx="91440" cy="91440"/>
          </a:xfrm>
          <a:prstGeom prst="ellipse">
            <a:avLst/>
          </a:prstGeom>
          <a:solidFill>
            <a:srgbClr val="0E7C86"/>
          </a:solidFill>
          <a:ln/>
        </p:spPr>
      </p:sp>
      <p:sp>
        <p:nvSpPr>
          <p:cNvPr id="30" name="Text 28"/>
          <p:cNvSpPr/>
          <p:nvPr/>
        </p:nvSpPr>
        <p:spPr>
          <a:xfrm>
            <a:off x="8449056" y="2679192"/>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A safety-impact assessment before launching location features with public-safety implications</a:t>
            </a:r>
            <a:endParaRPr lang="en-US" sz="1080" dirty="0"/>
          </a:p>
        </p:txBody>
      </p:sp>
      <p:sp>
        <p:nvSpPr>
          <p:cNvPr id="31" name="Shape 29"/>
          <p:cNvSpPr/>
          <p:nvPr/>
        </p:nvSpPr>
        <p:spPr>
          <a:xfrm>
            <a:off x="8247888" y="3867912"/>
            <a:ext cx="91440" cy="91440"/>
          </a:xfrm>
          <a:prstGeom prst="ellipse">
            <a:avLst/>
          </a:prstGeom>
          <a:solidFill>
            <a:srgbClr val="0E7C86"/>
          </a:solidFill>
          <a:ln/>
        </p:spPr>
      </p:sp>
      <p:sp>
        <p:nvSpPr>
          <p:cNvPr id="32" name="Text 30"/>
          <p:cNvSpPr/>
          <p:nvPr/>
        </p:nvSpPr>
        <p:spPr>
          <a:xfrm>
            <a:off x="8449056" y="3758184"/>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Stronger anti-gaming defences against fake incident or fake vehicle reports</a:t>
            </a:r>
            <a:endParaRPr lang="en-US" sz="1080" dirty="0"/>
          </a:p>
        </p:txBody>
      </p:sp>
      <p:sp>
        <p:nvSpPr>
          <p:cNvPr id="33" name="Shape 31"/>
          <p:cNvSpPr/>
          <p:nvPr/>
        </p:nvSpPr>
        <p:spPr>
          <a:xfrm>
            <a:off x="8247888" y="4946904"/>
            <a:ext cx="91440" cy="91440"/>
          </a:xfrm>
          <a:prstGeom prst="ellipse">
            <a:avLst/>
          </a:prstGeom>
          <a:solidFill>
            <a:srgbClr val="0E7C86"/>
          </a:solidFill>
          <a:ln/>
        </p:spPr>
      </p:sp>
      <p:sp>
        <p:nvSpPr>
          <p:cNvPr id="34" name="Text 32"/>
          <p:cNvSpPr/>
          <p:nvPr/>
        </p:nvSpPr>
        <p:spPr>
          <a:xfrm>
            <a:off x="8449056" y="4837176"/>
            <a:ext cx="2971800" cy="1005840"/>
          </a:xfrm>
          <a:prstGeom prst="rect">
            <a:avLst/>
          </a:prstGeom>
          <a:noFill/>
          <a:ln/>
        </p:spPr>
        <p:txBody>
          <a:bodyPr wrap="square" lIns="0" tIns="0" rIns="0" bIns="0" rtlCol="0" anchor="t"/>
          <a:lstStyle/>
          <a:p>
            <a:pPr indent="0" marL="0">
              <a:buNone/>
            </a:pPr>
            <a:r>
              <a:rPr lang="en-US" sz="1080" dirty="0">
                <a:solidFill>
                  <a:srgbClr val="16213A"/>
                </a:solidFill>
                <a:latin typeface="Calibri" pitchFamily="34" charset="0"/>
                <a:ea typeface="Calibri" pitchFamily="34" charset="-122"/>
                <a:cs typeface="Calibri" pitchFamily="34" charset="-120"/>
              </a:rPr>
              <a:t>Independent oversight or audit of feedback-loop effects (selection bias, stigmatised areas)</a:t>
            </a:r>
            <a:endParaRPr lang="en-US" sz="108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36" name="Text 34"/>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CRITICAL EVALUATION</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 Scholarly Response to the Case Study</a:t>
            </a:r>
            <a:endParaRPr lang="en-US" sz="3000" dirty="0"/>
          </a:p>
        </p:txBody>
      </p:sp>
      <p:sp>
        <p:nvSpPr>
          <p:cNvPr id="4" name="Text 2"/>
          <p:cNvSpPr/>
          <p:nvPr/>
        </p:nvSpPr>
        <p:spPr>
          <a:xfrm>
            <a:off x="548640" y="1645920"/>
            <a:ext cx="10972800" cy="640080"/>
          </a:xfrm>
          <a:prstGeom prst="rect">
            <a:avLst/>
          </a:prstGeom>
          <a:noFill/>
          <a:ln/>
        </p:spPr>
        <p:txBody>
          <a:bodyPr wrap="square" lIns="0" tIns="0" rIns="0" bIns="0" rtlCol="0" anchor="t"/>
          <a:lstStyle/>
          <a:p>
            <a:pPr indent="0" marL="0">
              <a:buNone/>
            </a:pPr>
            <a:r>
              <a:rPr lang="en-US" sz="1400" dirty="0">
                <a:solidFill>
                  <a:srgbClr val="16213A"/>
                </a:solidFill>
                <a:latin typeface="Calibri" pitchFamily="34" charset="0"/>
                <a:ea typeface="Calibri" pitchFamily="34" charset="-122"/>
                <a:cs typeface="Calibri" pitchFamily="34" charset="-120"/>
              </a:rPr>
              <a:t>The report's author treats location data primarily as a regulatory and re-identification problem, with governance framed mainly through GDPR personal-data status and technical obfuscation.</a:t>
            </a:r>
            <a:endParaRPr lang="en-US" sz="1400" dirty="0"/>
          </a:p>
        </p:txBody>
      </p:sp>
      <p:sp>
        <p:nvSpPr>
          <p:cNvPr id="5" name="Shape 3"/>
          <p:cNvSpPr/>
          <p:nvPr/>
        </p:nvSpPr>
        <p:spPr>
          <a:xfrm>
            <a:off x="548640" y="2514600"/>
            <a:ext cx="594360" cy="594360"/>
          </a:xfrm>
          <a:prstGeom prst="ellipse">
            <a:avLst/>
          </a:prstGeom>
          <a:solidFill>
            <a:srgbClr val="1E8E5A"/>
          </a:solidFill>
          <a:ln/>
        </p:spPr>
      </p:sp>
      <p:pic>
        <p:nvPicPr>
          <p:cNvPr id="6" name="Image 0" descr="preencoded.png">    </p:cNvPr>
          <p:cNvPicPr>
            <a:picLocks noChangeAspect="1"/>
          </p:cNvPicPr>
          <p:nvPr/>
        </p:nvPicPr>
        <p:blipFill>
          <a:blip r:embed="rId1"/>
          <a:stretch>
            <a:fillRect/>
          </a:stretch>
        </p:blipFill>
        <p:spPr>
          <a:xfrm>
            <a:off x="703174" y="2669134"/>
            <a:ext cx="285293" cy="285293"/>
          </a:xfrm>
          <a:prstGeom prst="rect">
            <a:avLst/>
          </a:prstGeom>
        </p:spPr>
      </p:pic>
      <p:sp>
        <p:nvSpPr>
          <p:cNvPr id="7" name="Text 4"/>
          <p:cNvSpPr/>
          <p:nvPr/>
        </p:nvSpPr>
        <p:spPr>
          <a:xfrm>
            <a:off x="1371600" y="2496312"/>
            <a:ext cx="1005840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Strength</a:t>
            </a:r>
            <a:endParaRPr lang="en-US" sz="1450" dirty="0"/>
          </a:p>
        </p:txBody>
      </p:sp>
      <p:sp>
        <p:nvSpPr>
          <p:cNvPr id="8" name="Text 5"/>
          <p:cNvSpPr/>
          <p:nvPr/>
        </p:nvSpPr>
        <p:spPr>
          <a:xfrm>
            <a:off x="1371600" y="2816352"/>
            <a:ext cx="10058400" cy="59436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Strong empirical grounding — the re-identification statistics (Sweeney, de Montjoye) give the privacy argument real bite rather than abstract concern</a:t>
            </a:r>
            <a:endParaRPr lang="en-US" sz="1250" dirty="0"/>
          </a:p>
        </p:txBody>
      </p:sp>
      <p:sp>
        <p:nvSpPr>
          <p:cNvPr id="9" name="Shape 6"/>
          <p:cNvSpPr/>
          <p:nvPr/>
        </p:nvSpPr>
        <p:spPr>
          <a:xfrm>
            <a:off x="548640" y="3566160"/>
            <a:ext cx="594360" cy="594360"/>
          </a:xfrm>
          <a:prstGeom prst="ellipse">
            <a:avLst/>
          </a:prstGeom>
          <a:solidFill>
            <a:srgbClr val="E08E1D"/>
          </a:solidFill>
          <a:ln/>
        </p:spPr>
      </p:sp>
      <p:pic>
        <p:nvPicPr>
          <p:cNvPr id="10" name="Image 1" descr="preencoded.png">    </p:cNvPr>
          <p:cNvPicPr>
            <a:picLocks noChangeAspect="1"/>
          </p:cNvPicPr>
          <p:nvPr/>
        </p:nvPicPr>
        <p:blipFill>
          <a:blip r:embed="rId2"/>
          <a:stretch>
            <a:fillRect/>
          </a:stretch>
        </p:blipFill>
        <p:spPr>
          <a:xfrm>
            <a:off x="703174" y="3720694"/>
            <a:ext cx="285293" cy="285293"/>
          </a:xfrm>
          <a:prstGeom prst="rect">
            <a:avLst/>
          </a:prstGeom>
        </p:spPr>
      </p:pic>
      <p:sp>
        <p:nvSpPr>
          <p:cNvPr id="11" name="Text 7"/>
          <p:cNvSpPr/>
          <p:nvPr/>
        </p:nvSpPr>
        <p:spPr>
          <a:xfrm>
            <a:off x="1371600" y="3547872"/>
            <a:ext cx="1005840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Limitation</a:t>
            </a:r>
            <a:endParaRPr lang="en-US" sz="1450" dirty="0"/>
          </a:p>
        </p:txBody>
      </p:sp>
      <p:sp>
        <p:nvSpPr>
          <p:cNvPr id="12" name="Text 8"/>
          <p:cNvSpPr/>
          <p:nvPr/>
        </p:nvSpPr>
        <p:spPr>
          <a:xfrm>
            <a:off x="1371600" y="3867912"/>
            <a:ext cx="10058400" cy="59436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Less attention to power asymmetry — who can demand location data (insurers, employers, police) vs. who must supply it, beyond the consent framing</a:t>
            </a:r>
            <a:endParaRPr lang="en-US" sz="1250" dirty="0"/>
          </a:p>
        </p:txBody>
      </p:sp>
      <p:sp>
        <p:nvSpPr>
          <p:cNvPr id="13" name="Shape 9"/>
          <p:cNvSpPr/>
          <p:nvPr/>
        </p:nvSpPr>
        <p:spPr>
          <a:xfrm>
            <a:off x="548640" y="4617720"/>
            <a:ext cx="594360" cy="594360"/>
          </a:xfrm>
          <a:prstGeom prst="ellipse">
            <a:avLst/>
          </a:prstGeom>
          <a:solidFill>
            <a:srgbClr val="0E7C86"/>
          </a:solidFill>
          <a:ln/>
        </p:spPr>
      </p:sp>
      <p:pic>
        <p:nvPicPr>
          <p:cNvPr id="14" name="Image 2" descr="preencoded.png">    </p:cNvPr>
          <p:cNvPicPr>
            <a:picLocks noChangeAspect="1"/>
          </p:cNvPicPr>
          <p:nvPr/>
        </p:nvPicPr>
        <p:blipFill>
          <a:blip r:embed="rId3"/>
          <a:stretch>
            <a:fillRect/>
          </a:stretch>
        </p:blipFill>
        <p:spPr>
          <a:xfrm>
            <a:off x="703174" y="4772254"/>
            <a:ext cx="285293" cy="285293"/>
          </a:xfrm>
          <a:prstGeom prst="rect">
            <a:avLst/>
          </a:prstGeom>
        </p:spPr>
      </p:pic>
      <p:sp>
        <p:nvSpPr>
          <p:cNvPr id="15" name="Text 10"/>
          <p:cNvSpPr/>
          <p:nvPr/>
        </p:nvSpPr>
        <p:spPr>
          <a:xfrm>
            <a:off x="1371600" y="4599432"/>
            <a:ext cx="1005840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Open question</a:t>
            </a:r>
            <a:endParaRPr lang="en-US" sz="1450" dirty="0"/>
          </a:p>
        </p:txBody>
      </p:sp>
      <p:sp>
        <p:nvSpPr>
          <p:cNvPr id="16" name="Text 11"/>
          <p:cNvSpPr/>
          <p:nvPr/>
        </p:nvSpPr>
        <p:spPr>
          <a:xfrm>
            <a:off x="1371600" y="4919472"/>
            <a:ext cx="10058400" cy="59436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The report does not resolve whether GDPR's broad-but-undefined approach to location data is a deliberate flexibility or a genuine gap needing legislative attention</a:t>
            </a:r>
            <a:endParaRPr lang="en-US" sz="1250" dirty="0"/>
          </a:p>
        </p:txBody>
      </p:sp>
      <p:sp>
        <p:nvSpPr>
          <p:cNvPr id="17"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18" name="Text 13"/>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8580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548640" y="1554480"/>
            <a:ext cx="10881360" cy="1188720"/>
          </a:xfrm>
          <a:prstGeom prst="rect">
            <a:avLst/>
          </a:prstGeom>
          <a:noFill/>
          <a:ln/>
        </p:spPr>
        <p:txBody>
          <a:bodyPr wrap="square" lIns="0" tIns="0" rIns="0" bIns="0" rtlCol="0" anchor="t"/>
          <a:lstStyle/>
          <a:p>
            <a:pPr indent="0" marL="0">
              <a:buNone/>
            </a:pPr>
            <a:r>
              <a:rPr lang="en-US" sz="1500" dirty="0">
                <a:solidFill>
                  <a:srgbClr val="CFE8E6"/>
                </a:solidFill>
                <a:latin typeface="Calibri" pitchFamily="34" charset="0"/>
                <a:ea typeface="Calibri" pitchFamily="34" charset="-122"/>
                <a:cs typeface="Calibri" pitchFamily="34" charset="-120"/>
              </a:rPr>
              <a:t>Location data sits at the centre of a genuine trade-off: aggregated, it can make cities, transport and safety planning faster, cheaper and more evidence-based. Individually, it can reveal nearly everything about a person's daily life — home, work, habits, even identity — often without their full awareness.</a:t>
            </a:r>
            <a:endParaRPr lang="en-US" sz="1500" dirty="0"/>
          </a:p>
        </p:txBody>
      </p:sp>
      <p:sp>
        <p:nvSpPr>
          <p:cNvPr id="5" name="Text 3"/>
          <p:cNvSpPr/>
          <p:nvPr/>
        </p:nvSpPr>
        <p:spPr>
          <a:xfrm>
            <a:off x="548640" y="2834640"/>
            <a:ext cx="10881360" cy="1188720"/>
          </a:xfrm>
          <a:prstGeom prst="rect">
            <a:avLst/>
          </a:prstGeom>
          <a:noFill/>
          <a:ln/>
        </p:spPr>
        <p:txBody>
          <a:bodyPr wrap="square" lIns="0" tIns="0" rIns="0" bIns="0" rtlCol="0" anchor="t"/>
          <a:lstStyle/>
          <a:p>
            <a:pPr indent="0" marL="0">
              <a:buNone/>
            </a:pPr>
            <a:r>
              <a:rPr lang="en-US" sz="1500" dirty="0">
                <a:solidFill>
                  <a:srgbClr val="CFE8E6"/>
                </a:solidFill>
                <a:latin typeface="Calibri" pitchFamily="34" charset="0"/>
                <a:ea typeface="Calibri" pitchFamily="34" charset="-122"/>
                <a:cs typeface="Calibri" pitchFamily="34" charset="-120"/>
              </a:rPr>
              <a:t>No single governance fix — legal, technical, or institutional — fully resolves this. GDPR provides broad coverage but leaves location data undefined; technical obfuscation helps individuals but is unreliable; crowdsourced platforms create public goods but also new attack surfaces and feedback effects.</a:t>
            </a:r>
            <a:endParaRPr lang="en-US" sz="1500" dirty="0"/>
          </a:p>
        </p:txBody>
      </p:sp>
      <p:sp>
        <p:nvSpPr>
          <p:cNvPr id="6" name="Shape 4"/>
          <p:cNvSpPr/>
          <p:nvPr/>
        </p:nvSpPr>
        <p:spPr>
          <a:xfrm>
            <a:off x="548640" y="4343400"/>
            <a:ext cx="10881360" cy="1691640"/>
          </a:xfrm>
          <a:prstGeom prst="roundRect">
            <a:avLst>
              <a:gd name="adj" fmla="val 5405"/>
            </a:avLst>
          </a:prstGeom>
          <a:solidFill>
            <a:srgbClr val="0E7C86"/>
          </a:solidFill>
          <a:ln/>
        </p:spPr>
      </p:sp>
      <p:sp>
        <p:nvSpPr>
          <p:cNvPr id="7" name="Shape 5"/>
          <p:cNvSpPr/>
          <p:nvPr/>
        </p:nvSpPr>
        <p:spPr>
          <a:xfrm>
            <a:off x="822960" y="4572000"/>
            <a:ext cx="685800" cy="6858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001268" y="4750308"/>
            <a:ext cx="329184" cy="329184"/>
          </a:xfrm>
          <a:prstGeom prst="rect">
            <a:avLst/>
          </a:prstGeom>
        </p:spPr>
      </p:pic>
      <p:sp>
        <p:nvSpPr>
          <p:cNvPr id="9" name="Text 6"/>
          <p:cNvSpPr/>
          <p:nvPr/>
        </p:nvSpPr>
        <p:spPr>
          <a:xfrm>
            <a:off x="1691640" y="4572000"/>
            <a:ext cx="9509760" cy="12801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Governance needs in this space ultimately come down to defining meaningful consent for invisible tracking, and building accountability for both the benefits and the misuse of crowdsourced location data.</a:t>
            </a:r>
            <a:endParaRPr lang="en-US" sz="1500" dirty="0"/>
          </a:p>
        </p:txBody>
      </p:sp>
      <p:sp>
        <p:nvSpPr>
          <p:cNvPr id="10" name="Text 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11" name="Text 8"/>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548640" y="1783080"/>
            <a:ext cx="2697480" cy="2743200"/>
          </a:xfrm>
          <a:prstGeom prst="roundRect">
            <a:avLst>
              <a:gd name="adj" fmla="val 3390"/>
            </a:avLst>
          </a:prstGeom>
          <a:solidFill>
            <a:srgbClr val="F4F8F8"/>
          </a:solidFill>
          <a:ln/>
          <a:effectLst>
            <a:outerShdw sx="100000" sy="100000" kx="0" ky="0" algn="bl" rotWithShape="0" blurRad="50800" dist="12700" dir="5400000">
              <a:srgbClr val="000000">
                <a:alpha val="8000"/>
              </a:srgbClr>
            </a:outerShdw>
          </a:effectLst>
        </p:spPr>
      </p:sp>
      <p:sp>
        <p:nvSpPr>
          <p:cNvPr id="5" name="Shape 3"/>
          <p:cNvSpPr/>
          <p:nvPr/>
        </p:nvSpPr>
        <p:spPr>
          <a:xfrm>
            <a:off x="1554480" y="2057400"/>
            <a:ext cx="685800" cy="68580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1732788" y="2235708"/>
            <a:ext cx="329184" cy="329184"/>
          </a:xfrm>
          <a:prstGeom prst="rect">
            <a:avLst/>
          </a:prstGeom>
        </p:spPr>
      </p:pic>
      <p:sp>
        <p:nvSpPr>
          <p:cNvPr id="7" name="Text 4"/>
          <p:cNvSpPr/>
          <p:nvPr/>
        </p:nvSpPr>
        <p:spPr>
          <a:xfrm>
            <a:off x="685800" y="2926080"/>
            <a:ext cx="2423160" cy="594360"/>
          </a:xfrm>
          <a:prstGeom prst="rect">
            <a:avLst/>
          </a:prstGeom>
          <a:noFill/>
          <a:ln/>
        </p:spPr>
        <p:txBody>
          <a:bodyPr wrap="square" lIns="0" tIns="0" rIns="0" bIns="0" rtlCol="0" anchor="t"/>
          <a:lstStyle/>
          <a:p>
            <a:pPr algn="ctr" indent="0" marL="0">
              <a:buNone/>
            </a:pPr>
            <a:r>
              <a:rPr lang="en-US" sz="1350" b="1" dirty="0">
                <a:solidFill>
                  <a:srgbClr val="0B1F3A"/>
                </a:solidFill>
                <a:latin typeface="Calibri" pitchFamily="34" charset="0"/>
                <a:ea typeface="Calibri" pitchFamily="34" charset="-122"/>
                <a:cs typeface="Calibri" pitchFamily="34" charset="-120"/>
              </a:rPr>
              <a:t>Re-identification is easy</a:t>
            </a:r>
            <a:endParaRPr lang="en-US" sz="1350" dirty="0"/>
          </a:p>
        </p:txBody>
      </p:sp>
      <p:sp>
        <p:nvSpPr>
          <p:cNvPr id="8" name="Text 5"/>
          <p:cNvSpPr/>
          <p:nvPr/>
        </p:nvSpPr>
        <p:spPr>
          <a:xfrm>
            <a:off x="731520" y="3566160"/>
            <a:ext cx="2331720" cy="91440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A handful of spatiotemporal points can identify almost anyone, even in 'anonymised' datasets</a:t>
            </a:r>
            <a:endParaRPr lang="en-US" sz="1100" dirty="0"/>
          </a:p>
        </p:txBody>
      </p:sp>
      <p:sp>
        <p:nvSpPr>
          <p:cNvPr id="9" name="Shape 6"/>
          <p:cNvSpPr/>
          <p:nvPr/>
        </p:nvSpPr>
        <p:spPr>
          <a:xfrm>
            <a:off x="3429000" y="1783080"/>
            <a:ext cx="2697480" cy="2743200"/>
          </a:xfrm>
          <a:prstGeom prst="roundRect">
            <a:avLst>
              <a:gd name="adj" fmla="val 3390"/>
            </a:avLst>
          </a:prstGeom>
          <a:solidFill>
            <a:srgbClr val="F4F8F8"/>
          </a:solidFill>
          <a:ln/>
          <a:effectLst>
            <a:outerShdw sx="100000" sy="100000" kx="0" ky="0" algn="bl" rotWithShape="0" blurRad="50800" dist="12700" dir="5400000">
              <a:srgbClr val="000000">
                <a:alpha val="8000"/>
              </a:srgbClr>
            </a:outerShdw>
          </a:effectLst>
        </p:spPr>
      </p:sp>
      <p:sp>
        <p:nvSpPr>
          <p:cNvPr id="10" name="Shape 7"/>
          <p:cNvSpPr/>
          <p:nvPr/>
        </p:nvSpPr>
        <p:spPr>
          <a:xfrm>
            <a:off x="4434840" y="2057400"/>
            <a:ext cx="685800" cy="685800"/>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4613148" y="2235708"/>
            <a:ext cx="329184" cy="329184"/>
          </a:xfrm>
          <a:prstGeom prst="rect">
            <a:avLst/>
          </a:prstGeom>
        </p:spPr>
      </p:pic>
      <p:sp>
        <p:nvSpPr>
          <p:cNvPr id="12" name="Text 8"/>
          <p:cNvSpPr/>
          <p:nvPr/>
        </p:nvSpPr>
        <p:spPr>
          <a:xfrm>
            <a:off x="3566160" y="2926080"/>
            <a:ext cx="2423160" cy="594360"/>
          </a:xfrm>
          <a:prstGeom prst="rect">
            <a:avLst/>
          </a:prstGeom>
          <a:noFill/>
          <a:ln/>
        </p:spPr>
        <p:txBody>
          <a:bodyPr wrap="square" lIns="0" tIns="0" rIns="0" bIns="0" rtlCol="0" anchor="t"/>
          <a:lstStyle/>
          <a:p>
            <a:pPr algn="ctr" indent="0" marL="0">
              <a:buNone/>
            </a:pPr>
            <a:r>
              <a:rPr lang="en-US" sz="1350" b="1" dirty="0">
                <a:solidFill>
                  <a:srgbClr val="0B1F3A"/>
                </a:solidFill>
                <a:latin typeface="Calibri" pitchFamily="34" charset="0"/>
                <a:ea typeface="Calibri" pitchFamily="34" charset="-122"/>
                <a:cs typeface="Calibri" pitchFamily="34" charset="-120"/>
              </a:rPr>
              <a:t>Datasets are not neutral</a:t>
            </a:r>
            <a:endParaRPr lang="en-US" sz="1350" dirty="0"/>
          </a:p>
        </p:txBody>
      </p:sp>
      <p:sp>
        <p:nvSpPr>
          <p:cNvPr id="13" name="Text 9"/>
          <p:cNvSpPr/>
          <p:nvPr/>
        </p:nvSpPr>
        <p:spPr>
          <a:xfrm>
            <a:off x="3611880" y="3566160"/>
            <a:ext cx="2331720" cy="91440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Who uses an app shapes the data — bias must be checked before it informs public decisions</a:t>
            </a:r>
            <a:endParaRPr lang="en-US" sz="1100" dirty="0"/>
          </a:p>
        </p:txBody>
      </p:sp>
      <p:sp>
        <p:nvSpPr>
          <p:cNvPr id="14" name="Shape 10"/>
          <p:cNvSpPr/>
          <p:nvPr/>
        </p:nvSpPr>
        <p:spPr>
          <a:xfrm>
            <a:off x="6309360" y="1783080"/>
            <a:ext cx="2697480" cy="2743200"/>
          </a:xfrm>
          <a:prstGeom prst="roundRect">
            <a:avLst>
              <a:gd name="adj" fmla="val 3390"/>
            </a:avLst>
          </a:prstGeom>
          <a:solidFill>
            <a:srgbClr val="F4F8F8"/>
          </a:solidFill>
          <a:ln/>
          <a:effectLst>
            <a:outerShdw sx="100000" sy="100000" kx="0" ky="0" algn="bl" rotWithShape="0" blurRad="50800" dist="12700" dir="5400000">
              <a:srgbClr val="000000">
                <a:alpha val="8000"/>
              </a:srgbClr>
            </a:outerShdw>
          </a:effectLst>
        </p:spPr>
      </p:sp>
      <p:sp>
        <p:nvSpPr>
          <p:cNvPr id="15" name="Shape 11"/>
          <p:cNvSpPr/>
          <p:nvPr/>
        </p:nvSpPr>
        <p:spPr>
          <a:xfrm>
            <a:off x="7315200" y="2057400"/>
            <a:ext cx="685800" cy="685800"/>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7493508" y="2235708"/>
            <a:ext cx="329184" cy="329184"/>
          </a:xfrm>
          <a:prstGeom prst="rect">
            <a:avLst/>
          </a:prstGeom>
        </p:spPr>
      </p:pic>
      <p:sp>
        <p:nvSpPr>
          <p:cNvPr id="17" name="Text 12"/>
          <p:cNvSpPr/>
          <p:nvPr/>
        </p:nvSpPr>
        <p:spPr>
          <a:xfrm>
            <a:off x="6446520" y="2926080"/>
            <a:ext cx="2423160" cy="594360"/>
          </a:xfrm>
          <a:prstGeom prst="rect">
            <a:avLst/>
          </a:prstGeom>
          <a:noFill/>
          <a:ln/>
        </p:spPr>
        <p:txBody>
          <a:bodyPr wrap="square" lIns="0" tIns="0" rIns="0" bIns="0" rtlCol="0" anchor="t"/>
          <a:lstStyle/>
          <a:p>
            <a:pPr algn="ctr" indent="0" marL="0">
              <a:buNone/>
            </a:pPr>
            <a:r>
              <a:rPr lang="en-US" sz="1350" b="1" dirty="0">
                <a:solidFill>
                  <a:srgbClr val="0B1F3A"/>
                </a:solidFill>
                <a:latin typeface="Calibri" pitchFamily="34" charset="0"/>
                <a:ea typeface="Calibri" pitchFamily="34" charset="-122"/>
                <a:cs typeface="Calibri" pitchFamily="34" charset="-120"/>
              </a:rPr>
              <a:t>Consent is often illusory</a:t>
            </a:r>
            <a:endParaRPr lang="en-US" sz="1350" dirty="0"/>
          </a:p>
        </p:txBody>
      </p:sp>
      <p:sp>
        <p:nvSpPr>
          <p:cNvPr id="18" name="Text 13"/>
          <p:cNvSpPr/>
          <p:nvPr/>
        </p:nvSpPr>
        <p:spPr>
          <a:xfrm>
            <a:off x="6492240" y="3566160"/>
            <a:ext cx="2331720" cy="91440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Invisible capture and coercive incentives undermine genuinely informed consent</a:t>
            </a:r>
            <a:endParaRPr lang="en-US" sz="1100" dirty="0"/>
          </a:p>
        </p:txBody>
      </p:sp>
      <p:sp>
        <p:nvSpPr>
          <p:cNvPr id="19" name="Shape 14"/>
          <p:cNvSpPr/>
          <p:nvPr/>
        </p:nvSpPr>
        <p:spPr>
          <a:xfrm>
            <a:off x="9189720" y="1783080"/>
            <a:ext cx="2697480" cy="2743200"/>
          </a:xfrm>
          <a:prstGeom prst="roundRect">
            <a:avLst>
              <a:gd name="adj" fmla="val 3390"/>
            </a:avLst>
          </a:prstGeom>
          <a:solidFill>
            <a:srgbClr val="F4F8F8"/>
          </a:solidFill>
          <a:ln/>
          <a:effectLst>
            <a:outerShdw sx="100000" sy="100000" kx="0" ky="0" algn="bl" rotWithShape="0" blurRad="50800" dist="12700" dir="5400000">
              <a:srgbClr val="000000">
                <a:alpha val="8000"/>
              </a:srgbClr>
            </a:outerShdw>
          </a:effectLst>
        </p:spPr>
      </p:sp>
      <p:sp>
        <p:nvSpPr>
          <p:cNvPr id="20" name="Shape 15"/>
          <p:cNvSpPr/>
          <p:nvPr/>
        </p:nvSpPr>
        <p:spPr>
          <a:xfrm>
            <a:off x="10195560" y="2057400"/>
            <a:ext cx="685800" cy="685800"/>
          </a:xfrm>
          <a:prstGeom prst="ellipse">
            <a:avLst/>
          </a:prstGeom>
          <a:solidFill>
            <a:srgbClr val="0E7C86"/>
          </a:solidFill>
          <a:ln/>
        </p:spPr>
      </p:sp>
      <p:pic>
        <p:nvPicPr>
          <p:cNvPr id="21" name="Image 3" descr="preencoded.png">    </p:cNvPr>
          <p:cNvPicPr>
            <a:picLocks noChangeAspect="1"/>
          </p:cNvPicPr>
          <p:nvPr/>
        </p:nvPicPr>
        <p:blipFill>
          <a:blip r:embed="rId4"/>
          <a:stretch>
            <a:fillRect/>
          </a:stretch>
        </p:blipFill>
        <p:spPr>
          <a:xfrm>
            <a:off x="10373868" y="2235708"/>
            <a:ext cx="329184" cy="329184"/>
          </a:xfrm>
          <a:prstGeom prst="rect">
            <a:avLst/>
          </a:prstGeom>
        </p:spPr>
      </p:pic>
      <p:sp>
        <p:nvSpPr>
          <p:cNvPr id="22" name="Text 16"/>
          <p:cNvSpPr/>
          <p:nvPr/>
        </p:nvSpPr>
        <p:spPr>
          <a:xfrm>
            <a:off x="9326880" y="2926080"/>
            <a:ext cx="2423160" cy="594360"/>
          </a:xfrm>
          <a:prstGeom prst="rect">
            <a:avLst/>
          </a:prstGeom>
          <a:noFill/>
          <a:ln/>
        </p:spPr>
        <p:txBody>
          <a:bodyPr wrap="square" lIns="0" tIns="0" rIns="0" bIns="0" rtlCol="0" anchor="t"/>
          <a:lstStyle/>
          <a:p>
            <a:pPr algn="ctr" indent="0" marL="0">
              <a:buNone/>
            </a:pPr>
            <a:r>
              <a:rPr lang="en-US" sz="1350" b="1" dirty="0">
                <a:solidFill>
                  <a:srgbClr val="0B1F3A"/>
                </a:solidFill>
                <a:latin typeface="Calibri" pitchFamily="34" charset="0"/>
                <a:ea typeface="Calibri" pitchFamily="34" charset="-122"/>
                <a:cs typeface="Calibri" pitchFamily="34" charset="-120"/>
              </a:rPr>
              <a:t>Law lags technology</a:t>
            </a:r>
            <a:endParaRPr lang="en-US" sz="1350" dirty="0"/>
          </a:p>
        </p:txBody>
      </p:sp>
      <p:sp>
        <p:nvSpPr>
          <p:cNvPr id="23" name="Text 17"/>
          <p:cNvSpPr/>
          <p:nvPr/>
        </p:nvSpPr>
        <p:spPr>
          <a:xfrm>
            <a:off x="9372600" y="3566160"/>
            <a:ext cx="2331720" cy="91440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GDPR covers location data broadly but imprecisely, leaving room for gaming and jurisdictional ambiguity</a:t>
            </a:r>
            <a:endParaRPr lang="en-US" sz="1100" dirty="0"/>
          </a:p>
        </p:txBody>
      </p:sp>
      <p:sp>
        <p:nvSpPr>
          <p:cNvPr id="24" name="Shape 18"/>
          <p:cNvSpPr/>
          <p:nvPr/>
        </p:nvSpPr>
        <p:spPr>
          <a:xfrm>
            <a:off x="548640" y="4800600"/>
            <a:ext cx="11018520" cy="914400"/>
          </a:xfrm>
          <a:prstGeom prst="roundRect">
            <a:avLst>
              <a:gd name="adj" fmla="val 8000"/>
            </a:avLst>
          </a:prstGeom>
          <a:solidFill>
            <a:srgbClr val="0B1F3A"/>
          </a:solidFill>
          <a:ln/>
        </p:spPr>
      </p:sp>
      <p:sp>
        <p:nvSpPr>
          <p:cNvPr id="25" name="Text 19"/>
          <p:cNvSpPr/>
          <p:nvPr/>
        </p:nvSpPr>
        <p:spPr>
          <a:xfrm>
            <a:off x="822960" y="4800600"/>
            <a:ext cx="10469880" cy="91440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The central tension — efficiency and safety vs. privacy — has no permanent fix, only ongoing, context-specific governance choices.</a:t>
            </a:r>
            <a:endParaRPr lang="en-US" sz="1350" dirty="0"/>
          </a:p>
        </p:txBody>
      </p:sp>
      <p:sp>
        <p:nvSpPr>
          <p:cNvPr id="26" name="Text 2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7" name="Text 21"/>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Source &amp; Key References</a:t>
            </a:r>
            <a:endParaRPr lang="en-US" sz="3000" dirty="0"/>
          </a:p>
        </p:txBody>
      </p:sp>
      <p:sp>
        <p:nvSpPr>
          <p:cNvPr id="4" name="Shape 2"/>
          <p:cNvSpPr/>
          <p:nvPr/>
        </p:nvSpPr>
        <p:spPr>
          <a:xfrm>
            <a:off x="548640" y="1691640"/>
            <a:ext cx="11018520" cy="1005840"/>
          </a:xfrm>
          <a:prstGeom prst="roundRect">
            <a:avLst>
              <a:gd name="adj" fmla="val 7273"/>
            </a:avLst>
          </a:prstGeom>
          <a:solidFill>
            <a:srgbClr val="CFE8E6"/>
          </a:solidFill>
          <a:ln/>
        </p:spPr>
      </p:sp>
      <p:sp>
        <p:nvSpPr>
          <p:cNvPr id="5" name="Shape 3"/>
          <p:cNvSpPr/>
          <p:nvPr/>
        </p:nvSpPr>
        <p:spPr>
          <a:xfrm>
            <a:off x="777240" y="1874520"/>
            <a:ext cx="594360" cy="594360"/>
          </a:xfrm>
          <a:prstGeom prst="ellipse">
            <a:avLst/>
          </a:prstGeom>
          <a:solidFill>
            <a:srgbClr val="0B1F3A"/>
          </a:solidFill>
          <a:ln/>
        </p:spPr>
      </p:sp>
      <p:pic>
        <p:nvPicPr>
          <p:cNvPr id="6" name="Image 0" descr="preencoded.png">    </p:cNvPr>
          <p:cNvPicPr>
            <a:picLocks noChangeAspect="1"/>
          </p:cNvPicPr>
          <p:nvPr/>
        </p:nvPicPr>
        <p:blipFill>
          <a:blip r:embed="rId1"/>
          <a:stretch>
            <a:fillRect/>
          </a:stretch>
        </p:blipFill>
        <p:spPr>
          <a:xfrm>
            <a:off x="931774" y="2029054"/>
            <a:ext cx="285293" cy="285293"/>
          </a:xfrm>
          <a:prstGeom prst="rect">
            <a:avLst/>
          </a:prstGeom>
        </p:spPr>
      </p:pic>
      <p:sp>
        <p:nvSpPr>
          <p:cNvPr id="7" name="Text 4"/>
          <p:cNvSpPr/>
          <p:nvPr/>
        </p:nvSpPr>
        <p:spPr>
          <a:xfrm>
            <a:off x="1508760" y="1783080"/>
            <a:ext cx="9784080" cy="822960"/>
          </a:xfrm>
          <a:prstGeom prst="rect">
            <a:avLst/>
          </a:prstGeom>
          <a:noFill/>
          <a:ln/>
        </p:spPr>
        <p:txBody>
          <a:bodyPr wrap="square" lIns="0" tIns="0" rIns="0" bIns="0" rtlCol="0" anchor="ctr"/>
          <a:lstStyle/>
          <a:p>
            <a:pPr indent="0" marL="0">
              <a:buNone/>
            </a:pPr>
            <a:r>
              <a:rPr lang="en-US" sz="1300" dirty="0">
                <a:solidFill>
                  <a:srgbClr val="0B1F3A"/>
                </a:solidFill>
                <a:latin typeface="Calibri" pitchFamily="34" charset="0"/>
                <a:ea typeface="Calibri" pitchFamily="34" charset="-122"/>
                <a:cs typeface="Calibri" pitchFamily="34" charset="-120"/>
              </a:rPr>
              <a:t>Veale, M. (2017). Data Management and Use: Case Studies of Technologies and Governance. Produced for the British Academy and the Royal Society. Section 6: Personal Location Data.</a:t>
            </a:r>
            <a:endParaRPr lang="en-US" sz="1300" dirty="0"/>
          </a:p>
        </p:txBody>
      </p:sp>
      <p:sp>
        <p:nvSpPr>
          <p:cNvPr id="8" name="Shape 5"/>
          <p:cNvSpPr/>
          <p:nvPr/>
        </p:nvSpPr>
        <p:spPr>
          <a:xfrm>
            <a:off x="640080" y="2990088"/>
            <a:ext cx="73152" cy="73152"/>
          </a:xfrm>
          <a:prstGeom prst="ellipse">
            <a:avLst/>
          </a:prstGeom>
          <a:solidFill>
            <a:srgbClr val="0E7C86"/>
          </a:solidFill>
          <a:ln/>
        </p:spPr>
      </p:sp>
      <p:sp>
        <p:nvSpPr>
          <p:cNvPr id="9" name="Text 6"/>
          <p:cNvSpPr/>
          <p:nvPr/>
        </p:nvSpPr>
        <p:spPr>
          <a:xfrm>
            <a:off x="868680" y="2880360"/>
            <a:ext cx="10607040" cy="36576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Sweeney, L. (2000). Simple Demographics Often Identify People Uniquely.</a:t>
            </a:r>
            <a:endParaRPr lang="en-US" sz="1200" dirty="0"/>
          </a:p>
        </p:txBody>
      </p:sp>
      <p:sp>
        <p:nvSpPr>
          <p:cNvPr id="10" name="Shape 7"/>
          <p:cNvSpPr/>
          <p:nvPr/>
        </p:nvSpPr>
        <p:spPr>
          <a:xfrm>
            <a:off x="640080" y="3465576"/>
            <a:ext cx="73152" cy="73152"/>
          </a:xfrm>
          <a:prstGeom prst="ellipse">
            <a:avLst/>
          </a:prstGeom>
          <a:solidFill>
            <a:srgbClr val="0E7C86"/>
          </a:solidFill>
          <a:ln/>
        </p:spPr>
      </p:sp>
      <p:sp>
        <p:nvSpPr>
          <p:cNvPr id="11" name="Text 8"/>
          <p:cNvSpPr/>
          <p:nvPr/>
        </p:nvSpPr>
        <p:spPr>
          <a:xfrm>
            <a:off x="868680" y="3355848"/>
            <a:ext cx="10607040" cy="36576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de Montjoye, Y. et al. (2013). Unique in the Crowd: The Privacy Bounds of Human Mobility. Scientific Reports.</a:t>
            </a:r>
            <a:endParaRPr lang="en-US" sz="1200" dirty="0"/>
          </a:p>
        </p:txBody>
      </p:sp>
      <p:sp>
        <p:nvSpPr>
          <p:cNvPr id="12" name="Shape 9"/>
          <p:cNvSpPr/>
          <p:nvPr/>
        </p:nvSpPr>
        <p:spPr>
          <a:xfrm>
            <a:off x="640080" y="3941064"/>
            <a:ext cx="73152" cy="73152"/>
          </a:xfrm>
          <a:prstGeom prst="ellipse">
            <a:avLst/>
          </a:prstGeom>
          <a:solidFill>
            <a:srgbClr val="0E7C86"/>
          </a:solidFill>
          <a:ln/>
        </p:spPr>
      </p:sp>
      <p:sp>
        <p:nvSpPr>
          <p:cNvPr id="13" name="Text 10"/>
          <p:cNvSpPr/>
          <p:nvPr/>
        </p:nvSpPr>
        <p:spPr>
          <a:xfrm>
            <a:off x="868680" y="3831336"/>
            <a:ext cx="10607040" cy="36576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Lu, X. et al. (2013). Approaching the Limit of Predictability in Human Mobility. Scientific Reports.</a:t>
            </a:r>
            <a:endParaRPr lang="en-US" sz="1200" dirty="0"/>
          </a:p>
        </p:txBody>
      </p:sp>
      <p:sp>
        <p:nvSpPr>
          <p:cNvPr id="14" name="Shape 11"/>
          <p:cNvSpPr/>
          <p:nvPr/>
        </p:nvSpPr>
        <p:spPr>
          <a:xfrm>
            <a:off x="640080" y="4416552"/>
            <a:ext cx="73152" cy="73152"/>
          </a:xfrm>
          <a:prstGeom prst="ellipse">
            <a:avLst/>
          </a:prstGeom>
          <a:solidFill>
            <a:srgbClr val="0E7C86"/>
          </a:solidFill>
          <a:ln/>
        </p:spPr>
      </p:sp>
      <p:sp>
        <p:nvSpPr>
          <p:cNvPr id="15" name="Text 12"/>
          <p:cNvSpPr/>
          <p:nvPr/>
        </p:nvSpPr>
        <p:spPr>
          <a:xfrm>
            <a:off x="868680" y="4306824"/>
            <a:ext cx="10607040" cy="36576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Crawford, K. (2013). The Hidden Biases in Big Data. Harvard Business Review.</a:t>
            </a:r>
            <a:endParaRPr lang="en-US" sz="1200" dirty="0"/>
          </a:p>
        </p:txBody>
      </p:sp>
      <p:sp>
        <p:nvSpPr>
          <p:cNvPr id="16" name="Shape 13"/>
          <p:cNvSpPr/>
          <p:nvPr/>
        </p:nvSpPr>
        <p:spPr>
          <a:xfrm>
            <a:off x="640080" y="4892040"/>
            <a:ext cx="73152" cy="73152"/>
          </a:xfrm>
          <a:prstGeom prst="ellipse">
            <a:avLst/>
          </a:prstGeom>
          <a:solidFill>
            <a:srgbClr val="0E7C86"/>
          </a:solidFill>
          <a:ln/>
        </p:spPr>
      </p:sp>
      <p:sp>
        <p:nvSpPr>
          <p:cNvPr id="17" name="Text 14"/>
          <p:cNvSpPr/>
          <p:nvPr/>
        </p:nvSpPr>
        <p:spPr>
          <a:xfrm>
            <a:off x="868680" y="4782312"/>
            <a:ext cx="10607040" cy="36576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Lupton, D. (2014). Self-Tracking Cultures: Towards a Sociology of Personal Informatics.</a:t>
            </a:r>
            <a:endParaRPr lang="en-US" sz="1200" dirty="0"/>
          </a:p>
        </p:txBody>
      </p:sp>
      <p:sp>
        <p:nvSpPr>
          <p:cNvPr id="18" name="Shape 15"/>
          <p:cNvSpPr/>
          <p:nvPr/>
        </p:nvSpPr>
        <p:spPr>
          <a:xfrm>
            <a:off x="640080" y="5367528"/>
            <a:ext cx="73152" cy="73152"/>
          </a:xfrm>
          <a:prstGeom prst="ellipse">
            <a:avLst/>
          </a:prstGeom>
          <a:solidFill>
            <a:srgbClr val="0E7C86"/>
          </a:solidFill>
          <a:ln/>
        </p:spPr>
      </p:sp>
      <p:sp>
        <p:nvSpPr>
          <p:cNvPr id="19" name="Text 16"/>
          <p:cNvSpPr/>
          <p:nvPr/>
        </p:nvSpPr>
        <p:spPr>
          <a:xfrm>
            <a:off x="868680" y="5257800"/>
            <a:ext cx="10607040" cy="365760"/>
          </a:xfrm>
          <a:prstGeom prst="rect">
            <a:avLst/>
          </a:prstGeom>
          <a:noFill/>
          <a:ln/>
        </p:spPr>
        <p:txBody>
          <a:bodyPr wrap="square" lIns="0" tIns="0" rIns="0" bIns="0" rtlCol="0" anchor="t"/>
          <a:lstStyle/>
          <a:p>
            <a:pPr indent="0" marL="0">
              <a:buNone/>
            </a:pPr>
            <a:r>
              <a:rPr lang="en-US" sz="1200" dirty="0">
                <a:solidFill>
                  <a:srgbClr val="16213A"/>
                </a:solidFill>
                <a:latin typeface="Calibri" pitchFamily="34" charset="0"/>
                <a:ea typeface="Calibri" pitchFamily="34" charset="-122"/>
                <a:cs typeface="Calibri" pitchFamily="34" charset="-120"/>
              </a:rPr>
              <a:t>Strava Metro (2015). Comprehensive User Guide v2.0.</a:t>
            </a:r>
            <a:endParaRPr lang="en-US" sz="1200" dirty="0"/>
          </a:p>
        </p:txBody>
      </p:sp>
      <p:sp>
        <p:nvSpPr>
          <p:cNvPr id="20" name="Text 17"/>
          <p:cNvSpPr/>
          <p:nvPr/>
        </p:nvSpPr>
        <p:spPr>
          <a:xfrm>
            <a:off x="548640" y="5989320"/>
            <a:ext cx="10972800" cy="365760"/>
          </a:xfrm>
          <a:prstGeom prst="rect">
            <a:avLst/>
          </a:prstGeom>
          <a:noFill/>
          <a:ln/>
        </p:spPr>
        <p:txBody>
          <a:bodyPr wrap="square" lIns="0" tIns="0" rIns="0" bIns="0" rtlCol="0" anchor="ctr"/>
          <a:lstStyle/>
          <a:p>
            <a:pPr indent="0" marL="0">
              <a:buNone/>
            </a:pPr>
            <a:r>
              <a:rPr lang="en-US" sz="1100" i="1" dirty="0">
                <a:solidFill>
                  <a:srgbClr val="5B6B7F"/>
                </a:solidFill>
                <a:latin typeface="Calibri" pitchFamily="34" charset="0"/>
                <a:ea typeface="Calibri" pitchFamily="34" charset="-122"/>
                <a:cs typeface="Calibri" pitchFamily="34" charset="-120"/>
              </a:rPr>
              <a:t>Full reference list and footnotes are provided in the accompanying individual report.</a:t>
            </a:r>
            <a:endParaRPr lang="en-US" sz="1100" dirty="0"/>
          </a:p>
        </p:txBody>
      </p:sp>
      <p:sp>
        <p:nvSpPr>
          <p:cNvPr id="21"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B6B7F"/>
                </a:solidFill>
                <a:latin typeface="Calibri" pitchFamily="34" charset="0"/>
                <a:ea typeface="Calibri" pitchFamily="34" charset="-122"/>
                <a:cs typeface="Calibri" pitchFamily="34" charset="-120"/>
              </a:rPr>
              <a:t>Personal Location Data  |  Data Governance &amp; Ethics</a:t>
            </a:r>
            <a:endParaRPr lang="en-US" sz="900" dirty="0"/>
          </a:p>
        </p:txBody>
      </p:sp>
      <p:sp>
        <p:nvSpPr>
          <p:cNvPr id="22" name="Text 19"/>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686800" y="5029200"/>
            <a:ext cx="82296" cy="82296"/>
          </a:xfrm>
          <a:prstGeom prst="ellipse">
            <a:avLst/>
          </a:prstGeom>
          <a:solidFill>
            <a:srgbClr val="3FA9B0">
              <a:alpha val="70000"/>
            </a:srgbClr>
          </a:solidFill>
          <a:ln/>
        </p:spPr>
      </p:sp>
      <p:sp>
        <p:nvSpPr>
          <p:cNvPr id="3" name="Shape 1"/>
          <p:cNvSpPr/>
          <p:nvPr/>
        </p:nvSpPr>
        <p:spPr>
          <a:xfrm>
            <a:off x="9235440" y="4663440"/>
            <a:ext cx="82296" cy="82296"/>
          </a:xfrm>
          <a:prstGeom prst="ellipse">
            <a:avLst/>
          </a:prstGeom>
          <a:solidFill>
            <a:srgbClr val="3FA9B0">
              <a:alpha val="70000"/>
            </a:srgbClr>
          </a:solidFill>
          <a:ln/>
        </p:spPr>
      </p:sp>
      <p:sp>
        <p:nvSpPr>
          <p:cNvPr id="4" name="Shape 2"/>
          <p:cNvSpPr/>
          <p:nvPr/>
        </p:nvSpPr>
        <p:spPr>
          <a:xfrm>
            <a:off x="9875520" y="4937760"/>
            <a:ext cx="82296" cy="82296"/>
          </a:xfrm>
          <a:prstGeom prst="ellipse">
            <a:avLst/>
          </a:prstGeom>
          <a:solidFill>
            <a:srgbClr val="3FA9B0">
              <a:alpha val="70000"/>
            </a:srgbClr>
          </a:solidFill>
          <a:ln/>
        </p:spPr>
      </p:sp>
      <p:sp>
        <p:nvSpPr>
          <p:cNvPr id="5" name="Shape 3"/>
          <p:cNvSpPr/>
          <p:nvPr/>
        </p:nvSpPr>
        <p:spPr>
          <a:xfrm>
            <a:off x="10424160" y="4572000"/>
            <a:ext cx="82296" cy="82296"/>
          </a:xfrm>
          <a:prstGeom prst="ellipse">
            <a:avLst/>
          </a:prstGeom>
          <a:solidFill>
            <a:srgbClr val="3FA9B0">
              <a:alpha val="70000"/>
            </a:srgbClr>
          </a:solidFill>
          <a:ln/>
        </p:spPr>
      </p:sp>
      <p:sp>
        <p:nvSpPr>
          <p:cNvPr id="6" name="Shape 4"/>
          <p:cNvSpPr/>
          <p:nvPr/>
        </p:nvSpPr>
        <p:spPr>
          <a:xfrm>
            <a:off x="10972800" y="4846320"/>
            <a:ext cx="82296" cy="82296"/>
          </a:xfrm>
          <a:prstGeom prst="ellipse">
            <a:avLst/>
          </a:prstGeom>
          <a:solidFill>
            <a:srgbClr val="3FA9B0">
              <a:alpha val="70000"/>
            </a:srgbClr>
          </a:solidFill>
          <a:ln/>
        </p:spPr>
      </p:sp>
      <p:sp>
        <p:nvSpPr>
          <p:cNvPr id="7" name="Shape 5"/>
          <p:cNvSpPr/>
          <p:nvPr/>
        </p:nvSpPr>
        <p:spPr>
          <a:xfrm>
            <a:off x="5166360" y="1554480"/>
            <a:ext cx="1005840" cy="1005840"/>
          </a:xfrm>
          <a:prstGeom prst="ellipse">
            <a:avLst/>
          </a:prstGeom>
          <a:solidFill>
            <a:srgbClr val="0E7C86"/>
          </a:solidFill>
          <a:ln/>
        </p:spPr>
      </p:sp>
      <p:pic>
        <p:nvPicPr>
          <p:cNvPr id="8" name="Image 0" descr="preencoded.png">    </p:cNvPr>
          <p:cNvPicPr>
            <a:picLocks noChangeAspect="1"/>
          </p:cNvPicPr>
          <p:nvPr/>
        </p:nvPicPr>
        <p:blipFill>
          <a:blip r:embed="rId1"/>
          <a:stretch>
            <a:fillRect/>
          </a:stretch>
        </p:blipFill>
        <p:spPr>
          <a:xfrm>
            <a:off x="5427878" y="1815998"/>
            <a:ext cx="482803" cy="482803"/>
          </a:xfrm>
          <a:prstGeom prst="rect">
            <a:avLst/>
          </a:prstGeom>
        </p:spPr>
      </p:pic>
      <p:sp>
        <p:nvSpPr>
          <p:cNvPr id="9" name="Text 6"/>
          <p:cNvSpPr/>
          <p:nvPr/>
        </p:nvSpPr>
        <p:spPr>
          <a:xfrm>
            <a:off x="548640" y="2834640"/>
            <a:ext cx="1106424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10" name="Text 7"/>
          <p:cNvSpPr/>
          <p:nvPr/>
        </p:nvSpPr>
        <p:spPr>
          <a:xfrm>
            <a:off x="548640" y="3703320"/>
            <a:ext cx="11064240" cy="457200"/>
          </a:xfrm>
          <a:prstGeom prst="rect">
            <a:avLst/>
          </a:prstGeom>
          <a:noFill/>
          <a:ln/>
        </p:spPr>
        <p:txBody>
          <a:bodyPr wrap="square" lIns="0" tIns="0" rIns="0" bIns="0" rtlCol="0" anchor="ctr"/>
          <a:lstStyle/>
          <a:p>
            <a:pPr algn="ctr" indent="0" marL="0">
              <a:buNone/>
            </a:pPr>
            <a:r>
              <a:rPr lang="en-US" sz="1800" dirty="0">
                <a:solidFill>
                  <a:srgbClr val="3FA9B0"/>
                </a:solidFill>
                <a:latin typeface="Calibri" pitchFamily="34" charset="0"/>
                <a:ea typeface="Calibri" pitchFamily="34" charset="-122"/>
                <a:cs typeface="Calibri" pitchFamily="34" charset="-120"/>
              </a:rPr>
              <a:t>Questions &amp; Discussion</a:t>
            </a:r>
            <a:endParaRPr lang="en-US" sz="1800" dirty="0"/>
          </a:p>
        </p:txBody>
      </p:sp>
      <p:sp>
        <p:nvSpPr>
          <p:cNvPr id="11" name="Text 8"/>
          <p:cNvSpPr/>
          <p:nvPr/>
        </p:nvSpPr>
        <p:spPr>
          <a:xfrm>
            <a:off x="548640" y="6217920"/>
            <a:ext cx="11064240" cy="365760"/>
          </a:xfrm>
          <a:prstGeom prst="rect">
            <a:avLst/>
          </a:prstGeom>
          <a:noFill/>
          <a:ln/>
        </p:spPr>
        <p:txBody>
          <a:bodyPr wrap="square" lIns="0" tIns="0" rIns="0" bIns="0" rtlCol="0" anchor="ctr"/>
          <a:lstStyle/>
          <a:p>
            <a:pPr algn="ctr" indent="0" marL="0">
              <a:buNone/>
            </a:pPr>
            <a:r>
              <a:rPr lang="en-US" sz="1200" dirty="0">
                <a:solidFill>
                  <a:srgbClr val="5B6B7F"/>
                </a:solidFill>
                <a:latin typeface="Calibri" pitchFamily="34" charset="0"/>
                <a:ea typeface="Calibri" pitchFamily="34" charset="-122"/>
                <a:cs typeface="Calibri" pitchFamily="34" charset="-120"/>
              </a:rPr>
              <a:t>Personal Location Data — Section 6  |  Data Governance, Compliance and Ethics (H9DGCE)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Location Data - Data Governance and Ethics</dc:title>
  <dc:subject>PptxGenJS Presentation</dc:subject>
  <dc:creator>Group Presentation</dc:creator>
  <cp:lastModifiedBy>Group Presentation</cp:lastModifiedBy>
  <cp:revision>1</cp:revision>
  <dcterms:created xsi:type="dcterms:W3CDTF">2026-06-27T22:03:22Z</dcterms:created>
  <dcterms:modified xsi:type="dcterms:W3CDTF">2026-06-27T22:03:22Z</dcterms:modified>
</cp:coreProperties>
</file>