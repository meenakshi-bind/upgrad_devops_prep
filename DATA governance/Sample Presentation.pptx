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8" r:id="rId4"/>
    <p:sldId id="259" r:id="rId5"/>
    <p:sldId id="260" r:id="rId6"/>
    <p:sldId id="265" r:id="rId7"/>
    <p:sldId id="263" r:id="rId8"/>
    <p:sldId id="264" r:id="rId9"/>
    <p:sldId id="261" r:id="rId10"/>
    <p:sldId id="270" r:id="rId11"/>
    <p:sldId id="268" r:id="rId12"/>
    <p:sldId id="267" r:id="rId13"/>
    <p:sldId id="266"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63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68767" autoAdjust="0"/>
  </p:normalViewPr>
  <p:slideViewPr>
    <p:cSldViewPr snapToGrid="0">
      <p:cViewPr varScale="1">
        <p:scale>
          <a:sx n="76" d="100"/>
          <a:sy n="76" d="100"/>
        </p:scale>
        <p:origin x="177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8BEAA4-58DB-4E29-A227-32879D33A231}" type="doc">
      <dgm:prSet loTypeId="urn:microsoft.com/office/officeart/2005/8/layout/vProcess5" loCatId="process" qsTypeId="urn:microsoft.com/office/officeart/2005/8/quickstyle/simple1" qsCatId="simple" csTypeId="urn:microsoft.com/office/officeart/2005/8/colors/colorful5" csCatId="colorful"/>
      <dgm:spPr/>
      <dgm:t>
        <a:bodyPr/>
        <a:lstStyle/>
        <a:p>
          <a:endParaRPr lang="en-US"/>
        </a:p>
      </dgm:t>
    </dgm:pt>
    <dgm:pt modelId="{DE180DC0-D5E8-4040-A152-D74D5D1F759F}">
      <dgm:prSet/>
      <dgm:spPr/>
      <dgm:t>
        <a:bodyPr/>
        <a:lstStyle/>
        <a:p>
          <a:r>
            <a:rPr lang="en-IE"/>
            <a:t>To achieve </a:t>
          </a:r>
          <a:r>
            <a:rPr lang="en-IE" u="sng"/>
            <a:t>digital transformation</a:t>
          </a:r>
          <a:r>
            <a:rPr lang="en-IE"/>
            <a:t>, organizations must gain control of the avalanche of data that is generated by supplier, customer, and employee interactions. </a:t>
          </a:r>
          <a:endParaRPr lang="en-US"/>
        </a:p>
      </dgm:t>
    </dgm:pt>
    <dgm:pt modelId="{465CFE34-D4AC-43A0-88D1-5FB58CC79813}" type="parTrans" cxnId="{D1513ADF-8224-4E46-8CE0-A444D4A5AA09}">
      <dgm:prSet/>
      <dgm:spPr/>
      <dgm:t>
        <a:bodyPr/>
        <a:lstStyle/>
        <a:p>
          <a:endParaRPr lang="en-US"/>
        </a:p>
      </dgm:t>
    </dgm:pt>
    <dgm:pt modelId="{988CFB12-6608-45C3-A666-8ADC2A0C88CB}" type="sibTrans" cxnId="{D1513ADF-8224-4E46-8CE0-A444D4A5AA09}">
      <dgm:prSet/>
      <dgm:spPr/>
      <dgm:t>
        <a:bodyPr/>
        <a:lstStyle/>
        <a:p>
          <a:endParaRPr lang="en-US"/>
        </a:p>
      </dgm:t>
    </dgm:pt>
    <dgm:pt modelId="{E4226727-517E-4C6C-A472-B71C6CFF2F4A}">
      <dgm:prSet/>
      <dgm:spPr/>
      <dgm:t>
        <a:bodyPr/>
        <a:lstStyle/>
        <a:p>
          <a:r>
            <a:rPr lang="en-IE"/>
            <a:t>This complex data environment has led enterprises to realize that new leadership is needed to take on responsibility for data and information value. </a:t>
          </a:r>
          <a:endParaRPr lang="en-US"/>
        </a:p>
      </dgm:t>
    </dgm:pt>
    <dgm:pt modelId="{3A876E87-FC88-4803-80B2-8C66E0D28A06}" type="parTrans" cxnId="{54A02562-8AC1-4E77-8B5A-13D5BA3B62E7}">
      <dgm:prSet/>
      <dgm:spPr/>
      <dgm:t>
        <a:bodyPr/>
        <a:lstStyle/>
        <a:p>
          <a:endParaRPr lang="en-US"/>
        </a:p>
      </dgm:t>
    </dgm:pt>
    <dgm:pt modelId="{84D33A73-4F88-408B-AECD-446A703FB528}" type="sibTrans" cxnId="{54A02562-8AC1-4E77-8B5A-13D5BA3B62E7}">
      <dgm:prSet/>
      <dgm:spPr/>
      <dgm:t>
        <a:bodyPr/>
        <a:lstStyle/>
        <a:p>
          <a:endParaRPr lang="en-US"/>
        </a:p>
      </dgm:t>
    </dgm:pt>
    <dgm:pt modelId="{076FB6EB-48DB-4F89-9BA0-0D4A561742EF}">
      <dgm:prSet/>
      <dgm:spPr/>
      <dgm:t>
        <a:bodyPr/>
        <a:lstStyle/>
        <a:p>
          <a:r>
            <a:rPr lang="en-IE"/>
            <a:t>The chief data officer (CDO) role has arisen to fill this need. </a:t>
          </a:r>
          <a:endParaRPr lang="en-US"/>
        </a:p>
      </dgm:t>
    </dgm:pt>
    <dgm:pt modelId="{5D80F562-77E0-4DBD-BC4C-5103082422B7}" type="parTrans" cxnId="{CE497F78-F68F-4247-97A1-E960F900CD66}">
      <dgm:prSet/>
      <dgm:spPr/>
      <dgm:t>
        <a:bodyPr/>
        <a:lstStyle/>
        <a:p>
          <a:endParaRPr lang="en-US"/>
        </a:p>
      </dgm:t>
    </dgm:pt>
    <dgm:pt modelId="{BA11ABD6-75D7-43B0-843E-CCAF9A2E657E}" type="sibTrans" cxnId="{CE497F78-F68F-4247-97A1-E960F900CD66}">
      <dgm:prSet/>
      <dgm:spPr/>
      <dgm:t>
        <a:bodyPr/>
        <a:lstStyle/>
        <a:p>
          <a:endParaRPr lang="en-US"/>
        </a:p>
      </dgm:t>
    </dgm:pt>
    <dgm:pt modelId="{721054FA-13FA-4240-B7AE-124D119C2D9F}">
      <dgm:prSet/>
      <dgm:spPr/>
      <dgm:t>
        <a:bodyPr/>
        <a:lstStyle/>
        <a:p>
          <a:r>
            <a:rPr lang="en-IE"/>
            <a:t>Seth Earley examines this relatively new role and its various forms.</a:t>
          </a:r>
          <a:endParaRPr lang="en-US"/>
        </a:p>
      </dgm:t>
    </dgm:pt>
    <dgm:pt modelId="{D79A1142-B319-4DFD-83F9-ECBAC0185599}" type="parTrans" cxnId="{AFD8380B-5943-4326-AA66-F9B9DC4B0511}">
      <dgm:prSet/>
      <dgm:spPr/>
      <dgm:t>
        <a:bodyPr/>
        <a:lstStyle/>
        <a:p>
          <a:endParaRPr lang="en-US"/>
        </a:p>
      </dgm:t>
    </dgm:pt>
    <dgm:pt modelId="{FBEF0BCD-649C-4626-84A3-2F3A0A2B4324}" type="sibTrans" cxnId="{AFD8380B-5943-4326-AA66-F9B9DC4B0511}">
      <dgm:prSet/>
      <dgm:spPr/>
      <dgm:t>
        <a:bodyPr/>
        <a:lstStyle/>
        <a:p>
          <a:endParaRPr lang="en-US"/>
        </a:p>
      </dgm:t>
    </dgm:pt>
    <dgm:pt modelId="{187F3CB2-D3AF-4152-B22A-B4D44186D8D5}" type="pres">
      <dgm:prSet presAssocID="{808BEAA4-58DB-4E29-A227-32879D33A231}" presName="outerComposite" presStyleCnt="0">
        <dgm:presLayoutVars>
          <dgm:chMax val="5"/>
          <dgm:dir/>
          <dgm:resizeHandles val="exact"/>
        </dgm:presLayoutVars>
      </dgm:prSet>
      <dgm:spPr/>
    </dgm:pt>
    <dgm:pt modelId="{60ED6D8E-C619-4D1B-82CF-434E78981837}" type="pres">
      <dgm:prSet presAssocID="{808BEAA4-58DB-4E29-A227-32879D33A231}" presName="dummyMaxCanvas" presStyleCnt="0">
        <dgm:presLayoutVars/>
      </dgm:prSet>
      <dgm:spPr/>
    </dgm:pt>
    <dgm:pt modelId="{6CE8CFDF-B28A-444D-BD0D-516FDBE4652E}" type="pres">
      <dgm:prSet presAssocID="{808BEAA4-58DB-4E29-A227-32879D33A231}" presName="FourNodes_1" presStyleLbl="node1" presStyleIdx="0" presStyleCnt="4">
        <dgm:presLayoutVars>
          <dgm:bulletEnabled val="1"/>
        </dgm:presLayoutVars>
      </dgm:prSet>
      <dgm:spPr/>
    </dgm:pt>
    <dgm:pt modelId="{71A6F485-1B59-46A0-AA36-F45B9CD505D4}" type="pres">
      <dgm:prSet presAssocID="{808BEAA4-58DB-4E29-A227-32879D33A231}" presName="FourNodes_2" presStyleLbl="node1" presStyleIdx="1" presStyleCnt="4">
        <dgm:presLayoutVars>
          <dgm:bulletEnabled val="1"/>
        </dgm:presLayoutVars>
      </dgm:prSet>
      <dgm:spPr/>
    </dgm:pt>
    <dgm:pt modelId="{6444732C-E2E9-4614-B0FB-DEC7FFA72E07}" type="pres">
      <dgm:prSet presAssocID="{808BEAA4-58DB-4E29-A227-32879D33A231}" presName="FourNodes_3" presStyleLbl="node1" presStyleIdx="2" presStyleCnt="4">
        <dgm:presLayoutVars>
          <dgm:bulletEnabled val="1"/>
        </dgm:presLayoutVars>
      </dgm:prSet>
      <dgm:spPr/>
    </dgm:pt>
    <dgm:pt modelId="{B870487C-ABB7-4E68-A6E7-B8D6B87F1DD6}" type="pres">
      <dgm:prSet presAssocID="{808BEAA4-58DB-4E29-A227-32879D33A231}" presName="FourNodes_4" presStyleLbl="node1" presStyleIdx="3" presStyleCnt="4">
        <dgm:presLayoutVars>
          <dgm:bulletEnabled val="1"/>
        </dgm:presLayoutVars>
      </dgm:prSet>
      <dgm:spPr/>
    </dgm:pt>
    <dgm:pt modelId="{3F2C5A56-A4B1-4501-B2FD-F2F6726EF8FC}" type="pres">
      <dgm:prSet presAssocID="{808BEAA4-58DB-4E29-A227-32879D33A231}" presName="FourConn_1-2" presStyleLbl="fgAccFollowNode1" presStyleIdx="0" presStyleCnt="3">
        <dgm:presLayoutVars>
          <dgm:bulletEnabled val="1"/>
        </dgm:presLayoutVars>
      </dgm:prSet>
      <dgm:spPr/>
    </dgm:pt>
    <dgm:pt modelId="{F36652D3-B6FB-44FC-A53F-7E834F463096}" type="pres">
      <dgm:prSet presAssocID="{808BEAA4-58DB-4E29-A227-32879D33A231}" presName="FourConn_2-3" presStyleLbl="fgAccFollowNode1" presStyleIdx="1" presStyleCnt="3">
        <dgm:presLayoutVars>
          <dgm:bulletEnabled val="1"/>
        </dgm:presLayoutVars>
      </dgm:prSet>
      <dgm:spPr/>
    </dgm:pt>
    <dgm:pt modelId="{06DE1AFA-4F50-4407-97B0-AA33E17AF2BD}" type="pres">
      <dgm:prSet presAssocID="{808BEAA4-58DB-4E29-A227-32879D33A231}" presName="FourConn_3-4" presStyleLbl="fgAccFollowNode1" presStyleIdx="2" presStyleCnt="3">
        <dgm:presLayoutVars>
          <dgm:bulletEnabled val="1"/>
        </dgm:presLayoutVars>
      </dgm:prSet>
      <dgm:spPr/>
    </dgm:pt>
    <dgm:pt modelId="{9BEF2540-06CF-4F04-9C36-4E68BA6A9889}" type="pres">
      <dgm:prSet presAssocID="{808BEAA4-58DB-4E29-A227-32879D33A231}" presName="FourNodes_1_text" presStyleLbl="node1" presStyleIdx="3" presStyleCnt="4">
        <dgm:presLayoutVars>
          <dgm:bulletEnabled val="1"/>
        </dgm:presLayoutVars>
      </dgm:prSet>
      <dgm:spPr/>
    </dgm:pt>
    <dgm:pt modelId="{B1A17AE4-A447-4F58-8E2D-3A20D2D9DB36}" type="pres">
      <dgm:prSet presAssocID="{808BEAA4-58DB-4E29-A227-32879D33A231}" presName="FourNodes_2_text" presStyleLbl="node1" presStyleIdx="3" presStyleCnt="4">
        <dgm:presLayoutVars>
          <dgm:bulletEnabled val="1"/>
        </dgm:presLayoutVars>
      </dgm:prSet>
      <dgm:spPr/>
    </dgm:pt>
    <dgm:pt modelId="{615918E8-7861-4BF2-9569-471AC0C94968}" type="pres">
      <dgm:prSet presAssocID="{808BEAA4-58DB-4E29-A227-32879D33A231}" presName="FourNodes_3_text" presStyleLbl="node1" presStyleIdx="3" presStyleCnt="4">
        <dgm:presLayoutVars>
          <dgm:bulletEnabled val="1"/>
        </dgm:presLayoutVars>
      </dgm:prSet>
      <dgm:spPr/>
    </dgm:pt>
    <dgm:pt modelId="{545B4C37-2EEC-466B-983D-ADB8B460790C}" type="pres">
      <dgm:prSet presAssocID="{808BEAA4-58DB-4E29-A227-32879D33A231}" presName="FourNodes_4_text" presStyleLbl="node1" presStyleIdx="3" presStyleCnt="4">
        <dgm:presLayoutVars>
          <dgm:bulletEnabled val="1"/>
        </dgm:presLayoutVars>
      </dgm:prSet>
      <dgm:spPr/>
    </dgm:pt>
  </dgm:ptLst>
  <dgm:cxnLst>
    <dgm:cxn modelId="{AFD8380B-5943-4326-AA66-F9B9DC4B0511}" srcId="{808BEAA4-58DB-4E29-A227-32879D33A231}" destId="{721054FA-13FA-4240-B7AE-124D119C2D9F}" srcOrd="3" destOrd="0" parTransId="{D79A1142-B319-4DFD-83F9-ECBAC0185599}" sibTransId="{FBEF0BCD-649C-4626-84A3-2F3A0A2B4324}"/>
    <dgm:cxn modelId="{4363DE0C-20C9-4373-827E-62421505A449}" type="presOf" srcId="{DE180DC0-D5E8-4040-A152-D74D5D1F759F}" destId="{6CE8CFDF-B28A-444D-BD0D-516FDBE4652E}" srcOrd="0" destOrd="0" presId="urn:microsoft.com/office/officeart/2005/8/layout/vProcess5"/>
    <dgm:cxn modelId="{8129CD40-FF7E-4004-89ED-23BD3414BBA9}" type="presOf" srcId="{721054FA-13FA-4240-B7AE-124D119C2D9F}" destId="{B870487C-ABB7-4E68-A6E7-B8D6B87F1DD6}" srcOrd="0" destOrd="0" presId="urn:microsoft.com/office/officeart/2005/8/layout/vProcess5"/>
    <dgm:cxn modelId="{54A02562-8AC1-4E77-8B5A-13D5BA3B62E7}" srcId="{808BEAA4-58DB-4E29-A227-32879D33A231}" destId="{E4226727-517E-4C6C-A472-B71C6CFF2F4A}" srcOrd="1" destOrd="0" parTransId="{3A876E87-FC88-4803-80B2-8C66E0D28A06}" sibTransId="{84D33A73-4F88-408B-AECD-446A703FB528}"/>
    <dgm:cxn modelId="{7E5DEE51-6CD9-4AFC-92C8-B5466FF48A7F}" type="presOf" srcId="{DE180DC0-D5E8-4040-A152-D74D5D1F759F}" destId="{9BEF2540-06CF-4F04-9C36-4E68BA6A9889}" srcOrd="1" destOrd="0" presId="urn:microsoft.com/office/officeart/2005/8/layout/vProcess5"/>
    <dgm:cxn modelId="{CE497F78-F68F-4247-97A1-E960F900CD66}" srcId="{808BEAA4-58DB-4E29-A227-32879D33A231}" destId="{076FB6EB-48DB-4F89-9BA0-0D4A561742EF}" srcOrd="2" destOrd="0" parTransId="{5D80F562-77E0-4DBD-BC4C-5103082422B7}" sibTransId="{BA11ABD6-75D7-43B0-843E-CCAF9A2E657E}"/>
    <dgm:cxn modelId="{4A57787B-421E-4E2E-8D94-F448091FB441}" type="presOf" srcId="{E4226727-517E-4C6C-A472-B71C6CFF2F4A}" destId="{B1A17AE4-A447-4F58-8E2D-3A20D2D9DB36}" srcOrd="1" destOrd="0" presId="urn:microsoft.com/office/officeart/2005/8/layout/vProcess5"/>
    <dgm:cxn modelId="{4BE9D27E-AF43-4FC7-8DBB-570F8DFA6DFF}" type="presOf" srcId="{721054FA-13FA-4240-B7AE-124D119C2D9F}" destId="{545B4C37-2EEC-466B-983D-ADB8B460790C}" srcOrd="1" destOrd="0" presId="urn:microsoft.com/office/officeart/2005/8/layout/vProcess5"/>
    <dgm:cxn modelId="{4B84A88C-BF39-42C2-BFAF-23C9C9EC0850}" type="presOf" srcId="{E4226727-517E-4C6C-A472-B71C6CFF2F4A}" destId="{71A6F485-1B59-46A0-AA36-F45B9CD505D4}" srcOrd="0" destOrd="0" presId="urn:microsoft.com/office/officeart/2005/8/layout/vProcess5"/>
    <dgm:cxn modelId="{F6C6CD99-FA62-4BBC-A2CF-8788081F00DA}" type="presOf" srcId="{808BEAA4-58DB-4E29-A227-32879D33A231}" destId="{187F3CB2-D3AF-4152-B22A-B4D44186D8D5}" srcOrd="0" destOrd="0" presId="urn:microsoft.com/office/officeart/2005/8/layout/vProcess5"/>
    <dgm:cxn modelId="{C62D17B5-9E73-48B7-9B74-3D1C77E150D3}" type="presOf" srcId="{BA11ABD6-75D7-43B0-843E-CCAF9A2E657E}" destId="{06DE1AFA-4F50-4407-97B0-AA33E17AF2BD}" srcOrd="0" destOrd="0" presId="urn:microsoft.com/office/officeart/2005/8/layout/vProcess5"/>
    <dgm:cxn modelId="{326CAFC1-5203-486B-B7E0-990A05D03971}" type="presOf" srcId="{988CFB12-6608-45C3-A666-8ADC2A0C88CB}" destId="{3F2C5A56-A4B1-4501-B2FD-F2F6726EF8FC}" srcOrd="0" destOrd="0" presId="urn:microsoft.com/office/officeart/2005/8/layout/vProcess5"/>
    <dgm:cxn modelId="{F1E731D0-0336-47FE-BE6B-438411EC1764}" type="presOf" srcId="{076FB6EB-48DB-4F89-9BA0-0D4A561742EF}" destId="{6444732C-E2E9-4614-B0FB-DEC7FFA72E07}" srcOrd="0" destOrd="0" presId="urn:microsoft.com/office/officeart/2005/8/layout/vProcess5"/>
    <dgm:cxn modelId="{8D13D3D6-96B2-40EE-965C-50E895FC08B8}" type="presOf" srcId="{076FB6EB-48DB-4F89-9BA0-0D4A561742EF}" destId="{615918E8-7861-4BF2-9569-471AC0C94968}" srcOrd="1" destOrd="0" presId="urn:microsoft.com/office/officeart/2005/8/layout/vProcess5"/>
    <dgm:cxn modelId="{D1513ADF-8224-4E46-8CE0-A444D4A5AA09}" srcId="{808BEAA4-58DB-4E29-A227-32879D33A231}" destId="{DE180DC0-D5E8-4040-A152-D74D5D1F759F}" srcOrd="0" destOrd="0" parTransId="{465CFE34-D4AC-43A0-88D1-5FB58CC79813}" sibTransId="{988CFB12-6608-45C3-A666-8ADC2A0C88CB}"/>
    <dgm:cxn modelId="{67DBFDE9-CF20-4940-8EFA-BB417AD64F8B}" type="presOf" srcId="{84D33A73-4F88-408B-AECD-446A703FB528}" destId="{F36652D3-B6FB-44FC-A53F-7E834F463096}" srcOrd="0" destOrd="0" presId="urn:microsoft.com/office/officeart/2005/8/layout/vProcess5"/>
    <dgm:cxn modelId="{47A2900E-E3FF-4763-9A7D-EF4B0F8A8871}" type="presParOf" srcId="{187F3CB2-D3AF-4152-B22A-B4D44186D8D5}" destId="{60ED6D8E-C619-4D1B-82CF-434E78981837}" srcOrd="0" destOrd="0" presId="urn:microsoft.com/office/officeart/2005/8/layout/vProcess5"/>
    <dgm:cxn modelId="{C9D0946B-05A5-412C-8741-F3A6CA01FE31}" type="presParOf" srcId="{187F3CB2-D3AF-4152-B22A-B4D44186D8D5}" destId="{6CE8CFDF-B28A-444D-BD0D-516FDBE4652E}" srcOrd="1" destOrd="0" presId="urn:microsoft.com/office/officeart/2005/8/layout/vProcess5"/>
    <dgm:cxn modelId="{A3488568-5FB0-41D0-9DD4-8034144D7A19}" type="presParOf" srcId="{187F3CB2-D3AF-4152-B22A-B4D44186D8D5}" destId="{71A6F485-1B59-46A0-AA36-F45B9CD505D4}" srcOrd="2" destOrd="0" presId="urn:microsoft.com/office/officeart/2005/8/layout/vProcess5"/>
    <dgm:cxn modelId="{B9B472EC-112E-4B75-8916-F9566C058429}" type="presParOf" srcId="{187F3CB2-D3AF-4152-B22A-B4D44186D8D5}" destId="{6444732C-E2E9-4614-B0FB-DEC7FFA72E07}" srcOrd="3" destOrd="0" presId="urn:microsoft.com/office/officeart/2005/8/layout/vProcess5"/>
    <dgm:cxn modelId="{A2A151ED-0305-4186-85E9-1CFCA4A45444}" type="presParOf" srcId="{187F3CB2-D3AF-4152-B22A-B4D44186D8D5}" destId="{B870487C-ABB7-4E68-A6E7-B8D6B87F1DD6}" srcOrd="4" destOrd="0" presId="urn:microsoft.com/office/officeart/2005/8/layout/vProcess5"/>
    <dgm:cxn modelId="{204F43AA-7FC0-489B-845E-C3737BA8DF2C}" type="presParOf" srcId="{187F3CB2-D3AF-4152-B22A-B4D44186D8D5}" destId="{3F2C5A56-A4B1-4501-B2FD-F2F6726EF8FC}" srcOrd="5" destOrd="0" presId="urn:microsoft.com/office/officeart/2005/8/layout/vProcess5"/>
    <dgm:cxn modelId="{7A5AAADD-5F05-4A5B-994D-539222EE99A9}" type="presParOf" srcId="{187F3CB2-D3AF-4152-B22A-B4D44186D8D5}" destId="{F36652D3-B6FB-44FC-A53F-7E834F463096}" srcOrd="6" destOrd="0" presId="urn:microsoft.com/office/officeart/2005/8/layout/vProcess5"/>
    <dgm:cxn modelId="{003B63B5-8CD9-4816-B4FF-B137B35D1580}" type="presParOf" srcId="{187F3CB2-D3AF-4152-B22A-B4D44186D8D5}" destId="{06DE1AFA-4F50-4407-97B0-AA33E17AF2BD}" srcOrd="7" destOrd="0" presId="urn:microsoft.com/office/officeart/2005/8/layout/vProcess5"/>
    <dgm:cxn modelId="{FC34B543-E6CA-4C34-BF28-17B5B592FE03}" type="presParOf" srcId="{187F3CB2-D3AF-4152-B22A-B4D44186D8D5}" destId="{9BEF2540-06CF-4F04-9C36-4E68BA6A9889}" srcOrd="8" destOrd="0" presId="urn:microsoft.com/office/officeart/2005/8/layout/vProcess5"/>
    <dgm:cxn modelId="{3BCCA447-23EB-479B-8C99-D09CAF6E5907}" type="presParOf" srcId="{187F3CB2-D3AF-4152-B22A-B4D44186D8D5}" destId="{B1A17AE4-A447-4F58-8E2D-3A20D2D9DB36}" srcOrd="9" destOrd="0" presId="urn:microsoft.com/office/officeart/2005/8/layout/vProcess5"/>
    <dgm:cxn modelId="{959C1231-EB47-4081-926E-B71820F489D5}" type="presParOf" srcId="{187F3CB2-D3AF-4152-B22A-B4D44186D8D5}" destId="{615918E8-7861-4BF2-9569-471AC0C94968}" srcOrd="10" destOrd="0" presId="urn:microsoft.com/office/officeart/2005/8/layout/vProcess5"/>
    <dgm:cxn modelId="{B7919310-253E-44A5-BD61-5BD6AE510AFF}" type="presParOf" srcId="{187F3CB2-D3AF-4152-B22A-B4D44186D8D5}" destId="{545B4C37-2EEC-466B-983D-ADB8B460790C}"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4545E1-E668-4996-A827-1266984B2787}" type="doc">
      <dgm:prSet loTypeId="urn:microsoft.com/office/officeart/2018/2/layout/IconVerticalSolidList" loCatId="icon" qsTypeId="urn:microsoft.com/office/officeart/2005/8/quickstyle/simple2" qsCatId="simple" csTypeId="urn:microsoft.com/office/officeart/2005/8/colors/accent1_1" csCatId="accent1" phldr="1"/>
      <dgm:spPr/>
      <dgm:t>
        <a:bodyPr/>
        <a:lstStyle/>
        <a:p>
          <a:endParaRPr lang="en-US"/>
        </a:p>
      </dgm:t>
    </dgm:pt>
    <dgm:pt modelId="{2AF2F719-80B0-4D83-8313-90920A410DB0}">
      <dgm:prSet/>
      <dgm:spPr/>
      <dgm:t>
        <a:bodyPr/>
        <a:lstStyle/>
        <a:p>
          <a:pPr>
            <a:lnSpc>
              <a:spcPct val="100000"/>
            </a:lnSpc>
          </a:pPr>
          <a:r>
            <a:rPr lang="en-IE"/>
            <a:t>An expert with 20+ years experience </a:t>
          </a:r>
          <a:endParaRPr lang="en-US" dirty="0"/>
        </a:p>
      </dgm:t>
    </dgm:pt>
    <dgm:pt modelId="{108DA1E8-F37F-40E9-A1ED-5975213B7C95}" type="parTrans" cxnId="{33C4741B-F51E-41E4-A524-08132FCB53DA}">
      <dgm:prSet/>
      <dgm:spPr/>
      <dgm:t>
        <a:bodyPr/>
        <a:lstStyle/>
        <a:p>
          <a:endParaRPr lang="en-US"/>
        </a:p>
      </dgm:t>
    </dgm:pt>
    <dgm:pt modelId="{93F2F608-7AC4-45D1-A6D3-DF3044090928}" type="sibTrans" cxnId="{33C4741B-F51E-41E4-A524-08132FCB53DA}">
      <dgm:prSet/>
      <dgm:spPr/>
      <dgm:t>
        <a:bodyPr/>
        <a:lstStyle/>
        <a:p>
          <a:pPr>
            <a:lnSpc>
              <a:spcPct val="100000"/>
            </a:lnSpc>
          </a:pPr>
          <a:endParaRPr lang="en-US"/>
        </a:p>
      </dgm:t>
    </dgm:pt>
    <dgm:pt modelId="{0F701C82-E8FE-4352-8E04-A99DEEEE5581}">
      <dgm:prSet/>
      <dgm:spPr/>
      <dgm:t>
        <a:bodyPr/>
        <a:lstStyle/>
        <a:p>
          <a:pPr>
            <a:lnSpc>
              <a:spcPct val="100000"/>
            </a:lnSpc>
          </a:pPr>
          <a:r>
            <a:rPr lang="en-IE"/>
            <a:t>CEO of Earley Information Science (EIS)</a:t>
          </a:r>
          <a:endParaRPr lang="en-US"/>
        </a:p>
      </dgm:t>
    </dgm:pt>
    <dgm:pt modelId="{0B0EF950-1D5A-4154-8C84-AA4844B1D3D6}" type="parTrans" cxnId="{A4506A66-7AD3-4372-9243-EAE224E18B65}">
      <dgm:prSet/>
      <dgm:spPr/>
      <dgm:t>
        <a:bodyPr/>
        <a:lstStyle/>
        <a:p>
          <a:endParaRPr lang="en-US"/>
        </a:p>
      </dgm:t>
    </dgm:pt>
    <dgm:pt modelId="{ADD8EF83-A1B4-40CF-88E4-C1E08D544DFB}" type="sibTrans" cxnId="{A4506A66-7AD3-4372-9243-EAE224E18B65}">
      <dgm:prSet/>
      <dgm:spPr/>
      <dgm:t>
        <a:bodyPr/>
        <a:lstStyle/>
        <a:p>
          <a:pPr>
            <a:lnSpc>
              <a:spcPct val="100000"/>
            </a:lnSpc>
          </a:pPr>
          <a:endParaRPr lang="en-US"/>
        </a:p>
      </dgm:t>
    </dgm:pt>
    <dgm:pt modelId="{F2879C9E-25B4-431B-9F73-23ACBDE059C8}">
      <dgm:prSet/>
      <dgm:spPr>
        <a:solidFill>
          <a:schemeClr val="bg2">
            <a:lumMod val="50000"/>
            <a:lumOff val="50000"/>
          </a:schemeClr>
        </a:solidFill>
      </dgm:spPr>
      <dgm:t>
        <a:bodyPr/>
        <a:lstStyle/>
        <a:p>
          <a:pPr>
            <a:lnSpc>
              <a:spcPct val="100000"/>
            </a:lnSpc>
          </a:pPr>
          <a:r>
            <a:rPr lang="en-IE"/>
            <a:t>Worked with a diverse roster of Fortune 1000 companies</a:t>
          </a:r>
          <a:endParaRPr lang="en-US"/>
        </a:p>
      </dgm:t>
    </dgm:pt>
    <dgm:pt modelId="{A12C633A-A553-464B-95A8-C3AF5D21435B}" type="parTrans" cxnId="{0303719D-B47F-4819-85C3-ACD674452D77}">
      <dgm:prSet/>
      <dgm:spPr/>
      <dgm:t>
        <a:bodyPr/>
        <a:lstStyle/>
        <a:p>
          <a:endParaRPr lang="en-US"/>
        </a:p>
      </dgm:t>
    </dgm:pt>
    <dgm:pt modelId="{49442A5A-D5BA-40F1-9E0E-238E5714060C}" type="sibTrans" cxnId="{0303719D-B47F-4819-85C3-ACD674452D77}">
      <dgm:prSet/>
      <dgm:spPr/>
      <dgm:t>
        <a:bodyPr/>
        <a:lstStyle/>
        <a:p>
          <a:pPr>
            <a:lnSpc>
              <a:spcPct val="100000"/>
            </a:lnSpc>
          </a:pPr>
          <a:endParaRPr lang="en-US"/>
        </a:p>
      </dgm:t>
    </dgm:pt>
    <dgm:pt modelId="{966FC17F-5094-496B-AA70-0F470FD587FE}">
      <dgm:prSet/>
      <dgm:spPr/>
      <dgm:t>
        <a:bodyPr/>
        <a:lstStyle/>
        <a:p>
          <a:pPr>
            <a:lnSpc>
              <a:spcPct val="100000"/>
            </a:lnSpc>
          </a:pPr>
          <a:r>
            <a:rPr lang="en-IE"/>
            <a:t>Author of “The AI-Powered Enterprise” </a:t>
          </a:r>
          <a:endParaRPr lang="en-US"/>
        </a:p>
      </dgm:t>
    </dgm:pt>
    <dgm:pt modelId="{5B47E170-2F42-4EDF-B27A-B3D2AB1682B2}" type="parTrans" cxnId="{5AD98C4B-E2F7-49F0-8B06-636C5BBDEEC1}">
      <dgm:prSet/>
      <dgm:spPr/>
      <dgm:t>
        <a:bodyPr/>
        <a:lstStyle/>
        <a:p>
          <a:endParaRPr lang="en-US"/>
        </a:p>
      </dgm:t>
    </dgm:pt>
    <dgm:pt modelId="{A6717BC1-464C-4AFF-87FD-15E69737EDFF}" type="sibTrans" cxnId="{5AD98C4B-E2F7-49F0-8B06-636C5BBDEEC1}">
      <dgm:prSet/>
      <dgm:spPr/>
      <dgm:t>
        <a:bodyPr/>
        <a:lstStyle/>
        <a:p>
          <a:pPr>
            <a:lnSpc>
              <a:spcPct val="100000"/>
            </a:lnSpc>
          </a:pPr>
          <a:endParaRPr lang="en-US"/>
        </a:p>
      </dgm:t>
    </dgm:pt>
    <dgm:pt modelId="{1711962D-0B70-49AC-AA5F-6A9292BEAD33}">
      <dgm:prSet/>
      <dgm:spPr>
        <a:solidFill>
          <a:schemeClr val="bg2">
            <a:lumMod val="50000"/>
            <a:lumOff val="50000"/>
          </a:schemeClr>
        </a:solidFill>
      </dgm:spPr>
      <dgm:t>
        <a:bodyPr/>
        <a:lstStyle/>
        <a:p>
          <a:pPr>
            <a:lnSpc>
              <a:spcPct val="100000"/>
            </a:lnSpc>
          </a:pPr>
          <a:r>
            <a:rPr lang="en-GB"/>
            <a:t>Recognized by Thinkers 360 as one of the Top 50 Global Thought Leaders and Influencers on Artificial Intelligence</a:t>
          </a:r>
          <a:endParaRPr lang="en-US"/>
        </a:p>
      </dgm:t>
    </dgm:pt>
    <dgm:pt modelId="{CBF0E815-8E3C-4FC8-92D4-C3202881EB67}" type="parTrans" cxnId="{CA1A9F3B-7E4D-42C8-89CA-D45CF9218360}">
      <dgm:prSet/>
      <dgm:spPr/>
      <dgm:t>
        <a:bodyPr/>
        <a:lstStyle/>
        <a:p>
          <a:endParaRPr lang="en-US"/>
        </a:p>
      </dgm:t>
    </dgm:pt>
    <dgm:pt modelId="{7D697884-987F-400A-B36E-B94B06CD003B}" type="sibTrans" cxnId="{CA1A9F3B-7E4D-42C8-89CA-D45CF9218360}">
      <dgm:prSet/>
      <dgm:spPr/>
      <dgm:t>
        <a:bodyPr/>
        <a:lstStyle/>
        <a:p>
          <a:pPr>
            <a:lnSpc>
              <a:spcPct val="100000"/>
            </a:lnSpc>
          </a:pPr>
          <a:endParaRPr lang="en-US"/>
        </a:p>
      </dgm:t>
    </dgm:pt>
    <dgm:pt modelId="{2318DA29-79E6-4874-9AE5-9DB5C39D6688}">
      <dgm:prSet/>
      <dgm:spPr>
        <a:solidFill>
          <a:schemeClr val="bg2">
            <a:lumMod val="50000"/>
            <a:lumOff val="50000"/>
          </a:schemeClr>
        </a:solidFill>
      </dgm:spPr>
      <dgm:t>
        <a:bodyPr/>
        <a:lstStyle/>
        <a:p>
          <a:pPr>
            <a:lnSpc>
              <a:spcPct val="100000"/>
            </a:lnSpc>
          </a:pPr>
          <a:r>
            <a:rPr lang="en-GB"/>
            <a:t>Wrote a regular column on data analytics and information access issues and trends</a:t>
          </a:r>
          <a:endParaRPr lang="en-US"/>
        </a:p>
      </dgm:t>
    </dgm:pt>
    <dgm:pt modelId="{C788342A-766A-4E39-A60B-57D7C10F81ED}" type="parTrans" cxnId="{8E57FB09-5B7F-409B-AEBD-B43ED209993C}">
      <dgm:prSet/>
      <dgm:spPr/>
      <dgm:t>
        <a:bodyPr/>
        <a:lstStyle/>
        <a:p>
          <a:endParaRPr lang="en-US"/>
        </a:p>
      </dgm:t>
    </dgm:pt>
    <dgm:pt modelId="{4B712AE5-BD57-4A95-89C3-B718761A5956}" type="sibTrans" cxnId="{8E57FB09-5B7F-409B-AEBD-B43ED209993C}">
      <dgm:prSet/>
      <dgm:spPr/>
      <dgm:t>
        <a:bodyPr/>
        <a:lstStyle/>
        <a:p>
          <a:endParaRPr lang="en-US"/>
        </a:p>
      </dgm:t>
    </dgm:pt>
    <dgm:pt modelId="{A7587DB6-27D0-4A55-AD2D-39FC0338FDDC}" type="pres">
      <dgm:prSet presAssocID="{C04545E1-E668-4996-A827-1266984B2787}" presName="root" presStyleCnt="0">
        <dgm:presLayoutVars>
          <dgm:dir/>
          <dgm:resizeHandles val="exact"/>
        </dgm:presLayoutVars>
      </dgm:prSet>
      <dgm:spPr/>
    </dgm:pt>
    <dgm:pt modelId="{1AC3CA6D-961E-4E07-9687-82E03C0CF925}" type="pres">
      <dgm:prSet presAssocID="{2AF2F719-80B0-4D83-8313-90920A410DB0}" presName="compNode" presStyleCnt="0"/>
      <dgm:spPr/>
    </dgm:pt>
    <dgm:pt modelId="{02BAC977-03CB-44B4-8B26-DF41A7EE5E43}" type="pres">
      <dgm:prSet presAssocID="{2AF2F719-80B0-4D83-8313-90920A410DB0}" presName="bgRect" presStyleLbl="bgShp" presStyleIdx="0" presStyleCnt="6"/>
      <dgm:spPr>
        <a:solidFill>
          <a:schemeClr val="bg2">
            <a:lumMod val="50000"/>
            <a:lumOff val="50000"/>
          </a:schemeClr>
        </a:solidFill>
      </dgm:spPr>
    </dgm:pt>
    <dgm:pt modelId="{79957C7B-8C30-40BF-A55C-13303A5428A6}" type="pres">
      <dgm:prSet presAssocID="{2AF2F719-80B0-4D83-8313-90920A410DB0}"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32374F8C-7600-4D3E-87F4-F9306A3C6C53}" type="pres">
      <dgm:prSet presAssocID="{2AF2F719-80B0-4D83-8313-90920A410DB0}" presName="spaceRect" presStyleCnt="0"/>
      <dgm:spPr/>
    </dgm:pt>
    <dgm:pt modelId="{39DF1C84-E718-48AA-8FE9-8B70DB741D47}" type="pres">
      <dgm:prSet presAssocID="{2AF2F719-80B0-4D83-8313-90920A410DB0}" presName="parTx" presStyleLbl="revTx" presStyleIdx="0" presStyleCnt="6">
        <dgm:presLayoutVars>
          <dgm:chMax val="0"/>
          <dgm:chPref val="0"/>
        </dgm:presLayoutVars>
      </dgm:prSet>
      <dgm:spPr/>
    </dgm:pt>
    <dgm:pt modelId="{D80FE331-40F5-4938-8F3D-7B15E1B7541A}" type="pres">
      <dgm:prSet presAssocID="{93F2F608-7AC4-45D1-A6D3-DF3044090928}" presName="sibTrans" presStyleCnt="0"/>
      <dgm:spPr/>
    </dgm:pt>
    <dgm:pt modelId="{D8E2EC2C-58DC-4A8D-80E7-A39A768A8975}" type="pres">
      <dgm:prSet presAssocID="{0F701C82-E8FE-4352-8E04-A99DEEEE5581}" presName="compNode" presStyleCnt="0"/>
      <dgm:spPr/>
    </dgm:pt>
    <dgm:pt modelId="{B0DD7DFA-9849-4146-8172-D64BC2DE3BC0}" type="pres">
      <dgm:prSet presAssocID="{0F701C82-E8FE-4352-8E04-A99DEEEE5581}" presName="bgRect" presStyleLbl="bgShp" presStyleIdx="1" presStyleCnt="6"/>
      <dgm:spPr>
        <a:solidFill>
          <a:schemeClr val="bg2">
            <a:lumMod val="50000"/>
            <a:lumOff val="50000"/>
          </a:schemeClr>
        </a:solidFill>
      </dgm:spPr>
    </dgm:pt>
    <dgm:pt modelId="{2DA52574-99DF-419D-8B15-C862F3769690}" type="pres">
      <dgm:prSet presAssocID="{0F701C82-E8FE-4352-8E04-A99DEEEE558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tom"/>
        </a:ext>
      </dgm:extLst>
    </dgm:pt>
    <dgm:pt modelId="{354E455F-0E8A-4F48-86B5-9204AC3AA75C}" type="pres">
      <dgm:prSet presAssocID="{0F701C82-E8FE-4352-8E04-A99DEEEE5581}" presName="spaceRect" presStyleCnt="0"/>
      <dgm:spPr/>
    </dgm:pt>
    <dgm:pt modelId="{76BFAFAE-1E7F-4A7C-A6EC-BCEC0465B6A7}" type="pres">
      <dgm:prSet presAssocID="{0F701C82-E8FE-4352-8E04-A99DEEEE5581}" presName="parTx" presStyleLbl="revTx" presStyleIdx="1" presStyleCnt="6">
        <dgm:presLayoutVars>
          <dgm:chMax val="0"/>
          <dgm:chPref val="0"/>
        </dgm:presLayoutVars>
      </dgm:prSet>
      <dgm:spPr/>
    </dgm:pt>
    <dgm:pt modelId="{7F0F9976-4D73-40D1-9E45-97C8CC8565DF}" type="pres">
      <dgm:prSet presAssocID="{ADD8EF83-A1B4-40CF-88E4-C1E08D544DFB}" presName="sibTrans" presStyleCnt="0"/>
      <dgm:spPr/>
    </dgm:pt>
    <dgm:pt modelId="{BA6C4486-9B8A-4756-85F6-B3B31538ADBB}" type="pres">
      <dgm:prSet presAssocID="{F2879C9E-25B4-431B-9F73-23ACBDE059C8}" presName="compNode" presStyleCnt="0"/>
      <dgm:spPr/>
    </dgm:pt>
    <dgm:pt modelId="{2CA7423C-3DA6-4886-AFB5-EFA8230966C7}" type="pres">
      <dgm:prSet presAssocID="{F2879C9E-25B4-431B-9F73-23ACBDE059C8}" presName="bgRect" presStyleLbl="bgShp" presStyleIdx="2" presStyleCnt="6"/>
      <dgm:spPr>
        <a:solidFill>
          <a:schemeClr val="bg2">
            <a:lumMod val="50000"/>
            <a:lumOff val="50000"/>
          </a:schemeClr>
        </a:solidFill>
      </dgm:spPr>
    </dgm:pt>
    <dgm:pt modelId="{B728E3D2-E578-44CA-94CD-3A86054081C2}" type="pres">
      <dgm:prSet presAssocID="{F2879C9E-25B4-431B-9F73-23ACBDE059C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roup"/>
        </a:ext>
      </dgm:extLst>
    </dgm:pt>
    <dgm:pt modelId="{802DBF20-C69E-4394-A21F-F49D81F7ED9B}" type="pres">
      <dgm:prSet presAssocID="{F2879C9E-25B4-431B-9F73-23ACBDE059C8}" presName="spaceRect" presStyleCnt="0"/>
      <dgm:spPr/>
    </dgm:pt>
    <dgm:pt modelId="{9480BFDE-70B9-4D11-B33A-967A265668A1}" type="pres">
      <dgm:prSet presAssocID="{F2879C9E-25B4-431B-9F73-23ACBDE059C8}" presName="parTx" presStyleLbl="revTx" presStyleIdx="2" presStyleCnt="6">
        <dgm:presLayoutVars>
          <dgm:chMax val="0"/>
          <dgm:chPref val="0"/>
        </dgm:presLayoutVars>
      </dgm:prSet>
      <dgm:spPr/>
    </dgm:pt>
    <dgm:pt modelId="{3D8B5294-DEB2-419A-ADCD-1265BA25F183}" type="pres">
      <dgm:prSet presAssocID="{49442A5A-D5BA-40F1-9E0E-238E5714060C}" presName="sibTrans" presStyleCnt="0"/>
      <dgm:spPr/>
    </dgm:pt>
    <dgm:pt modelId="{6CCD8A5E-C756-49D6-8F04-7751F74CF08E}" type="pres">
      <dgm:prSet presAssocID="{966FC17F-5094-496B-AA70-0F470FD587FE}" presName="compNode" presStyleCnt="0"/>
      <dgm:spPr/>
    </dgm:pt>
    <dgm:pt modelId="{78B61365-E784-4B89-A66F-4E7978F87756}" type="pres">
      <dgm:prSet presAssocID="{966FC17F-5094-496B-AA70-0F470FD587FE}" presName="bgRect" presStyleLbl="bgShp" presStyleIdx="3" presStyleCnt="6"/>
      <dgm:spPr>
        <a:solidFill>
          <a:schemeClr val="bg2">
            <a:lumMod val="50000"/>
            <a:lumOff val="50000"/>
          </a:schemeClr>
        </a:solidFill>
      </dgm:spPr>
    </dgm:pt>
    <dgm:pt modelId="{3C849B9E-1911-4772-97F4-B5097B1427B9}" type="pres">
      <dgm:prSet presAssocID="{966FC17F-5094-496B-AA70-0F470FD587F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d with Gears"/>
        </a:ext>
      </dgm:extLst>
    </dgm:pt>
    <dgm:pt modelId="{94587D6E-C95F-4630-9B85-DA8B42CB98F9}" type="pres">
      <dgm:prSet presAssocID="{966FC17F-5094-496B-AA70-0F470FD587FE}" presName="spaceRect" presStyleCnt="0"/>
      <dgm:spPr/>
    </dgm:pt>
    <dgm:pt modelId="{CB10598D-FAB1-4FC0-A47C-95746A75E0F7}" type="pres">
      <dgm:prSet presAssocID="{966FC17F-5094-496B-AA70-0F470FD587FE}" presName="parTx" presStyleLbl="revTx" presStyleIdx="3" presStyleCnt="6">
        <dgm:presLayoutVars>
          <dgm:chMax val="0"/>
          <dgm:chPref val="0"/>
        </dgm:presLayoutVars>
      </dgm:prSet>
      <dgm:spPr/>
    </dgm:pt>
    <dgm:pt modelId="{569CE111-A07C-4D1A-8F9C-2DF6B61E2A05}" type="pres">
      <dgm:prSet presAssocID="{A6717BC1-464C-4AFF-87FD-15E69737EDFF}" presName="sibTrans" presStyleCnt="0"/>
      <dgm:spPr/>
    </dgm:pt>
    <dgm:pt modelId="{966D422E-5E28-4E4E-B76A-E573EB4B7E03}" type="pres">
      <dgm:prSet presAssocID="{1711962D-0B70-49AC-AA5F-6A9292BEAD33}" presName="compNode" presStyleCnt="0"/>
      <dgm:spPr/>
    </dgm:pt>
    <dgm:pt modelId="{676BE8DE-1326-4DF2-8822-4B05A987DDFC}" type="pres">
      <dgm:prSet presAssocID="{1711962D-0B70-49AC-AA5F-6A9292BEAD33}" presName="bgRect" presStyleLbl="bgShp" presStyleIdx="4" presStyleCnt="6"/>
      <dgm:spPr>
        <a:solidFill>
          <a:schemeClr val="bg2">
            <a:lumMod val="50000"/>
            <a:lumOff val="50000"/>
          </a:schemeClr>
        </a:solidFill>
      </dgm:spPr>
    </dgm:pt>
    <dgm:pt modelId="{4BA49360-AEAE-4976-8F9B-FA851816E828}" type="pres">
      <dgm:prSet presAssocID="{1711962D-0B70-49AC-AA5F-6A9292BEAD33}"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Lightbulb"/>
        </a:ext>
      </dgm:extLst>
    </dgm:pt>
    <dgm:pt modelId="{2CA944D3-741A-4FCF-9357-74199D514344}" type="pres">
      <dgm:prSet presAssocID="{1711962D-0B70-49AC-AA5F-6A9292BEAD33}" presName="spaceRect" presStyleCnt="0"/>
      <dgm:spPr/>
    </dgm:pt>
    <dgm:pt modelId="{5B1A0ED4-7074-40D3-8FBF-ADFE91337F2E}" type="pres">
      <dgm:prSet presAssocID="{1711962D-0B70-49AC-AA5F-6A9292BEAD33}" presName="parTx" presStyleLbl="revTx" presStyleIdx="4" presStyleCnt="6">
        <dgm:presLayoutVars>
          <dgm:chMax val="0"/>
          <dgm:chPref val="0"/>
        </dgm:presLayoutVars>
      </dgm:prSet>
      <dgm:spPr/>
    </dgm:pt>
    <dgm:pt modelId="{26960B23-A296-4963-96EC-AEBDF42647B8}" type="pres">
      <dgm:prSet presAssocID="{7D697884-987F-400A-B36E-B94B06CD003B}" presName="sibTrans" presStyleCnt="0"/>
      <dgm:spPr/>
    </dgm:pt>
    <dgm:pt modelId="{91BB0728-0BD1-412D-8867-7015ECAD37DF}" type="pres">
      <dgm:prSet presAssocID="{2318DA29-79E6-4874-9AE5-9DB5C39D6688}" presName="compNode" presStyleCnt="0"/>
      <dgm:spPr/>
    </dgm:pt>
    <dgm:pt modelId="{04A3B139-83CC-4B18-B90E-E8DDB7358F01}" type="pres">
      <dgm:prSet presAssocID="{2318DA29-79E6-4874-9AE5-9DB5C39D6688}" presName="bgRect" presStyleLbl="bgShp" presStyleIdx="5" presStyleCnt="6"/>
      <dgm:spPr>
        <a:solidFill>
          <a:schemeClr val="bg2">
            <a:lumMod val="50000"/>
            <a:lumOff val="50000"/>
          </a:schemeClr>
        </a:solidFill>
      </dgm:spPr>
    </dgm:pt>
    <dgm:pt modelId="{9C2E0245-E481-4CD0-BF91-7CE55DEA7EF3}" type="pres">
      <dgm:prSet presAssocID="{2318DA29-79E6-4874-9AE5-9DB5C39D6688}"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Bar chart"/>
        </a:ext>
      </dgm:extLst>
    </dgm:pt>
    <dgm:pt modelId="{946F7CAC-5F05-47D4-993E-70EF409849E0}" type="pres">
      <dgm:prSet presAssocID="{2318DA29-79E6-4874-9AE5-9DB5C39D6688}" presName="spaceRect" presStyleCnt="0"/>
      <dgm:spPr/>
    </dgm:pt>
    <dgm:pt modelId="{8249FD1E-998D-4611-B9AD-816C9DB1A20C}" type="pres">
      <dgm:prSet presAssocID="{2318DA29-79E6-4874-9AE5-9DB5C39D6688}" presName="parTx" presStyleLbl="revTx" presStyleIdx="5" presStyleCnt="6">
        <dgm:presLayoutVars>
          <dgm:chMax val="0"/>
          <dgm:chPref val="0"/>
        </dgm:presLayoutVars>
      </dgm:prSet>
      <dgm:spPr/>
    </dgm:pt>
  </dgm:ptLst>
  <dgm:cxnLst>
    <dgm:cxn modelId="{8E57FB09-5B7F-409B-AEBD-B43ED209993C}" srcId="{C04545E1-E668-4996-A827-1266984B2787}" destId="{2318DA29-79E6-4874-9AE5-9DB5C39D6688}" srcOrd="5" destOrd="0" parTransId="{C788342A-766A-4E39-A60B-57D7C10F81ED}" sibTransId="{4B712AE5-BD57-4A95-89C3-B718761A5956}"/>
    <dgm:cxn modelId="{33C4741B-F51E-41E4-A524-08132FCB53DA}" srcId="{C04545E1-E668-4996-A827-1266984B2787}" destId="{2AF2F719-80B0-4D83-8313-90920A410DB0}" srcOrd="0" destOrd="0" parTransId="{108DA1E8-F37F-40E9-A1ED-5975213B7C95}" sibTransId="{93F2F608-7AC4-45D1-A6D3-DF3044090928}"/>
    <dgm:cxn modelId="{645ECA1D-E346-467F-940F-2B8DDDEFB56E}" type="presOf" srcId="{F2879C9E-25B4-431B-9F73-23ACBDE059C8}" destId="{9480BFDE-70B9-4D11-B33A-967A265668A1}" srcOrd="0" destOrd="0" presId="urn:microsoft.com/office/officeart/2018/2/layout/IconVerticalSolidList"/>
    <dgm:cxn modelId="{DC41D22C-2F6E-4221-ADD1-69BD7C50E724}" type="presOf" srcId="{0F701C82-E8FE-4352-8E04-A99DEEEE5581}" destId="{76BFAFAE-1E7F-4A7C-A6EC-BCEC0465B6A7}" srcOrd="0" destOrd="0" presId="urn:microsoft.com/office/officeart/2018/2/layout/IconVerticalSolidList"/>
    <dgm:cxn modelId="{CA1A9F3B-7E4D-42C8-89CA-D45CF9218360}" srcId="{C04545E1-E668-4996-A827-1266984B2787}" destId="{1711962D-0B70-49AC-AA5F-6A9292BEAD33}" srcOrd="4" destOrd="0" parTransId="{CBF0E815-8E3C-4FC8-92D4-C3202881EB67}" sibTransId="{7D697884-987F-400A-B36E-B94B06CD003B}"/>
    <dgm:cxn modelId="{A4506A66-7AD3-4372-9243-EAE224E18B65}" srcId="{C04545E1-E668-4996-A827-1266984B2787}" destId="{0F701C82-E8FE-4352-8E04-A99DEEEE5581}" srcOrd="1" destOrd="0" parTransId="{0B0EF950-1D5A-4154-8C84-AA4844B1D3D6}" sibTransId="{ADD8EF83-A1B4-40CF-88E4-C1E08D544DFB}"/>
    <dgm:cxn modelId="{5AD98C4B-E2F7-49F0-8B06-636C5BBDEEC1}" srcId="{C04545E1-E668-4996-A827-1266984B2787}" destId="{966FC17F-5094-496B-AA70-0F470FD587FE}" srcOrd="3" destOrd="0" parTransId="{5B47E170-2F42-4EDF-B27A-B3D2AB1682B2}" sibTransId="{A6717BC1-464C-4AFF-87FD-15E69737EDFF}"/>
    <dgm:cxn modelId="{31A6F34B-7F75-4253-9DFE-0DFDD0824279}" type="presOf" srcId="{2318DA29-79E6-4874-9AE5-9DB5C39D6688}" destId="{8249FD1E-998D-4611-B9AD-816C9DB1A20C}" srcOrd="0" destOrd="0" presId="urn:microsoft.com/office/officeart/2018/2/layout/IconVerticalSolidList"/>
    <dgm:cxn modelId="{6AEA7553-8CFE-41C5-A96F-9B81B3B8DDAC}" type="presOf" srcId="{1711962D-0B70-49AC-AA5F-6A9292BEAD33}" destId="{5B1A0ED4-7074-40D3-8FBF-ADFE91337F2E}" srcOrd="0" destOrd="0" presId="urn:microsoft.com/office/officeart/2018/2/layout/IconVerticalSolidList"/>
    <dgm:cxn modelId="{711AD876-6A67-48F4-B898-53C01C3908CF}" type="presOf" srcId="{2AF2F719-80B0-4D83-8313-90920A410DB0}" destId="{39DF1C84-E718-48AA-8FE9-8B70DB741D47}" srcOrd="0" destOrd="0" presId="urn:microsoft.com/office/officeart/2018/2/layout/IconVerticalSolidList"/>
    <dgm:cxn modelId="{0303719D-B47F-4819-85C3-ACD674452D77}" srcId="{C04545E1-E668-4996-A827-1266984B2787}" destId="{F2879C9E-25B4-431B-9F73-23ACBDE059C8}" srcOrd="2" destOrd="0" parTransId="{A12C633A-A553-464B-95A8-C3AF5D21435B}" sibTransId="{49442A5A-D5BA-40F1-9E0E-238E5714060C}"/>
    <dgm:cxn modelId="{A620FAA8-859A-44C8-AA30-097762B7670B}" type="presOf" srcId="{C04545E1-E668-4996-A827-1266984B2787}" destId="{A7587DB6-27D0-4A55-AD2D-39FC0338FDDC}" srcOrd="0" destOrd="0" presId="urn:microsoft.com/office/officeart/2018/2/layout/IconVerticalSolidList"/>
    <dgm:cxn modelId="{0752FAF2-1B29-4B81-8147-B26DCA7FF3DD}" type="presOf" srcId="{966FC17F-5094-496B-AA70-0F470FD587FE}" destId="{CB10598D-FAB1-4FC0-A47C-95746A75E0F7}" srcOrd="0" destOrd="0" presId="urn:microsoft.com/office/officeart/2018/2/layout/IconVerticalSolidList"/>
    <dgm:cxn modelId="{83C0A681-709C-4C2D-888B-97B4ADEBBFD1}" type="presParOf" srcId="{A7587DB6-27D0-4A55-AD2D-39FC0338FDDC}" destId="{1AC3CA6D-961E-4E07-9687-82E03C0CF925}" srcOrd="0" destOrd="0" presId="urn:microsoft.com/office/officeart/2018/2/layout/IconVerticalSolidList"/>
    <dgm:cxn modelId="{4852101B-1830-47CF-942A-DF54FF6DB171}" type="presParOf" srcId="{1AC3CA6D-961E-4E07-9687-82E03C0CF925}" destId="{02BAC977-03CB-44B4-8B26-DF41A7EE5E43}" srcOrd="0" destOrd="0" presId="urn:microsoft.com/office/officeart/2018/2/layout/IconVerticalSolidList"/>
    <dgm:cxn modelId="{6943F224-424E-4FF0-904E-C42242B3152A}" type="presParOf" srcId="{1AC3CA6D-961E-4E07-9687-82E03C0CF925}" destId="{79957C7B-8C30-40BF-A55C-13303A5428A6}" srcOrd="1" destOrd="0" presId="urn:microsoft.com/office/officeart/2018/2/layout/IconVerticalSolidList"/>
    <dgm:cxn modelId="{A75DF07C-D8F6-42DC-9BB4-27BCD7606755}" type="presParOf" srcId="{1AC3CA6D-961E-4E07-9687-82E03C0CF925}" destId="{32374F8C-7600-4D3E-87F4-F9306A3C6C53}" srcOrd="2" destOrd="0" presId="urn:microsoft.com/office/officeart/2018/2/layout/IconVerticalSolidList"/>
    <dgm:cxn modelId="{E1E095D4-B289-4800-8AEA-C5872AA82C68}" type="presParOf" srcId="{1AC3CA6D-961E-4E07-9687-82E03C0CF925}" destId="{39DF1C84-E718-48AA-8FE9-8B70DB741D47}" srcOrd="3" destOrd="0" presId="urn:microsoft.com/office/officeart/2018/2/layout/IconVerticalSolidList"/>
    <dgm:cxn modelId="{DE916105-9972-402A-A0E1-1D24F8CA8B34}" type="presParOf" srcId="{A7587DB6-27D0-4A55-AD2D-39FC0338FDDC}" destId="{D80FE331-40F5-4938-8F3D-7B15E1B7541A}" srcOrd="1" destOrd="0" presId="urn:microsoft.com/office/officeart/2018/2/layout/IconVerticalSolidList"/>
    <dgm:cxn modelId="{34ECB857-9287-45AB-87F4-1527F6B080DC}" type="presParOf" srcId="{A7587DB6-27D0-4A55-AD2D-39FC0338FDDC}" destId="{D8E2EC2C-58DC-4A8D-80E7-A39A768A8975}" srcOrd="2" destOrd="0" presId="urn:microsoft.com/office/officeart/2018/2/layout/IconVerticalSolidList"/>
    <dgm:cxn modelId="{B7018A25-5C09-444E-BEFE-9740AB036A19}" type="presParOf" srcId="{D8E2EC2C-58DC-4A8D-80E7-A39A768A8975}" destId="{B0DD7DFA-9849-4146-8172-D64BC2DE3BC0}" srcOrd="0" destOrd="0" presId="urn:microsoft.com/office/officeart/2018/2/layout/IconVerticalSolidList"/>
    <dgm:cxn modelId="{33DC2B70-8743-4C5A-BF3C-6A6B1B04FA70}" type="presParOf" srcId="{D8E2EC2C-58DC-4A8D-80E7-A39A768A8975}" destId="{2DA52574-99DF-419D-8B15-C862F3769690}" srcOrd="1" destOrd="0" presId="urn:microsoft.com/office/officeart/2018/2/layout/IconVerticalSolidList"/>
    <dgm:cxn modelId="{454C6951-839D-4096-B4DD-411A4269DBAF}" type="presParOf" srcId="{D8E2EC2C-58DC-4A8D-80E7-A39A768A8975}" destId="{354E455F-0E8A-4F48-86B5-9204AC3AA75C}" srcOrd="2" destOrd="0" presId="urn:microsoft.com/office/officeart/2018/2/layout/IconVerticalSolidList"/>
    <dgm:cxn modelId="{A1EA8096-F13E-4E10-A769-6752163EE542}" type="presParOf" srcId="{D8E2EC2C-58DC-4A8D-80E7-A39A768A8975}" destId="{76BFAFAE-1E7F-4A7C-A6EC-BCEC0465B6A7}" srcOrd="3" destOrd="0" presId="urn:microsoft.com/office/officeart/2018/2/layout/IconVerticalSolidList"/>
    <dgm:cxn modelId="{161CB4FC-EFB3-400A-9A91-91D718F7CD6E}" type="presParOf" srcId="{A7587DB6-27D0-4A55-AD2D-39FC0338FDDC}" destId="{7F0F9976-4D73-40D1-9E45-97C8CC8565DF}" srcOrd="3" destOrd="0" presId="urn:microsoft.com/office/officeart/2018/2/layout/IconVerticalSolidList"/>
    <dgm:cxn modelId="{AB2DB7AB-4CCA-42D3-97AB-1E7D692DE57F}" type="presParOf" srcId="{A7587DB6-27D0-4A55-AD2D-39FC0338FDDC}" destId="{BA6C4486-9B8A-4756-85F6-B3B31538ADBB}" srcOrd="4" destOrd="0" presId="urn:microsoft.com/office/officeart/2018/2/layout/IconVerticalSolidList"/>
    <dgm:cxn modelId="{C7F0E9C2-5E68-416E-B358-78BBD30E1A10}" type="presParOf" srcId="{BA6C4486-9B8A-4756-85F6-B3B31538ADBB}" destId="{2CA7423C-3DA6-4886-AFB5-EFA8230966C7}" srcOrd="0" destOrd="0" presId="urn:microsoft.com/office/officeart/2018/2/layout/IconVerticalSolidList"/>
    <dgm:cxn modelId="{85E199A3-81BF-4DA8-A83D-1A184234B596}" type="presParOf" srcId="{BA6C4486-9B8A-4756-85F6-B3B31538ADBB}" destId="{B728E3D2-E578-44CA-94CD-3A86054081C2}" srcOrd="1" destOrd="0" presId="urn:microsoft.com/office/officeart/2018/2/layout/IconVerticalSolidList"/>
    <dgm:cxn modelId="{65BCAEB2-B9D2-4105-BEAE-5E04085BF731}" type="presParOf" srcId="{BA6C4486-9B8A-4756-85F6-B3B31538ADBB}" destId="{802DBF20-C69E-4394-A21F-F49D81F7ED9B}" srcOrd="2" destOrd="0" presId="urn:microsoft.com/office/officeart/2018/2/layout/IconVerticalSolidList"/>
    <dgm:cxn modelId="{95279704-6C1B-4C9D-A73D-C27720D511ED}" type="presParOf" srcId="{BA6C4486-9B8A-4756-85F6-B3B31538ADBB}" destId="{9480BFDE-70B9-4D11-B33A-967A265668A1}" srcOrd="3" destOrd="0" presId="urn:microsoft.com/office/officeart/2018/2/layout/IconVerticalSolidList"/>
    <dgm:cxn modelId="{B4B35A8E-3BE3-4753-BDA9-595AFC495AF8}" type="presParOf" srcId="{A7587DB6-27D0-4A55-AD2D-39FC0338FDDC}" destId="{3D8B5294-DEB2-419A-ADCD-1265BA25F183}" srcOrd="5" destOrd="0" presId="urn:microsoft.com/office/officeart/2018/2/layout/IconVerticalSolidList"/>
    <dgm:cxn modelId="{0403A7A7-0536-4164-9BBE-678F7FB0A613}" type="presParOf" srcId="{A7587DB6-27D0-4A55-AD2D-39FC0338FDDC}" destId="{6CCD8A5E-C756-49D6-8F04-7751F74CF08E}" srcOrd="6" destOrd="0" presId="urn:microsoft.com/office/officeart/2018/2/layout/IconVerticalSolidList"/>
    <dgm:cxn modelId="{ED2C74CF-2C3A-469B-A5A0-7D33BD04974A}" type="presParOf" srcId="{6CCD8A5E-C756-49D6-8F04-7751F74CF08E}" destId="{78B61365-E784-4B89-A66F-4E7978F87756}" srcOrd="0" destOrd="0" presId="urn:microsoft.com/office/officeart/2018/2/layout/IconVerticalSolidList"/>
    <dgm:cxn modelId="{72542F4A-053D-4CC4-96C5-C4992125C4CA}" type="presParOf" srcId="{6CCD8A5E-C756-49D6-8F04-7751F74CF08E}" destId="{3C849B9E-1911-4772-97F4-B5097B1427B9}" srcOrd="1" destOrd="0" presId="urn:microsoft.com/office/officeart/2018/2/layout/IconVerticalSolidList"/>
    <dgm:cxn modelId="{E8919821-4750-4ABA-8437-FF6441369558}" type="presParOf" srcId="{6CCD8A5E-C756-49D6-8F04-7751F74CF08E}" destId="{94587D6E-C95F-4630-9B85-DA8B42CB98F9}" srcOrd="2" destOrd="0" presId="urn:microsoft.com/office/officeart/2018/2/layout/IconVerticalSolidList"/>
    <dgm:cxn modelId="{0D12A8A5-8051-411F-A29C-A8087ACA9465}" type="presParOf" srcId="{6CCD8A5E-C756-49D6-8F04-7751F74CF08E}" destId="{CB10598D-FAB1-4FC0-A47C-95746A75E0F7}" srcOrd="3" destOrd="0" presId="urn:microsoft.com/office/officeart/2018/2/layout/IconVerticalSolidList"/>
    <dgm:cxn modelId="{9B51DB9B-318C-472C-96DB-E11BA9516280}" type="presParOf" srcId="{A7587DB6-27D0-4A55-AD2D-39FC0338FDDC}" destId="{569CE111-A07C-4D1A-8F9C-2DF6B61E2A05}" srcOrd="7" destOrd="0" presId="urn:microsoft.com/office/officeart/2018/2/layout/IconVerticalSolidList"/>
    <dgm:cxn modelId="{428AC662-ED9D-4D67-B7C8-3A81BAAA24ED}" type="presParOf" srcId="{A7587DB6-27D0-4A55-AD2D-39FC0338FDDC}" destId="{966D422E-5E28-4E4E-B76A-E573EB4B7E03}" srcOrd="8" destOrd="0" presId="urn:microsoft.com/office/officeart/2018/2/layout/IconVerticalSolidList"/>
    <dgm:cxn modelId="{B255BF7F-35A7-41C6-A094-54C7A7CC7C83}" type="presParOf" srcId="{966D422E-5E28-4E4E-B76A-E573EB4B7E03}" destId="{676BE8DE-1326-4DF2-8822-4B05A987DDFC}" srcOrd="0" destOrd="0" presId="urn:microsoft.com/office/officeart/2018/2/layout/IconVerticalSolidList"/>
    <dgm:cxn modelId="{1122DF06-F1A0-47D6-A03D-79CC5BCED73B}" type="presParOf" srcId="{966D422E-5E28-4E4E-B76A-E573EB4B7E03}" destId="{4BA49360-AEAE-4976-8F9B-FA851816E828}" srcOrd="1" destOrd="0" presId="urn:microsoft.com/office/officeart/2018/2/layout/IconVerticalSolidList"/>
    <dgm:cxn modelId="{702A119B-C1D4-4C0F-B5A4-EA35FFC72317}" type="presParOf" srcId="{966D422E-5E28-4E4E-B76A-E573EB4B7E03}" destId="{2CA944D3-741A-4FCF-9357-74199D514344}" srcOrd="2" destOrd="0" presId="urn:microsoft.com/office/officeart/2018/2/layout/IconVerticalSolidList"/>
    <dgm:cxn modelId="{98D2A705-994F-46FF-A72B-3D4FC7728EBF}" type="presParOf" srcId="{966D422E-5E28-4E4E-B76A-E573EB4B7E03}" destId="{5B1A0ED4-7074-40D3-8FBF-ADFE91337F2E}" srcOrd="3" destOrd="0" presId="urn:microsoft.com/office/officeart/2018/2/layout/IconVerticalSolidList"/>
    <dgm:cxn modelId="{A733596A-698A-4C3B-BD45-2E786620AB6F}" type="presParOf" srcId="{A7587DB6-27D0-4A55-AD2D-39FC0338FDDC}" destId="{26960B23-A296-4963-96EC-AEBDF42647B8}" srcOrd="9" destOrd="0" presId="urn:microsoft.com/office/officeart/2018/2/layout/IconVerticalSolidList"/>
    <dgm:cxn modelId="{3CA81A79-798E-4621-BEF0-C29C72E89D09}" type="presParOf" srcId="{A7587DB6-27D0-4A55-AD2D-39FC0338FDDC}" destId="{91BB0728-0BD1-412D-8867-7015ECAD37DF}" srcOrd="10" destOrd="0" presId="urn:microsoft.com/office/officeart/2018/2/layout/IconVerticalSolidList"/>
    <dgm:cxn modelId="{0D19638B-5514-49EC-A76C-C1CF21B0EFA0}" type="presParOf" srcId="{91BB0728-0BD1-412D-8867-7015ECAD37DF}" destId="{04A3B139-83CC-4B18-B90E-E8DDB7358F01}" srcOrd="0" destOrd="0" presId="urn:microsoft.com/office/officeart/2018/2/layout/IconVerticalSolidList"/>
    <dgm:cxn modelId="{08EF7458-AC17-44E2-B140-CFDCB60E518E}" type="presParOf" srcId="{91BB0728-0BD1-412D-8867-7015ECAD37DF}" destId="{9C2E0245-E481-4CD0-BF91-7CE55DEA7EF3}" srcOrd="1" destOrd="0" presId="urn:microsoft.com/office/officeart/2018/2/layout/IconVerticalSolidList"/>
    <dgm:cxn modelId="{389977FB-94A3-40D9-B937-C437C0C3C869}" type="presParOf" srcId="{91BB0728-0BD1-412D-8867-7015ECAD37DF}" destId="{946F7CAC-5F05-47D4-993E-70EF409849E0}" srcOrd="2" destOrd="0" presId="urn:microsoft.com/office/officeart/2018/2/layout/IconVerticalSolidList"/>
    <dgm:cxn modelId="{75F26470-A52E-4D81-95F7-088CA2AD5568}" type="presParOf" srcId="{91BB0728-0BD1-412D-8867-7015ECAD37DF}" destId="{8249FD1E-998D-4611-B9AD-816C9DB1A20C}"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F10FCB8-1D5B-4AB1-9922-20FEA35F0E73}" type="doc">
      <dgm:prSet loTypeId="urn:microsoft.com/office/officeart/2016/7/layout/VerticalHollowActionList" loCatId="List" qsTypeId="urn:microsoft.com/office/officeart/2005/8/quickstyle/simple1" qsCatId="simple" csTypeId="urn:microsoft.com/office/officeart/2005/8/colors/colorful5" csCatId="colorful" phldr="1"/>
      <dgm:spPr/>
      <dgm:t>
        <a:bodyPr/>
        <a:lstStyle/>
        <a:p>
          <a:endParaRPr lang="en-US"/>
        </a:p>
      </dgm:t>
    </dgm:pt>
    <dgm:pt modelId="{965DAF86-355B-48E2-8873-4DFE9E5CEC53}">
      <dgm:prSet/>
      <dgm:spPr/>
      <dgm:t>
        <a:bodyPr/>
        <a:lstStyle/>
        <a:p>
          <a:r>
            <a:rPr lang="en-US"/>
            <a:t>Create</a:t>
          </a:r>
        </a:p>
      </dgm:t>
    </dgm:pt>
    <dgm:pt modelId="{78848AFD-6D0E-44D7-894C-ED92760B3539}" type="parTrans" cxnId="{F2F8A0A7-2888-4E29-AAE2-EDDA7D6BA653}">
      <dgm:prSet/>
      <dgm:spPr/>
      <dgm:t>
        <a:bodyPr/>
        <a:lstStyle/>
        <a:p>
          <a:endParaRPr lang="en-US"/>
        </a:p>
      </dgm:t>
    </dgm:pt>
    <dgm:pt modelId="{1D620CD1-5FF5-4EE0-94D4-F347A2266029}" type="sibTrans" cxnId="{F2F8A0A7-2888-4E29-AAE2-EDDA7D6BA653}">
      <dgm:prSet/>
      <dgm:spPr/>
      <dgm:t>
        <a:bodyPr/>
        <a:lstStyle/>
        <a:p>
          <a:endParaRPr lang="en-US"/>
        </a:p>
      </dgm:t>
    </dgm:pt>
    <dgm:pt modelId="{8D6F3952-F01F-41C2-967A-6832BC3E3D3F}">
      <dgm:prSet/>
      <dgm:spPr/>
      <dgm:t>
        <a:bodyPr/>
        <a:lstStyle/>
        <a:p>
          <a:r>
            <a:rPr lang="en-US"/>
            <a:t>Create a culture or proactive stewardship</a:t>
          </a:r>
        </a:p>
      </dgm:t>
    </dgm:pt>
    <dgm:pt modelId="{392744A6-8D39-45A5-9A74-943CC22E0A37}" type="parTrans" cxnId="{BCC52B92-987C-4DE8-87E6-8152B5058FB0}">
      <dgm:prSet/>
      <dgm:spPr/>
      <dgm:t>
        <a:bodyPr/>
        <a:lstStyle/>
        <a:p>
          <a:endParaRPr lang="en-US"/>
        </a:p>
      </dgm:t>
    </dgm:pt>
    <dgm:pt modelId="{A49F73C6-9C4D-44B0-93F0-0A77C724A1C9}" type="sibTrans" cxnId="{BCC52B92-987C-4DE8-87E6-8152B5058FB0}">
      <dgm:prSet/>
      <dgm:spPr/>
      <dgm:t>
        <a:bodyPr/>
        <a:lstStyle/>
        <a:p>
          <a:endParaRPr lang="en-US"/>
        </a:p>
      </dgm:t>
    </dgm:pt>
    <dgm:pt modelId="{B1E78EBC-C831-4BDE-9995-853873F1B02D}">
      <dgm:prSet/>
      <dgm:spPr/>
      <dgm:t>
        <a:bodyPr/>
        <a:lstStyle/>
        <a:p>
          <a:r>
            <a:rPr lang="en-US"/>
            <a:t>Get</a:t>
          </a:r>
        </a:p>
      </dgm:t>
    </dgm:pt>
    <dgm:pt modelId="{671EB221-4F1E-485D-A422-5B7EBBAF101A}" type="parTrans" cxnId="{7FEDDAD5-845B-430C-9BBA-CF9830EE3255}">
      <dgm:prSet/>
      <dgm:spPr/>
      <dgm:t>
        <a:bodyPr/>
        <a:lstStyle/>
        <a:p>
          <a:endParaRPr lang="en-US"/>
        </a:p>
      </dgm:t>
    </dgm:pt>
    <dgm:pt modelId="{B6A6A980-9140-493D-8F42-CB8F1D87FE98}" type="sibTrans" cxnId="{7FEDDAD5-845B-430C-9BBA-CF9830EE3255}">
      <dgm:prSet/>
      <dgm:spPr/>
      <dgm:t>
        <a:bodyPr/>
        <a:lstStyle/>
        <a:p>
          <a:endParaRPr lang="en-US"/>
        </a:p>
      </dgm:t>
    </dgm:pt>
    <dgm:pt modelId="{1A2239EA-7C02-457C-9D03-CE4956C0D580}">
      <dgm:prSet/>
      <dgm:spPr/>
      <dgm:t>
        <a:bodyPr/>
        <a:lstStyle/>
        <a:p>
          <a:r>
            <a:rPr lang="en-US"/>
            <a:t>Get the opinions and input of users, line-of-business managers, and leadership</a:t>
          </a:r>
        </a:p>
      </dgm:t>
    </dgm:pt>
    <dgm:pt modelId="{CB97A14F-732B-4A8A-B80A-1988BB501B97}" type="parTrans" cxnId="{19A3795A-C841-4803-8FE9-67C6EAA9F9FE}">
      <dgm:prSet/>
      <dgm:spPr/>
      <dgm:t>
        <a:bodyPr/>
        <a:lstStyle/>
        <a:p>
          <a:endParaRPr lang="en-US"/>
        </a:p>
      </dgm:t>
    </dgm:pt>
    <dgm:pt modelId="{332BFB74-1F78-4667-B4CE-BD4A2194A502}" type="sibTrans" cxnId="{19A3795A-C841-4803-8FE9-67C6EAA9F9FE}">
      <dgm:prSet/>
      <dgm:spPr/>
      <dgm:t>
        <a:bodyPr/>
        <a:lstStyle/>
        <a:p>
          <a:endParaRPr lang="en-US"/>
        </a:p>
      </dgm:t>
    </dgm:pt>
    <dgm:pt modelId="{4C3396D3-D879-4ABC-92B8-5F0BDFB89E1C}">
      <dgm:prSet/>
      <dgm:spPr/>
      <dgm:t>
        <a:bodyPr/>
        <a:lstStyle/>
        <a:p>
          <a:r>
            <a:rPr lang="en-US"/>
            <a:t>Eliminate</a:t>
          </a:r>
        </a:p>
      </dgm:t>
    </dgm:pt>
    <dgm:pt modelId="{075EE822-7D4C-49CD-BBA1-FE4CA32037E1}" type="parTrans" cxnId="{B7EC5FBC-EF7D-4B72-A97D-75F2DDA333AB}">
      <dgm:prSet/>
      <dgm:spPr/>
      <dgm:t>
        <a:bodyPr/>
        <a:lstStyle/>
        <a:p>
          <a:endParaRPr lang="en-US"/>
        </a:p>
      </dgm:t>
    </dgm:pt>
    <dgm:pt modelId="{2784914E-F191-4F6F-B071-58C6021C9E2C}" type="sibTrans" cxnId="{B7EC5FBC-EF7D-4B72-A97D-75F2DDA333AB}">
      <dgm:prSet/>
      <dgm:spPr/>
      <dgm:t>
        <a:bodyPr/>
        <a:lstStyle/>
        <a:p>
          <a:endParaRPr lang="en-US"/>
        </a:p>
      </dgm:t>
    </dgm:pt>
    <dgm:pt modelId="{A254F3FD-87B7-497C-973E-72C0973833E6}">
      <dgm:prSet/>
      <dgm:spPr/>
      <dgm:t>
        <a:bodyPr/>
        <a:lstStyle/>
        <a:p>
          <a:r>
            <a:rPr lang="en-US" dirty="0"/>
            <a:t>Eliminate the acts of heroics</a:t>
          </a:r>
        </a:p>
      </dgm:t>
    </dgm:pt>
    <dgm:pt modelId="{93AE5322-A19D-4177-A754-BAD540E4E1AC}" type="parTrans" cxnId="{4FF96D1B-94FF-41A4-9637-B277E53B0228}">
      <dgm:prSet/>
      <dgm:spPr/>
      <dgm:t>
        <a:bodyPr/>
        <a:lstStyle/>
        <a:p>
          <a:endParaRPr lang="en-US"/>
        </a:p>
      </dgm:t>
    </dgm:pt>
    <dgm:pt modelId="{FDC8046C-6216-4530-A136-E018A87C4B5B}" type="sibTrans" cxnId="{4FF96D1B-94FF-41A4-9637-B277E53B0228}">
      <dgm:prSet/>
      <dgm:spPr/>
      <dgm:t>
        <a:bodyPr/>
        <a:lstStyle/>
        <a:p>
          <a:endParaRPr lang="en-US"/>
        </a:p>
      </dgm:t>
    </dgm:pt>
    <dgm:pt modelId="{88905E85-B70B-4D29-827B-313FB55423F8}">
      <dgm:prSet/>
      <dgm:spPr/>
      <dgm:t>
        <a:bodyPr/>
        <a:lstStyle/>
        <a:p>
          <a:r>
            <a:rPr lang="en-US"/>
            <a:t>Establish</a:t>
          </a:r>
        </a:p>
      </dgm:t>
    </dgm:pt>
    <dgm:pt modelId="{0449528A-8563-4E92-98D2-8C5EACC19243}" type="parTrans" cxnId="{71EFB9F1-BD07-4D75-AD84-9E019B182AC3}">
      <dgm:prSet/>
      <dgm:spPr/>
      <dgm:t>
        <a:bodyPr/>
        <a:lstStyle/>
        <a:p>
          <a:endParaRPr lang="en-US"/>
        </a:p>
      </dgm:t>
    </dgm:pt>
    <dgm:pt modelId="{B2C555F7-74EB-4517-94F3-7B7B2E2F47FC}" type="sibTrans" cxnId="{71EFB9F1-BD07-4D75-AD84-9E019B182AC3}">
      <dgm:prSet/>
      <dgm:spPr/>
      <dgm:t>
        <a:bodyPr/>
        <a:lstStyle/>
        <a:p>
          <a:endParaRPr lang="en-US"/>
        </a:p>
      </dgm:t>
    </dgm:pt>
    <dgm:pt modelId="{67BB4E97-EA9D-4230-902A-EA6419C30504}">
      <dgm:prSet/>
      <dgm:spPr/>
      <dgm:t>
        <a:bodyPr/>
        <a:lstStyle/>
        <a:p>
          <a:r>
            <a:rPr lang="en-US"/>
            <a:t>Establish data ownership</a:t>
          </a:r>
        </a:p>
      </dgm:t>
    </dgm:pt>
    <dgm:pt modelId="{8206154F-A0D8-4B90-8870-37D52E60502C}" type="parTrans" cxnId="{D6E72151-467C-47B8-81A1-DED2AAAB47C1}">
      <dgm:prSet/>
      <dgm:spPr/>
      <dgm:t>
        <a:bodyPr/>
        <a:lstStyle/>
        <a:p>
          <a:endParaRPr lang="en-US"/>
        </a:p>
      </dgm:t>
    </dgm:pt>
    <dgm:pt modelId="{51B987FE-D386-4796-B56D-572C5A285B97}" type="sibTrans" cxnId="{D6E72151-467C-47B8-81A1-DED2AAAB47C1}">
      <dgm:prSet/>
      <dgm:spPr/>
      <dgm:t>
        <a:bodyPr/>
        <a:lstStyle/>
        <a:p>
          <a:endParaRPr lang="en-US"/>
        </a:p>
      </dgm:t>
    </dgm:pt>
    <dgm:pt modelId="{F753EDD5-A489-461D-8A0B-9352E9A51A3D}">
      <dgm:prSet/>
      <dgm:spPr/>
      <dgm:t>
        <a:bodyPr/>
        <a:lstStyle/>
        <a:p>
          <a:r>
            <a:rPr lang="en-US"/>
            <a:t>Remediate</a:t>
          </a:r>
        </a:p>
      </dgm:t>
    </dgm:pt>
    <dgm:pt modelId="{14C941F9-F130-4C05-ACE5-3FA4994CBDD6}" type="parTrans" cxnId="{718CBCFF-48BF-4B16-B9A0-61BAAC53D5B7}">
      <dgm:prSet/>
      <dgm:spPr/>
      <dgm:t>
        <a:bodyPr/>
        <a:lstStyle/>
        <a:p>
          <a:endParaRPr lang="en-US"/>
        </a:p>
      </dgm:t>
    </dgm:pt>
    <dgm:pt modelId="{A8C31E4A-FC20-44BC-AE2A-03C193169D7C}" type="sibTrans" cxnId="{718CBCFF-48BF-4B16-B9A0-61BAAC53D5B7}">
      <dgm:prSet/>
      <dgm:spPr/>
      <dgm:t>
        <a:bodyPr/>
        <a:lstStyle/>
        <a:p>
          <a:endParaRPr lang="en-US"/>
        </a:p>
      </dgm:t>
    </dgm:pt>
    <dgm:pt modelId="{058F6D6D-95FA-4C81-91C5-53917200BD12}">
      <dgm:prSet/>
      <dgm:spPr/>
      <dgm:t>
        <a:bodyPr/>
        <a:lstStyle/>
        <a:p>
          <a:r>
            <a:rPr lang="en-US"/>
            <a:t>Remediate upstream processes</a:t>
          </a:r>
        </a:p>
      </dgm:t>
    </dgm:pt>
    <dgm:pt modelId="{EF536535-DB73-4C8E-8039-D9B31DB8AE58}" type="parTrans" cxnId="{BD079300-9057-4B3A-94A2-DAEAB42FCA43}">
      <dgm:prSet/>
      <dgm:spPr/>
      <dgm:t>
        <a:bodyPr/>
        <a:lstStyle/>
        <a:p>
          <a:endParaRPr lang="en-US"/>
        </a:p>
      </dgm:t>
    </dgm:pt>
    <dgm:pt modelId="{B54C1751-2FB1-4B3F-9BE4-DCFA3D7F166A}" type="sibTrans" cxnId="{BD079300-9057-4B3A-94A2-DAEAB42FCA43}">
      <dgm:prSet/>
      <dgm:spPr/>
      <dgm:t>
        <a:bodyPr/>
        <a:lstStyle/>
        <a:p>
          <a:endParaRPr lang="en-US"/>
        </a:p>
      </dgm:t>
    </dgm:pt>
    <dgm:pt modelId="{7F22AF01-84E8-4893-B181-02AB724E0F88}">
      <dgm:prSet/>
      <dgm:spPr/>
      <dgm:t>
        <a:bodyPr/>
        <a:lstStyle/>
        <a:p>
          <a:r>
            <a:rPr lang="en-US"/>
            <a:t>Resolve</a:t>
          </a:r>
        </a:p>
      </dgm:t>
    </dgm:pt>
    <dgm:pt modelId="{325A6AEB-9B82-408B-8F81-2F80599D6FD3}" type="parTrans" cxnId="{852A386D-0C12-48B2-8C1B-A282AC4123F0}">
      <dgm:prSet/>
      <dgm:spPr/>
      <dgm:t>
        <a:bodyPr/>
        <a:lstStyle/>
        <a:p>
          <a:endParaRPr lang="en-US"/>
        </a:p>
      </dgm:t>
    </dgm:pt>
    <dgm:pt modelId="{B16A7A75-F0D2-4381-B78D-958D7E7DF11D}" type="sibTrans" cxnId="{852A386D-0C12-48B2-8C1B-A282AC4123F0}">
      <dgm:prSet/>
      <dgm:spPr/>
      <dgm:t>
        <a:bodyPr/>
        <a:lstStyle/>
        <a:p>
          <a:endParaRPr lang="en-US"/>
        </a:p>
      </dgm:t>
    </dgm:pt>
    <dgm:pt modelId="{5A68E917-03A2-4E25-9F2F-CF5875C85148}">
      <dgm:prSet/>
      <dgm:spPr/>
      <dgm:t>
        <a:bodyPr/>
        <a:lstStyle/>
        <a:p>
          <a:r>
            <a:rPr lang="en-US"/>
            <a:t>Resolve conflicts</a:t>
          </a:r>
        </a:p>
      </dgm:t>
    </dgm:pt>
    <dgm:pt modelId="{617D48BF-57AB-4B1C-84C7-D1149B3B1CA2}" type="parTrans" cxnId="{3ADE47A9-DDB6-499B-B37F-6CD95E79566C}">
      <dgm:prSet/>
      <dgm:spPr/>
      <dgm:t>
        <a:bodyPr/>
        <a:lstStyle/>
        <a:p>
          <a:endParaRPr lang="en-US"/>
        </a:p>
      </dgm:t>
    </dgm:pt>
    <dgm:pt modelId="{94C7B13A-6DF6-4048-A488-96A33351A9AD}" type="sibTrans" cxnId="{3ADE47A9-DDB6-499B-B37F-6CD95E79566C}">
      <dgm:prSet/>
      <dgm:spPr/>
      <dgm:t>
        <a:bodyPr/>
        <a:lstStyle/>
        <a:p>
          <a:endParaRPr lang="en-US"/>
        </a:p>
      </dgm:t>
    </dgm:pt>
    <dgm:pt modelId="{AFA150D9-6E8D-4A65-8C54-493427F5662C}">
      <dgm:prSet/>
      <dgm:spPr/>
      <dgm:t>
        <a:bodyPr/>
        <a:lstStyle/>
        <a:p>
          <a:r>
            <a:rPr lang="en-US"/>
            <a:t>Change</a:t>
          </a:r>
        </a:p>
      </dgm:t>
    </dgm:pt>
    <dgm:pt modelId="{15363338-1F9D-494D-AB91-29B4A2DDD65B}" type="parTrans" cxnId="{FD49D480-6214-40F6-9571-780EE7ECDC35}">
      <dgm:prSet/>
      <dgm:spPr/>
      <dgm:t>
        <a:bodyPr/>
        <a:lstStyle/>
        <a:p>
          <a:endParaRPr lang="en-US"/>
        </a:p>
      </dgm:t>
    </dgm:pt>
    <dgm:pt modelId="{EB7FBA06-6FDA-4E00-8BB4-3427A07FF8FF}" type="sibTrans" cxnId="{FD49D480-6214-40F6-9571-780EE7ECDC35}">
      <dgm:prSet/>
      <dgm:spPr/>
      <dgm:t>
        <a:bodyPr/>
        <a:lstStyle/>
        <a:p>
          <a:endParaRPr lang="en-US"/>
        </a:p>
      </dgm:t>
    </dgm:pt>
    <dgm:pt modelId="{ED8E3403-1971-466C-878A-0B7017B2B30F}">
      <dgm:prSet/>
      <dgm:spPr/>
      <dgm:t>
        <a:bodyPr/>
        <a:lstStyle/>
        <a:p>
          <a:r>
            <a:rPr lang="en-US"/>
            <a:t>Change the way systems and processes produce and consume data</a:t>
          </a:r>
        </a:p>
      </dgm:t>
    </dgm:pt>
    <dgm:pt modelId="{7BC3E92D-DDB5-485B-97CB-218C6130172D}" type="parTrans" cxnId="{87B33D8D-D540-4089-96DA-9E9F442932B1}">
      <dgm:prSet/>
      <dgm:spPr/>
      <dgm:t>
        <a:bodyPr/>
        <a:lstStyle/>
        <a:p>
          <a:endParaRPr lang="en-US"/>
        </a:p>
      </dgm:t>
    </dgm:pt>
    <dgm:pt modelId="{D17D746A-DFBD-4925-97FD-B597F57DE97D}" type="sibTrans" cxnId="{87B33D8D-D540-4089-96DA-9E9F442932B1}">
      <dgm:prSet/>
      <dgm:spPr/>
      <dgm:t>
        <a:bodyPr/>
        <a:lstStyle/>
        <a:p>
          <a:endParaRPr lang="en-US"/>
        </a:p>
      </dgm:t>
    </dgm:pt>
    <dgm:pt modelId="{58E81293-9901-4262-8BD5-B4054802B4BC}">
      <dgm:prSet/>
      <dgm:spPr/>
      <dgm:t>
        <a:bodyPr/>
        <a:lstStyle/>
        <a:p>
          <a:r>
            <a:rPr lang="en-US"/>
            <a:t>Have</a:t>
          </a:r>
        </a:p>
      </dgm:t>
    </dgm:pt>
    <dgm:pt modelId="{4B87A2CD-835E-4590-B573-FF7F62BEA932}" type="parTrans" cxnId="{5A96A706-EADA-4453-BDD5-DF4B705410E1}">
      <dgm:prSet/>
      <dgm:spPr/>
      <dgm:t>
        <a:bodyPr/>
        <a:lstStyle/>
        <a:p>
          <a:endParaRPr lang="en-US"/>
        </a:p>
      </dgm:t>
    </dgm:pt>
    <dgm:pt modelId="{4DF3088C-AFB9-4675-9B34-58A9FC6F52F8}" type="sibTrans" cxnId="{5A96A706-EADA-4453-BDD5-DF4B705410E1}">
      <dgm:prSet/>
      <dgm:spPr/>
      <dgm:t>
        <a:bodyPr/>
        <a:lstStyle/>
        <a:p>
          <a:endParaRPr lang="en-US"/>
        </a:p>
      </dgm:t>
    </dgm:pt>
    <dgm:pt modelId="{50723429-4AFF-48DD-92B5-AFF66A855C25}">
      <dgm:prSet/>
      <dgm:spPr/>
      <dgm:t>
        <a:bodyPr/>
        <a:lstStyle/>
        <a:p>
          <a:r>
            <a:rPr lang="en-US"/>
            <a:t>Have a cross-functional and cross-business-unit understanding</a:t>
          </a:r>
        </a:p>
      </dgm:t>
    </dgm:pt>
    <dgm:pt modelId="{EB692BBB-A0B9-450F-9698-F6D01D8041B6}" type="parTrans" cxnId="{2E73DAF7-1F91-47A3-BE0E-5D5CBEE77154}">
      <dgm:prSet/>
      <dgm:spPr/>
      <dgm:t>
        <a:bodyPr/>
        <a:lstStyle/>
        <a:p>
          <a:endParaRPr lang="en-US"/>
        </a:p>
      </dgm:t>
    </dgm:pt>
    <dgm:pt modelId="{20D4E7E0-E4F1-4968-B778-F42397F126A5}" type="sibTrans" cxnId="{2E73DAF7-1F91-47A3-BE0E-5D5CBEE77154}">
      <dgm:prSet/>
      <dgm:spPr/>
      <dgm:t>
        <a:bodyPr/>
        <a:lstStyle/>
        <a:p>
          <a:endParaRPr lang="en-US"/>
        </a:p>
      </dgm:t>
    </dgm:pt>
    <dgm:pt modelId="{9760E7E0-2FC3-4A40-97C6-6A39EFB0CD6C}" type="pres">
      <dgm:prSet presAssocID="{BF10FCB8-1D5B-4AB1-9922-20FEA35F0E73}" presName="Name0" presStyleCnt="0">
        <dgm:presLayoutVars>
          <dgm:dir/>
          <dgm:animLvl val="lvl"/>
          <dgm:resizeHandles val="exact"/>
        </dgm:presLayoutVars>
      </dgm:prSet>
      <dgm:spPr/>
    </dgm:pt>
    <dgm:pt modelId="{9C4A0589-8101-4B9F-800D-11DCDABBD14C}" type="pres">
      <dgm:prSet presAssocID="{965DAF86-355B-48E2-8873-4DFE9E5CEC53}" presName="linNode" presStyleCnt="0"/>
      <dgm:spPr/>
    </dgm:pt>
    <dgm:pt modelId="{51F5D2A6-27E3-434F-9773-25EAD9EC23CA}" type="pres">
      <dgm:prSet presAssocID="{965DAF86-355B-48E2-8873-4DFE9E5CEC53}" presName="parentText" presStyleLbl="solidFgAcc1" presStyleIdx="0" presStyleCnt="8">
        <dgm:presLayoutVars>
          <dgm:chMax val="1"/>
          <dgm:bulletEnabled/>
        </dgm:presLayoutVars>
      </dgm:prSet>
      <dgm:spPr/>
    </dgm:pt>
    <dgm:pt modelId="{05068E62-07FF-48EE-A9AA-C3B1C213961D}" type="pres">
      <dgm:prSet presAssocID="{965DAF86-355B-48E2-8873-4DFE9E5CEC53}" presName="descendantText" presStyleLbl="alignNode1" presStyleIdx="0" presStyleCnt="8">
        <dgm:presLayoutVars>
          <dgm:bulletEnabled/>
        </dgm:presLayoutVars>
      </dgm:prSet>
      <dgm:spPr/>
    </dgm:pt>
    <dgm:pt modelId="{70BAB118-918C-4F13-87C0-88BCECEAE99D}" type="pres">
      <dgm:prSet presAssocID="{1D620CD1-5FF5-4EE0-94D4-F347A2266029}" presName="sp" presStyleCnt="0"/>
      <dgm:spPr/>
    </dgm:pt>
    <dgm:pt modelId="{9191476E-89AC-4E98-A905-7993E8CC218B}" type="pres">
      <dgm:prSet presAssocID="{B1E78EBC-C831-4BDE-9995-853873F1B02D}" presName="linNode" presStyleCnt="0"/>
      <dgm:spPr/>
    </dgm:pt>
    <dgm:pt modelId="{29058443-5C89-48F2-B757-02DE2F9BF970}" type="pres">
      <dgm:prSet presAssocID="{B1E78EBC-C831-4BDE-9995-853873F1B02D}" presName="parentText" presStyleLbl="solidFgAcc1" presStyleIdx="1" presStyleCnt="8">
        <dgm:presLayoutVars>
          <dgm:chMax val="1"/>
          <dgm:bulletEnabled/>
        </dgm:presLayoutVars>
      </dgm:prSet>
      <dgm:spPr/>
    </dgm:pt>
    <dgm:pt modelId="{B1983D6E-7401-425B-8869-D604D3C74BBA}" type="pres">
      <dgm:prSet presAssocID="{B1E78EBC-C831-4BDE-9995-853873F1B02D}" presName="descendantText" presStyleLbl="alignNode1" presStyleIdx="1" presStyleCnt="8">
        <dgm:presLayoutVars>
          <dgm:bulletEnabled/>
        </dgm:presLayoutVars>
      </dgm:prSet>
      <dgm:spPr/>
    </dgm:pt>
    <dgm:pt modelId="{E8C527F0-12EC-48DE-9E66-D2C05F43F4BE}" type="pres">
      <dgm:prSet presAssocID="{B6A6A980-9140-493D-8F42-CB8F1D87FE98}" presName="sp" presStyleCnt="0"/>
      <dgm:spPr/>
    </dgm:pt>
    <dgm:pt modelId="{14DC694C-8424-490F-86E4-E217D2BCB193}" type="pres">
      <dgm:prSet presAssocID="{4C3396D3-D879-4ABC-92B8-5F0BDFB89E1C}" presName="linNode" presStyleCnt="0"/>
      <dgm:spPr/>
    </dgm:pt>
    <dgm:pt modelId="{1CB2ABAE-F6BD-4347-8E48-B7A196382DD0}" type="pres">
      <dgm:prSet presAssocID="{4C3396D3-D879-4ABC-92B8-5F0BDFB89E1C}" presName="parentText" presStyleLbl="solidFgAcc1" presStyleIdx="2" presStyleCnt="8">
        <dgm:presLayoutVars>
          <dgm:chMax val="1"/>
          <dgm:bulletEnabled/>
        </dgm:presLayoutVars>
      </dgm:prSet>
      <dgm:spPr/>
    </dgm:pt>
    <dgm:pt modelId="{3F0CF130-CABB-451C-9459-F35B16660593}" type="pres">
      <dgm:prSet presAssocID="{4C3396D3-D879-4ABC-92B8-5F0BDFB89E1C}" presName="descendantText" presStyleLbl="alignNode1" presStyleIdx="2" presStyleCnt="8">
        <dgm:presLayoutVars>
          <dgm:bulletEnabled/>
        </dgm:presLayoutVars>
      </dgm:prSet>
      <dgm:spPr/>
    </dgm:pt>
    <dgm:pt modelId="{4AFBC6EF-ADD5-4BB6-8E00-0C22CFF04CAE}" type="pres">
      <dgm:prSet presAssocID="{2784914E-F191-4F6F-B071-58C6021C9E2C}" presName="sp" presStyleCnt="0"/>
      <dgm:spPr/>
    </dgm:pt>
    <dgm:pt modelId="{1F2860B9-BBF1-4940-A470-2D3197F8E641}" type="pres">
      <dgm:prSet presAssocID="{88905E85-B70B-4D29-827B-313FB55423F8}" presName="linNode" presStyleCnt="0"/>
      <dgm:spPr/>
    </dgm:pt>
    <dgm:pt modelId="{67B0CFDC-3E54-4E39-88B2-3B076FDE908B}" type="pres">
      <dgm:prSet presAssocID="{88905E85-B70B-4D29-827B-313FB55423F8}" presName="parentText" presStyleLbl="solidFgAcc1" presStyleIdx="3" presStyleCnt="8">
        <dgm:presLayoutVars>
          <dgm:chMax val="1"/>
          <dgm:bulletEnabled/>
        </dgm:presLayoutVars>
      </dgm:prSet>
      <dgm:spPr/>
    </dgm:pt>
    <dgm:pt modelId="{31C51BB5-4DDF-4981-9604-A9B0AF76B2AD}" type="pres">
      <dgm:prSet presAssocID="{88905E85-B70B-4D29-827B-313FB55423F8}" presName="descendantText" presStyleLbl="alignNode1" presStyleIdx="3" presStyleCnt="8">
        <dgm:presLayoutVars>
          <dgm:bulletEnabled/>
        </dgm:presLayoutVars>
      </dgm:prSet>
      <dgm:spPr/>
    </dgm:pt>
    <dgm:pt modelId="{18A88D95-CDA8-42C1-90C9-CBA464E0EAB3}" type="pres">
      <dgm:prSet presAssocID="{B2C555F7-74EB-4517-94F3-7B7B2E2F47FC}" presName="sp" presStyleCnt="0"/>
      <dgm:spPr/>
    </dgm:pt>
    <dgm:pt modelId="{533BF2AA-6334-4FF6-9203-DB3C3B92D3E5}" type="pres">
      <dgm:prSet presAssocID="{F753EDD5-A489-461D-8A0B-9352E9A51A3D}" presName="linNode" presStyleCnt="0"/>
      <dgm:spPr/>
    </dgm:pt>
    <dgm:pt modelId="{68498548-4C40-4F25-8FFE-009639C3EA6C}" type="pres">
      <dgm:prSet presAssocID="{F753EDD5-A489-461D-8A0B-9352E9A51A3D}" presName="parentText" presStyleLbl="solidFgAcc1" presStyleIdx="4" presStyleCnt="8">
        <dgm:presLayoutVars>
          <dgm:chMax val="1"/>
          <dgm:bulletEnabled/>
        </dgm:presLayoutVars>
      </dgm:prSet>
      <dgm:spPr/>
    </dgm:pt>
    <dgm:pt modelId="{664AA882-56B7-4708-8C4F-38B1CE28F5F0}" type="pres">
      <dgm:prSet presAssocID="{F753EDD5-A489-461D-8A0B-9352E9A51A3D}" presName="descendantText" presStyleLbl="alignNode1" presStyleIdx="4" presStyleCnt="8">
        <dgm:presLayoutVars>
          <dgm:bulletEnabled/>
        </dgm:presLayoutVars>
      </dgm:prSet>
      <dgm:spPr/>
    </dgm:pt>
    <dgm:pt modelId="{519ABB34-D6FD-4FF5-A7E9-D8F5425D63E1}" type="pres">
      <dgm:prSet presAssocID="{A8C31E4A-FC20-44BC-AE2A-03C193169D7C}" presName="sp" presStyleCnt="0"/>
      <dgm:spPr/>
    </dgm:pt>
    <dgm:pt modelId="{A362FE24-FCDA-4157-8B12-F463AA799638}" type="pres">
      <dgm:prSet presAssocID="{7F22AF01-84E8-4893-B181-02AB724E0F88}" presName="linNode" presStyleCnt="0"/>
      <dgm:spPr/>
    </dgm:pt>
    <dgm:pt modelId="{144BEC1E-0BF4-4F93-9FE2-AB57CCF23C6D}" type="pres">
      <dgm:prSet presAssocID="{7F22AF01-84E8-4893-B181-02AB724E0F88}" presName="parentText" presStyleLbl="solidFgAcc1" presStyleIdx="5" presStyleCnt="8">
        <dgm:presLayoutVars>
          <dgm:chMax val="1"/>
          <dgm:bulletEnabled/>
        </dgm:presLayoutVars>
      </dgm:prSet>
      <dgm:spPr/>
    </dgm:pt>
    <dgm:pt modelId="{51B6E6DE-74F2-49A3-923E-7B2A0B1F9E23}" type="pres">
      <dgm:prSet presAssocID="{7F22AF01-84E8-4893-B181-02AB724E0F88}" presName="descendantText" presStyleLbl="alignNode1" presStyleIdx="5" presStyleCnt="8">
        <dgm:presLayoutVars>
          <dgm:bulletEnabled/>
        </dgm:presLayoutVars>
      </dgm:prSet>
      <dgm:spPr/>
    </dgm:pt>
    <dgm:pt modelId="{D8D820A2-8A67-4499-9C47-A33B52A8B995}" type="pres">
      <dgm:prSet presAssocID="{B16A7A75-F0D2-4381-B78D-958D7E7DF11D}" presName="sp" presStyleCnt="0"/>
      <dgm:spPr/>
    </dgm:pt>
    <dgm:pt modelId="{011CA1BC-4386-4A33-BFE4-E6199A46B262}" type="pres">
      <dgm:prSet presAssocID="{AFA150D9-6E8D-4A65-8C54-493427F5662C}" presName="linNode" presStyleCnt="0"/>
      <dgm:spPr/>
    </dgm:pt>
    <dgm:pt modelId="{A9015538-90E6-43E3-89AA-DEE31EB855C9}" type="pres">
      <dgm:prSet presAssocID="{AFA150D9-6E8D-4A65-8C54-493427F5662C}" presName="parentText" presStyleLbl="solidFgAcc1" presStyleIdx="6" presStyleCnt="8">
        <dgm:presLayoutVars>
          <dgm:chMax val="1"/>
          <dgm:bulletEnabled/>
        </dgm:presLayoutVars>
      </dgm:prSet>
      <dgm:spPr/>
    </dgm:pt>
    <dgm:pt modelId="{67F4CA41-A63F-40C0-9C39-6A2638EBB8CF}" type="pres">
      <dgm:prSet presAssocID="{AFA150D9-6E8D-4A65-8C54-493427F5662C}" presName="descendantText" presStyleLbl="alignNode1" presStyleIdx="6" presStyleCnt="8">
        <dgm:presLayoutVars>
          <dgm:bulletEnabled/>
        </dgm:presLayoutVars>
      </dgm:prSet>
      <dgm:spPr/>
    </dgm:pt>
    <dgm:pt modelId="{FE5F504D-A146-4721-88CF-5F81E7F99B39}" type="pres">
      <dgm:prSet presAssocID="{EB7FBA06-6FDA-4E00-8BB4-3427A07FF8FF}" presName="sp" presStyleCnt="0"/>
      <dgm:spPr/>
    </dgm:pt>
    <dgm:pt modelId="{C991E9D9-2623-415C-B81A-ABC305FBDE11}" type="pres">
      <dgm:prSet presAssocID="{58E81293-9901-4262-8BD5-B4054802B4BC}" presName="linNode" presStyleCnt="0"/>
      <dgm:spPr/>
    </dgm:pt>
    <dgm:pt modelId="{5CB8BB4E-61AB-4703-BD52-4B832AC3F508}" type="pres">
      <dgm:prSet presAssocID="{58E81293-9901-4262-8BD5-B4054802B4BC}" presName="parentText" presStyleLbl="solidFgAcc1" presStyleIdx="7" presStyleCnt="8">
        <dgm:presLayoutVars>
          <dgm:chMax val="1"/>
          <dgm:bulletEnabled/>
        </dgm:presLayoutVars>
      </dgm:prSet>
      <dgm:spPr/>
    </dgm:pt>
    <dgm:pt modelId="{39112633-6FB1-42F0-AF60-3459794279AE}" type="pres">
      <dgm:prSet presAssocID="{58E81293-9901-4262-8BD5-B4054802B4BC}" presName="descendantText" presStyleLbl="alignNode1" presStyleIdx="7" presStyleCnt="8">
        <dgm:presLayoutVars>
          <dgm:bulletEnabled/>
        </dgm:presLayoutVars>
      </dgm:prSet>
      <dgm:spPr/>
    </dgm:pt>
  </dgm:ptLst>
  <dgm:cxnLst>
    <dgm:cxn modelId="{BD079300-9057-4B3A-94A2-DAEAB42FCA43}" srcId="{F753EDD5-A489-461D-8A0B-9352E9A51A3D}" destId="{058F6D6D-95FA-4C81-91C5-53917200BD12}" srcOrd="0" destOrd="0" parTransId="{EF536535-DB73-4C8E-8039-D9B31DB8AE58}" sibTransId="{B54C1751-2FB1-4B3F-9BE4-DCFA3D7F166A}"/>
    <dgm:cxn modelId="{5A96A706-EADA-4453-BDD5-DF4B705410E1}" srcId="{BF10FCB8-1D5B-4AB1-9922-20FEA35F0E73}" destId="{58E81293-9901-4262-8BD5-B4054802B4BC}" srcOrd="7" destOrd="0" parTransId="{4B87A2CD-835E-4590-B573-FF7F62BEA932}" sibTransId="{4DF3088C-AFB9-4675-9B34-58A9FC6F52F8}"/>
    <dgm:cxn modelId="{4FF96D1B-94FF-41A4-9637-B277E53B0228}" srcId="{4C3396D3-D879-4ABC-92B8-5F0BDFB89E1C}" destId="{A254F3FD-87B7-497C-973E-72C0973833E6}" srcOrd="0" destOrd="0" parTransId="{93AE5322-A19D-4177-A754-BAD540E4E1AC}" sibTransId="{FDC8046C-6216-4530-A136-E018A87C4B5B}"/>
    <dgm:cxn modelId="{81FA5D21-122C-4FA1-8717-CF5CE076AC85}" type="presOf" srcId="{F753EDD5-A489-461D-8A0B-9352E9A51A3D}" destId="{68498548-4C40-4F25-8FFE-009639C3EA6C}" srcOrd="0" destOrd="0" presId="urn:microsoft.com/office/officeart/2016/7/layout/VerticalHollowActionList"/>
    <dgm:cxn modelId="{BF7E565F-2C56-4E0A-ACF9-9830852A77FB}" type="presOf" srcId="{1A2239EA-7C02-457C-9D03-CE4956C0D580}" destId="{B1983D6E-7401-425B-8869-D604D3C74BBA}" srcOrd="0" destOrd="0" presId="urn:microsoft.com/office/officeart/2016/7/layout/VerticalHollowActionList"/>
    <dgm:cxn modelId="{C8514644-4BA2-44FC-84B2-B682931EFE12}" type="presOf" srcId="{A254F3FD-87B7-497C-973E-72C0973833E6}" destId="{3F0CF130-CABB-451C-9459-F35B16660593}" srcOrd="0" destOrd="0" presId="urn:microsoft.com/office/officeart/2016/7/layout/VerticalHollowActionList"/>
    <dgm:cxn modelId="{71A8DD46-CB96-4108-BFF7-357468BF0266}" type="presOf" srcId="{AFA150D9-6E8D-4A65-8C54-493427F5662C}" destId="{A9015538-90E6-43E3-89AA-DEE31EB855C9}" srcOrd="0" destOrd="0" presId="urn:microsoft.com/office/officeart/2016/7/layout/VerticalHollowActionList"/>
    <dgm:cxn modelId="{3BC4926C-416D-4A2D-BE8D-956C7B5F3A93}" type="presOf" srcId="{88905E85-B70B-4D29-827B-313FB55423F8}" destId="{67B0CFDC-3E54-4E39-88B2-3B076FDE908B}" srcOrd="0" destOrd="0" presId="urn:microsoft.com/office/officeart/2016/7/layout/VerticalHollowActionList"/>
    <dgm:cxn modelId="{852A386D-0C12-48B2-8C1B-A282AC4123F0}" srcId="{BF10FCB8-1D5B-4AB1-9922-20FEA35F0E73}" destId="{7F22AF01-84E8-4893-B181-02AB724E0F88}" srcOrd="5" destOrd="0" parTransId="{325A6AEB-9B82-408B-8F81-2F80599D6FD3}" sibTransId="{B16A7A75-F0D2-4381-B78D-958D7E7DF11D}"/>
    <dgm:cxn modelId="{D6E72151-467C-47B8-81A1-DED2AAAB47C1}" srcId="{88905E85-B70B-4D29-827B-313FB55423F8}" destId="{67BB4E97-EA9D-4230-902A-EA6419C30504}" srcOrd="0" destOrd="0" parTransId="{8206154F-A0D8-4B90-8870-37D52E60502C}" sibTransId="{51B987FE-D386-4796-B56D-572C5A285B97}"/>
    <dgm:cxn modelId="{2F57C074-8708-4D3C-925B-085F11E7BE6F}" type="presOf" srcId="{BF10FCB8-1D5B-4AB1-9922-20FEA35F0E73}" destId="{9760E7E0-2FC3-4A40-97C6-6A39EFB0CD6C}" srcOrd="0" destOrd="0" presId="urn:microsoft.com/office/officeart/2016/7/layout/VerticalHollowActionList"/>
    <dgm:cxn modelId="{3DE07D77-AEF7-4D9C-961A-D2091F39C302}" type="presOf" srcId="{5A68E917-03A2-4E25-9F2F-CF5875C85148}" destId="{51B6E6DE-74F2-49A3-923E-7B2A0B1F9E23}" srcOrd="0" destOrd="0" presId="urn:microsoft.com/office/officeart/2016/7/layout/VerticalHollowActionList"/>
    <dgm:cxn modelId="{19A3795A-C841-4803-8FE9-67C6EAA9F9FE}" srcId="{B1E78EBC-C831-4BDE-9995-853873F1B02D}" destId="{1A2239EA-7C02-457C-9D03-CE4956C0D580}" srcOrd="0" destOrd="0" parTransId="{CB97A14F-732B-4A8A-B80A-1988BB501B97}" sibTransId="{332BFB74-1F78-4667-B4CE-BD4A2194A502}"/>
    <dgm:cxn modelId="{FD49D480-6214-40F6-9571-780EE7ECDC35}" srcId="{BF10FCB8-1D5B-4AB1-9922-20FEA35F0E73}" destId="{AFA150D9-6E8D-4A65-8C54-493427F5662C}" srcOrd="6" destOrd="0" parTransId="{15363338-1F9D-494D-AB91-29B4A2DDD65B}" sibTransId="{EB7FBA06-6FDA-4E00-8BB4-3427A07FF8FF}"/>
    <dgm:cxn modelId="{87B33D8D-D540-4089-96DA-9E9F442932B1}" srcId="{AFA150D9-6E8D-4A65-8C54-493427F5662C}" destId="{ED8E3403-1971-466C-878A-0B7017B2B30F}" srcOrd="0" destOrd="0" parTransId="{7BC3E92D-DDB5-485B-97CB-218C6130172D}" sibTransId="{D17D746A-DFBD-4925-97FD-B597F57DE97D}"/>
    <dgm:cxn modelId="{BCC52B92-987C-4DE8-87E6-8152B5058FB0}" srcId="{965DAF86-355B-48E2-8873-4DFE9E5CEC53}" destId="{8D6F3952-F01F-41C2-967A-6832BC3E3D3F}" srcOrd="0" destOrd="0" parTransId="{392744A6-8D39-45A5-9A74-943CC22E0A37}" sibTransId="{A49F73C6-9C4D-44B0-93F0-0A77C724A1C9}"/>
    <dgm:cxn modelId="{2417409C-3917-475E-9144-A8F8DE1A0D6B}" type="presOf" srcId="{58E81293-9901-4262-8BD5-B4054802B4BC}" destId="{5CB8BB4E-61AB-4703-BD52-4B832AC3F508}" srcOrd="0" destOrd="0" presId="urn:microsoft.com/office/officeart/2016/7/layout/VerticalHollowActionList"/>
    <dgm:cxn modelId="{F2F8A0A7-2888-4E29-AAE2-EDDA7D6BA653}" srcId="{BF10FCB8-1D5B-4AB1-9922-20FEA35F0E73}" destId="{965DAF86-355B-48E2-8873-4DFE9E5CEC53}" srcOrd="0" destOrd="0" parTransId="{78848AFD-6D0E-44D7-894C-ED92760B3539}" sibTransId="{1D620CD1-5FF5-4EE0-94D4-F347A2266029}"/>
    <dgm:cxn modelId="{3ADE47A9-DDB6-499B-B37F-6CD95E79566C}" srcId="{7F22AF01-84E8-4893-B181-02AB724E0F88}" destId="{5A68E917-03A2-4E25-9F2F-CF5875C85148}" srcOrd="0" destOrd="0" parTransId="{617D48BF-57AB-4B1C-84C7-D1149B3B1CA2}" sibTransId="{94C7B13A-6DF6-4048-A488-96A33351A9AD}"/>
    <dgm:cxn modelId="{D5D271B2-EC7E-4A4B-B03D-27D36948252C}" type="presOf" srcId="{4C3396D3-D879-4ABC-92B8-5F0BDFB89E1C}" destId="{1CB2ABAE-F6BD-4347-8E48-B7A196382DD0}" srcOrd="0" destOrd="0" presId="urn:microsoft.com/office/officeart/2016/7/layout/VerticalHollowActionList"/>
    <dgm:cxn modelId="{9D9725BB-EE0B-4553-8675-54F95A4BB422}" type="presOf" srcId="{ED8E3403-1971-466C-878A-0B7017B2B30F}" destId="{67F4CA41-A63F-40C0-9C39-6A2638EBB8CF}" srcOrd="0" destOrd="0" presId="urn:microsoft.com/office/officeart/2016/7/layout/VerticalHollowActionList"/>
    <dgm:cxn modelId="{B7EC5FBC-EF7D-4B72-A97D-75F2DDA333AB}" srcId="{BF10FCB8-1D5B-4AB1-9922-20FEA35F0E73}" destId="{4C3396D3-D879-4ABC-92B8-5F0BDFB89E1C}" srcOrd="2" destOrd="0" parTransId="{075EE822-7D4C-49CD-BBA1-FE4CA32037E1}" sibTransId="{2784914E-F191-4F6F-B071-58C6021C9E2C}"/>
    <dgm:cxn modelId="{AFCB9CCB-0E2A-4122-8DCE-58FFD8176B01}" type="presOf" srcId="{50723429-4AFF-48DD-92B5-AFF66A855C25}" destId="{39112633-6FB1-42F0-AF60-3459794279AE}" srcOrd="0" destOrd="0" presId="urn:microsoft.com/office/officeart/2016/7/layout/VerticalHollowActionList"/>
    <dgm:cxn modelId="{9AD25DCD-1E16-4D0D-A781-AE7E68AC6D93}" type="presOf" srcId="{67BB4E97-EA9D-4230-902A-EA6419C30504}" destId="{31C51BB5-4DDF-4981-9604-A9B0AF76B2AD}" srcOrd="0" destOrd="0" presId="urn:microsoft.com/office/officeart/2016/7/layout/VerticalHollowActionList"/>
    <dgm:cxn modelId="{7FEDDAD5-845B-430C-9BBA-CF9830EE3255}" srcId="{BF10FCB8-1D5B-4AB1-9922-20FEA35F0E73}" destId="{B1E78EBC-C831-4BDE-9995-853873F1B02D}" srcOrd="1" destOrd="0" parTransId="{671EB221-4F1E-485D-A422-5B7EBBAF101A}" sibTransId="{B6A6A980-9140-493D-8F42-CB8F1D87FE98}"/>
    <dgm:cxn modelId="{1B8A30D9-FEDB-486D-8C87-F8E2FD6B1CFC}" type="presOf" srcId="{965DAF86-355B-48E2-8873-4DFE9E5CEC53}" destId="{51F5D2A6-27E3-434F-9773-25EAD9EC23CA}" srcOrd="0" destOrd="0" presId="urn:microsoft.com/office/officeart/2016/7/layout/VerticalHollowActionList"/>
    <dgm:cxn modelId="{C6D7CBE7-4B1E-47BD-9292-0265CF390757}" type="presOf" srcId="{B1E78EBC-C831-4BDE-9995-853873F1B02D}" destId="{29058443-5C89-48F2-B757-02DE2F9BF970}" srcOrd="0" destOrd="0" presId="urn:microsoft.com/office/officeart/2016/7/layout/VerticalHollowActionList"/>
    <dgm:cxn modelId="{D961A3EB-010E-48CF-87E2-F72F2C60718D}" type="presOf" srcId="{058F6D6D-95FA-4C81-91C5-53917200BD12}" destId="{664AA882-56B7-4708-8C4F-38B1CE28F5F0}" srcOrd="0" destOrd="0" presId="urn:microsoft.com/office/officeart/2016/7/layout/VerticalHollowActionList"/>
    <dgm:cxn modelId="{71EFB9F1-BD07-4D75-AD84-9E019B182AC3}" srcId="{BF10FCB8-1D5B-4AB1-9922-20FEA35F0E73}" destId="{88905E85-B70B-4D29-827B-313FB55423F8}" srcOrd="3" destOrd="0" parTransId="{0449528A-8563-4E92-98D2-8C5EACC19243}" sibTransId="{B2C555F7-74EB-4517-94F3-7B7B2E2F47FC}"/>
    <dgm:cxn modelId="{2E73DAF7-1F91-47A3-BE0E-5D5CBEE77154}" srcId="{58E81293-9901-4262-8BD5-B4054802B4BC}" destId="{50723429-4AFF-48DD-92B5-AFF66A855C25}" srcOrd="0" destOrd="0" parTransId="{EB692BBB-A0B9-450F-9698-F6D01D8041B6}" sibTransId="{20D4E7E0-E4F1-4968-B778-F42397F126A5}"/>
    <dgm:cxn modelId="{F2CED1FA-D729-453E-995E-B4C201006056}" type="presOf" srcId="{7F22AF01-84E8-4893-B181-02AB724E0F88}" destId="{144BEC1E-0BF4-4F93-9FE2-AB57CCF23C6D}" srcOrd="0" destOrd="0" presId="urn:microsoft.com/office/officeart/2016/7/layout/VerticalHollowActionList"/>
    <dgm:cxn modelId="{D1F528FE-4C9C-4904-A778-BA2FC0E94E2B}" type="presOf" srcId="{8D6F3952-F01F-41C2-967A-6832BC3E3D3F}" destId="{05068E62-07FF-48EE-A9AA-C3B1C213961D}" srcOrd="0" destOrd="0" presId="urn:microsoft.com/office/officeart/2016/7/layout/VerticalHollowActionList"/>
    <dgm:cxn modelId="{718CBCFF-48BF-4B16-B9A0-61BAAC53D5B7}" srcId="{BF10FCB8-1D5B-4AB1-9922-20FEA35F0E73}" destId="{F753EDD5-A489-461D-8A0B-9352E9A51A3D}" srcOrd="4" destOrd="0" parTransId="{14C941F9-F130-4C05-ACE5-3FA4994CBDD6}" sibTransId="{A8C31E4A-FC20-44BC-AE2A-03C193169D7C}"/>
    <dgm:cxn modelId="{BFEE319A-9170-427E-BC93-A70BC6AEF750}" type="presParOf" srcId="{9760E7E0-2FC3-4A40-97C6-6A39EFB0CD6C}" destId="{9C4A0589-8101-4B9F-800D-11DCDABBD14C}" srcOrd="0" destOrd="0" presId="urn:microsoft.com/office/officeart/2016/7/layout/VerticalHollowActionList"/>
    <dgm:cxn modelId="{5F378DBB-F913-4B52-A8DE-2B07609B27C3}" type="presParOf" srcId="{9C4A0589-8101-4B9F-800D-11DCDABBD14C}" destId="{51F5D2A6-27E3-434F-9773-25EAD9EC23CA}" srcOrd="0" destOrd="0" presId="urn:microsoft.com/office/officeart/2016/7/layout/VerticalHollowActionList"/>
    <dgm:cxn modelId="{E539B906-EC98-49E1-BCF9-2080FD7FECEA}" type="presParOf" srcId="{9C4A0589-8101-4B9F-800D-11DCDABBD14C}" destId="{05068E62-07FF-48EE-A9AA-C3B1C213961D}" srcOrd="1" destOrd="0" presId="urn:microsoft.com/office/officeart/2016/7/layout/VerticalHollowActionList"/>
    <dgm:cxn modelId="{7965492B-19E1-4780-A448-932BF4C90E53}" type="presParOf" srcId="{9760E7E0-2FC3-4A40-97C6-6A39EFB0CD6C}" destId="{70BAB118-918C-4F13-87C0-88BCECEAE99D}" srcOrd="1" destOrd="0" presId="urn:microsoft.com/office/officeart/2016/7/layout/VerticalHollowActionList"/>
    <dgm:cxn modelId="{D323B519-5E5E-4C2B-A506-CB1DC985CBBE}" type="presParOf" srcId="{9760E7E0-2FC3-4A40-97C6-6A39EFB0CD6C}" destId="{9191476E-89AC-4E98-A905-7993E8CC218B}" srcOrd="2" destOrd="0" presId="urn:microsoft.com/office/officeart/2016/7/layout/VerticalHollowActionList"/>
    <dgm:cxn modelId="{E1DD7B8E-5BB1-4D93-88BA-32780F3722A6}" type="presParOf" srcId="{9191476E-89AC-4E98-A905-7993E8CC218B}" destId="{29058443-5C89-48F2-B757-02DE2F9BF970}" srcOrd="0" destOrd="0" presId="urn:microsoft.com/office/officeart/2016/7/layout/VerticalHollowActionList"/>
    <dgm:cxn modelId="{86C7B160-931C-4DB9-8B97-F85DC0D87BF7}" type="presParOf" srcId="{9191476E-89AC-4E98-A905-7993E8CC218B}" destId="{B1983D6E-7401-425B-8869-D604D3C74BBA}" srcOrd="1" destOrd="0" presId="urn:microsoft.com/office/officeart/2016/7/layout/VerticalHollowActionList"/>
    <dgm:cxn modelId="{98EC60B7-2164-48F5-9E6B-98278CADA82C}" type="presParOf" srcId="{9760E7E0-2FC3-4A40-97C6-6A39EFB0CD6C}" destId="{E8C527F0-12EC-48DE-9E66-D2C05F43F4BE}" srcOrd="3" destOrd="0" presId="urn:microsoft.com/office/officeart/2016/7/layout/VerticalHollowActionList"/>
    <dgm:cxn modelId="{E2409F0C-5718-42FE-9992-B362882B3535}" type="presParOf" srcId="{9760E7E0-2FC3-4A40-97C6-6A39EFB0CD6C}" destId="{14DC694C-8424-490F-86E4-E217D2BCB193}" srcOrd="4" destOrd="0" presId="urn:microsoft.com/office/officeart/2016/7/layout/VerticalHollowActionList"/>
    <dgm:cxn modelId="{E225F136-0BC2-4130-A26B-DDAD86C10125}" type="presParOf" srcId="{14DC694C-8424-490F-86E4-E217D2BCB193}" destId="{1CB2ABAE-F6BD-4347-8E48-B7A196382DD0}" srcOrd="0" destOrd="0" presId="urn:microsoft.com/office/officeart/2016/7/layout/VerticalHollowActionList"/>
    <dgm:cxn modelId="{AF187722-BA24-4211-9C46-CE5A3F2F372E}" type="presParOf" srcId="{14DC694C-8424-490F-86E4-E217D2BCB193}" destId="{3F0CF130-CABB-451C-9459-F35B16660593}" srcOrd="1" destOrd="0" presId="urn:microsoft.com/office/officeart/2016/7/layout/VerticalHollowActionList"/>
    <dgm:cxn modelId="{5C84FC8A-B3DE-4698-B803-A05E0D8E75BF}" type="presParOf" srcId="{9760E7E0-2FC3-4A40-97C6-6A39EFB0CD6C}" destId="{4AFBC6EF-ADD5-4BB6-8E00-0C22CFF04CAE}" srcOrd="5" destOrd="0" presId="urn:microsoft.com/office/officeart/2016/7/layout/VerticalHollowActionList"/>
    <dgm:cxn modelId="{B86EFACC-FDF3-4CC1-B7C0-CB0ED80725E1}" type="presParOf" srcId="{9760E7E0-2FC3-4A40-97C6-6A39EFB0CD6C}" destId="{1F2860B9-BBF1-4940-A470-2D3197F8E641}" srcOrd="6" destOrd="0" presId="urn:microsoft.com/office/officeart/2016/7/layout/VerticalHollowActionList"/>
    <dgm:cxn modelId="{73E31534-1444-4A71-BC85-9D6E2C84F57C}" type="presParOf" srcId="{1F2860B9-BBF1-4940-A470-2D3197F8E641}" destId="{67B0CFDC-3E54-4E39-88B2-3B076FDE908B}" srcOrd="0" destOrd="0" presId="urn:microsoft.com/office/officeart/2016/7/layout/VerticalHollowActionList"/>
    <dgm:cxn modelId="{455DFFF3-3754-4397-B5DC-0F06FD322357}" type="presParOf" srcId="{1F2860B9-BBF1-4940-A470-2D3197F8E641}" destId="{31C51BB5-4DDF-4981-9604-A9B0AF76B2AD}" srcOrd="1" destOrd="0" presId="urn:microsoft.com/office/officeart/2016/7/layout/VerticalHollowActionList"/>
    <dgm:cxn modelId="{E12815D7-D7CE-4EC0-BBE0-60ABF7E534B5}" type="presParOf" srcId="{9760E7E0-2FC3-4A40-97C6-6A39EFB0CD6C}" destId="{18A88D95-CDA8-42C1-90C9-CBA464E0EAB3}" srcOrd="7" destOrd="0" presId="urn:microsoft.com/office/officeart/2016/7/layout/VerticalHollowActionList"/>
    <dgm:cxn modelId="{82E48875-A218-4B92-9CD1-6FEA902E5023}" type="presParOf" srcId="{9760E7E0-2FC3-4A40-97C6-6A39EFB0CD6C}" destId="{533BF2AA-6334-4FF6-9203-DB3C3B92D3E5}" srcOrd="8" destOrd="0" presId="urn:microsoft.com/office/officeart/2016/7/layout/VerticalHollowActionList"/>
    <dgm:cxn modelId="{CE680EA3-9A60-4B77-BEB9-C336E9E12B50}" type="presParOf" srcId="{533BF2AA-6334-4FF6-9203-DB3C3B92D3E5}" destId="{68498548-4C40-4F25-8FFE-009639C3EA6C}" srcOrd="0" destOrd="0" presId="urn:microsoft.com/office/officeart/2016/7/layout/VerticalHollowActionList"/>
    <dgm:cxn modelId="{C175C6AF-584D-45F8-86EA-B8D8C1ECE609}" type="presParOf" srcId="{533BF2AA-6334-4FF6-9203-DB3C3B92D3E5}" destId="{664AA882-56B7-4708-8C4F-38B1CE28F5F0}" srcOrd="1" destOrd="0" presId="urn:microsoft.com/office/officeart/2016/7/layout/VerticalHollowActionList"/>
    <dgm:cxn modelId="{4F23AACC-1B04-48D3-A7B0-40EFE9D6FAEB}" type="presParOf" srcId="{9760E7E0-2FC3-4A40-97C6-6A39EFB0CD6C}" destId="{519ABB34-D6FD-4FF5-A7E9-D8F5425D63E1}" srcOrd="9" destOrd="0" presId="urn:microsoft.com/office/officeart/2016/7/layout/VerticalHollowActionList"/>
    <dgm:cxn modelId="{41AC0D1E-3736-41D5-A246-25757F64E785}" type="presParOf" srcId="{9760E7E0-2FC3-4A40-97C6-6A39EFB0CD6C}" destId="{A362FE24-FCDA-4157-8B12-F463AA799638}" srcOrd="10" destOrd="0" presId="urn:microsoft.com/office/officeart/2016/7/layout/VerticalHollowActionList"/>
    <dgm:cxn modelId="{47670FF2-3FDF-4495-937D-EB54E2F911B1}" type="presParOf" srcId="{A362FE24-FCDA-4157-8B12-F463AA799638}" destId="{144BEC1E-0BF4-4F93-9FE2-AB57CCF23C6D}" srcOrd="0" destOrd="0" presId="urn:microsoft.com/office/officeart/2016/7/layout/VerticalHollowActionList"/>
    <dgm:cxn modelId="{5FE8A9D3-A72F-4806-AD1B-EEFF2A99B2DA}" type="presParOf" srcId="{A362FE24-FCDA-4157-8B12-F463AA799638}" destId="{51B6E6DE-74F2-49A3-923E-7B2A0B1F9E23}" srcOrd="1" destOrd="0" presId="urn:microsoft.com/office/officeart/2016/7/layout/VerticalHollowActionList"/>
    <dgm:cxn modelId="{471DD03D-C63D-41AC-ADF5-46D9E092CEFB}" type="presParOf" srcId="{9760E7E0-2FC3-4A40-97C6-6A39EFB0CD6C}" destId="{D8D820A2-8A67-4499-9C47-A33B52A8B995}" srcOrd="11" destOrd="0" presId="urn:microsoft.com/office/officeart/2016/7/layout/VerticalHollowActionList"/>
    <dgm:cxn modelId="{08E29772-73E6-47E3-B240-7EE7B1F13070}" type="presParOf" srcId="{9760E7E0-2FC3-4A40-97C6-6A39EFB0CD6C}" destId="{011CA1BC-4386-4A33-BFE4-E6199A46B262}" srcOrd="12" destOrd="0" presId="urn:microsoft.com/office/officeart/2016/7/layout/VerticalHollowActionList"/>
    <dgm:cxn modelId="{96175887-A89E-4B72-8A99-9448A5987156}" type="presParOf" srcId="{011CA1BC-4386-4A33-BFE4-E6199A46B262}" destId="{A9015538-90E6-43E3-89AA-DEE31EB855C9}" srcOrd="0" destOrd="0" presId="urn:microsoft.com/office/officeart/2016/7/layout/VerticalHollowActionList"/>
    <dgm:cxn modelId="{AC5D0C66-6E95-4888-946D-798B61EE8978}" type="presParOf" srcId="{011CA1BC-4386-4A33-BFE4-E6199A46B262}" destId="{67F4CA41-A63F-40C0-9C39-6A2638EBB8CF}" srcOrd="1" destOrd="0" presId="urn:microsoft.com/office/officeart/2016/7/layout/VerticalHollowActionList"/>
    <dgm:cxn modelId="{AA2718CA-D3B4-4414-B4E0-DEF8212044B1}" type="presParOf" srcId="{9760E7E0-2FC3-4A40-97C6-6A39EFB0CD6C}" destId="{FE5F504D-A146-4721-88CF-5F81E7F99B39}" srcOrd="13" destOrd="0" presId="urn:microsoft.com/office/officeart/2016/7/layout/VerticalHollowActionList"/>
    <dgm:cxn modelId="{6C54190B-7B71-4D9A-B81A-0AFD5A6E32F0}" type="presParOf" srcId="{9760E7E0-2FC3-4A40-97C6-6A39EFB0CD6C}" destId="{C991E9D9-2623-415C-B81A-ABC305FBDE11}" srcOrd="14" destOrd="0" presId="urn:microsoft.com/office/officeart/2016/7/layout/VerticalHollowActionList"/>
    <dgm:cxn modelId="{5AB6657E-69D3-4D4F-A86E-6C1FD485CAED}" type="presParOf" srcId="{C991E9D9-2623-415C-B81A-ABC305FBDE11}" destId="{5CB8BB4E-61AB-4703-BD52-4B832AC3F508}" srcOrd="0" destOrd="0" presId="urn:microsoft.com/office/officeart/2016/7/layout/VerticalHollowActionList"/>
    <dgm:cxn modelId="{A8AB6C56-D8D8-44B9-A7BA-FB3446EC6210}" type="presParOf" srcId="{C991E9D9-2623-415C-B81A-ABC305FBDE11}" destId="{39112633-6FB1-42F0-AF60-3459794279AE}" srcOrd="1" destOrd="0" presId="urn:microsoft.com/office/officeart/2016/7/layout/VerticalHollow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EE80CC4-3CAD-4719-B526-1F272ECD3E79}" type="doc">
      <dgm:prSet loTypeId="urn:microsoft.com/office/officeart/2005/8/layout/default" loCatId="list" qsTypeId="urn:microsoft.com/office/officeart/2005/8/quickstyle/simple4" qsCatId="simple" csTypeId="urn:microsoft.com/office/officeart/2005/8/colors/accent2_2" csCatId="accent2" phldr="1"/>
      <dgm:spPr/>
      <dgm:t>
        <a:bodyPr/>
        <a:lstStyle/>
        <a:p>
          <a:endParaRPr lang="en-US"/>
        </a:p>
      </dgm:t>
    </dgm:pt>
    <dgm:pt modelId="{66A3B46D-5342-4B39-9B4D-A0502F5EBAAA}">
      <dgm:prSet/>
      <dgm:spPr/>
      <dgm:t>
        <a:bodyPr/>
        <a:lstStyle/>
        <a:p>
          <a:r>
            <a:rPr lang="en-IE" dirty="0"/>
            <a:t>United States average salary is $219,290 as of January 2023</a:t>
          </a:r>
          <a:endParaRPr lang="en-US" dirty="0"/>
        </a:p>
      </dgm:t>
    </dgm:pt>
    <dgm:pt modelId="{0E7FB553-E22A-4695-9F38-F9DF10E56AF2}" type="parTrans" cxnId="{6F0AD2BE-D87C-46B8-A075-46BC79B25546}">
      <dgm:prSet/>
      <dgm:spPr/>
      <dgm:t>
        <a:bodyPr/>
        <a:lstStyle/>
        <a:p>
          <a:endParaRPr lang="en-US"/>
        </a:p>
      </dgm:t>
    </dgm:pt>
    <dgm:pt modelId="{6F59BA0D-95FD-4418-AAD7-09225CC28AC7}" type="sibTrans" cxnId="{6F0AD2BE-D87C-46B8-A075-46BC79B25546}">
      <dgm:prSet/>
      <dgm:spPr/>
      <dgm:t>
        <a:bodyPr/>
        <a:lstStyle/>
        <a:p>
          <a:endParaRPr lang="en-US"/>
        </a:p>
      </dgm:t>
    </dgm:pt>
    <dgm:pt modelId="{FC398972-5A66-42B3-B2DA-3D267397AE54}">
      <dgm:prSet/>
      <dgm:spPr/>
      <dgm:t>
        <a:bodyPr/>
        <a:lstStyle/>
        <a:p>
          <a:r>
            <a:rPr lang="en-IE" dirty="0"/>
            <a:t>Ireland average salary is €170,000</a:t>
          </a:r>
          <a:endParaRPr lang="en-US" dirty="0"/>
        </a:p>
      </dgm:t>
    </dgm:pt>
    <dgm:pt modelId="{C2EDE788-04E3-4900-A5F3-1B43F6A50E33}" type="parTrans" cxnId="{7BDF9419-D553-419A-8F16-5254A4E0B796}">
      <dgm:prSet/>
      <dgm:spPr/>
      <dgm:t>
        <a:bodyPr/>
        <a:lstStyle/>
        <a:p>
          <a:endParaRPr lang="en-US"/>
        </a:p>
      </dgm:t>
    </dgm:pt>
    <dgm:pt modelId="{775D8640-5E51-4978-B63A-A5104EECC5F6}" type="sibTrans" cxnId="{7BDF9419-D553-419A-8F16-5254A4E0B796}">
      <dgm:prSet/>
      <dgm:spPr/>
      <dgm:t>
        <a:bodyPr/>
        <a:lstStyle/>
        <a:p>
          <a:endParaRPr lang="en-US"/>
        </a:p>
      </dgm:t>
    </dgm:pt>
    <dgm:pt modelId="{2FD4C158-C555-443C-B5F4-68659C70B56D}" type="pres">
      <dgm:prSet presAssocID="{CEE80CC4-3CAD-4719-B526-1F272ECD3E79}" presName="diagram" presStyleCnt="0">
        <dgm:presLayoutVars>
          <dgm:dir/>
          <dgm:resizeHandles val="exact"/>
        </dgm:presLayoutVars>
      </dgm:prSet>
      <dgm:spPr/>
    </dgm:pt>
    <dgm:pt modelId="{3A89B3A3-2D95-4A9C-B1B5-9D3FF154F0A8}" type="pres">
      <dgm:prSet presAssocID="{66A3B46D-5342-4B39-9B4D-A0502F5EBAAA}" presName="node" presStyleLbl="node1" presStyleIdx="0" presStyleCnt="2">
        <dgm:presLayoutVars>
          <dgm:bulletEnabled val="1"/>
        </dgm:presLayoutVars>
      </dgm:prSet>
      <dgm:spPr/>
    </dgm:pt>
    <dgm:pt modelId="{B6BF55B2-CF2B-4FA1-91B9-40576EB3CCB6}" type="pres">
      <dgm:prSet presAssocID="{6F59BA0D-95FD-4418-AAD7-09225CC28AC7}" presName="sibTrans" presStyleCnt="0"/>
      <dgm:spPr/>
    </dgm:pt>
    <dgm:pt modelId="{CA7A54E4-F285-4333-A479-CD38DE0F7541}" type="pres">
      <dgm:prSet presAssocID="{FC398972-5A66-42B3-B2DA-3D267397AE54}" presName="node" presStyleLbl="node1" presStyleIdx="1" presStyleCnt="2">
        <dgm:presLayoutVars>
          <dgm:bulletEnabled val="1"/>
        </dgm:presLayoutVars>
      </dgm:prSet>
      <dgm:spPr/>
    </dgm:pt>
  </dgm:ptLst>
  <dgm:cxnLst>
    <dgm:cxn modelId="{7BDF9419-D553-419A-8F16-5254A4E0B796}" srcId="{CEE80CC4-3CAD-4719-B526-1F272ECD3E79}" destId="{FC398972-5A66-42B3-B2DA-3D267397AE54}" srcOrd="1" destOrd="0" parTransId="{C2EDE788-04E3-4900-A5F3-1B43F6A50E33}" sibTransId="{775D8640-5E51-4978-B63A-A5104EECC5F6}"/>
    <dgm:cxn modelId="{F2D5B34A-75C2-45B9-9CF3-02C0146BCF73}" type="presOf" srcId="{FC398972-5A66-42B3-B2DA-3D267397AE54}" destId="{CA7A54E4-F285-4333-A479-CD38DE0F7541}" srcOrd="0" destOrd="0" presId="urn:microsoft.com/office/officeart/2005/8/layout/default"/>
    <dgm:cxn modelId="{91A8B29F-BCC1-4653-AA69-757DF0EE8C12}" type="presOf" srcId="{CEE80CC4-3CAD-4719-B526-1F272ECD3E79}" destId="{2FD4C158-C555-443C-B5F4-68659C70B56D}" srcOrd="0" destOrd="0" presId="urn:microsoft.com/office/officeart/2005/8/layout/default"/>
    <dgm:cxn modelId="{E2714AAD-4B2D-4EBC-8ABC-997472AB8E37}" type="presOf" srcId="{66A3B46D-5342-4B39-9B4D-A0502F5EBAAA}" destId="{3A89B3A3-2D95-4A9C-B1B5-9D3FF154F0A8}" srcOrd="0" destOrd="0" presId="urn:microsoft.com/office/officeart/2005/8/layout/default"/>
    <dgm:cxn modelId="{6F0AD2BE-D87C-46B8-A075-46BC79B25546}" srcId="{CEE80CC4-3CAD-4719-B526-1F272ECD3E79}" destId="{66A3B46D-5342-4B39-9B4D-A0502F5EBAAA}" srcOrd="0" destOrd="0" parTransId="{0E7FB553-E22A-4695-9F38-F9DF10E56AF2}" sibTransId="{6F59BA0D-95FD-4418-AAD7-09225CC28AC7}"/>
    <dgm:cxn modelId="{884A33FB-D683-40DD-964E-D67409251764}" type="presParOf" srcId="{2FD4C158-C555-443C-B5F4-68659C70B56D}" destId="{3A89B3A3-2D95-4A9C-B1B5-9D3FF154F0A8}" srcOrd="0" destOrd="0" presId="urn:microsoft.com/office/officeart/2005/8/layout/default"/>
    <dgm:cxn modelId="{FEC2AEDD-29DA-4227-9562-02E23C9278EF}" type="presParOf" srcId="{2FD4C158-C555-443C-B5F4-68659C70B56D}" destId="{B6BF55B2-CF2B-4FA1-91B9-40576EB3CCB6}" srcOrd="1" destOrd="0" presId="urn:microsoft.com/office/officeart/2005/8/layout/default"/>
    <dgm:cxn modelId="{82274381-4564-40A8-8517-315E49EDF91C}" type="presParOf" srcId="{2FD4C158-C555-443C-B5F4-68659C70B56D}" destId="{CA7A54E4-F285-4333-A479-CD38DE0F7541}" srcOrd="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2B8F19A-2FD3-42EE-BE5F-5260B4835A4E}"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D9A9709F-289B-4BBA-9629-28947AAB2111}">
      <dgm:prSet/>
      <dgm:spPr/>
      <dgm:t>
        <a:bodyPr/>
        <a:lstStyle/>
        <a:p>
          <a:r>
            <a:rPr lang="en-GB" dirty="0"/>
            <a:t>The role is still relatively new</a:t>
          </a:r>
          <a:endParaRPr lang="en-US" dirty="0"/>
        </a:p>
      </dgm:t>
    </dgm:pt>
    <dgm:pt modelId="{23B3B52F-CEB0-4F9F-BB44-83C7D17A3A3D}" type="parTrans" cxnId="{146F5380-0336-4933-B922-8345D7996BB9}">
      <dgm:prSet/>
      <dgm:spPr/>
      <dgm:t>
        <a:bodyPr/>
        <a:lstStyle/>
        <a:p>
          <a:endParaRPr lang="en-US"/>
        </a:p>
      </dgm:t>
    </dgm:pt>
    <dgm:pt modelId="{72727063-CC5D-465B-B219-723E1EE0BBA7}" type="sibTrans" cxnId="{146F5380-0336-4933-B922-8345D7996BB9}">
      <dgm:prSet/>
      <dgm:spPr/>
      <dgm:t>
        <a:bodyPr/>
        <a:lstStyle/>
        <a:p>
          <a:endParaRPr lang="en-US"/>
        </a:p>
      </dgm:t>
    </dgm:pt>
    <dgm:pt modelId="{17266A34-5591-47E3-B54E-3DE050BC5098}">
      <dgm:prSet/>
      <dgm:spPr/>
      <dgm:t>
        <a:bodyPr/>
        <a:lstStyle/>
        <a:p>
          <a:r>
            <a:rPr lang="en-GB"/>
            <a:t>The role of CDO is still in its early stages</a:t>
          </a:r>
          <a:endParaRPr lang="en-US"/>
        </a:p>
      </dgm:t>
    </dgm:pt>
    <dgm:pt modelId="{69CED229-D7B9-460B-8AFF-523F782C5AE1}" type="parTrans" cxnId="{D1385CBC-AB6E-4E97-A6C3-98F951F9B530}">
      <dgm:prSet/>
      <dgm:spPr/>
      <dgm:t>
        <a:bodyPr/>
        <a:lstStyle/>
        <a:p>
          <a:endParaRPr lang="en-US"/>
        </a:p>
      </dgm:t>
    </dgm:pt>
    <dgm:pt modelId="{D4BE71BF-092C-4028-A155-3A2C16E4D799}" type="sibTrans" cxnId="{D1385CBC-AB6E-4E97-A6C3-98F951F9B530}">
      <dgm:prSet/>
      <dgm:spPr/>
      <dgm:t>
        <a:bodyPr/>
        <a:lstStyle/>
        <a:p>
          <a:endParaRPr lang="en-US"/>
        </a:p>
      </dgm:t>
    </dgm:pt>
    <dgm:pt modelId="{8DED4592-4C19-402F-BE67-FB37DDC0A68C}">
      <dgm:prSet/>
      <dgm:spPr/>
      <dgm:t>
        <a:bodyPr/>
        <a:lstStyle/>
        <a:p>
          <a:r>
            <a:rPr lang="en-GB"/>
            <a:t>The role is likely to remain fluid for a number of years</a:t>
          </a:r>
          <a:endParaRPr lang="en-US"/>
        </a:p>
      </dgm:t>
    </dgm:pt>
    <dgm:pt modelId="{9F8EABF3-EA61-4D06-953C-C4D0308DC22E}" type="parTrans" cxnId="{2B43A748-6CF8-4A80-A64B-3ADA10AFECA0}">
      <dgm:prSet/>
      <dgm:spPr/>
      <dgm:t>
        <a:bodyPr/>
        <a:lstStyle/>
        <a:p>
          <a:endParaRPr lang="en-US"/>
        </a:p>
      </dgm:t>
    </dgm:pt>
    <dgm:pt modelId="{55D5A410-A7FF-406D-B3CF-ED4CB14D23BF}" type="sibTrans" cxnId="{2B43A748-6CF8-4A80-A64B-3ADA10AFECA0}">
      <dgm:prSet/>
      <dgm:spPr/>
      <dgm:t>
        <a:bodyPr/>
        <a:lstStyle/>
        <a:p>
          <a:endParaRPr lang="en-US"/>
        </a:p>
      </dgm:t>
    </dgm:pt>
    <dgm:pt modelId="{23EEECD8-F373-43EA-A116-4C9A1014D54C}">
      <dgm:prSet/>
      <dgm:spPr/>
      <dgm:t>
        <a:bodyPr/>
        <a:lstStyle/>
        <a:p>
          <a:r>
            <a:rPr lang="en-GB"/>
            <a:t>How the role is expressed depends on the company’s maturity level</a:t>
          </a:r>
          <a:endParaRPr lang="en-US"/>
        </a:p>
      </dgm:t>
    </dgm:pt>
    <dgm:pt modelId="{DF4BAA4F-CC89-4E61-850C-0896E30E23CB}" type="parTrans" cxnId="{BC4E601D-DA27-4A50-83C8-3BEF3681069B}">
      <dgm:prSet/>
      <dgm:spPr/>
      <dgm:t>
        <a:bodyPr/>
        <a:lstStyle/>
        <a:p>
          <a:endParaRPr lang="en-US"/>
        </a:p>
      </dgm:t>
    </dgm:pt>
    <dgm:pt modelId="{A777E2E9-3C8A-4DD9-83F6-7CB3A150FA8C}" type="sibTrans" cxnId="{BC4E601D-DA27-4A50-83C8-3BEF3681069B}">
      <dgm:prSet/>
      <dgm:spPr/>
      <dgm:t>
        <a:bodyPr/>
        <a:lstStyle/>
        <a:p>
          <a:endParaRPr lang="en-US"/>
        </a:p>
      </dgm:t>
    </dgm:pt>
    <dgm:pt modelId="{B8397360-E91A-4A7B-AD4B-BECCFC7DC0DA}">
      <dgm:prSet/>
      <dgm:spPr/>
      <dgm:t>
        <a:bodyPr/>
        <a:lstStyle/>
        <a:p>
          <a:r>
            <a:rPr lang="en-GB"/>
            <a:t>The role of CDO will be pivotal to ensure the agility needed for future growth and success</a:t>
          </a:r>
          <a:endParaRPr lang="en-US"/>
        </a:p>
      </dgm:t>
    </dgm:pt>
    <dgm:pt modelId="{9783B8E0-7341-4020-AD69-AFB2B5658BEB}" type="parTrans" cxnId="{579987E1-11B8-43BC-BAFD-300761AB9324}">
      <dgm:prSet/>
      <dgm:spPr/>
      <dgm:t>
        <a:bodyPr/>
        <a:lstStyle/>
        <a:p>
          <a:endParaRPr lang="en-US"/>
        </a:p>
      </dgm:t>
    </dgm:pt>
    <dgm:pt modelId="{752256F2-D956-4833-BA59-CC669A058FBC}" type="sibTrans" cxnId="{579987E1-11B8-43BC-BAFD-300761AB9324}">
      <dgm:prSet/>
      <dgm:spPr/>
      <dgm:t>
        <a:bodyPr/>
        <a:lstStyle/>
        <a:p>
          <a:endParaRPr lang="en-US"/>
        </a:p>
      </dgm:t>
    </dgm:pt>
    <dgm:pt modelId="{4DD73EEF-8B45-43B8-882C-2480FFB92318}">
      <dgm:prSet/>
      <dgm:spPr/>
      <dgm:t>
        <a:bodyPr/>
        <a:lstStyle/>
        <a:p>
          <a:r>
            <a:rPr lang="en-GB"/>
            <a:t>CDO is a role that can provide significant value to the enterprise</a:t>
          </a:r>
          <a:endParaRPr lang="en-US"/>
        </a:p>
      </dgm:t>
    </dgm:pt>
    <dgm:pt modelId="{43CB6B22-5CFD-48F8-835E-78AA778829CA}" type="parTrans" cxnId="{89B06D31-0E41-4D6C-B677-3CB432A3FF08}">
      <dgm:prSet/>
      <dgm:spPr/>
      <dgm:t>
        <a:bodyPr/>
        <a:lstStyle/>
        <a:p>
          <a:endParaRPr lang="en-US"/>
        </a:p>
      </dgm:t>
    </dgm:pt>
    <dgm:pt modelId="{0E6B69E4-D7E1-4229-8D23-ECD8CD398E05}" type="sibTrans" cxnId="{89B06D31-0E41-4D6C-B677-3CB432A3FF08}">
      <dgm:prSet/>
      <dgm:spPr/>
      <dgm:t>
        <a:bodyPr/>
        <a:lstStyle/>
        <a:p>
          <a:endParaRPr lang="en-US"/>
        </a:p>
      </dgm:t>
    </dgm:pt>
    <dgm:pt modelId="{EE351E04-DCE7-4AA0-928A-E35E893325DB}" type="pres">
      <dgm:prSet presAssocID="{52B8F19A-2FD3-42EE-BE5F-5260B4835A4E}" presName="linear" presStyleCnt="0">
        <dgm:presLayoutVars>
          <dgm:animLvl val="lvl"/>
          <dgm:resizeHandles val="exact"/>
        </dgm:presLayoutVars>
      </dgm:prSet>
      <dgm:spPr/>
    </dgm:pt>
    <dgm:pt modelId="{6905DDE0-ED95-4810-ACC4-9DCB1CF4E32B}" type="pres">
      <dgm:prSet presAssocID="{D9A9709F-289B-4BBA-9629-28947AAB2111}" presName="parentText" presStyleLbl="node1" presStyleIdx="0" presStyleCnt="6">
        <dgm:presLayoutVars>
          <dgm:chMax val="0"/>
          <dgm:bulletEnabled val="1"/>
        </dgm:presLayoutVars>
      </dgm:prSet>
      <dgm:spPr/>
    </dgm:pt>
    <dgm:pt modelId="{F11ADFD2-7028-43ED-BABB-4E11E2307981}" type="pres">
      <dgm:prSet presAssocID="{72727063-CC5D-465B-B219-723E1EE0BBA7}" presName="spacer" presStyleCnt="0"/>
      <dgm:spPr/>
    </dgm:pt>
    <dgm:pt modelId="{E4CA9B07-D0A1-4252-B15B-3B66C291D180}" type="pres">
      <dgm:prSet presAssocID="{17266A34-5591-47E3-B54E-3DE050BC5098}" presName="parentText" presStyleLbl="node1" presStyleIdx="1" presStyleCnt="6">
        <dgm:presLayoutVars>
          <dgm:chMax val="0"/>
          <dgm:bulletEnabled val="1"/>
        </dgm:presLayoutVars>
      </dgm:prSet>
      <dgm:spPr/>
    </dgm:pt>
    <dgm:pt modelId="{6DB43466-6C23-47C1-B32B-BFCF2A90308F}" type="pres">
      <dgm:prSet presAssocID="{D4BE71BF-092C-4028-A155-3A2C16E4D799}" presName="spacer" presStyleCnt="0"/>
      <dgm:spPr/>
    </dgm:pt>
    <dgm:pt modelId="{BD031EF3-EB20-4AB5-83F7-DF51D2AAA009}" type="pres">
      <dgm:prSet presAssocID="{8DED4592-4C19-402F-BE67-FB37DDC0A68C}" presName="parentText" presStyleLbl="node1" presStyleIdx="2" presStyleCnt="6">
        <dgm:presLayoutVars>
          <dgm:chMax val="0"/>
          <dgm:bulletEnabled val="1"/>
        </dgm:presLayoutVars>
      </dgm:prSet>
      <dgm:spPr/>
    </dgm:pt>
    <dgm:pt modelId="{5854B701-2079-4254-BF53-0821717C9699}" type="pres">
      <dgm:prSet presAssocID="{55D5A410-A7FF-406D-B3CF-ED4CB14D23BF}" presName="spacer" presStyleCnt="0"/>
      <dgm:spPr/>
    </dgm:pt>
    <dgm:pt modelId="{3D0547AC-51B3-4C09-B708-130EF4F1DB9C}" type="pres">
      <dgm:prSet presAssocID="{23EEECD8-F373-43EA-A116-4C9A1014D54C}" presName="parentText" presStyleLbl="node1" presStyleIdx="3" presStyleCnt="6">
        <dgm:presLayoutVars>
          <dgm:chMax val="0"/>
          <dgm:bulletEnabled val="1"/>
        </dgm:presLayoutVars>
      </dgm:prSet>
      <dgm:spPr/>
    </dgm:pt>
    <dgm:pt modelId="{C96FA441-FE0C-4EEE-9C16-83FBCDAB26EE}" type="pres">
      <dgm:prSet presAssocID="{A777E2E9-3C8A-4DD9-83F6-7CB3A150FA8C}" presName="spacer" presStyleCnt="0"/>
      <dgm:spPr/>
    </dgm:pt>
    <dgm:pt modelId="{BD394985-A028-4AA7-8917-4B7FB194CDD7}" type="pres">
      <dgm:prSet presAssocID="{B8397360-E91A-4A7B-AD4B-BECCFC7DC0DA}" presName="parentText" presStyleLbl="node1" presStyleIdx="4" presStyleCnt="6">
        <dgm:presLayoutVars>
          <dgm:chMax val="0"/>
          <dgm:bulletEnabled val="1"/>
        </dgm:presLayoutVars>
      </dgm:prSet>
      <dgm:spPr/>
    </dgm:pt>
    <dgm:pt modelId="{761533BB-F24A-4266-85AE-213F27A517FC}" type="pres">
      <dgm:prSet presAssocID="{752256F2-D956-4833-BA59-CC669A058FBC}" presName="spacer" presStyleCnt="0"/>
      <dgm:spPr/>
    </dgm:pt>
    <dgm:pt modelId="{0DCCA340-9876-4528-8955-007BEB5C81A5}" type="pres">
      <dgm:prSet presAssocID="{4DD73EEF-8B45-43B8-882C-2480FFB92318}" presName="parentText" presStyleLbl="node1" presStyleIdx="5" presStyleCnt="6">
        <dgm:presLayoutVars>
          <dgm:chMax val="0"/>
          <dgm:bulletEnabled val="1"/>
        </dgm:presLayoutVars>
      </dgm:prSet>
      <dgm:spPr/>
    </dgm:pt>
  </dgm:ptLst>
  <dgm:cxnLst>
    <dgm:cxn modelId="{AF825D0E-B3F4-4A2B-9579-7C4A51329D36}" type="presOf" srcId="{8DED4592-4C19-402F-BE67-FB37DDC0A68C}" destId="{BD031EF3-EB20-4AB5-83F7-DF51D2AAA009}" srcOrd="0" destOrd="0" presId="urn:microsoft.com/office/officeart/2005/8/layout/vList2"/>
    <dgm:cxn modelId="{BC4E601D-DA27-4A50-83C8-3BEF3681069B}" srcId="{52B8F19A-2FD3-42EE-BE5F-5260B4835A4E}" destId="{23EEECD8-F373-43EA-A116-4C9A1014D54C}" srcOrd="3" destOrd="0" parTransId="{DF4BAA4F-CC89-4E61-850C-0896E30E23CB}" sibTransId="{A777E2E9-3C8A-4DD9-83F6-7CB3A150FA8C}"/>
    <dgm:cxn modelId="{A218672D-CFB7-4EB5-8FBA-B20154431763}" type="presOf" srcId="{D9A9709F-289B-4BBA-9629-28947AAB2111}" destId="{6905DDE0-ED95-4810-ACC4-9DCB1CF4E32B}" srcOrd="0" destOrd="0" presId="urn:microsoft.com/office/officeart/2005/8/layout/vList2"/>
    <dgm:cxn modelId="{89B06D31-0E41-4D6C-B677-3CB432A3FF08}" srcId="{52B8F19A-2FD3-42EE-BE5F-5260B4835A4E}" destId="{4DD73EEF-8B45-43B8-882C-2480FFB92318}" srcOrd="5" destOrd="0" parTransId="{43CB6B22-5CFD-48F8-835E-78AA778829CA}" sibTransId="{0E6B69E4-D7E1-4229-8D23-ECD8CD398E05}"/>
    <dgm:cxn modelId="{D85B5233-8169-4A74-B6CA-65D50322BA86}" type="presOf" srcId="{B8397360-E91A-4A7B-AD4B-BECCFC7DC0DA}" destId="{BD394985-A028-4AA7-8917-4B7FB194CDD7}" srcOrd="0" destOrd="0" presId="urn:microsoft.com/office/officeart/2005/8/layout/vList2"/>
    <dgm:cxn modelId="{2B43A748-6CF8-4A80-A64B-3ADA10AFECA0}" srcId="{52B8F19A-2FD3-42EE-BE5F-5260B4835A4E}" destId="{8DED4592-4C19-402F-BE67-FB37DDC0A68C}" srcOrd="2" destOrd="0" parTransId="{9F8EABF3-EA61-4D06-953C-C4D0308DC22E}" sibTransId="{55D5A410-A7FF-406D-B3CF-ED4CB14D23BF}"/>
    <dgm:cxn modelId="{2560726F-EBA0-4720-89B1-E7A52543F771}" type="presOf" srcId="{17266A34-5591-47E3-B54E-3DE050BC5098}" destId="{E4CA9B07-D0A1-4252-B15B-3B66C291D180}" srcOrd="0" destOrd="0" presId="urn:microsoft.com/office/officeart/2005/8/layout/vList2"/>
    <dgm:cxn modelId="{C805BF76-9977-4DAB-93D0-84038F7C9A3E}" type="presOf" srcId="{4DD73EEF-8B45-43B8-882C-2480FFB92318}" destId="{0DCCA340-9876-4528-8955-007BEB5C81A5}" srcOrd="0" destOrd="0" presId="urn:microsoft.com/office/officeart/2005/8/layout/vList2"/>
    <dgm:cxn modelId="{146F5380-0336-4933-B922-8345D7996BB9}" srcId="{52B8F19A-2FD3-42EE-BE5F-5260B4835A4E}" destId="{D9A9709F-289B-4BBA-9629-28947AAB2111}" srcOrd="0" destOrd="0" parTransId="{23B3B52F-CEB0-4F9F-BB44-83C7D17A3A3D}" sibTransId="{72727063-CC5D-465B-B219-723E1EE0BBA7}"/>
    <dgm:cxn modelId="{D0E998A6-19D3-4DCA-AAC5-BD111BF04282}" type="presOf" srcId="{23EEECD8-F373-43EA-A116-4C9A1014D54C}" destId="{3D0547AC-51B3-4C09-B708-130EF4F1DB9C}" srcOrd="0" destOrd="0" presId="urn:microsoft.com/office/officeart/2005/8/layout/vList2"/>
    <dgm:cxn modelId="{D1385CBC-AB6E-4E97-A6C3-98F951F9B530}" srcId="{52B8F19A-2FD3-42EE-BE5F-5260B4835A4E}" destId="{17266A34-5591-47E3-B54E-3DE050BC5098}" srcOrd="1" destOrd="0" parTransId="{69CED229-D7B9-460B-8AFF-523F782C5AE1}" sibTransId="{D4BE71BF-092C-4028-A155-3A2C16E4D799}"/>
    <dgm:cxn modelId="{579987E1-11B8-43BC-BAFD-300761AB9324}" srcId="{52B8F19A-2FD3-42EE-BE5F-5260B4835A4E}" destId="{B8397360-E91A-4A7B-AD4B-BECCFC7DC0DA}" srcOrd="4" destOrd="0" parTransId="{9783B8E0-7341-4020-AD69-AFB2B5658BEB}" sibTransId="{752256F2-D956-4833-BA59-CC669A058FBC}"/>
    <dgm:cxn modelId="{A1C243FB-3A2B-480F-A776-4A1D3B7D3F70}" type="presOf" srcId="{52B8F19A-2FD3-42EE-BE5F-5260B4835A4E}" destId="{EE351E04-DCE7-4AA0-928A-E35E893325DB}" srcOrd="0" destOrd="0" presId="urn:microsoft.com/office/officeart/2005/8/layout/vList2"/>
    <dgm:cxn modelId="{B62D82D2-A0C4-4CDA-BC0F-8D55F496561D}" type="presParOf" srcId="{EE351E04-DCE7-4AA0-928A-E35E893325DB}" destId="{6905DDE0-ED95-4810-ACC4-9DCB1CF4E32B}" srcOrd="0" destOrd="0" presId="urn:microsoft.com/office/officeart/2005/8/layout/vList2"/>
    <dgm:cxn modelId="{75C8D3E7-12FC-4B87-B74E-2842516415E1}" type="presParOf" srcId="{EE351E04-DCE7-4AA0-928A-E35E893325DB}" destId="{F11ADFD2-7028-43ED-BABB-4E11E2307981}" srcOrd="1" destOrd="0" presId="urn:microsoft.com/office/officeart/2005/8/layout/vList2"/>
    <dgm:cxn modelId="{F0D10C90-337F-4537-9B53-A529AE13FF36}" type="presParOf" srcId="{EE351E04-DCE7-4AA0-928A-E35E893325DB}" destId="{E4CA9B07-D0A1-4252-B15B-3B66C291D180}" srcOrd="2" destOrd="0" presId="urn:microsoft.com/office/officeart/2005/8/layout/vList2"/>
    <dgm:cxn modelId="{F819F4F2-3BC4-43F4-84D6-494E3DEABD4E}" type="presParOf" srcId="{EE351E04-DCE7-4AA0-928A-E35E893325DB}" destId="{6DB43466-6C23-47C1-B32B-BFCF2A90308F}" srcOrd="3" destOrd="0" presId="urn:microsoft.com/office/officeart/2005/8/layout/vList2"/>
    <dgm:cxn modelId="{23C3FA2A-14E1-427B-A9B9-36B4651B47A2}" type="presParOf" srcId="{EE351E04-DCE7-4AA0-928A-E35E893325DB}" destId="{BD031EF3-EB20-4AB5-83F7-DF51D2AAA009}" srcOrd="4" destOrd="0" presId="urn:microsoft.com/office/officeart/2005/8/layout/vList2"/>
    <dgm:cxn modelId="{056D2C07-B212-4388-ADD1-01D20DC8AC41}" type="presParOf" srcId="{EE351E04-DCE7-4AA0-928A-E35E893325DB}" destId="{5854B701-2079-4254-BF53-0821717C9699}" srcOrd="5" destOrd="0" presId="urn:microsoft.com/office/officeart/2005/8/layout/vList2"/>
    <dgm:cxn modelId="{5013FC10-EBF5-4FC4-B989-794B24BFCA1F}" type="presParOf" srcId="{EE351E04-DCE7-4AA0-928A-E35E893325DB}" destId="{3D0547AC-51B3-4C09-B708-130EF4F1DB9C}" srcOrd="6" destOrd="0" presId="urn:microsoft.com/office/officeart/2005/8/layout/vList2"/>
    <dgm:cxn modelId="{89AC4D2E-DD14-4031-BD72-146F9039E416}" type="presParOf" srcId="{EE351E04-DCE7-4AA0-928A-E35E893325DB}" destId="{C96FA441-FE0C-4EEE-9C16-83FBCDAB26EE}" srcOrd="7" destOrd="0" presId="urn:microsoft.com/office/officeart/2005/8/layout/vList2"/>
    <dgm:cxn modelId="{701882E8-D41B-4155-82F2-F13977752685}" type="presParOf" srcId="{EE351E04-DCE7-4AA0-928A-E35E893325DB}" destId="{BD394985-A028-4AA7-8917-4B7FB194CDD7}" srcOrd="8" destOrd="0" presId="urn:microsoft.com/office/officeart/2005/8/layout/vList2"/>
    <dgm:cxn modelId="{D1FBEB10-E076-464C-9283-908D40D09421}" type="presParOf" srcId="{EE351E04-DCE7-4AA0-928A-E35E893325DB}" destId="{761533BB-F24A-4266-85AE-213F27A517FC}" srcOrd="9" destOrd="0" presId="urn:microsoft.com/office/officeart/2005/8/layout/vList2"/>
    <dgm:cxn modelId="{E0CF7B5A-2318-4B96-A7CE-DCE41A7492B4}" type="presParOf" srcId="{EE351E04-DCE7-4AA0-928A-E35E893325DB}" destId="{0DCCA340-9876-4528-8955-007BEB5C81A5}"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E8CFDF-B28A-444D-BD0D-516FDBE4652E}">
      <dsp:nvSpPr>
        <dsp:cNvPr id="0" name=""/>
        <dsp:cNvSpPr/>
      </dsp:nvSpPr>
      <dsp:spPr>
        <a:xfrm>
          <a:off x="0" y="0"/>
          <a:ext cx="8872220" cy="76311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E" sz="1700" kern="1200"/>
            <a:t>To achieve </a:t>
          </a:r>
          <a:r>
            <a:rPr lang="en-IE" sz="1700" u="sng" kern="1200"/>
            <a:t>digital transformation</a:t>
          </a:r>
          <a:r>
            <a:rPr lang="en-IE" sz="1700" kern="1200"/>
            <a:t>, organizations must gain control of the avalanche of data that is generated by supplier, customer, and employee interactions. </a:t>
          </a:r>
          <a:endParaRPr lang="en-US" sz="1700" kern="1200"/>
        </a:p>
      </dsp:txBody>
      <dsp:txXfrm>
        <a:off x="22351" y="22351"/>
        <a:ext cx="7984280" cy="718409"/>
      </dsp:txXfrm>
    </dsp:sp>
    <dsp:sp modelId="{71A6F485-1B59-46A0-AA36-F45B9CD505D4}">
      <dsp:nvSpPr>
        <dsp:cNvPr id="0" name=""/>
        <dsp:cNvSpPr/>
      </dsp:nvSpPr>
      <dsp:spPr>
        <a:xfrm>
          <a:off x="743048" y="901859"/>
          <a:ext cx="8872220" cy="763111"/>
        </a:xfrm>
        <a:prstGeom prst="roundRect">
          <a:avLst>
            <a:gd name="adj" fmla="val 10000"/>
          </a:avLst>
        </a:prstGeom>
        <a:solidFill>
          <a:schemeClr val="accent5">
            <a:hueOff val="120002"/>
            <a:satOff val="2897"/>
            <a:lumOff val="-1398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E" sz="1700" kern="1200"/>
            <a:t>This complex data environment has led enterprises to realize that new leadership is needed to take on responsibility for data and information value. </a:t>
          </a:r>
          <a:endParaRPr lang="en-US" sz="1700" kern="1200"/>
        </a:p>
      </dsp:txBody>
      <dsp:txXfrm>
        <a:off x="765399" y="924210"/>
        <a:ext cx="7588447" cy="718409"/>
      </dsp:txXfrm>
    </dsp:sp>
    <dsp:sp modelId="{6444732C-E2E9-4614-B0FB-DEC7FFA72E07}">
      <dsp:nvSpPr>
        <dsp:cNvPr id="0" name=""/>
        <dsp:cNvSpPr/>
      </dsp:nvSpPr>
      <dsp:spPr>
        <a:xfrm>
          <a:off x="1475006" y="1803718"/>
          <a:ext cx="8872220" cy="763111"/>
        </a:xfrm>
        <a:prstGeom prst="roundRect">
          <a:avLst>
            <a:gd name="adj" fmla="val 10000"/>
          </a:avLst>
        </a:prstGeom>
        <a:solidFill>
          <a:schemeClr val="accent5">
            <a:hueOff val="240004"/>
            <a:satOff val="5795"/>
            <a:lumOff val="-2797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E" sz="1700" kern="1200"/>
            <a:t>The chief data officer (CDO) role has arisen to fill this need. </a:t>
          </a:r>
          <a:endParaRPr lang="en-US" sz="1700" kern="1200"/>
        </a:p>
      </dsp:txBody>
      <dsp:txXfrm>
        <a:off x="1497357" y="1826069"/>
        <a:ext cx="7599537" cy="718409"/>
      </dsp:txXfrm>
    </dsp:sp>
    <dsp:sp modelId="{B870487C-ABB7-4E68-A6E7-B8D6B87F1DD6}">
      <dsp:nvSpPr>
        <dsp:cNvPr id="0" name=""/>
        <dsp:cNvSpPr/>
      </dsp:nvSpPr>
      <dsp:spPr>
        <a:xfrm>
          <a:off x="2218055" y="2705578"/>
          <a:ext cx="8872220" cy="763111"/>
        </a:xfrm>
        <a:prstGeom prst="roundRect">
          <a:avLst>
            <a:gd name="adj" fmla="val 10000"/>
          </a:avLst>
        </a:prstGeom>
        <a:solidFill>
          <a:schemeClr val="accent5">
            <a:hueOff val="360006"/>
            <a:satOff val="8692"/>
            <a:lumOff val="-4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E" sz="1700" kern="1200"/>
            <a:t>Seth Earley examines this relatively new role and its various forms.</a:t>
          </a:r>
          <a:endParaRPr lang="en-US" sz="1700" kern="1200"/>
        </a:p>
      </dsp:txBody>
      <dsp:txXfrm>
        <a:off x="2240406" y="2727929"/>
        <a:ext cx="7588447" cy="718409"/>
      </dsp:txXfrm>
    </dsp:sp>
    <dsp:sp modelId="{3F2C5A56-A4B1-4501-B2FD-F2F6726EF8FC}">
      <dsp:nvSpPr>
        <dsp:cNvPr id="0" name=""/>
        <dsp:cNvSpPr/>
      </dsp:nvSpPr>
      <dsp:spPr>
        <a:xfrm>
          <a:off x="8376198" y="584474"/>
          <a:ext cx="496022" cy="496022"/>
        </a:xfrm>
        <a:prstGeom prst="downArrow">
          <a:avLst>
            <a:gd name="adj1" fmla="val 55000"/>
            <a:gd name="adj2" fmla="val 45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487803" y="584474"/>
        <a:ext cx="272812" cy="373257"/>
      </dsp:txXfrm>
    </dsp:sp>
    <dsp:sp modelId="{F36652D3-B6FB-44FC-A53F-7E834F463096}">
      <dsp:nvSpPr>
        <dsp:cNvPr id="0" name=""/>
        <dsp:cNvSpPr/>
      </dsp:nvSpPr>
      <dsp:spPr>
        <a:xfrm>
          <a:off x="9119246" y="1486333"/>
          <a:ext cx="496022" cy="496022"/>
        </a:xfrm>
        <a:prstGeom prst="downArrow">
          <a:avLst>
            <a:gd name="adj1" fmla="val 55000"/>
            <a:gd name="adj2" fmla="val 45000"/>
          </a:avLst>
        </a:prstGeom>
        <a:solidFill>
          <a:schemeClr val="accent5">
            <a:tint val="40000"/>
            <a:alpha val="90000"/>
            <a:hueOff val="129949"/>
            <a:satOff val="-5946"/>
            <a:lumOff val="-411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9230851" y="1486333"/>
        <a:ext cx="272812" cy="373257"/>
      </dsp:txXfrm>
    </dsp:sp>
    <dsp:sp modelId="{06DE1AFA-4F50-4407-97B0-AA33E17AF2BD}">
      <dsp:nvSpPr>
        <dsp:cNvPr id="0" name=""/>
        <dsp:cNvSpPr/>
      </dsp:nvSpPr>
      <dsp:spPr>
        <a:xfrm>
          <a:off x="9851204" y="2388193"/>
          <a:ext cx="496022" cy="496022"/>
        </a:xfrm>
        <a:prstGeom prst="downArrow">
          <a:avLst>
            <a:gd name="adj1" fmla="val 55000"/>
            <a:gd name="adj2" fmla="val 45000"/>
          </a:avLst>
        </a:prstGeom>
        <a:solidFill>
          <a:schemeClr val="accent5">
            <a:tint val="40000"/>
            <a:alpha val="90000"/>
            <a:hueOff val="259899"/>
            <a:satOff val="-11893"/>
            <a:lumOff val="-822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9962809" y="2388193"/>
        <a:ext cx="272812" cy="373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BAC977-03CB-44B4-8B26-DF41A7EE5E43}">
      <dsp:nvSpPr>
        <dsp:cNvPr id="0" name=""/>
        <dsp:cNvSpPr/>
      </dsp:nvSpPr>
      <dsp:spPr>
        <a:xfrm>
          <a:off x="0" y="1435"/>
          <a:ext cx="5545137" cy="611708"/>
        </a:xfrm>
        <a:prstGeom prst="roundRect">
          <a:avLst>
            <a:gd name="adj" fmla="val 10000"/>
          </a:avLst>
        </a:prstGeom>
        <a:solidFill>
          <a:schemeClr val="bg2">
            <a:lumMod val="50000"/>
            <a:lumOff val="50000"/>
          </a:schemeClr>
        </a:solidFill>
        <a:ln>
          <a:noFill/>
        </a:ln>
        <a:effectLst/>
      </dsp:spPr>
      <dsp:style>
        <a:lnRef idx="0">
          <a:scrgbClr r="0" g="0" b="0"/>
        </a:lnRef>
        <a:fillRef idx="1">
          <a:scrgbClr r="0" g="0" b="0"/>
        </a:fillRef>
        <a:effectRef idx="0">
          <a:scrgbClr r="0" g="0" b="0"/>
        </a:effectRef>
        <a:fontRef idx="minor"/>
      </dsp:style>
    </dsp:sp>
    <dsp:sp modelId="{79957C7B-8C30-40BF-A55C-13303A5428A6}">
      <dsp:nvSpPr>
        <dsp:cNvPr id="0" name=""/>
        <dsp:cNvSpPr/>
      </dsp:nvSpPr>
      <dsp:spPr>
        <a:xfrm>
          <a:off x="185041" y="139070"/>
          <a:ext cx="336439" cy="3364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39DF1C84-E718-48AA-8FE9-8B70DB741D47}">
      <dsp:nvSpPr>
        <dsp:cNvPr id="0" name=""/>
        <dsp:cNvSpPr/>
      </dsp:nvSpPr>
      <dsp:spPr>
        <a:xfrm>
          <a:off x="706523" y="1435"/>
          <a:ext cx="4838613" cy="611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39" tIns="64739" rIns="64739" bIns="64739" numCol="1" spcCol="1270" anchor="ctr" anchorCtr="0">
          <a:noAutofit/>
        </a:bodyPr>
        <a:lstStyle/>
        <a:p>
          <a:pPr marL="0" lvl="0" indent="0" algn="l" defTabSz="666750">
            <a:lnSpc>
              <a:spcPct val="100000"/>
            </a:lnSpc>
            <a:spcBef>
              <a:spcPct val="0"/>
            </a:spcBef>
            <a:spcAft>
              <a:spcPct val="35000"/>
            </a:spcAft>
            <a:buNone/>
          </a:pPr>
          <a:r>
            <a:rPr lang="en-IE" sz="1500" kern="1200"/>
            <a:t>An expert with 20+ years experience </a:t>
          </a:r>
          <a:endParaRPr lang="en-US" sz="1500" kern="1200" dirty="0"/>
        </a:p>
      </dsp:txBody>
      <dsp:txXfrm>
        <a:off x="706523" y="1435"/>
        <a:ext cx="4838613" cy="611708"/>
      </dsp:txXfrm>
    </dsp:sp>
    <dsp:sp modelId="{B0DD7DFA-9849-4146-8172-D64BC2DE3BC0}">
      <dsp:nvSpPr>
        <dsp:cNvPr id="0" name=""/>
        <dsp:cNvSpPr/>
      </dsp:nvSpPr>
      <dsp:spPr>
        <a:xfrm>
          <a:off x="0" y="766071"/>
          <a:ext cx="5545137" cy="611708"/>
        </a:xfrm>
        <a:prstGeom prst="roundRect">
          <a:avLst>
            <a:gd name="adj" fmla="val 10000"/>
          </a:avLst>
        </a:prstGeom>
        <a:solidFill>
          <a:schemeClr val="bg2">
            <a:lumMod val="50000"/>
            <a:lumOff val="50000"/>
          </a:schemeClr>
        </a:solidFill>
        <a:ln>
          <a:noFill/>
        </a:ln>
        <a:effectLst/>
      </dsp:spPr>
      <dsp:style>
        <a:lnRef idx="0">
          <a:scrgbClr r="0" g="0" b="0"/>
        </a:lnRef>
        <a:fillRef idx="1">
          <a:scrgbClr r="0" g="0" b="0"/>
        </a:fillRef>
        <a:effectRef idx="0">
          <a:scrgbClr r="0" g="0" b="0"/>
        </a:effectRef>
        <a:fontRef idx="minor"/>
      </dsp:style>
    </dsp:sp>
    <dsp:sp modelId="{2DA52574-99DF-419D-8B15-C862F3769690}">
      <dsp:nvSpPr>
        <dsp:cNvPr id="0" name=""/>
        <dsp:cNvSpPr/>
      </dsp:nvSpPr>
      <dsp:spPr>
        <a:xfrm>
          <a:off x="185041" y="903706"/>
          <a:ext cx="336439" cy="3364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76BFAFAE-1E7F-4A7C-A6EC-BCEC0465B6A7}">
      <dsp:nvSpPr>
        <dsp:cNvPr id="0" name=""/>
        <dsp:cNvSpPr/>
      </dsp:nvSpPr>
      <dsp:spPr>
        <a:xfrm>
          <a:off x="706523" y="766071"/>
          <a:ext cx="4838613" cy="611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39" tIns="64739" rIns="64739" bIns="64739" numCol="1" spcCol="1270" anchor="ctr" anchorCtr="0">
          <a:noAutofit/>
        </a:bodyPr>
        <a:lstStyle/>
        <a:p>
          <a:pPr marL="0" lvl="0" indent="0" algn="l" defTabSz="666750">
            <a:lnSpc>
              <a:spcPct val="100000"/>
            </a:lnSpc>
            <a:spcBef>
              <a:spcPct val="0"/>
            </a:spcBef>
            <a:spcAft>
              <a:spcPct val="35000"/>
            </a:spcAft>
            <a:buNone/>
          </a:pPr>
          <a:r>
            <a:rPr lang="en-IE" sz="1500" kern="1200"/>
            <a:t>CEO of Earley Information Science (EIS)</a:t>
          </a:r>
          <a:endParaRPr lang="en-US" sz="1500" kern="1200"/>
        </a:p>
      </dsp:txBody>
      <dsp:txXfrm>
        <a:off x="706523" y="766071"/>
        <a:ext cx="4838613" cy="611708"/>
      </dsp:txXfrm>
    </dsp:sp>
    <dsp:sp modelId="{2CA7423C-3DA6-4886-AFB5-EFA8230966C7}">
      <dsp:nvSpPr>
        <dsp:cNvPr id="0" name=""/>
        <dsp:cNvSpPr/>
      </dsp:nvSpPr>
      <dsp:spPr>
        <a:xfrm>
          <a:off x="0" y="1530707"/>
          <a:ext cx="5545137" cy="611708"/>
        </a:xfrm>
        <a:prstGeom prst="roundRect">
          <a:avLst>
            <a:gd name="adj" fmla="val 10000"/>
          </a:avLst>
        </a:prstGeom>
        <a:solidFill>
          <a:schemeClr val="bg2">
            <a:lumMod val="50000"/>
            <a:lumOff val="50000"/>
          </a:schemeClr>
        </a:solidFill>
        <a:ln>
          <a:noFill/>
        </a:ln>
        <a:effectLst/>
      </dsp:spPr>
      <dsp:style>
        <a:lnRef idx="0">
          <a:scrgbClr r="0" g="0" b="0"/>
        </a:lnRef>
        <a:fillRef idx="1">
          <a:scrgbClr r="0" g="0" b="0"/>
        </a:fillRef>
        <a:effectRef idx="0">
          <a:scrgbClr r="0" g="0" b="0"/>
        </a:effectRef>
        <a:fontRef idx="minor"/>
      </dsp:style>
    </dsp:sp>
    <dsp:sp modelId="{B728E3D2-E578-44CA-94CD-3A86054081C2}">
      <dsp:nvSpPr>
        <dsp:cNvPr id="0" name=""/>
        <dsp:cNvSpPr/>
      </dsp:nvSpPr>
      <dsp:spPr>
        <a:xfrm>
          <a:off x="185041" y="1668342"/>
          <a:ext cx="336439" cy="3364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480BFDE-70B9-4D11-B33A-967A265668A1}">
      <dsp:nvSpPr>
        <dsp:cNvPr id="0" name=""/>
        <dsp:cNvSpPr/>
      </dsp:nvSpPr>
      <dsp:spPr>
        <a:xfrm>
          <a:off x="706523" y="1530707"/>
          <a:ext cx="4838613" cy="611708"/>
        </a:xfrm>
        <a:prstGeom prst="rect">
          <a:avLst/>
        </a:prstGeom>
        <a:solidFill>
          <a:schemeClr val="bg2">
            <a:lumMod val="50000"/>
            <a:lumOff val="5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64739" tIns="64739" rIns="64739" bIns="64739" numCol="1" spcCol="1270" anchor="ctr" anchorCtr="0">
          <a:noAutofit/>
        </a:bodyPr>
        <a:lstStyle/>
        <a:p>
          <a:pPr marL="0" lvl="0" indent="0" algn="l" defTabSz="666750">
            <a:lnSpc>
              <a:spcPct val="100000"/>
            </a:lnSpc>
            <a:spcBef>
              <a:spcPct val="0"/>
            </a:spcBef>
            <a:spcAft>
              <a:spcPct val="35000"/>
            </a:spcAft>
            <a:buNone/>
          </a:pPr>
          <a:r>
            <a:rPr lang="en-IE" sz="1500" kern="1200"/>
            <a:t>Worked with a diverse roster of Fortune 1000 companies</a:t>
          </a:r>
          <a:endParaRPr lang="en-US" sz="1500" kern="1200"/>
        </a:p>
      </dsp:txBody>
      <dsp:txXfrm>
        <a:off x="706523" y="1530707"/>
        <a:ext cx="4838613" cy="611708"/>
      </dsp:txXfrm>
    </dsp:sp>
    <dsp:sp modelId="{78B61365-E784-4B89-A66F-4E7978F87756}">
      <dsp:nvSpPr>
        <dsp:cNvPr id="0" name=""/>
        <dsp:cNvSpPr/>
      </dsp:nvSpPr>
      <dsp:spPr>
        <a:xfrm>
          <a:off x="0" y="2295344"/>
          <a:ext cx="5545137" cy="611708"/>
        </a:xfrm>
        <a:prstGeom prst="roundRect">
          <a:avLst>
            <a:gd name="adj" fmla="val 10000"/>
          </a:avLst>
        </a:prstGeom>
        <a:solidFill>
          <a:schemeClr val="bg2">
            <a:lumMod val="50000"/>
            <a:lumOff val="50000"/>
          </a:schemeClr>
        </a:solidFill>
        <a:ln>
          <a:noFill/>
        </a:ln>
        <a:effectLst/>
      </dsp:spPr>
      <dsp:style>
        <a:lnRef idx="0">
          <a:scrgbClr r="0" g="0" b="0"/>
        </a:lnRef>
        <a:fillRef idx="1">
          <a:scrgbClr r="0" g="0" b="0"/>
        </a:fillRef>
        <a:effectRef idx="0">
          <a:scrgbClr r="0" g="0" b="0"/>
        </a:effectRef>
        <a:fontRef idx="minor"/>
      </dsp:style>
    </dsp:sp>
    <dsp:sp modelId="{3C849B9E-1911-4772-97F4-B5097B1427B9}">
      <dsp:nvSpPr>
        <dsp:cNvPr id="0" name=""/>
        <dsp:cNvSpPr/>
      </dsp:nvSpPr>
      <dsp:spPr>
        <a:xfrm>
          <a:off x="185041" y="2432978"/>
          <a:ext cx="336439" cy="3364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CB10598D-FAB1-4FC0-A47C-95746A75E0F7}">
      <dsp:nvSpPr>
        <dsp:cNvPr id="0" name=""/>
        <dsp:cNvSpPr/>
      </dsp:nvSpPr>
      <dsp:spPr>
        <a:xfrm>
          <a:off x="706523" y="2295344"/>
          <a:ext cx="4838613" cy="611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39" tIns="64739" rIns="64739" bIns="64739" numCol="1" spcCol="1270" anchor="ctr" anchorCtr="0">
          <a:noAutofit/>
        </a:bodyPr>
        <a:lstStyle/>
        <a:p>
          <a:pPr marL="0" lvl="0" indent="0" algn="l" defTabSz="666750">
            <a:lnSpc>
              <a:spcPct val="100000"/>
            </a:lnSpc>
            <a:spcBef>
              <a:spcPct val="0"/>
            </a:spcBef>
            <a:spcAft>
              <a:spcPct val="35000"/>
            </a:spcAft>
            <a:buNone/>
          </a:pPr>
          <a:r>
            <a:rPr lang="en-IE" sz="1500" kern="1200"/>
            <a:t>Author of “The AI-Powered Enterprise” </a:t>
          </a:r>
          <a:endParaRPr lang="en-US" sz="1500" kern="1200"/>
        </a:p>
      </dsp:txBody>
      <dsp:txXfrm>
        <a:off x="706523" y="2295344"/>
        <a:ext cx="4838613" cy="611708"/>
      </dsp:txXfrm>
    </dsp:sp>
    <dsp:sp modelId="{676BE8DE-1326-4DF2-8822-4B05A987DDFC}">
      <dsp:nvSpPr>
        <dsp:cNvPr id="0" name=""/>
        <dsp:cNvSpPr/>
      </dsp:nvSpPr>
      <dsp:spPr>
        <a:xfrm>
          <a:off x="0" y="3059980"/>
          <a:ext cx="5545137" cy="611708"/>
        </a:xfrm>
        <a:prstGeom prst="roundRect">
          <a:avLst>
            <a:gd name="adj" fmla="val 10000"/>
          </a:avLst>
        </a:prstGeom>
        <a:solidFill>
          <a:schemeClr val="bg2">
            <a:lumMod val="50000"/>
            <a:lumOff val="50000"/>
          </a:schemeClr>
        </a:solidFill>
        <a:ln>
          <a:noFill/>
        </a:ln>
        <a:effectLst/>
      </dsp:spPr>
      <dsp:style>
        <a:lnRef idx="0">
          <a:scrgbClr r="0" g="0" b="0"/>
        </a:lnRef>
        <a:fillRef idx="1">
          <a:scrgbClr r="0" g="0" b="0"/>
        </a:fillRef>
        <a:effectRef idx="0">
          <a:scrgbClr r="0" g="0" b="0"/>
        </a:effectRef>
        <a:fontRef idx="minor"/>
      </dsp:style>
    </dsp:sp>
    <dsp:sp modelId="{4BA49360-AEAE-4976-8F9B-FA851816E828}">
      <dsp:nvSpPr>
        <dsp:cNvPr id="0" name=""/>
        <dsp:cNvSpPr/>
      </dsp:nvSpPr>
      <dsp:spPr>
        <a:xfrm>
          <a:off x="185041" y="3197614"/>
          <a:ext cx="336439" cy="33643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5B1A0ED4-7074-40D3-8FBF-ADFE91337F2E}">
      <dsp:nvSpPr>
        <dsp:cNvPr id="0" name=""/>
        <dsp:cNvSpPr/>
      </dsp:nvSpPr>
      <dsp:spPr>
        <a:xfrm>
          <a:off x="706523" y="3059980"/>
          <a:ext cx="4838613" cy="611708"/>
        </a:xfrm>
        <a:prstGeom prst="rect">
          <a:avLst/>
        </a:prstGeom>
        <a:solidFill>
          <a:schemeClr val="bg2">
            <a:lumMod val="50000"/>
            <a:lumOff val="5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64739" tIns="64739" rIns="64739" bIns="64739" numCol="1" spcCol="1270" anchor="ctr" anchorCtr="0">
          <a:noAutofit/>
        </a:bodyPr>
        <a:lstStyle/>
        <a:p>
          <a:pPr marL="0" lvl="0" indent="0" algn="l" defTabSz="666750">
            <a:lnSpc>
              <a:spcPct val="100000"/>
            </a:lnSpc>
            <a:spcBef>
              <a:spcPct val="0"/>
            </a:spcBef>
            <a:spcAft>
              <a:spcPct val="35000"/>
            </a:spcAft>
            <a:buNone/>
          </a:pPr>
          <a:r>
            <a:rPr lang="en-GB" sz="1500" kern="1200"/>
            <a:t>Recognized by Thinkers 360 as one of the Top 50 Global Thought Leaders and Influencers on Artificial Intelligence</a:t>
          </a:r>
          <a:endParaRPr lang="en-US" sz="1500" kern="1200"/>
        </a:p>
      </dsp:txBody>
      <dsp:txXfrm>
        <a:off x="706523" y="3059980"/>
        <a:ext cx="4838613" cy="611708"/>
      </dsp:txXfrm>
    </dsp:sp>
    <dsp:sp modelId="{04A3B139-83CC-4B18-B90E-E8DDB7358F01}">
      <dsp:nvSpPr>
        <dsp:cNvPr id="0" name=""/>
        <dsp:cNvSpPr/>
      </dsp:nvSpPr>
      <dsp:spPr>
        <a:xfrm>
          <a:off x="0" y="3824616"/>
          <a:ext cx="5545137" cy="611708"/>
        </a:xfrm>
        <a:prstGeom prst="roundRect">
          <a:avLst>
            <a:gd name="adj" fmla="val 10000"/>
          </a:avLst>
        </a:prstGeom>
        <a:solidFill>
          <a:schemeClr val="bg2">
            <a:lumMod val="50000"/>
            <a:lumOff val="50000"/>
          </a:schemeClr>
        </a:solidFill>
        <a:ln>
          <a:noFill/>
        </a:ln>
        <a:effectLst/>
      </dsp:spPr>
      <dsp:style>
        <a:lnRef idx="0">
          <a:scrgbClr r="0" g="0" b="0"/>
        </a:lnRef>
        <a:fillRef idx="1">
          <a:scrgbClr r="0" g="0" b="0"/>
        </a:fillRef>
        <a:effectRef idx="0">
          <a:scrgbClr r="0" g="0" b="0"/>
        </a:effectRef>
        <a:fontRef idx="minor"/>
      </dsp:style>
    </dsp:sp>
    <dsp:sp modelId="{9C2E0245-E481-4CD0-BF91-7CE55DEA7EF3}">
      <dsp:nvSpPr>
        <dsp:cNvPr id="0" name=""/>
        <dsp:cNvSpPr/>
      </dsp:nvSpPr>
      <dsp:spPr>
        <a:xfrm>
          <a:off x="185041" y="3962251"/>
          <a:ext cx="336439" cy="33643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249FD1E-998D-4611-B9AD-816C9DB1A20C}">
      <dsp:nvSpPr>
        <dsp:cNvPr id="0" name=""/>
        <dsp:cNvSpPr/>
      </dsp:nvSpPr>
      <dsp:spPr>
        <a:xfrm>
          <a:off x="706523" y="3824616"/>
          <a:ext cx="4838613" cy="611708"/>
        </a:xfrm>
        <a:prstGeom prst="rect">
          <a:avLst/>
        </a:prstGeom>
        <a:solidFill>
          <a:schemeClr val="bg2">
            <a:lumMod val="50000"/>
            <a:lumOff val="5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64739" tIns="64739" rIns="64739" bIns="64739" numCol="1" spcCol="1270" anchor="ctr" anchorCtr="0">
          <a:noAutofit/>
        </a:bodyPr>
        <a:lstStyle/>
        <a:p>
          <a:pPr marL="0" lvl="0" indent="0" algn="l" defTabSz="666750">
            <a:lnSpc>
              <a:spcPct val="100000"/>
            </a:lnSpc>
            <a:spcBef>
              <a:spcPct val="0"/>
            </a:spcBef>
            <a:spcAft>
              <a:spcPct val="35000"/>
            </a:spcAft>
            <a:buNone/>
          </a:pPr>
          <a:r>
            <a:rPr lang="en-GB" sz="1500" kern="1200"/>
            <a:t>Wrote a regular column on data analytics and information access issues and trends</a:t>
          </a:r>
          <a:endParaRPr lang="en-US" sz="1500" kern="1200"/>
        </a:p>
      </dsp:txBody>
      <dsp:txXfrm>
        <a:off x="706523" y="3824616"/>
        <a:ext cx="4838613" cy="6117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068E62-07FF-48EE-A9AA-C3B1C213961D}">
      <dsp:nvSpPr>
        <dsp:cNvPr id="0" name=""/>
        <dsp:cNvSpPr/>
      </dsp:nvSpPr>
      <dsp:spPr>
        <a:xfrm>
          <a:off x="2218054" y="1906"/>
          <a:ext cx="8872219" cy="477727"/>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146" tIns="121343" rIns="172146" bIns="121343" numCol="1" spcCol="1270" anchor="ctr" anchorCtr="0">
          <a:noAutofit/>
        </a:bodyPr>
        <a:lstStyle/>
        <a:p>
          <a:pPr marL="0" lvl="0" indent="0" algn="l" defTabSz="711200">
            <a:lnSpc>
              <a:spcPct val="90000"/>
            </a:lnSpc>
            <a:spcBef>
              <a:spcPct val="0"/>
            </a:spcBef>
            <a:spcAft>
              <a:spcPct val="35000"/>
            </a:spcAft>
            <a:buNone/>
          </a:pPr>
          <a:r>
            <a:rPr lang="en-US" sz="1600" kern="1200"/>
            <a:t>Create a culture or proactive stewardship</a:t>
          </a:r>
        </a:p>
      </dsp:txBody>
      <dsp:txXfrm>
        <a:off x="2218054" y="1906"/>
        <a:ext cx="8872219" cy="477727"/>
      </dsp:txXfrm>
    </dsp:sp>
    <dsp:sp modelId="{51F5D2A6-27E3-434F-9773-25EAD9EC23CA}">
      <dsp:nvSpPr>
        <dsp:cNvPr id="0" name=""/>
        <dsp:cNvSpPr/>
      </dsp:nvSpPr>
      <dsp:spPr>
        <a:xfrm>
          <a:off x="0" y="1906"/>
          <a:ext cx="2218054" cy="477727"/>
        </a:xfrm>
        <a:prstGeom prst="rect">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72" tIns="47189" rIns="117372" bIns="47189" numCol="1" spcCol="1270" anchor="ctr" anchorCtr="0">
          <a:noAutofit/>
        </a:bodyPr>
        <a:lstStyle/>
        <a:p>
          <a:pPr marL="0" lvl="0" indent="0" algn="ctr" defTabSz="889000">
            <a:lnSpc>
              <a:spcPct val="90000"/>
            </a:lnSpc>
            <a:spcBef>
              <a:spcPct val="0"/>
            </a:spcBef>
            <a:spcAft>
              <a:spcPct val="35000"/>
            </a:spcAft>
            <a:buNone/>
          </a:pPr>
          <a:r>
            <a:rPr lang="en-US" sz="2000" kern="1200"/>
            <a:t>Create</a:t>
          </a:r>
        </a:p>
      </dsp:txBody>
      <dsp:txXfrm>
        <a:off x="0" y="1906"/>
        <a:ext cx="2218054" cy="477727"/>
      </dsp:txXfrm>
    </dsp:sp>
    <dsp:sp modelId="{B1983D6E-7401-425B-8869-D604D3C74BBA}">
      <dsp:nvSpPr>
        <dsp:cNvPr id="0" name=""/>
        <dsp:cNvSpPr/>
      </dsp:nvSpPr>
      <dsp:spPr>
        <a:xfrm>
          <a:off x="2218054" y="508298"/>
          <a:ext cx="8872219" cy="477727"/>
        </a:xfrm>
        <a:prstGeom prst="rect">
          <a:avLst/>
        </a:prstGeom>
        <a:solidFill>
          <a:schemeClr val="accent5">
            <a:hueOff val="51429"/>
            <a:satOff val="1242"/>
            <a:lumOff val="-5994"/>
            <a:alphaOff val="0"/>
          </a:schemeClr>
        </a:solidFill>
        <a:ln w="12700" cap="flat" cmpd="sng" algn="ctr">
          <a:solidFill>
            <a:schemeClr val="accent5">
              <a:hueOff val="51429"/>
              <a:satOff val="1242"/>
              <a:lumOff val="-599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146" tIns="121343" rIns="172146" bIns="121343" numCol="1" spcCol="1270" anchor="ctr" anchorCtr="0">
          <a:noAutofit/>
        </a:bodyPr>
        <a:lstStyle/>
        <a:p>
          <a:pPr marL="0" lvl="0" indent="0" algn="l" defTabSz="711200">
            <a:lnSpc>
              <a:spcPct val="90000"/>
            </a:lnSpc>
            <a:spcBef>
              <a:spcPct val="0"/>
            </a:spcBef>
            <a:spcAft>
              <a:spcPct val="35000"/>
            </a:spcAft>
            <a:buNone/>
          </a:pPr>
          <a:r>
            <a:rPr lang="en-US" sz="1600" kern="1200"/>
            <a:t>Get the opinions and input of users, line-of-business managers, and leadership</a:t>
          </a:r>
        </a:p>
      </dsp:txBody>
      <dsp:txXfrm>
        <a:off x="2218054" y="508298"/>
        <a:ext cx="8872219" cy="477727"/>
      </dsp:txXfrm>
    </dsp:sp>
    <dsp:sp modelId="{29058443-5C89-48F2-B757-02DE2F9BF970}">
      <dsp:nvSpPr>
        <dsp:cNvPr id="0" name=""/>
        <dsp:cNvSpPr/>
      </dsp:nvSpPr>
      <dsp:spPr>
        <a:xfrm>
          <a:off x="0" y="508298"/>
          <a:ext cx="2218054" cy="477727"/>
        </a:xfrm>
        <a:prstGeom prst="rect">
          <a:avLst/>
        </a:prstGeom>
        <a:solidFill>
          <a:schemeClr val="lt1">
            <a:hueOff val="0"/>
            <a:satOff val="0"/>
            <a:lumOff val="0"/>
            <a:alphaOff val="0"/>
          </a:schemeClr>
        </a:solidFill>
        <a:ln w="12700" cap="flat" cmpd="sng" algn="ctr">
          <a:solidFill>
            <a:schemeClr val="accent5">
              <a:hueOff val="51429"/>
              <a:satOff val="1242"/>
              <a:lumOff val="-599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72" tIns="47189" rIns="117372" bIns="47189" numCol="1" spcCol="1270" anchor="ctr" anchorCtr="0">
          <a:noAutofit/>
        </a:bodyPr>
        <a:lstStyle/>
        <a:p>
          <a:pPr marL="0" lvl="0" indent="0" algn="ctr" defTabSz="889000">
            <a:lnSpc>
              <a:spcPct val="90000"/>
            </a:lnSpc>
            <a:spcBef>
              <a:spcPct val="0"/>
            </a:spcBef>
            <a:spcAft>
              <a:spcPct val="35000"/>
            </a:spcAft>
            <a:buNone/>
          </a:pPr>
          <a:r>
            <a:rPr lang="en-US" sz="2000" kern="1200"/>
            <a:t>Get</a:t>
          </a:r>
        </a:p>
      </dsp:txBody>
      <dsp:txXfrm>
        <a:off x="0" y="508298"/>
        <a:ext cx="2218054" cy="477727"/>
      </dsp:txXfrm>
    </dsp:sp>
    <dsp:sp modelId="{3F0CF130-CABB-451C-9459-F35B16660593}">
      <dsp:nvSpPr>
        <dsp:cNvPr id="0" name=""/>
        <dsp:cNvSpPr/>
      </dsp:nvSpPr>
      <dsp:spPr>
        <a:xfrm>
          <a:off x="2218054" y="1014689"/>
          <a:ext cx="8872219" cy="477727"/>
        </a:xfrm>
        <a:prstGeom prst="rect">
          <a:avLst/>
        </a:prstGeom>
        <a:solidFill>
          <a:schemeClr val="accent5">
            <a:hueOff val="102859"/>
            <a:satOff val="2483"/>
            <a:lumOff val="-11989"/>
            <a:alphaOff val="0"/>
          </a:schemeClr>
        </a:solidFill>
        <a:ln w="12700" cap="flat" cmpd="sng" algn="ctr">
          <a:solidFill>
            <a:schemeClr val="accent5">
              <a:hueOff val="102859"/>
              <a:satOff val="2483"/>
              <a:lumOff val="-1198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146" tIns="121343" rIns="172146" bIns="121343" numCol="1" spcCol="1270" anchor="ctr" anchorCtr="0">
          <a:noAutofit/>
        </a:bodyPr>
        <a:lstStyle/>
        <a:p>
          <a:pPr marL="0" lvl="0" indent="0" algn="l" defTabSz="711200">
            <a:lnSpc>
              <a:spcPct val="90000"/>
            </a:lnSpc>
            <a:spcBef>
              <a:spcPct val="0"/>
            </a:spcBef>
            <a:spcAft>
              <a:spcPct val="35000"/>
            </a:spcAft>
            <a:buNone/>
          </a:pPr>
          <a:r>
            <a:rPr lang="en-US" sz="1600" kern="1200" dirty="0"/>
            <a:t>Eliminate the acts of heroics</a:t>
          </a:r>
        </a:p>
      </dsp:txBody>
      <dsp:txXfrm>
        <a:off x="2218054" y="1014689"/>
        <a:ext cx="8872219" cy="477727"/>
      </dsp:txXfrm>
    </dsp:sp>
    <dsp:sp modelId="{1CB2ABAE-F6BD-4347-8E48-B7A196382DD0}">
      <dsp:nvSpPr>
        <dsp:cNvPr id="0" name=""/>
        <dsp:cNvSpPr/>
      </dsp:nvSpPr>
      <dsp:spPr>
        <a:xfrm>
          <a:off x="0" y="1014689"/>
          <a:ext cx="2218054" cy="477727"/>
        </a:xfrm>
        <a:prstGeom prst="rect">
          <a:avLst/>
        </a:prstGeom>
        <a:solidFill>
          <a:schemeClr val="lt1">
            <a:hueOff val="0"/>
            <a:satOff val="0"/>
            <a:lumOff val="0"/>
            <a:alphaOff val="0"/>
          </a:schemeClr>
        </a:solidFill>
        <a:ln w="12700" cap="flat" cmpd="sng" algn="ctr">
          <a:solidFill>
            <a:schemeClr val="accent5">
              <a:hueOff val="102859"/>
              <a:satOff val="2483"/>
              <a:lumOff val="-119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72" tIns="47189" rIns="117372" bIns="47189" numCol="1" spcCol="1270" anchor="ctr" anchorCtr="0">
          <a:noAutofit/>
        </a:bodyPr>
        <a:lstStyle/>
        <a:p>
          <a:pPr marL="0" lvl="0" indent="0" algn="ctr" defTabSz="889000">
            <a:lnSpc>
              <a:spcPct val="90000"/>
            </a:lnSpc>
            <a:spcBef>
              <a:spcPct val="0"/>
            </a:spcBef>
            <a:spcAft>
              <a:spcPct val="35000"/>
            </a:spcAft>
            <a:buNone/>
          </a:pPr>
          <a:r>
            <a:rPr lang="en-US" sz="2000" kern="1200"/>
            <a:t>Eliminate</a:t>
          </a:r>
        </a:p>
      </dsp:txBody>
      <dsp:txXfrm>
        <a:off x="0" y="1014689"/>
        <a:ext cx="2218054" cy="477727"/>
      </dsp:txXfrm>
    </dsp:sp>
    <dsp:sp modelId="{31C51BB5-4DDF-4981-9604-A9B0AF76B2AD}">
      <dsp:nvSpPr>
        <dsp:cNvPr id="0" name=""/>
        <dsp:cNvSpPr/>
      </dsp:nvSpPr>
      <dsp:spPr>
        <a:xfrm>
          <a:off x="2218054" y="1521080"/>
          <a:ext cx="8872219" cy="477727"/>
        </a:xfrm>
        <a:prstGeom prst="rect">
          <a:avLst/>
        </a:prstGeom>
        <a:solidFill>
          <a:schemeClr val="accent5">
            <a:hueOff val="154288"/>
            <a:satOff val="3725"/>
            <a:lumOff val="-17983"/>
            <a:alphaOff val="0"/>
          </a:schemeClr>
        </a:solidFill>
        <a:ln w="12700" cap="flat" cmpd="sng" algn="ctr">
          <a:solidFill>
            <a:schemeClr val="accent5">
              <a:hueOff val="154288"/>
              <a:satOff val="3725"/>
              <a:lumOff val="-179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146" tIns="121343" rIns="172146" bIns="121343" numCol="1" spcCol="1270" anchor="ctr" anchorCtr="0">
          <a:noAutofit/>
        </a:bodyPr>
        <a:lstStyle/>
        <a:p>
          <a:pPr marL="0" lvl="0" indent="0" algn="l" defTabSz="711200">
            <a:lnSpc>
              <a:spcPct val="90000"/>
            </a:lnSpc>
            <a:spcBef>
              <a:spcPct val="0"/>
            </a:spcBef>
            <a:spcAft>
              <a:spcPct val="35000"/>
            </a:spcAft>
            <a:buNone/>
          </a:pPr>
          <a:r>
            <a:rPr lang="en-US" sz="1600" kern="1200"/>
            <a:t>Establish data ownership</a:t>
          </a:r>
        </a:p>
      </dsp:txBody>
      <dsp:txXfrm>
        <a:off x="2218054" y="1521080"/>
        <a:ext cx="8872219" cy="477727"/>
      </dsp:txXfrm>
    </dsp:sp>
    <dsp:sp modelId="{67B0CFDC-3E54-4E39-88B2-3B076FDE908B}">
      <dsp:nvSpPr>
        <dsp:cNvPr id="0" name=""/>
        <dsp:cNvSpPr/>
      </dsp:nvSpPr>
      <dsp:spPr>
        <a:xfrm>
          <a:off x="0" y="1521080"/>
          <a:ext cx="2218054" cy="477727"/>
        </a:xfrm>
        <a:prstGeom prst="rect">
          <a:avLst/>
        </a:prstGeom>
        <a:solidFill>
          <a:schemeClr val="lt1">
            <a:hueOff val="0"/>
            <a:satOff val="0"/>
            <a:lumOff val="0"/>
            <a:alphaOff val="0"/>
          </a:schemeClr>
        </a:solidFill>
        <a:ln w="12700" cap="flat" cmpd="sng" algn="ctr">
          <a:solidFill>
            <a:schemeClr val="accent5">
              <a:hueOff val="154288"/>
              <a:satOff val="3725"/>
              <a:lumOff val="-179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72" tIns="47189" rIns="117372" bIns="47189" numCol="1" spcCol="1270" anchor="ctr" anchorCtr="0">
          <a:noAutofit/>
        </a:bodyPr>
        <a:lstStyle/>
        <a:p>
          <a:pPr marL="0" lvl="0" indent="0" algn="ctr" defTabSz="889000">
            <a:lnSpc>
              <a:spcPct val="90000"/>
            </a:lnSpc>
            <a:spcBef>
              <a:spcPct val="0"/>
            </a:spcBef>
            <a:spcAft>
              <a:spcPct val="35000"/>
            </a:spcAft>
            <a:buNone/>
          </a:pPr>
          <a:r>
            <a:rPr lang="en-US" sz="2000" kern="1200"/>
            <a:t>Establish</a:t>
          </a:r>
        </a:p>
      </dsp:txBody>
      <dsp:txXfrm>
        <a:off x="0" y="1521080"/>
        <a:ext cx="2218054" cy="477727"/>
      </dsp:txXfrm>
    </dsp:sp>
    <dsp:sp modelId="{664AA882-56B7-4708-8C4F-38B1CE28F5F0}">
      <dsp:nvSpPr>
        <dsp:cNvPr id="0" name=""/>
        <dsp:cNvSpPr/>
      </dsp:nvSpPr>
      <dsp:spPr>
        <a:xfrm>
          <a:off x="2218054" y="2027471"/>
          <a:ext cx="8872219" cy="477727"/>
        </a:xfrm>
        <a:prstGeom prst="rect">
          <a:avLst/>
        </a:prstGeom>
        <a:solidFill>
          <a:schemeClr val="accent5">
            <a:hueOff val="205718"/>
            <a:satOff val="4967"/>
            <a:lumOff val="-23978"/>
            <a:alphaOff val="0"/>
          </a:schemeClr>
        </a:solidFill>
        <a:ln w="12700" cap="flat" cmpd="sng" algn="ctr">
          <a:solidFill>
            <a:schemeClr val="accent5">
              <a:hueOff val="205718"/>
              <a:satOff val="4967"/>
              <a:lumOff val="-2397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146" tIns="121343" rIns="172146" bIns="121343" numCol="1" spcCol="1270" anchor="ctr" anchorCtr="0">
          <a:noAutofit/>
        </a:bodyPr>
        <a:lstStyle/>
        <a:p>
          <a:pPr marL="0" lvl="0" indent="0" algn="l" defTabSz="711200">
            <a:lnSpc>
              <a:spcPct val="90000"/>
            </a:lnSpc>
            <a:spcBef>
              <a:spcPct val="0"/>
            </a:spcBef>
            <a:spcAft>
              <a:spcPct val="35000"/>
            </a:spcAft>
            <a:buNone/>
          </a:pPr>
          <a:r>
            <a:rPr lang="en-US" sz="1600" kern="1200"/>
            <a:t>Remediate upstream processes</a:t>
          </a:r>
        </a:p>
      </dsp:txBody>
      <dsp:txXfrm>
        <a:off x="2218054" y="2027471"/>
        <a:ext cx="8872219" cy="477727"/>
      </dsp:txXfrm>
    </dsp:sp>
    <dsp:sp modelId="{68498548-4C40-4F25-8FFE-009639C3EA6C}">
      <dsp:nvSpPr>
        <dsp:cNvPr id="0" name=""/>
        <dsp:cNvSpPr/>
      </dsp:nvSpPr>
      <dsp:spPr>
        <a:xfrm>
          <a:off x="0" y="2027471"/>
          <a:ext cx="2218054" cy="477727"/>
        </a:xfrm>
        <a:prstGeom prst="rect">
          <a:avLst/>
        </a:prstGeom>
        <a:solidFill>
          <a:schemeClr val="lt1">
            <a:hueOff val="0"/>
            <a:satOff val="0"/>
            <a:lumOff val="0"/>
            <a:alphaOff val="0"/>
          </a:schemeClr>
        </a:solidFill>
        <a:ln w="12700" cap="flat" cmpd="sng" algn="ctr">
          <a:solidFill>
            <a:schemeClr val="accent5">
              <a:hueOff val="205718"/>
              <a:satOff val="4967"/>
              <a:lumOff val="-2397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72" tIns="47189" rIns="117372" bIns="47189" numCol="1" spcCol="1270" anchor="ctr" anchorCtr="0">
          <a:noAutofit/>
        </a:bodyPr>
        <a:lstStyle/>
        <a:p>
          <a:pPr marL="0" lvl="0" indent="0" algn="ctr" defTabSz="889000">
            <a:lnSpc>
              <a:spcPct val="90000"/>
            </a:lnSpc>
            <a:spcBef>
              <a:spcPct val="0"/>
            </a:spcBef>
            <a:spcAft>
              <a:spcPct val="35000"/>
            </a:spcAft>
            <a:buNone/>
          </a:pPr>
          <a:r>
            <a:rPr lang="en-US" sz="2000" kern="1200"/>
            <a:t>Remediate</a:t>
          </a:r>
        </a:p>
      </dsp:txBody>
      <dsp:txXfrm>
        <a:off x="0" y="2027471"/>
        <a:ext cx="2218054" cy="477727"/>
      </dsp:txXfrm>
    </dsp:sp>
    <dsp:sp modelId="{51B6E6DE-74F2-49A3-923E-7B2A0B1F9E23}">
      <dsp:nvSpPr>
        <dsp:cNvPr id="0" name=""/>
        <dsp:cNvSpPr/>
      </dsp:nvSpPr>
      <dsp:spPr>
        <a:xfrm>
          <a:off x="2218054" y="2533863"/>
          <a:ext cx="8872219" cy="477727"/>
        </a:xfrm>
        <a:prstGeom prst="rect">
          <a:avLst/>
        </a:prstGeom>
        <a:solidFill>
          <a:schemeClr val="accent5">
            <a:hueOff val="257147"/>
            <a:satOff val="6209"/>
            <a:lumOff val="-29972"/>
            <a:alphaOff val="0"/>
          </a:schemeClr>
        </a:solidFill>
        <a:ln w="12700" cap="flat" cmpd="sng" algn="ctr">
          <a:solidFill>
            <a:schemeClr val="accent5">
              <a:hueOff val="257147"/>
              <a:satOff val="6209"/>
              <a:lumOff val="-2997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146" tIns="121343" rIns="172146" bIns="121343" numCol="1" spcCol="1270" anchor="ctr" anchorCtr="0">
          <a:noAutofit/>
        </a:bodyPr>
        <a:lstStyle/>
        <a:p>
          <a:pPr marL="0" lvl="0" indent="0" algn="l" defTabSz="711200">
            <a:lnSpc>
              <a:spcPct val="90000"/>
            </a:lnSpc>
            <a:spcBef>
              <a:spcPct val="0"/>
            </a:spcBef>
            <a:spcAft>
              <a:spcPct val="35000"/>
            </a:spcAft>
            <a:buNone/>
          </a:pPr>
          <a:r>
            <a:rPr lang="en-US" sz="1600" kern="1200"/>
            <a:t>Resolve conflicts</a:t>
          </a:r>
        </a:p>
      </dsp:txBody>
      <dsp:txXfrm>
        <a:off x="2218054" y="2533863"/>
        <a:ext cx="8872219" cy="477727"/>
      </dsp:txXfrm>
    </dsp:sp>
    <dsp:sp modelId="{144BEC1E-0BF4-4F93-9FE2-AB57CCF23C6D}">
      <dsp:nvSpPr>
        <dsp:cNvPr id="0" name=""/>
        <dsp:cNvSpPr/>
      </dsp:nvSpPr>
      <dsp:spPr>
        <a:xfrm>
          <a:off x="0" y="2533863"/>
          <a:ext cx="2218054" cy="477727"/>
        </a:xfrm>
        <a:prstGeom prst="rect">
          <a:avLst/>
        </a:prstGeom>
        <a:solidFill>
          <a:schemeClr val="lt1">
            <a:hueOff val="0"/>
            <a:satOff val="0"/>
            <a:lumOff val="0"/>
            <a:alphaOff val="0"/>
          </a:schemeClr>
        </a:solidFill>
        <a:ln w="12700" cap="flat" cmpd="sng" algn="ctr">
          <a:solidFill>
            <a:schemeClr val="accent5">
              <a:hueOff val="257147"/>
              <a:satOff val="6209"/>
              <a:lumOff val="-2997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72" tIns="47189" rIns="117372" bIns="47189" numCol="1" spcCol="1270" anchor="ctr" anchorCtr="0">
          <a:noAutofit/>
        </a:bodyPr>
        <a:lstStyle/>
        <a:p>
          <a:pPr marL="0" lvl="0" indent="0" algn="ctr" defTabSz="889000">
            <a:lnSpc>
              <a:spcPct val="90000"/>
            </a:lnSpc>
            <a:spcBef>
              <a:spcPct val="0"/>
            </a:spcBef>
            <a:spcAft>
              <a:spcPct val="35000"/>
            </a:spcAft>
            <a:buNone/>
          </a:pPr>
          <a:r>
            <a:rPr lang="en-US" sz="2000" kern="1200"/>
            <a:t>Resolve</a:t>
          </a:r>
        </a:p>
      </dsp:txBody>
      <dsp:txXfrm>
        <a:off x="0" y="2533863"/>
        <a:ext cx="2218054" cy="477727"/>
      </dsp:txXfrm>
    </dsp:sp>
    <dsp:sp modelId="{67F4CA41-A63F-40C0-9C39-6A2638EBB8CF}">
      <dsp:nvSpPr>
        <dsp:cNvPr id="0" name=""/>
        <dsp:cNvSpPr/>
      </dsp:nvSpPr>
      <dsp:spPr>
        <a:xfrm>
          <a:off x="2218054" y="3040254"/>
          <a:ext cx="8872219" cy="477727"/>
        </a:xfrm>
        <a:prstGeom prst="rect">
          <a:avLst/>
        </a:prstGeom>
        <a:solidFill>
          <a:schemeClr val="accent5">
            <a:hueOff val="308577"/>
            <a:satOff val="7450"/>
            <a:lumOff val="-35967"/>
            <a:alphaOff val="0"/>
          </a:schemeClr>
        </a:solidFill>
        <a:ln w="12700" cap="flat" cmpd="sng" algn="ctr">
          <a:solidFill>
            <a:schemeClr val="accent5">
              <a:hueOff val="308577"/>
              <a:satOff val="7450"/>
              <a:lumOff val="-3596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146" tIns="121343" rIns="172146" bIns="121343" numCol="1" spcCol="1270" anchor="ctr" anchorCtr="0">
          <a:noAutofit/>
        </a:bodyPr>
        <a:lstStyle/>
        <a:p>
          <a:pPr marL="0" lvl="0" indent="0" algn="l" defTabSz="711200">
            <a:lnSpc>
              <a:spcPct val="90000"/>
            </a:lnSpc>
            <a:spcBef>
              <a:spcPct val="0"/>
            </a:spcBef>
            <a:spcAft>
              <a:spcPct val="35000"/>
            </a:spcAft>
            <a:buNone/>
          </a:pPr>
          <a:r>
            <a:rPr lang="en-US" sz="1600" kern="1200"/>
            <a:t>Change the way systems and processes produce and consume data</a:t>
          </a:r>
        </a:p>
      </dsp:txBody>
      <dsp:txXfrm>
        <a:off x="2218054" y="3040254"/>
        <a:ext cx="8872219" cy="477727"/>
      </dsp:txXfrm>
    </dsp:sp>
    <dsp:sp modelId="{A9015538-90E6-43E3-89AA-DEE31EB855C9}">
      <dsp:nvSpPr>
        <dsp:cNvPr id="0" name=""/>
        <dsp:cNvSpPr/>
      </dsp:nvSpPr>
      <dsp:spPr>
        <a:xfrm>
          <a:off x="0" y="3040254"/>
          <a:ext cx="2218054" cy="477727"/>
        </a:xfrm>
        <a:prstGeom prst="rect">
          <a:avLst/>
        </a:prstGeom>
        <a:solidFill>
          <a:schemeClr val="lt1">
            <a:hueOff val="0"/>
            <a:satOff val="0"/>
            <a:lumOff val="0"/>
            <a:alphaOff val="0"/>
          </a:schemeClr>
        </a:solidFill>
        <a:ln w="12700" cap="flat" cmpd="sng" algn="ctr">
          <a:solidFill>
            <a:schemeClr val="accent5">
              <a:hueOff val="308577"/>
              <a:satOff val="7450"/>
              <a:lumOff val="-359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72" tIns="47189" rIns="117372" bIns="47189" numCol="1" spcCol="1270" anchor="ctr" anchorCtr="0">
          <a:noAutofit/>
        </a:bodyPr>
        <a:lstStyle/>
        <a:p>
          <a:pPr marL="0" lvl="0" indent="0" algn="ctr" defTabSz="889000">
            <a:lnSpc>
              <a:spcPct val="90000"/>
            </a:lnSpc>
            <a:spcBef>
              <a:spcPct val="0"/>
            </a:spcBef>
            <a:spcAft>
              <a:spcPct val="35000"/>
            </a:spcAft>
            <a:buNone/>
          </a:pPr>
          <a:r>
            <a:rPr lang="en-US" sz="2000" kern="1200"/>
            <a:t>Change</a:t>
          </a:r>
        </a:p>
      </dsp:txBody>
      <dsp:txXfrm>
        <a:off x="0" y="3040254"/>
        <a:ext cx="2218054" cy="477727"/>
      </dsp:txXfrm>
    </dsp:sp>
    <dsp:sp modelId="{39112633-6FB1-42F0-AF60-3459794279AE}">
      <dsp:nvSpPr>
        <dsp:cNvPr id="0" name=""/>
        <dsp:cNvSpPr/>
      </dsp:nvSpPr>
      <dsp:spPr>
        <a:xfrm>
          <a:off x="2218054" y="3546645"/>
          <a:ext cx="8872219" cy="477727"/>
        </a:xfrm>
        <a:prstGeom prst="rect">
          <a:avLst/>
        </a:prstGeom>
        <a:solidFill>
          <a:schemeClr val="accent5">
            <a:hueOff val="360006"/>
            <a:satOff val="8692"/>
            <a:lumOff val="-41961"/>
            <a:alphaOff val="0"/>
          </a:schemeClr>
        </a:solidFill>
        <a:ln w="12700" cap="flat" cmpd="sng" algn="ctr">
          <a:solidFill>
            <a:schemeClr val="accent5">
              <a:hueOff val="360006"/>
              <a:satOff val="8692"/>
              <a:lumOff val="-4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146" tIns="121343" rIns="172146" bIns="121343" numCol="1" spcCol="1270" anchor="ctr" anchorCtr="0">
          <a:noAutofit/>
        </a:bodyPr>
        <a:lstStyle/>
        <a:p>
          <a:pPr marL="0" lvl="0" indent="0" algn="l" defTabSz="711200">
            <a:lnSpc>
              <a:spcPct val="90000"/>
            </a:lnSpc>
            <a:spcBef>
              <a:spcPct val="0"/>
            </a:spcBef>
            <a:spcAft>
              <a:spcPct val="35000"/>
            </a:spcAft>
            <a:buNone/>
          </a:pPr>
          <a:r>
            <a:rPr lang="en-US" sz="1600" kern="1200"/>
            <a:t>Have a cross-functional and cross-business-unit understanding</a:t>
          </a:r>
        </a:p>
      </dsp:txBody>
      <dsp:txXfrm>
        <a:off x="2218054" y="3546645"/>
        <a:ext cx="8872219" cy="477727"/>
      </dsp:txXfrm>
    </dsp:sp>
    <dsp:sp modelId="{5CB8BB4E-61AB-4703-BD52-4B832AC3F508}">
      <dsp:nvSpPr>
        <dsp:cNvPr id="0" name=""/>
        <dsp:cNvSpPr/>
      </dsp:nvSpPr>
      <dsp:spPr>
        <a:xfrm>
          <a:off x="0" y="3546645"/>
          <a:ext cx="2218054" cy="477727"/>
        </a:xfrm>
        <a:prstGeom prst="rect">
          <a:avLst/>
        </a:prstGeom>
        <a:solidFill>
          <a:schemeClr val="lt1">
            <a:hueOff val="0"/>
            <a:satOff val="0"/>
            <a:lumOff val="0"/>
            <a:alphaOff val="0"/>
          </a:schemeClr>
        </a:solidFill>
        <a:ln w="12700" cap="flat" cmpd="sng" algn="ctr">
          <a:solidFill>
            <a:schemeClr val="accent5">
              <a:hueOff val="360006"/>
              <a:satOff val="8692"/>
              <a:lumOff val="-419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72" tIns="47189" rIns="117372" bIns="47189" numCol="1" spcCol="1270" anchor="ctr" anchorCtr="0">
          <a:noAutofit/>
        </a:bodyPr>
        <a:lstStyle/>
        <a:p>
          <a:pPr marL="0" lvl="0" indent="0" algn="ctr" defTabSz="889000">
            <a:lnSpc>
              <a:spcPct val="90000"/>
            </a:lnSpc>
            <a:spcBef>
              <a:spcPct val="0"/>
            </a:spcBef>
            <a:spcAft>
              <a:spcPct val="35000"/>
            </a:spcAft>
            <a:buNone/>
          </a:pPr>
          <a:r>
            <a:rPr lang="en-US" sz="2000" kern="1200"/>
            <a:t>Have</a:t>
          </a:r>
        </a:p>
      </dsp:txBody>
      <dsp:txXfrm>
        <a:off x="0" y="3546645"/>
        <a:ext cx="2218054" cy="47772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89B3A3-2D95-4A9C-B1B5-9D3FF154F0A8}">
      <dsp:nvSpPr>
        <dsp:cNvPr id="0" name=""/>
        <dsp:cNvSpPr/>
      </dsp:nvSpPr>
      <dsp:spPr>
        <a:xfrm>
          <a:off x="492248" y="558"/>
          <a:ext cx="3516064" cy="210963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IE" sz="3200" kern="1200" dirty="0"/>
            <a:t>United States average salary is $219,290 as of January 2023</a:t>
          </a:r>
          <a:endParaRPr lang="en-US" sz="3200" kern="1200" dirty="0"/>
        </a:p>
      </dsp:txBody>
      <dsp:txXfrm>
        <a:off x="492248" y="558"/>
        <a:ext cx="3516064" cy="2109638"/>
      </dsp:txXfrm>
    </dsp:sp>
    <dsp:sp modelId="{CA7A54E4-F285-4333-A479-CD38DE0F7541}">
      <dsp:nvSpPr>
        <dsp:cNvPr id="0" name=""/>
        <dsp:cNvSpPr/>
      </dsp:nvSpPr>
      <dsp:spPr>
        <a:xfrm>
          <a:off x="492248" y="2461803"/>
          <a:ext cx="3516064" cy="210963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IE" sz="3200" kern="1200" dirty="0"/>
            <a:t>Ireland average salary is €170,000</a:t>
          </a:r>
          <a:endParaRPr lang="en-US" sz="3200" kern="1200" dirty="0"/>
        </a:p>
      </dsp:txBody>
      <dsp:txXfrm>
        <a:off x="492248" y="2461803"/>
        <a:ext cx="3516064" cy="21096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05DDE0-ED95-4810-ACC4-9DCB1CF4E32B}">
      <dsp:nvSpPr>
        <dsp:cNvPr id="0" name=""/>
        <dsp:cNvSpPr/>
      </dsp:nvSpPr>
      <dsp:spPr>
        <a:xfrm>
          <a:off x="0" y="35516"/>
          <a:ext cx="6373813" cy="89526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kern="1200" dirty="0"/>
            <a:t>The role is still relatively new</a:t>
          </a:r>
          <a:endParaRPr lang="en-US" sz="2200" kern="1200" dirty="0"/>
        </a:p>
      </dsp:txBody>
      <dsp:txXfrm>
        <a:off x="43703" y="79219"/>
        <a:ext cx="6286407" cy="807863"/>
      </dsp:txXfrm>
    </dsp:sp>
    <dsp:sp modelId="{E4CA9B07-D0A1-4252-B15B-3B66C291D180}">
      <dsp:nvSpPr>
        <dsp:cNvPr id="0" name=""/>
        <dsp:cNvSpPr/>
      </dsp:nvSpPr>
      <dsp:spPr>
        <a:xfrm>
          <a:off x="0" y="994146"/>
          <a:ext cx="6373813" cy="895269"/>
        </a:xfrm>
        <a:prstGeom prst="roundRect">
          <a:avLst/>
        </a:prstGeom>
        <a:solidFill>
          <a:schemeClr val="accent5">
            <a:hueOff val="72001"/>
            <a:satOff val="1738"/>
            <a:lumOff val="-8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kern="1200"/>
            <a:t>The role of CDO is still in its early stages</a:t>
          </a:r>
          <a:endParaRPr lang="en-US" sz="2200" kern="1200"/>
        </a:p>
      </dsp:txBody>
      <dsp:txXfrm>
        <a:off x="43703" y="1037849"/>
        <a:ext cx="6286407" cy="807863"/>
      </dsp:txXfrm>
    </dsp:sp>
    <dsp:sp modelId="{BD031EF3-EB20-4AB5-83F7-DF51D2AAA009}">
      <dsp:nvSpPr>
        <dsp:cNvPr id="0" name=""/>
        <dsp:cNvSpPr/>
      </dsp:nvSpPr>
      <dsp:spPr>
        <a:xfrm>
          <a:off x="0" y="1952775"/>
          <a:ext cx="6373813" cy="895269"/>
        </a:xfrm>
        <a:prstGeom prst="roundRect">
          <a:avLst/>
        </a:prstGeom>
        <a:solidFill>
          <a:schemeClr val="accent5">
            <a:hueOff val="144003"/>
            <a:satOff val="3477"/>
            <a:lumOff val="-167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kern="1200"/>
            <a:t>The role is likely to remain fluid for a number of years</a:t>
          </a:r>
          <a:endParaRPr lang="en-US" sz="2200" kern="1200"/>
        </a:p>
      </dsp:txBody>
      <dsp:txXfrm>
        <a:off x="43703" y="1996478"/>
        <a:ext cx="6286407" cy="807863"/>
      </dsp:txXfrm>
    </dsp:sp>
    <dsp:sp modelId="{3D0547AC-51B3-4C09-B708-130EF4F1DB9C}">
      <dsp:nvSpPr>
        <dsp:cNvPr id="0" name=""/>
        <dsp:cNvSpPr/>
      </dsp:nvSpPr>
      <dsp:spPr>
        <a:xfrm>
          <a:off x="0" y="2911405"/>
          <a:ext cx="6373813" cy="895269"/>
        </a:xfrm>
        <a:prstGeom prst="roundRect">
          <a:avLst/>
        </a:prstGeom>
        <a:solidFill>
          <a:schemeClr val="accent5">
            <a:hueOff val="216004"/>
            <a:satOff val="5215"/>
            <a:lumOff val="-2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kern="1200"/>
            <a:t>How the role is expressed depends on the company’s maturity level</a:t>
          </a:r>
          <a:endParaRPr lang="en-US" sz="2200" kern="1200"/>
        </a:p>
      </dsp:txBody>
      <dsp:txXfrm>
        <a:off x="43703" y="2955108"/>
        <a:ext cx="6286407" cy="807863"/>
      </dsp:txXfrm>
    </dsp:sp>
    <dsp:sp modelId="{BD394985-A028-4AA7-8917-4B7FB194CDD7}">
      <dsp:nvSpPr>
        <dsp:cNvPr id="0" name=""/>
        <dsp:cNvSpPr/>
      </dsp:nvSpPr>
      <dsp:spPr>
        <a:xfrm>
          <a:off x="0" y="3870034"/>
          <a:ext cx="6373813" cy="895269"/>
        </a:xfrm>
        <a:prstGeom prst="roundRect">
          <a:avLst/>
        </a:prstGeom>
        <a:solidFill>
          <a:schemeClr val="accent5">
            <a:hueOff val="288005"/>
            <a:satOff val="6954"/>
            <a:lumOff val="-33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kern="1200"/>
            <a:t>The role of CDO will be pivotal to ensure the agility needed for future growth and success</a:t>
          </a:r>
          <a:endParaRPr lang="en-US" sz="2200" kern="1200"/>
        </a:p>
      </dsp:txBody>
      <dsp:txXfrm>
        <a:off x="43703" y="3913737"/>
        <a:ext cx="6286407" cy="807863"/>
      </dsp:txXfrm>
    </dsp:sp>
    <dsp:sp modelId="{0DCCA340-9876-4528-8955-007BEB5C81A5}">
      <dsp:nvSpPr>
        <dsp:cNvPr id="0" name=""/>
        <dsp:cNvSpPr/>
      </dsp:nvSpPr>
      <dsp:spPr>
        <a:xfrm>
          <a:off x="0" y="4828663"/>
          <a:ext cx="6373813" cy="895269"/>
        </a:xfrm>
        <a:prstGeom prst="roundRect">
          <a:avLst/>
        </a:prstGeom>
        <a:solidFill>
          <a:schemeClr val="accent5">
            <a:hueOff val="360006"/>
            <a:satOff val="8692"/>
            <a:lumOff val="-4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kern="1200"/>
            <a:t>CDO is a role that can provide significant value to the enterprise</a:t>
          </a:r>
          <a:endParaRPr lang="en-US" sz="2200" kern="1200"/>
        </a:p>
      </dsp:txBody>
      <dsp:txXfrm>
        <a:off x="43703" y="4872366"/>
        <a:ext cx="6286407" cy="80786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9037C1-6C49-4F6F-8C32-81888796E0DD}" type="datetimeFigureOut">
              <a:rPr lang="en-IE" smtClean="0"/>
              <a:t>23/02/2023</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932CA6-6CAC-45CB-8689-738976C41ACE}" type="slidenum">
              <a:rPr lang="en-IE" smtClean="0"/>
              <a:t>‹#›</a:t>
            </a:fld>
            <a:endParaRPr lang="en-IE"/>
          </a:p>
        </p:txBody>
      </p:sp>
    </p:spTree>
    <p:extLst>
      <p:ext uri="{BB962C8B-B14F-4D97-AF65-F5344CB8AC3E}">
        <p14:creationId xmlns:p14="http://schemas.microsoft.com/office/powerpoint/2010/main" val="593549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IT_Professional_(journal)"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www.youtube.com/watch?v=xRyfBQ3d2pU&amp;ab_channel=EarleyInformationScience"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E" sz="1800" b="1" u="sng" dirty="0">
                <a:effectLst/>
                <a:latin typeface="Calibri" panose="020F0502020204030204" pitchFamily="34" charset="0"/>
                <a:ea typeface="Calibri" panose="020F0502020204030204" pitchFamily="34" charset="0"/>
                <a:cs typeface="Times New Roman" panose="02020603050405020304" pitchFamily="18" charset="0"/>
              </a:rPr>
              <a:t>Introduction:</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In this presentation I will be talking about the paper ‘The Evolving Role of the Chief Data Officer’ that was written by Seth </a:t>
            </a:r>
            <a:r>
              <a:rPr lang="en-IE" sz="1800" dirty="0" err="1">
                <a:effectLst/>
                <a:latin typeface="Calibri" panose="020F0502020204030204" pitchFamily="34" charset="0"/>
                <a:ea typeface="Calibri" panose="020F0502020204030204" pitchFamily="34" charset="0"/>
                <a:cs typeface="Times New Roman" panose="02020603050405020304" pitchFamily="18" charset="0"/>
              </a:rPr>
              <a:t>Earley</a:t>
            </a:r>
            <a:r>
              <a:rPr lang="en-IE" sz="1800" dirty="0">
                <a:effectLst/>
                <a:latin typeface="Calibri" panose="020F0502020204030204" pitchFamily="34" charset="0"/>
                <a:ea typeface="Calibri" panose="020F0502020204030204" pitchFamily="34" charset="0"/>
                <a:cs typeface="Times New Roman" panose="02020603050405020304" pitchFamily="18" charset="0"/>
              </a:rPr>
              <a:t> and published in the ‘IT Professional’ for the January/February issue of 2017. </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The ‘IT Professional’ is a bi-monthly peer-reviewed magazine published by the IEEE Computer society for the developers and managers of enterprise information systems. Some of the areas addressed in this magazine include emerging technologies, Web services, internet security, data management, enterprise architectures and infrastructures, etc,. </a:t>
            </a:r>
            <a:r>
              <a:rPr lang="en-IE"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https://en.wikipedia.org/wiki/IT_Professional_(journal)</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E" sz="1800" dirty="0">
                <a:effectLst/>
                <a:latin typeface="Calibri" panose="020F0502020204030204" pitchFamily="34" charset="0"/>
                <a:ea typeface="Calibri" panose="020F0502020204030204" pitchFamily="34" charset="0"/>
                <a:cs typeface="Times New Roman" panose="02020603050405020304" pitchFamily="18" charset="0"/>
              </a:rPr>
              <a:t>I was able to use both the paper that was written for publication and the ‘</a:t>
            </a:r>
            <a:r>
              <a:rPr lang="en-IE" sz="1800" dirty="0" err="1">
                <a:effectLst/>
                <a:latin typeface="Calibri" panose="020F0502020204030204" pitchFamily="34" charset="0"/>
                <a:ea typeface="Calibri" panose="020F0502020204030204" pitchFamily="34" charset="0"/>
                <a:cs typeface="Times New Roman" panose="02020603050405020304" pitchFamily="18" charset="0"/>
              </a:rPr>
              <a:t>Earley</a:t>
            </a:r>
            <a:r>
              <a:rPr lang="en-IE" sz="1800" dirty="0">
                <a:effectLst/>
                <a:latin typeface="Calibri" panose="020F0502020204030204" pitchFamily="34" charset="0"/>
                <a:ea typeface="Calibri" panose="020F0502020204030204" pitchFamily="34" charset="0"/>
                <a:cs typeface="Times New Roman" panose="02020603050405020304" pitchFamily="18" charset="0"/>
              </a:rPr>
              <a:t> Executive Roundtable’ that was recorded on the ‘Evolving Role of the Chief Data Officer’ in February of 2017. </a:t>
            </a:r>
            <a:r>
              <a:rPr lang="en-IE"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https://www.youtube.com/watch?v=xRyfBQ3d2pU&amp;ab_channel=EarleyInformationScience</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E" sz="1800" b="1" u="sng" dirty="0">
                <a:effectLst/>
                <a:latin typeface="Calibri" panose="020F0502020204030204" pitchFamily="34" charset="0"/>
                <a:ea typeface="Calibri" panose="020F0502020204030204" pitchFamily="34" charset="0"/>
                <a:cs typeface="Times New Roman" panose="02020603050405020304" pitchFamily="18" charset="0"/>
              </a:rPr>
              <a:t>Relevance to the course so far:</a:t>
            </a:r>
          </a:p>
          <a:p>
            <a:pPr marL="0" marR="0" lvl="0" indent="0" algn="l" defTabSz="914400" rtl="0" eaLnBrk="1" fontAlgn="auto" latinLnBrk="0" hangingPunct="1">
              <a:lnSpc>
                <a:spcPct val="100000"/>
              </a:lnSpc>
              <a:spcBef>
                <a:spcPts val="0"/>
              </a:spcBef>
              <a:spcAft>
                <a:spcPts val="0"/>
              </a:spcAft>
              <a:buClrTx/>
              <a:buSzTx/>
              <a:buFontTx/>
              <a:buNone/>
              <a:tabLst/>
              <a:defRPr/>
            </a:pPr>
            <a:r>
              <a:rPr lang="en-IE" sz="1800" dirty="0">
                <a:effectLst/>
                <a:latin typeface="Calibri" panose="020F0502020204030204" pitchFamily="34" charset="0"/>
                <a:ea typeface="Calibri" panose="020F0502020204030204" pitchFamily="34" charset="0"/>
                <a:cs typeface="Times New Roman" panose="02020603050405020304" pitchFamily="18" charset="0"/>
              </a:rPr>
              <a:t>In week 2 of the module, we learned about the role of the Chief data officer and the importance of the assigning roles and responsibilities in the Data governance framework in order to have accountability for data. We have established that the Chief Data Officer is a role that is situated at the top of the Data Governance leadership hierarchy (in the executive level). We have learned that not all organisations have a CDO but industry analysis suggests the increasing interest in the role, which will be detailed in the slides to follow: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800" dirty="0">
                <a:effectLst/>
                <a:latin typeface="Calibri" panose="020F0502020204030204" pitchFamily="34" charset="0"/>
                <a:ea typeface="Calibri" panose="020F0502020204030204" pitchFamily="34" charset="0"/>
                <a:cs typeface="Times New Roman" panose="02020603050405020304" pitchFamily="18" charset="0"/>
              </a:rPr>
              <a:t>Last week in </a:t>
            </a:r>
            <a:r>
              <a:rPr lang="en-IE" sz="1800" dirty="0" err="1">
                <a:effectLst/>
                <a:latin typeface="Calibri" panose="020F0502020204030204" pitchFamily="34" charset="0"/>
                <a:ea typeface="Calibri" panose="020F0502020204030204" pitchFamily="34" charset="0"/>
                <a:cs typeface="Times New Roman" panose="02020603050405020304" pitchFamily="18" charset="0"/>
              </a:rPr>
              <a:t>Daraghs</a:t>
            </a:r>
            <a:r>
              <a:rPr lang="en-IE" sz="1800" dirty="0">
                <a:effectLst/>
                <a:latin typeface="Calibri" panose="020F0502020204030204" pitchFamily="34" charset="0"/>
                <a:ea typeface="Calibri" panose="020F0502020204030204" pitchFamily="34" charset="0"/>
                <a:cs typeface="Times New Roman" panose="02020603050405020304" pitchFamily="18" charset="0"/>
              </a:rPr>
              <a:t> presentation we also saw mention of the CDO and the increasing popularity of the role within companies for managing data</a:t>
            </a:r>
          </a:p>
          <a:p>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1</a:t>
            </a:fld>
            <a:endParaRPr lang="en-IE"/>
          </a:p>
        </p:txBody>
      </p:sp>
    </p:spTree>
    <p:extLst>
      <p:ext uri="{BB962C8B-B14F-4D97-AF65-F5344CB8AC3E}">
        <p14:creationId xmlns:p14="http://schemas.microsoft.com/office/powerpoint/2010/main" val="2524725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b="0" u="none" dirty="0"/>
              <a:t>I am going to begin with a high level introduction into what was discussed within the paper.</a:t>
            </a:r>
          </a:p>
          <a:p>
            <a:endParaRPr lang="en-IE" b="0" u="none" dirty="0"/>
          </a:p>
          <a:p>
            <a:r>
              <a:rPr lang="en-GB" dirty="0"/>
              <a:t>The paper touched on the importance of gaining control of the </a:t>
            </a:r>
            <a:r>
              <a:rPr lang="en-GB" b="1" dirty="0"/>
              <a:t>avalanche</a:t>
            </a:r>
            <a:r>
              <a:rPr lang="en-GB" dirty="0"/>
              <a:t> </a:t>
            </a:r>
            <a:r>
              <a:rPr lang="en-GB" b="1" dirty="0"/>
              <a:t>of</a:t>
            </a:r>
            <a:r>
              <a:rPr lang="en-GB" dirty="0"/>
              <a:t> </a:t>
            </a:r>
            <a:r>
              <a:rPr lang="en-GB" b="1" dirty="0"/>
              <a:t>data</a:t>
            </a:r>
            <a:r>
              <a:rPr lang="en-GB" dirty="0"/>
              <a:t> that is generated by supplier, customer, and employee interactions in order to achieve digital transformations within businesses</a:t>
            </a:r>
          </a:p>
          <a:p>
            <a:endParaRPr lang="en-GB" dirty="0"/>
          </a:p>
          <a:p>
            <a:r>
              <a:rPr lang="en-GB" dirty="0"/>
              <a:t>The complex data environment that has emerged from the digital transformations has led enterprises to realize that new leadership is needed to take on responsibility for data and information value. And the paper addresses problems that occur in the absence of a CDO and the benefits of having a CDO within an organization</a:t>
            </a:r>
          </a:p>
          <a:p>
            <a:endParaRPr lang="en-GB" dirty="0"/>
          </a:p>
          <a:p>
            <a:r>
              <a:rPr lang="en-GB" dirty="0"/>
              <a:t>The chief data officer (CDO) role has arisen to fill the need within organizations</a:t>
            </a:r>
          </a:p>
          <a:p>
            <a:endParaRPr lang="en-GB" dirty="0"/>
          </a:p>
          <a:p>
            <a:r>
              <a:rPr lang="en-GB" dirty="0"/>
              <a:t>The paper was written in 2017, and Seth </a:t>
            </a:r>
            <a:r>
              <a:rPr lang="en-GB" dirty="0" err="1"/>
              <a:t>Earley</a:t>
            </a:r>
            <a:r>
              <a:rPr lang="en-GB" dirty="0"/>
              <a:t> examines this relatively new role and its various forms up until the time of writing</a:t>
            </a:r>
          </a:p>
          <a:p>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2</a:t>
            </a:fld>
            <a:endParaRPr lang="en-IE"/>
          </a:p>
        </p:txBody>
      </p:sp>
    </p:spTree>
    <p:extLst>
      <p:ext uri="{BB962C8B-B14F-4D97-AF65-F5344CB8AC3E}">
        <p14:creationId xmlns:p14="http://schemas.microsoft.com/office/powerpoint/2010/main" val="2579756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Who is Seth </a:t>
            </a:r>
            <a:r>
              <a:rPr lang="en-GB" b="1" dirty="0" err="1"/>
              <a:t>Earley</a:t>
            </a:r>
            <a:r>
              <a:rPr lang="en-GB" b="1" dirty="0"/>
              <a:t>:</a:t>
            </a:r>
          </a:p>
          <a:p>
            <a:r>
              <a:rPr lang="en-GB" b="0" dirty="0"/>
              <a:t>First and foremost Seth </a:t>
            </a:r>
            <a:r>
              <a:rPr lang="en-GB" b="0" dirty="0" err="1"/>
              <a:t>Earley</a:t>
            </a:r>
            <a:r>
              <a:rPr lang="en-GB" b="0" dirty="0"/>
              <a:t> is the author of the paper as I have mentioned previously</a:t>
            </a:r>
          </a:p>
          <a:p>
            <a:endParaRPr lang="en-GB" dirty="0"/>
          </a:p>
          <a:p>
            <a:r>
              <a:rPr lang="en-GB" dirty="0"/>
              <a:t>He is an expert with 20+ years’ experience in Knowledge Strategy, Data and Information Architecture, Search-based applications and Information Findability solutions. Seth has worked with a diverse roster of Fortune 1000 companies, helping them to achieve higher levels of operating performance by making information more findable, usable and valuable through integrated enterprise architectures supporting analytics.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 is the CEO of </a:t>
            </a:r>
            <a:r>
              <a:rPr lang="en-GB" dirty="0" err="1"/>
              <a:t>Earley</a:t>
            </a:r>
            <a:r>
              <a:rPr lang="en-GB" dirty="0"/>
              <a:t> Information Science (EIS), a leading consulting firm focused on organizing information for business impact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Earley</a:t>
            </a:r>
            <a:r>
              <a:rPr lang="en-GB" dirty="0"/>
              <a:t> Information Science is </a:t>
            </a:r>
            <a:r>
              <a:rPr lang="en-GB" b="0" i="0" dirty="0">
                <a:solidFill>
                  <a:srgbClr val="040C1E"/>
                </a:solidFill>
                <a:effectLst/>
                <a:latin typeface="Roboto" panose="02000000000000000000" pitchFamily="2" charset="0"/>
              </a:rPr>
              <a:t>a professional services firm with proven methodologies designed specifically to address product data, content assets, customer data, and corporate knowledge bases</a:t>
            </a:r>
            <a:endParaRPr lang="en-GB" dirty="0"/>
          </a:p>
          <a:p>
            <a:endParaRPr lang="en-GB" dirty="0"/>
          </a:p>
          <a:p>
            <a:r>
              <a:rPr lang="en-GB" dirty="0"/>
              <a:t>Seth </a:t>
            </a:r>
            <a:r>
              <a:rPr lang="en-GB" dirty="0" err="1"/>
              <a:t>Earley</a:t>
            </a:r>
            <a:r>
              <a:rPr lang="en-GB" dirty="0"/>
              <a:t> is a sought-after speaker, writer, and influencer. He is the author of “The AI-Powered Enterprise” which was released in April 2020.</a:t>
            </a:r>
          </a:p>
          <a:p>
            <a:r>
              <a:rPr lang="en-GB" dirty="0"/>
              <a:t>The AI-Powered Enterprise is a book that examines two fundamental questions: First, how will the future be different as a result of artificial intelligence? And second, what must companies do to stake their claim on that future?</a:t>
            </a:r>
          </a:p>
          <a:p>
            <a:r>
              <a:rPr lang="en-GB" dirty="0"/>
              <a:t>In 2021, the book received the Axiom Business Book Silver Medal. </a:t>
            </a:r>
          </a:p>
          <a:p>
            <a:endParaRPr lang="en-GB" dirty="0"/>
          </a:p>
          <a:p>
            <a:r>
              <a:rPr lang="en-GB" dirty="0"/>
              <a:t>Most recently in 2022, Seth was Recognized by Thinkers 360 as one of the Top 50 Global Thought Leaders and Influencers on Artificial Intelligence.</a:t>
            </a:r>
          </a:p>
          <a:p>
            <a:endParaRPr lang="en-GB" dirty="0"/>
          </a:p>
          <a:p>
            <a:r>
              <a:rPr lang="en-GB" dirty="0"/>
              <a:t>His writing has appeared in IT Professional Magazine from the IEEE where, as former editor, he wrote a regular column on data analytics and information access issues and trends. He has also contributed to the Harvard Business Review, </a:t>
            </a:r>
            <a:r>
              <a:rPr lang="en-GB" dirty="0" err="1"/>
              <a:t>CMSWire</a:t>
            </a:r>
            <a:r>
              <a:rPr lang="en-GB" dirty="0"/>
              <a:t>, </a:t>
            </a:r>
            <a:r>
              <a:rPr lang="en-GB" dirty="0" err="1"/>
              <a:t>CEOWorld</a:t>
            </a:r>
            <a:r>
              <a:rPr lang="en-GB" dirty="0"/>
              <a:t>, TechTarget, eCommerce Times, Analytics Magazine. Journal of Applied Marketing Analytics, and he co-authored “Practical Knowledge Management” from IBM Press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IE" sz="1800" dirty="0">
                <a:effectLst/>
                <a:latin typeface="Calibri" panose="020F0502020204030204" pitchFamily="34" charset="0"/>
                <a:ea typeface="Calibri" panose="020F0502020204030204" pitchFamily="34" charset="0"/>
                <a:cs typeface="Times New Roman" panose="02020603050405020304" pitchFamily="18" charset="0"/>
              </a:rPr>
              <a:t>There is no doubt that Seth </a:t>
            </a:r>
            <a:r>
              <a:rPr lang="en-IE" sz="1800" dirty="0" err="1">
                <a:effectLst/>
                <a:latin typeface="Calibri" panose="020F0502020204030204" pitchFamily="34" charset="0"/>
                <a:ea typeface="Calibri" panose="020F0502020204030204" pitchFamily="34" charset="0"/>
                <a:cs typeface="Times New Roman" panose="02020603050405020304" pitchFamily="18" charset="0"/>
              </a:rPr>
              <a:t>Earley</a:t>
            </a:r>
            <a:r>
              <a:rPr lang="en-IE" sz="1800" dirty="0">
                <a:effectLst/>
                <a:latin typeface="Calibri" panose="020F0502020204030204" pitchFamily="34" charset="0"/>
                <a:ea typeface="Calibri" panose="020F0502020204030204" pitchFamily="34" charset="0"/>
                <a:cs typeface="Times New Roman" panose="02020603050405020304" pitchFamily="18" charset="0"/>
              </a:rPr>
              <a:t> is an expert in his field</a:t>
            </a:r>
          </a:p>
          <a:p>
            <a:endParaRPr lang="en-GB" dirty="0"/>
          </a:p>
          <a:p>
            <a:endParaRPr lang="en-GB" dirty="0"/>
          </a:p>
          <a:p>
            <a:r>
              <a:rPr lang="en-GB" dirty="0"/>
              <a:t>https://www.earley.com/about/bio/seth-earley#:~:text=Seth%20Earley%20is%20a%20sought,Axiom%20Business%20Book%20Silver%20Medal. </a:t>
            </a:r>
          </a:p>
          <a:p>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3</a:t>
            </a:fld>
            <a:endParaRPr lang="en-IE"/>
          </a:p>
        </p:txBody>
      </p:sp>
    </p:spTree>
    <p:extLst>
      <p:ext uri="{BB962C8B-B14F-4D97-AF65-F5344CB8AC3E}">
        <p14:creationId xmlns:p14="http://schemas.microsoft.com/office/powerpoint/2010/main" val="765200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the question is, why is this role so important, and how has the role evolved to adapt to the need within organizations</a:t>
            </a:r>
          </a:p>
          <a:p>
            <a:endParaRPr lang="en-GB" dirty="0"/>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Enterprises are realizing that new leadership is needed to take on the responsibility for data and information value</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CDO has arisen to fill this need. Making the CDO a new role within the C-suite</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Traditionally the C-suite consists of roles including: Chief Executive Officer (CEO), Chief Operating Officer (COO), Chief Financial Officer (CFO), Chief Revenue Officer (CRO), etc.</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Additional Modern C-suite roles that have cropped up in recent years can be seen in the figure, for example: Chief People Officer, Chief Culture Officer, Chief Happiness Officer, Chief Green Officer,  Chief Digital Officer, Chief Experience Officer, Chief Medical Officer and the Chief Data Officer to name a few.</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The CDO has taken on a number of forms across different organizations, many organizations have experimented with the role.</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Part of the realisation that the CDO is an important role, is made by senior executives in their understanding that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data is now at the soul of enterprises</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Data plays a role in the never ending cycle of pursuing business value. And despite companies previously throwing large amounts of money, attention, and resources at different data initiatives, there was a lack of real value in the results obtained.</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lang="en-IE" sz="1800" dirty="0">
                <a:effectLst/>
                <a:latin typeface="Calibri" panose="020F0502020204030204" pitchFamily="34" charset="0"/>
                <a:ea typeface="Calibri" panose="020F0502020204030204" pitchFamily="34" charset="0"/>
                <a:cs typeface="Times New Roman" panose="02020603050405020304" pitchFamily="18" charset="0"/>
              </a:rPr>
              <a:t>Data itself is now a C-level responsibility. </a:t>
            </a:r>
          </a:p>
          <a:p>
            <a:pPr marL="0" marR="0" lvl="0" indent="0" algn="l" defTabSz="914400" rtl="0" eaLnBrk="1" fontAlgn="auto" latinLnBrk="0" hangingPunct="1">
              <a:lnSpc>
                <a:spcPct val="107000"/>
              </a:lnSpc>
              <a:spcBef>
                <a:spcPts val="0"/>
              </a:spcBef>
              <a:spcAft>
                <a:spcPts val="800"/>
              </a:spcAft>
              <a:buClrTx/>
              <a:buSzTx/>
              <a:buFontTx/>
              <a:buNone/>
              <a:tabLst/>
              <a:defRPr/>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lang="en-GB" sz="1800" dirty="0">
                <a:effectLst/>
                <a:latin typeface="Calibri" panose="020F0502020204030204" pitchFamily="34" charset="0"/>
                <a:ea typeface="Calibri" panose="020F0502020204030204" pitchFamily="34" charset="0"/>
                <a:cs typeface="Times New Roman" panose="02020603050405020304" pitchFamily="18" charset="0"/>
              </a:rPr>
              <a:t>The Chief Data Officer is increasingly the C-suite’s solution to navigating today’s </a:t>
            </a:r>
            <a:r>
              <a:rPr lang="en-GB" sz="1800" b="1" dirty="0">
                <a:effectLst/>
                <a:latin typeface="Calibri" panose="020F0502020204030204" pitchFamily="34" charset="0"/>
                <a:ea typeface="Calibri" panose="020F0502020204030204" pitchFamily="34" charset="0"/>
                <a:cs typeface="Times New Roman" panose="02020603050405020304" pitchFamily="18" charset="0"/>
              </a:rPr>
              <a:t>disruptive</a:t>
            </a:r>
            <a:r>
              <a:rPr lang="en-GB" sz="18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b="1" dirty="0">
                <a:effectLst/>
                <a:latin typeface="Calibri" panose="020F0502020204030204" pitchFamily="34" charset="0"/>
                <a:ea typeface="Calibri" panose="020F0502020204030204" pitchFamily="34" charset="0"/>
                <a:cs typeface="Times New Roman" panose="02020603050405020304" pitchFamily="18" charset="0"/>
              </a:rPr>
              <a:t>dynamic</a:t>
            </a:r>
            <a:r>
              <a:rPr lang="en-GB" sz="18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b="1" dirty="0">
                <a:effectLst/>
                <a:latin typeface="Calibri" panose="020F0502020204030204" pitchFamily="34" charset="0"/>
                <a:ea typeface="Calibri" panose="020F0502020204030204" pitchFamily="34" charset="0"/>
                <a:cs typeface="Times New Roman" panose="02020603050405020304" pitchFamily="18" charset="0"/>
              </a:rPr>
              <a:t>data-intensive</a:t>
            </a:r>
            <a:r>
              <a:rPr lang="en-GB" sz="18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b="1" dirty="0">
                <a:effectLst/>
                <a:latin typeface="Calibri" panose="020F0502020204030204" pitchFamily="34" charset="0"/>
                <a:ea typeface="Calibri" panose="020F0502020204030204" pitchFamily="34" charset="0"/>
                <a:cs typeface="Times New Roman" panose="02020603050405020304" pitchFamily="18" charset="0"/>
              </a:rPr>
              <a:t>world</a:t>
            </a:r>
            <a:r>
              <a:rPr lang="en-GB" sz="1800" dirty="0">
                <a:effectLst/>
                <a:latin typeface="Calibri" panose="020F0502020204030204" pitchFamily="34" charset="0"/>
                <a:ea typeface="Calibri" panose="020F0502020204030204" pitchFamily="34" charset="0"/>
                <a:cs typeface="Times New Roman" panose="02020603050405020304" pitchFamily="18" charset="0"/>
              </a:rPr>
              <a:t>. It’s a bespoke role that must be tailored to the needs and culture of the business. At the same time, the CDO is responsible for enabling the organization with a core set of capabilities engineered to sense and respond to changing demands.</a:t>
            </a:r>
          </a:p>
          <a:p>
            <a:pPr marL="0" marR="0" lvl="0" indent="0" algn="l" defTabSz="914400" rtl="0" eaLnBrk="1" fontAlgn="auto" latinLnBrk="0" hangingPunct="1">
              <a:lnSpc>
                <a:spcPct val="107000"/>
              </a:lnSpc>
              <a:spcBef>
                <a:spcPts val="0"/>
              </a:spcBef>
              <a:spcAft>
                <a:spcPts val="800"/>
              </a:spcAft>
              <a:buClrTx/>
              <a:buSzTx/>
              <a:buFontTx/>
              <a:buNone/>
              <a:tabLst/>
              <a:defRPr/>
            </a:pP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4</a:t>
            </a:fld>
            <a:endParaRPr lang="en-IE"/>
          </a:p>
        </p:txBody>
      </p:sp>
    </p:spTree>
    <p:extLst>
      <p:ext uri="{BB962C8B-B14F-4D97-AF65-F5344CB8AC3E}">
        <p14:creationId xmlns:p14="http://schemas.microsoft.com/office/powerpoint/2010/main" val="3565421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E" sz="1800" b="0" i="0" u="none" dirty="0">
                <a:effectLst/>
                <a:latin typeface="Calibri" panose="020F0502020204030204" pitchFamily="34" charset="0"/>
                <a:ea typeface="Calibri" panose="020F0502020204030204" pitchFamily="34" charset="0"/>
                <a:cs typeface="Times New Roman" panose="02020603050405020304" pitchFamily="18" charset="0"/>
              </a:rPr>
              <a:t>Some of the main problems that arose before the Chief Data Officer role was introduced was to do with the poor management and performance of data </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Part of the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problem</a:t>
            </a:r>
            <a:r>
              <a:rPr lang="en-IE" sz="1800" dirty="0">
                <a:effectLst/>
                <a:latin typeface="Calibri" panose="020F0502020204030204" pitchFamily="34" charset="0"/>
                <a:ea typeface="Calibri" panose="020F0502020204030204" pitchFamily="34" charset="0"/>
                <a:cs typeface="Times New Roman" panose="02020603050405020304" pitchFamily="18" charset="0"/>
              </a:rPr>
              <a:t> with the lack of insights or value taken from data,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lies with the perception of who is responsible for leveraging data in business processes</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Data has previously been labelled as an inconvenient means to an end – merely a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mechanism to get work done</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Data issues </a:t>
            </a:r>
            <a:r>
              <a:rPr lang="en-IE" sz="1800" dirty="0">
                <a:effectLst/>
                <a:latin typeface="Calibri" panose="020F0502020204030204" pitchFamily="34" charset="0"/>
                <a:ea typeface="Calibri" panose="020F0502020204030204" pitchFamily="34" charset="0"/>
                <a:cs typeface="Times New Roman" panose="02020603050405020304" pitchFamily="18" charset="0"/>
              </a:rPr>
              <a:t>were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slowing businesses down and getting in the way</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These issues are something that IT organizations were seemingly supposed to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manage</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fix</a:t>
            </a:r>
            <a:r>
              <a:rPr lang="en-IE" sz="1800" b="0" dirty="0">
                <a:effectLst/>
                <a:latin typeface="Calibri" panose="020F0502020204030204" pitchFamily="34" charset="0"/>
                <a:ea typeface="Calibri" panose="020F0502020204030204" pitchFamily="34" charset="0"/>
                <a:cs typeface="Times New Roman" panose="02020603050405020304" pitchFamily="18" charset="0"/>
              </a:rPr>
              <a:t>,</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remediate</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and</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make</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consumable</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IT was not up to this task. The perception that IT should be solely responsible for data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is changing</a:t>
            </a:r>
            <a:r>
              <a:rPr lang="en-IE" sz="18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E" dirty="0"/>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Digital transformation of the enterprise changes this perspective, for the first time businesses were having to look at end-to-end processes and the entire customer lifecycle to effectively respond to customer needs.</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IT were not capable nor expected to be responsible for the change in business values or fundamentals as this would be a decision that would require an executive mandate. Data is now considered the most valuable asset of organizations.</a:t>
            </a:r>
          </a:p>
          <a:p>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5</a:t>
            </a:fld>
            <a:endParaRPr lang="en-IE"/>
          </a:p>
        </p:txBody>
      </p:sp>
    </p:spTree>
    <p:extLst>
      <p:ext uri="{BB962C8B-B14F-4D97-AF65-F5344CB8AC3E}">
        <p14:creationId xmlns:p14="http://schemas.microsoft.com/office/powerpoint/2010/main" val="1163506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lot of </a:t>
            </a:r>
            <a:r>
              <a:rPr lang="en-GB" b="1" dirty="0"/>
              <a:t>data challenges within organizations are still the traditional ones</a:t>
            </a:r>
            <a:r>
              <a:rPr lang="en-GB" dirty="0"/>
              <a:t>, such as data management, and making sure you do data onboarding in a quality and efficient fashion. </a:t>
            </a:r>
          </a:p>
          <a:p>
            <a:r>
              <a:rPr lang="en-GB" dirty="0"/>
              <a:t>Analytics strategies will not succeed if there is a lack of quality data to begin with.</a:t>
            </a:r>
          </a:p>
          <a:p>
            <a:endParaRPr lang="en-GB" dirty="0"/>
          </a:p>
          <a:p>
            <a:endParaRPr lang="en-GB" dirty="0"/>
          </a:p>
          <a:p>
            <a:r>
              <a:rPr lang="en-GB" dirty="0"/>
              <a:t>Example of some of the impacts of poor data quality on a business include: Missed opportunities, lost revenue, reduced efficiency, customer experience, misanalysis, reputational damage, lack of compliance and increased finances.</a:t>
            </a:r>
          </a:p>
          <a:p>
            <a:endParaRPr lang="en-GB" dirty="0"/>
          </a:p>
          <a:p>
            <a:endParaRPr lang="en-GB" dirty="0"/>
          </a:p>
          <a:p>
            <a:r>
              <a:rPr lang="en-GB" dirty="0"/>
              <a:t>When data issues are </a:t>
            </a:r>
            <a:r>
              <a:rPr lang="en-GB" u="sng" dirty="0"/>
              <a:t>not addressed at the source</a:t>
            </a:r>
            <a:r>
              <a:rPr lang="en-GB" dirty="0"/>
              <a:t>, downstream users will try to fix them. </a:t>
            </a:r>
          </a:p>
          <a:p>
            <a:r>
              <a:rPr lang="en-GB" dirty="0"/>
              <a:t>This is </a:t>
            </a:r>
            <a:r>
              <a:rPr lang="en-GB" b="1" dirty="0"/>
              <a:t>problematic</a:t>
            </a:r>
            <a:r>
              <a:rPr lang="en-GB" dirty="0"/>
              <a:t> because the downstream users are usually </a:t>
            </a:r>
            <a:r>
              <a:rPr lang="en-GB" u="sng" dirty="0"/>
              <a:t>high-cost analysts, actuaries, or data scientists</a:t>
            </a:r>
            <a:r>
              <a:rPr lang="en-GB" dirty="0"/>
              <a:t>; </a:t>
            </a:r>
          </a:p>
          <a:p>
            <a:r>
              <a:rPr lang="en-GB" dirty="0"/>
              <a:t>when these users fix the data, they create a new source that others in the organization might not know about or be able to access; </a:t>
            </a:r>
          </a:p>
          <a:p>
            <a:r>
              <a:rPr lang="en-GB" dirty="0"/>
              <a:t>when others cannot access the “fixed” data, they might use different assumptions or approaches that will make it difficult to reconcile the resulting multiple copies of the data.</a:t>
            </a:r>
          </a:p>
          <a:p>
            <a:endParaRPr lang="en-GB" dirty="0"/>
          </a:p>
          <a:p>
            <a:r>
              <a:rPr lang="en-IE" dirty="0"/>
              <a:t>https://dataladder.com/the-impact-of-poor-data-quality-risks-challenges-and-solutions/ </a:t>
            </a:r>
          </a:p>
        </p:txBody>
      </p:sp>
      <p:sp>
        <p:nvSpPr>
          <p:cNvPr id="4" name="Slide Number Placeholder 3"/>
          <p:cNvSpPr>
            <a:spLocks noGrp="1"/>
          </p:cNvSpPr>
          <p:nvPr>
            <p:ph type="sldNum" sz="quarter" idx="5"/>
          </p:nvPr>
        </p:nvSpPr>
        <p:spPr/>
        <p:txBody>
          <a:bodyPr/>
          <a:lstStyle/>
          <a:p>
            <a:fld id="{D8932CA6-6CAC-45CB-8689-738976C41ACE}" type="slidenum">
              <a:rPr lang="en-IE" smtClean="0"/>
              <a:t>6</a:t>
            </a:fld>
            <a:endParaRPr lang="en-IE"/>
          </a:p>
        </p:txBody>
      </p:sp>
    </p:spTree>
    <p:extLst>
      <p:ext uri="{BB962C8B-B14F-4D97-AF65-F5344CB8AC3E}">
        <p14:creationId xmlns:p14="http://schemas.microsoft.com/office/powerpoint/2010/main" val="3432408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CDOs have their work cut out for them</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CDOs need to be able to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create a culture or proactive stewardship, get the opinions and input of </a:t>
            </a:r>
            <a:r>
              <a:rPr lang="en-IE" sz="1800" b="1" u="sng" dirty="0">
                <a:effectLst/>
                <a:latin typeface="Calibri" panose="020F0502020204030204" pitchFamily="34" charset="0"/>
                <a:ea typeface="Calibri" panose="020F0502020204030204" pitchFamily="34" charset="0"/>
                <a:cs typeface="Times New Roman" panose="02020603050405020304" pitchFamily="18" charset="0"/>
              </a:rPr>
              <a:t>users</a:t>
            </a:r>
            <a:r>
              <a:rPr lang="en-IE" sz="1800" b="1" dirty="0">
                <a:effectLst/>
                <a:latin typeface="Calibri" panose="020F0502020204030204" pitchFamily="34" charset="0"/>
                <a:ea typeface="Calibri" panose="020F0502020204030204" pitchFamily="34" charset="0"/>
                <a:cs typeface="Times New Roman" panose="02020603050405020304" pitchFamily="18" charset="0"/>
              </a:rPr>
              <a:t>, </a:t>
            </a:r>
            <a:r>
              <a:rPr lang="en-IE" sz="1800" b="1" u="sng" dirty="0">
                <a:effectLst/>
                <a:latin typeface="Calibri" panose="020F0502020204030204" pitchFamily="34" charset="0"/>
                <a:ea typeface="Calibri" panose="020F0502020204030204" pitchFamily="34" charset="0"/>
                <a:cs typeface="Times New Roman" panose="02020603050405020304" pitchFamily="18" charset="0"/>
              </a:rPr>
              <a:t>line-of-business managers</a:t>
            </a:r>
            <a:r>
              <a:rPr lang="en-IE" sz="1800" b="1" u="none" dirty="0">
                <a:effectLst/>
                <a:latin typeface="Calibri" panose="020F0502020204030204" pitchFamily="34" charset="0"/>
                <a:ea typeface="Calibri" panose="020F0502020204030204" pitchFamily="34" charset="0"/>
                <a:cs typeface="Times New Roman" panose="02020603050405020304" pitchFamily="18" charset="0"/>
              </a:rPr>
              <a:t>, and </a:t>
            </a:r>
            <a:r>
              <a:rPr lang="en-IE" sz="1800" b="1" u="sng" dirty="0">
                <a:effectLst/>
                <a:latin typeface="Calibri" panose="020F0502020204030204" pitchFamily="34" charset="0"/>
                <a:ea typeface="Calibri" panose="020F0502020204030204" pitchFamily="34" charset="0"/>
                <a:cs typeface="Times New Roman" panose="02020603050405020304" pitchFamily="18" charset="0"/>
              </a:rPr>
              <a:t>leadership</a:t>
            </a:r>
            <a:endParaRPr lang="en-IE" sz="1800" u="sn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E" sz="18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b="0" dirty="0">
                <a:effectLst/>
                <a:latin typeface="Calibri" panose="020F0502020204030204" pitchFamily="34" charset="0"/>
                <a:ea typeface="Calibri" panose="020F0502020204030204" pitchFamily="34" charset="0"/>
                <a:cs typeface="Times New Roman" panose="02020603050405020304" pitchFamily="18" charset="0"/>
              </a:rPr>
              <a:t>They are expected to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eliminate the “acts of heroics”</a:t>
            </a:r>
            <a:r>
              <a:rPr lang="en-IE" sz="1800" dirty="0">
                <a:effectLst/>
                <a:latin typeface="Calibri" panose="020F0502020204030204" pitchFamily="34" charset="0"/>
                <a:ea typeface="Calibri" panose="020F0502020204030204" pitchFamily="34" charset="0"/>
                <a:cs typeface="Times New Roman" panose="02020603050405020304" pitchFamily="18" charset="0"/>
              </a:rPr>
              <a:t> that many organizations rely on to get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products to market</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campaigns launched</a:t>
            </a:r>
            <a:r>
              <a:rPr lang="en-IE" sz="1800" dirty="0">
                <a:effectLst/>
                <a:latin typeface="Calibri" panose="020F0502020204030204" pitchFamily="34" charset="0"/>
                <a:ea typeface="Calibri" panose="020F0502020204030204" pitchFamily="34" charset="0"/>
                <a:cs typeface="Times New Roman" panose="02020603050405020304" pitchFamily="18" charset="0"/>
              </a:rPr>
              <a:t>, and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programs successfully completed</a:t>
            </a:r>
            <a:r>
              <a:rPr lang="en-IE" sz="1800" dirty="0">
                <a:effectLst/>
                <a:latin typeface="Calibri" panose="020F0502020204030204" pitchFamily="34" charset="0"/>
                <a:ea typeface="Calibri" panose="020F0502020204030204" pitchFamily="34" charset="0"/>
                <a:cs typeface="Times New Roman" panose="02020603050405020304" pitchFamily="18" charset="0"/>
              </a:rPr>
              <a:t>. Focus is made on removing the guess work from tasks as this is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not a scalable solution</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In addition they need to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establish data ownership</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remediate upstream processes, resolve conflicts, and change the way systems and processes produce and consume data</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Finally, they need to have a </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cross-functional and cross-business-unit understanding</a:t>
            </a:r>
            <a:r>
              <a:rPr lang="en-IE" sz="1800" dirty="0">
                <a:effectLst/>
                <a:latin typeface="Calibri" panose="020F0502020204030204" pitchFamily="34" charset="0"/>
                <a:ea typeface="Calibri" panose="020F0502020204030204" pitchFamily="34" charset="0"/>
                <a:cs typeface="Times New Roman" panose="02020603050405020304" pitchFamily="18" charset="0"/>
              </a:rPr>
              <a:t> of how information flows through the enterprise and know how to measure efficiency, quality, and effectiveness.</a:t>
            </a:r>
          </a:p>
          <a:p>
            <a:endParaRPr lang="en-IE" dirty="0"/>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Traditional responsibility was with the CIO and within the ‘business units’ that were producing and consuming data. The focus had been on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serving customers and employees</a:t>
            </a:r>
            <a:r>
              <a:rPr lang="en-IE" sz="1800" dirty="0">
                <a:effectLst/>
                <a:latin typeface="Calibri" panose="020F0502020204030204" pitchFamily="34" charset="0"/>
                <a:ea typeface="Calibri" panose="020F0502020204030204" pitchFamily="34" charset="0"/>
                <a:cs typeface="Times New Roman" panose="02020603050405020304" pitchFamily="18" charset="0"/>
              </a:rPr>
              <a:t> rather than looking at data holistically.</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Enterprise capabilities and agility around data are needed to compete with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born-digital</a:t>
            </a:r>
            <a:r>
              <a:rPr lang="en-IE" sz="1800" dirty="0">
                <a:effectLst/>
                <a:latin typeface="Calibri" panose="020F0502020204030204" pitchFamily="34" charset="0"/>
                <a:ea typeface="Calibri" panose="020F0502020204030204" pitchFamily="34" charset="0"/>
                <a:cs typeface="Times New Roman" panose="02020603050405020304" pitchFamily="18" charset="0"/>
              </a:rPr>
              <a:t> and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other disruptive market entrants</a:t>
            </a:r>
            <a:r>
              <a:rPr lang="en-IE" sz="18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Being able to rapidly create new products and offerings depends on being able to quickly and cost-effectively assemble the correct data from various internal and external sources, and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then craft that data into a user experience </a:t>
            </a:r>
            <a:r>
              <a:rPr lang="en-IE" sz="1800" dirty="0">
                <a:effectLst/>
                <a:latin typeface="Calibri" panose="020F0502020204030204" pitchFamily="34" charset="0"/>
                <a:ea typeface="Calibri" panose="020F0502020204030204" pitchFamily="34" charset="0"/>
                <a:cs typeface="Times New Roman" panose="02020603050405020304" pitchFamily="18" charset="0"/>
              </a:rPr>
              <a:t>that provides value or solves a specific problem. Rapid experimentation and evolution are part of the faster clock speeds that every industry is experiencing</a:t>
            </a:r>
          </a:p>
          <a:p>
            <a:endParaRPr lang="en-IE" dirty="0"/>
          </a:p>
          <a:p>
            <a:endParaRPr lang="en-IE" dirty="0"/>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CDOs work in different functional areas with managers who are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trying to achieve business objectives</a:t>
            </a:r>
            <a:r>
              <a:rPr lang="en-IE" sz="1800" dirty="0">
                <a:effectLst/>
                <a:latin typeface="Calibri" panose="020F0502020204030204" pitchFamily="34" charset="0"/>
                <a:ea typeface="Calibri" panose="020F0502020204030204" pitchFamily="34" charset="0"/>
                <a:cs typeface="Times New Roman" panose="02020603050405020304" pitchFamily="18" charset="0"/>
              </a:rPr>
              <a:t>, such as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greater market penetration</a:t>
            </a:r>
            <a:r>
              <a:rPr lang="en-IE" sz="1800" dirty="0">
                <a:effectLst/>
                <a:latin typeface="Calibri" panose="020F0502020204030204" pitchFamily="34" charset="0"/>
                <a:ea typeface="Calibri" panose="020F0502020204030204" pitchFamily="34" charset="0"/>
                <a:cs typeface="Times New Roman" panose="02020603050405020304" pitchFamily="18" charset="0"/>
              </a:rPr>
              <a:t> and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increased profitability</a:t>
            </a: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They help those managers to understand how the quality of data impacts their business objectives. </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Many corporate goals fail to be achieved because top-level support is lacking. The CEO must be an on board with the message that data quality is the first step in the information ecosystem. This message starts with the CDO, who can </a:t>
            </a:r>
            <a:r>
              <a:rPr lang="en-IE" sz="1800" u="sng" dirty="0">
                <a:effectLst/>
                <a:latin typeface="Calibri" panose="020F0502020204030204" pitchFamily="34" charset="0"/>
                <a:ea typeface="Calibri" panose="020F0502020204030204" pitchFamily="34" charset="0"/>
                <a:cs typeface="Times New Roman" panose="02020603050405020304" pitchFamily="18" charset="0"/>
              </a:rPr>
              <a:t>connect abstract concepts to tangible business outcomes</a:t>
            </a:r>
            <a:r>
              <a:rPr lang="en-IE" sz="1800" dirty="0">
                <a:effectLst/>
                <a:latin typeface="Calibri" panose="020F0502020204030204" pitchFamily="34" charset="0"/>
                <a:ea typeface="Calibri" panose="020F0502020204030204" pitchFamily="34" charset="0"/>
                <a:cs typeface="Times New Roman" panose="02020603050405020304" pitchFamily="18" charset="0"/>
              </a:rPr>
              <a:t>. The CDO understands that the process starts with the onboarding of data—whether internal or external.</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For example, customer and marketplace data goes through an ecosystem of processes and applications and eventually becomes part of a marketing strategy. Data quality issues will cause that marketing strategy to fail, however, because poor quality data leads to faulty baseline assumptions.</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gn="l" fontAlgn="auto"/>
            <a:r>
              <a:rPr lang="en-GB" sz="1800" b="0" i="0" dirty="0">
                <a:effectLst/>
                <a:latin typeface="-apple-system"/>
              </a:rPr>
              <a:t>What they do:</a:t>
            </a:r>
          </a:p>
          <a:p>
            <a:pPr algn="l" fontAlgn="auto"/>
            <a:r>
              <a:rPr lang="en-GB" sz="1800" b="0" i="0" dirty="0">
                <a:effectLst/>
                <a:latin typeface="-apple-system"/>
              </a:rPr>
              <a:t>• Lead the data and analytics agenda of an organization</a:t>
            </a:r>
          </a:p>
          <a:p>
            <a:pPr algn="l" fontAlgn="auto"/>
            <a:r>
              <a:rPr lang="en-GB" sz="1800" b="0" i="0" dirty="0">
                <a:effectLst/>
                <a:latin typeface="-apple-system"/>
              </a:rPr>
              <a:t>• Establish and deliver technologies, tools, approaches and methodologies to unlock the value in enterprise data assets of an organization</a:t>
            </a:r>
          </a:p>
          <a:p>
            <a:pPr algn="l" fontAlgn="auto"/>
            <a:r>
              <a:rPr lang="en-GB" sz="1800" b="0" i="0" dirty="0">
                <a:effectLst/>
                <a:latin typeface="-apple-system"/>
              </a:rPr>
              <a:t>• Manage data as a strategic asset and operationalize data governance, data quality and other controls to sustain the integrity of the data of an organization</a:t>
            </a:r>
          </a:p>
          <a:p>
            <a:pPr algn="l" fontAlgn="auto"/>
            <a:r>
              <a:rPr lang="en-GB" sz="1800" b="0" i="0" dirty="0">
                <a:effectLst/>
                <a:latin typeface="-apple-system"/>
              </a:rPr>
              <a:t>• Serve as trusted partner to key business executives focused on the customer, enterprise risk management, regulatory compliance and finance</a:t>
            </a:r>
          </a:p>
          <a:p>
            <a:pPr algn="l" fontAlgn="auto"/>
            <a:r>
              <a:rPr lang="en-GB" sz="1800" b="0" i="0" dirty="0">
                <a:effectLst/>
                <a:latin typeface="-apple-system"/>
              </a:rPr>
              <a:t>• Fosters innovation leveraging emerging Big Data and analytics technologies</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7</a:t>
            </a:fld>
            <a:endParaRPr lang="en-IE"/>
          </a:p>
        </p:txBody>
      </p:sp>
    </p:spTree>
    <p:extLst>
      <p:ext uri="{BB962C8B-B14F-4D97-AF65-F5344CB8AC3E}">
        <p14:creationId xmlns:p14="http://schemas.microsoft.com/office/powerpoint/2010/main" val="1766809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What benefit will the CDO have within organizations and why is this role needed?</a:t>
            </a:r>
          </a:p>
          <a:p>
            <a:r>
              <a:rPr lang="en-GB" dirty="0"/>
              <a:t>When an organization is establishing a new role, several questions need to be answered: What will be different? How will having a CDO change how the business operates? How will it impact </a:t>
            </a:r>
            <a:r>
              <a:rPr lang="en-GB" u="sng" dirty="0"/>
              <a:t>decision making processes</a:t>
            </a:r>
            <a:r>
              <a:rPr lang="en-GB" dirty="0"/>
              <a:t>, </a:t>
            </a:r>
            <a:r>
              <a:rPr lang="en-GB" i="0" u="sng" dirty="0"/>
              <a:t>policies</a:t>
            </a:r>
            <a:r>
              <a:rPr lang="en-GB" dirty="0"/>
              <a:t>, and the </a:t>
            </a:r>
            <a:r>
              <a:rPr lang="en-GB" u="sng" dirty="0"/>
              <a:t>technologies that are used to run the business day to day? </a:t>
            </a:r>
          </a:p>
          <a:p>
            <a:endParaRPr lang="en-GB" dirty="0"/>
          </a:p>
          <a:p>
            <a:r>
              <a:rPr lang="en-GB" dirty="0"/>
              <a:t>The CDO needs to be an empowered position with the support of the rest of the leadership team. The CDO can change the status quo in several ways</a:t>
            </a:r>
          </a:p>
          <a:p>
            <a:endParaRPr lang="en-GB" dirty="0"/>
          </a:p>
          <a:p>
            <a:r>
              <a:rPr lang="en-GB" dirty="0"/>
              <a:t>Some of these benefits include:</a:t>
            </a:r>
          </a:p>
          <a:p>
            <a:endParaRPr lang="en-GB" dirty="0"/>
          </a:p>
          <a:p>
            <a:r>
              <a:rPr lang="en-GB" dirty="0"/>
              <a:t>•</a:t>
            </a:r>
            <a:r>
              <a:rPr lang="en-GB" b="1" dirty="0"/>
              <a:t> Increase visibility and awareness in the C-suite. </a:t>
            </a:r>
            <a:r>
              <a:rPr lang="en-GB" dirty="0"/>
              <a:t>The CDO will have the ability to communicate and collaborate with leadership. CDOs can raise the visibility of process issues and focus attention on innovation with data that the CIO does not have bandwidth for or awareness of. </a:t>
            </a:r>
          </a:p>
          <a:p>
            <a:endParaRPr lang="en-GB" dirty="0"/>
          </a:p>
          <a:p>
            <a:r>
              <a:rPr lang="en-GB" dirty="0"/>
              <a:t>• </a:t>
            </a:r>
            <a:r>
              <a:rPr lang="en-GB" b="1" dirty="0"/>
              <a:t>Focus on cultural change</a:t>
            </a:r>
            <a:r>
              <a:rPr lang="en-GB" dirty="0"/>
              <a:t>. Many CDOs spend their time educating executives about the importance of data and what can be done to innovate with data assets. This effort could be directed toward producing a specific outcome, or toward increasing awareness of cross-functional challenges and processes that impact the ability to leverage data most effectively. </a:t>
            </a:r>
          </a:p>
          <a:p>
            <a:endParaRPr lang="en-GB" dirty="0"/>
          </a:p>
          <a:p>
            <a:r>
              <a:rPr lang="en-GB" dirty="0"/>
              <a:t>• </a:t>
            </a:r>
            <a:r>
              <a:rPr lang="en-GB" b="1" dirty="0"/>
              <a:t>Focus on process change</a:t>
            </a:r>
            <a:r>
              <a:rPr lang="en-GB" dirty="0"/>
              <a:t>. Some CDOs roll up their sleeves and work with managers at the level of specific initiatives and programs that are geared toward a new capability or specific outcome. </a:t>
            </a:r>
          </a:p>
          <a:p>
            <a:endParaRPr lang="en-GB" dirty="0"/>
          </a:p>
          <a:p>
            <a:r>
              <a:rPr lang="en-GB" dirty="0"/>
              <a:t>• </a:t>
            </a:r>
            <a:r>
              <a:rPr lang="en-GB" b="1" dirty="0"/>
              <a:t>Focus on data quality issues. </a:t>
            </a:r>
            <a:r>
              <a:rPr lang="en-GB" dirty="0"/>
              <a:t>Data quality in a particular domain— for example, customer data— requires significant effort to address due to the number of stakeholders, processes, systems, and applications that are impacted. Many times, these are part of master data initiatives, which can take years to implement, so this should be seen as a long-term responsibility. </a:t>
            </a:r>
          </a:p>
          <a:p>
            <a:endParaRPr lang="en-GB" dirty="0"/>
          </a:p>
          <a:p>
            <a:r>
              <a:rPr lang="en-GB" dirty="0"/>
              <a:t>• </a:t>
            </a:r>
            <a:r>
              <a:rPr lang="en-GB" b="1" dirty="0"/>
              <a:t>Focus on governance. </a:t>
            </a:r>
            <a:r>
              <a:rPr lang="en-GB" dirty="0"/>
              <a:t>Data and information governance is a thread that runs through all of these areas and a CDO could stand up a governance program to tackle all of these challenges. Some CDOs do not get directly involved in governance, acting more as ambassadors and liaisons rather than taking on this operational aspect of the role. Lack of effective governance (which includes data strategy, data quality, and data ownership) is a significant impediment to digital transformations.</a:t>
            </a:r>
          </a:p>
          <a:p>
            <a:endParaRPr lang="en-GB" dirty="0"/>
          </a:p>
          <a:p>
            <a:r>
              <a:rPr lang="en-GB" dirty="0"/>
              <a:t>A CDO’s performance can be measured in many different ways. For example in the figure, a percentage of companies measure the CDO’s performance usings the following measures:</a:t>
            </a:r>
          </a:p>
          <a:p>
            <a:r>
              <a:rPr lang="en-GB" dirty="0"/>
              <a:t>Impact on data management, Impact on organisational efficiency, impact on business outcomes, impact on organisational agility, impact on profitability and impact on revenues.</a:t>
            </a:r>
          </a:p>
          <a:p>
            <a:endParaRPr lang="en-GB" dirty="0"/>
          </a:p>
          <a:p>
            <a:endParaRPr lang="en-GB" dirty="0"/>
          </a:p>
          <a:p>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8</a:t>
            </a:fld>
            <a:endParaRPr lang="en-IE"/>
          </a:p>
        </p:txBody>
      </p:sp>
    </p:spTree>
    <p:extLst>
      <p:ext uri="{BB962C8B-B14F-4D97-AF65-F5344CB8AC3E}">
        <p14:creationId xmlns:p14="http://schemas.microsoft.com/office/powerpoint/2010/main" val="3560360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The Role of the Chief Data Officer has increased in popularity since its introduction in 2001. The term itself was first coined when Joe </a:t>
            </a:r>
            <a:r>
              <a:rPr lang="en-IE" sz="1800" dirty="0" err="1">
                <a:effectLst/>
                <a:latin typeface="Calibri" panose="020F0502020204030204" pitchFamily="34" charset="0"/>
                <a:ea typeface="Calibri" panose="020F0502020204030204" pitchFamily="34" charset="0"/>
                <a:cs typeface="Times New Roman" panose="02020603050405020304" pitchFamily="18" charset="0"/>
              </a:rPr>
              <a:t>Bugajski</a:t>
            </a:r>
            <a:r>
              <a:rPr lang="en-IE" sz="1800" dirty="0">
                <a:effectLst/>
                <a:latin typeface="Calibri" panose="020F0502020204030204" pitchFamily="34" charset="0"/>
                <a:ea typeface="Calibri" panose="020F0502020204030204" pitchFamily="34" charset="0"/>
                <a:cs typeface="Times New Roman" panose="02020603050405020304" pitchFamily="18" charset="0"/>
              </a:rPr>
              <a:t> was appointed VP and Chief Data Officer at Visa International. He was employed as the Chief Data Officer for 7 years at Visa International.</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He then went on to other companies such as Gartner where he established the role of the Chief Data Officer worldwide within the organisation.</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Only two others held the title through 2005, with the Gartner Group estimating in November of 2016 that 2000 people held the role. </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From the graph we can see that the growth was exponential within the role from 2005 to 2015.</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Now in 2023, when I use the CDO search term on </a:t>
            </a:r>
            <a:r>
              <a:rPr lang="en-IE" sz="1800" dirty="0" err="1">
                <a:effectLst/>
                <a:latin typeface="Calibri" panose="020F0502020204030204" pitchFamily="34" charset="0"/>
                <a:ea typeface="Calibri" panose="020F0502020204030204" pitchFamily="34" charset="0"/>
                <a:cs typeface="Times New Roman" panose="02020603050405020304" pitchFamily="18" charset="0"/>
              </a:rPr>
              <a:t>Linkedin</a:t>
            </a:r>
            <a:r>
              <a:rPr lang="en-IE" sz="1800" dirty="0">
                <a:effectLst/>
                <a:latin typeface="Calibri" panose="020F0502020204030204" pitchFamily="34" charset="0"/>
                <a:ea typeface="Calibri" panose="020F0502020204030204" pitchFamily="34" charset="0"/>
                <a:cs typeface="Times New Roman" panose="02020603050405020304" pitchFamily="18" charset="0"/>
              </a:rPr>
              <a:t> search to get an estimate of numbers within the position, I was able to find 48,000 people with CDO in their title or profiles.</a:t>
            </a: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lang="en-IE" sz="1800" dirty="0">
                <a:effectLst/>
                <a:latin typeface="Calibri" panose="020F0502020204030204" pitchFamily="34" charset="0"/>
                <a:ea typeface="Calibri" panose="020F0502020204030204" pitchFamily="34" charset="0"/>
                <a:cs typeface="Times New Roman" panose="02020603050405020304" pitchFamily="18" charset="0"/>
              </a:rPr>
              <a:t>https://info.earley.com/hubfs/Slide-Decks/EIS_ERT-Evolving-Role_CDO-2017-02.pdf</a:t>
            </a:r>
          </a:p>
          <a:p>
            <a:pPr>
              <a:lnSpc>
                <a:spcPct val="107000"/>
              </a:lnSpc>
              <a:spcAft>
                <a:spcPts val="800"/>
              </a:spcAft>
            </a:pPr>
            <a:r>
              <a:rPr lang="en-IE" sz="18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9</a:t>
            </a:fld>
            <a:endParaRPr lang="en-IE"/>
          </a:p>
        </p:txBody>
      </p:sp>
    </p:spTree>
    <p:extLst>
      <p:ext uri="{BB962C8B-B14F-4D97-AF65-F5344CB8AC3E}">
        <p14:creationId xmlns:p14="http://schemas.microsoft.com/office/powerpoint/2010/main" val="2161435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757575"/>
                </a:solidFill>
                <a:effectLst/>
                <a:latin typeface="Roboto" panose="02000000000000000000" pitchFamily="2" charset="0"/>
              </a:rPr>
              <a:t>I carried out a search on Google trends to see the popularity of the topic ‘Chief Data Officer’ on google web search worldwide from 2004 to present. The search engine data goes as far back as 2004 which works for this analysis because the term was first coined officially in 2004.</a:t>
            </a:r>
          </a:p>
          <a:p>
            <a:r>
              <a:rPr lang="en-GB" b="0" i="0" dirty="0">
                <a:solidFill>
                  <a:srgbClr val="757575"/>
                </a:solidFill>
                <a:effectLst/>
                <a:latin typeface="Roboto" panose="02000000000000000000" pitchFamily="2" charset="0"/>
              </a:rPr>
              <a:t>There is initial interest that can be seen from the figure when the term was first introduced, interest in the topic began fluctuating after September 2005. From September 2011, there was an steady increase in the popularity in the Chief Data Officer as a search term. </a:t>
            </a:r>
          </a:p>
          <a:p>
            <a:endParaRPr lang="en-GB" b="0" i="0" dirty="0">
              <a:solidFill>
                <a:srgbClr val="757575"/>
              </a:solidFill>
              <a:effectLst/>
              <a:latin typeface="Roboto" panose="02000000000000000000" pitchFamily="2" charset="0"/>
            </a:endParaRPr>
          </a:p>
          <a:p>
            <a:r>
              <a:rPr lang="en-GB" b="0" i="0" dirty="0">
                <a:solidFill>
                  <a:srgbClr val="757575"/>
                </a:solidFill>
                <a:effectLst/>
                <a:latin typeface="Roboto" panose="02000000000000000000" pitchFamily="2" charset="0"/>
              </a:rPr>
              <a:t>Numbers on the graph represent search interest relative to the highest point on the chart for the given region and time. A value of 100 is the peak popularity for the term. A value of 50 means that the term is half as popular. A score of 0 means there was not enough data for this term.</a:t>
            </a:r>
          </a:p>
          <a:p>
            <a:endParaRPr lang="en-GB" b="0" i="0" dirty="0">
              <a:solidFill>
                <a:srgbClr val="757575"/>
              </a:solidFill>
              <a:effectLst/>
              <a:latin typeface="Roboto" panose="02000000000000000000" pitchFamily="2" charset="0"/>
            </a:endParaRPr>
          </a:p>
          <a:p>
            <a:r>
              <a:rPr lang="en-GB" b="0" i="0" dirty="0">
                <a:solidFill>
                  <a:srgbClr val="757575"/>
                </a:solidFill>
                <a:effectLst/>
                <a:latin typeface="Roboto" panose="02000000000000000000" pitchFamily="2" charset="0"/>
              </a:rPr>
              <a:t>The Chief Data Officer search term reached 99, the highest it has been, in September 2022</a:t>
            </a:r>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10</a:t>
            </a:fld>
            <a:endParaRPr lang="en-IE"/>
          </a:p>
        </p:txBody>
      </p:sp>
    </p:spTree>
    <p:extLst>
      <p:ext uri="{BB962C8B-B14F-4D97-AF65-F5344CB8AC3E}">
        <p14:creationId xmlns:p14="http://schemas.microsoft.com/office/powerpoint/2010/main" val="38288539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800" dirty="0">
                <a:effectLst/>
                <a:latin typeface="Calibri" panose="020F0502020204030204" pitchFamily="34" charset="0"/>
                <a:ea typeface="Calibri" panose="020F0502020204030204" pitchFamily="34" charset="0"/>
                <a:cs typeface="Times New Roman" panose="02020603050405020304" pitchFamily="18" charset="0"/>
              </a:rPr>
              <a:t>The CDO Role Varies by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800" dirty="0">
                <a:effectLst/>
                <a:latin typeface="Calibri" panose="020F0502020204030204" pitchFamily="34" charset="0"/>
                <a:ea typeface="Calibri" panose="020F0502020204030204" pitchFamily="34" charset="0"/>
                <a:cs typeface="Times New Roman" panose="02020603050405020304" pitchFamily="18" charset="0"/>
              </a:rPr>
              <a:t>Different types of CDOs are needed for different types of industries and maturity levels. For an organization early in the learning and maturity curve, the job is more about education and awareness, than getting involved in day-to-day issues. Others set up an infrastructure of decision-making bodies and rules and then move on, while others continue to lead those decision making groups on an ongoing basis.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E"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800" dirty="0">
                <a:effectLst/>
                <a:latin typeface="Calibri" panose="020F0502020204030204" pitchFamily="34" charset="0"/>
                <a:ea typeface="Calibri" panose="020F0502020204030204" pitchFamily="34" charset="0"/>
                <a:cs typeface="Times New Roman" panose="02020603050405020304" pitchFamily="18" charset="0"/>
              </a:rPr>
              <a:t>Depending on the maturity of the organization and the demands of its industry’s state of transformation, as well as the state of its infrastructure (some transformations require major technology upgrades, such as costly enterprise resource planning replacements), the organization will need very different types of CDOs and CDO agendas. However, the core responsibility for data, data quality, and achieving greater business value from that data is common to all the manifestations of the CDO role. The average tenure of CDO’s is just two to two-and-a-half years</a:t>
            </a:r>
          </a:p>
          <a:p>
            <a:endParaRPr lang="en-IE" dirty="0"/>
          </a:p>
          <a:p>
            <a:endParaRPr lang="en-IE" dirty="0"/>
          </a:p>
          <a:p>
            <a:r>
              <a:rPr lang="pt-BR" dirty="0"/>
              <a:t>The following figures are taken from the ‘DATA AND AI LEADERSHIP EXECUTIVE SURVEY 2022’</a:t>
            </a:r>
            <a:endParaRPr lang="en-IE" dirty="0"/>
          </a:p>
          <a:p>
            <a:r>
              <a:rPr lang="en-GB" dirty="0"/>
              <a:t>Almost three quarters of the 94 firms (73.7%) have appointed Chief Data or Analytics Officers, or both combined into one role. </a:t>
            </a:r>
          </a:p>
          <a:p>
            <a:r>
              <a:rPr lang="en-GB" dirty="0"/>
              <a:t>That’s </a:t>
            </a:r>
            <a:r>
              <a:rPr lang="en-GB"/>
              <a:t>a </a:t>
            </a:r>
            <a:r>
              <a:rPr lang="en-GB" dirty="0"/>
              <a:t>huge increase since the 12.0 %</a:t>
            </a:r>
            <a:r>
              <a:rPr lang="en-GB"/>
              <a:t> reported</a:t>
            </a:r>
            <a:r>
              <a:rPr lang="en-GB" dirty="0"/>
              <a:t> in 2012</a:t>
            </a:r>
          </a:p>
          <a:p>
            <a:endParaRPr lang="en-GB" dirty="0"/>
          </a:p>
          <a:p>
            <a:r>
              <a:rPr lang="en-GB" dirty="0"/>
              <a:t>The role is considered “successful and established” by 40.2% of the firms participating in the survey, which is up by about 7.0% for each of the last two years. </a:t>
            </a:r>
          </a:p>
          <a:p>
            <a:endParaRPr lang="en-GB" dirty="0"/>
          </a:p>
          <a:p>
            <a:r>
              <a:rPr lang="en-GB" dirty="0"/>
              <a:t>92.1% of companies say they are achieving returns on their data and AI investments, which is up markedly from 48.1% in 2017. </a:t>
            </a:r>
          </a:p>
          <a:p>
            <a:endParaRPr lang="en-GB" dirty="0"/>
          </a:p>
          <a:p>
            <a:r>
              <a:rPr lang="en-GB" dirty="0"/>
              <a:t>91.7% said they were increasing investments in data and AI, equalling last year’s percentage. </a:t>
            </a:r>
          </a:p>
          <a:p>
            <a:endParaRPr lang="en-GB" dirty="0"/>
          </a:p>
          <a:p>
            <a:r>
              <a:rPr lang="en-GB" dirty="0"/>
              <a:t>26.0% of companies have AI systems in widespread production—more than double the 12.1% last year.</a:t>
            </a:r>
          </a:p>
          <a:p>
            <a:endParaRPr lang="en-GB" dirty="0"/>
          </a:p>
          <a:p>
            <a:r>
              <a:rPr lang="en-GB" dirty="0"/>
              <a:t>To simply, data and AI initiatives are becoming well-established, investments are paying off, and companies are getting more economic value from AI. These are all significant accomplishments.</a:t>
            </a:r>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11</a:t>
            </a:fld>
            <a:endParaRPr lang="en-IE"/>
          </a:p>
        </p:txBody>
      </p:sp>
    </p:spTree>
    <p:extLst>
      <p:ext uri="{BB962C8B-B14F-4D97-AF65-F5344CB8AC3E}">
        <p14:creationId xmlns:p14="http://schemas.microsoft.com/office/powerpoint/2010/main" val="2604463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12221"/>
                </a:solidFill>
                <a:effectLst/>
                <a:latin typeface="Source Sans Pro" panose="020B0503030403020204" pitchFamily="34" charset="0"/>
              </a:rPr>
              <a:t>The average Chief Data Officer salary in the United States is </a:t>
            </a:r>
            <a:r>
              <a:rPr lang="en-GB" b="1" i="0" dirty="0">
                <a:solidFill>
                  <a:srgbClr val="212221"/>
                </a:solidFill>
                <a:effectLst/>
                <a:latin typeface="Source Sans Pro" panose="020B0503030403020204" pitchFamily="34" charset="0"/>
              </a:rPr>
              <a:t>$219,290</a:t>
            </a:r>
            <a:r>
              <a:rPr lang="en-GB" b="0" i="0" dirty="0">
                <a:solidFill>
                  <a:srgbClr val="212221"/>
                </a:solidFill>
                <a:effectLst/>
                <a:latin typeface="Source Sans Pro" panose="020B0503030403020204" pitchFamily="34" charset="0"/>
              </a:rPr>
              <a:t> as of January 26, 2023, but the range typically falls between </a:t>
            </a:r>
            <a:r>
              <a:rPr lang="en-GB" b="1" i="0" dirty="0">
                <a:solidFill>
                  <a:srgbClr val="212221"/>
                </a:solidFill>
                <a:effectLst/>
                <a:latin typeface="Source Sans Pro" panose="020B0503030403020204" pitchFamily="34" charset="0"/>
              </a:rPr>
              <a:t>$192,190</a:t>
            </a:r>
            <a:r>
              <a:rPr lang="en-GB" b="0" i="0" dirty="0">
                <a:solidFill>
                  <a:srgbClr val="212221"/>
                </a:solidFill>
                <a:effectLst/>
                <a:latin typeface="Source Sans Pro" panose="020B0503030403020204" pitchFamily="34" charset="0"/>
              </a:rPr>
              <a:t> and </a:t>
            </a:r>
            <a:r>
              <a:rPr lang="en-GB" b="1" i="0" dirty="0">
                <a:solidFill>
                  <a:srgbClr val="212221"/>
                </a:solidFill>
                <a:effectLst/>
                <a:latin typeface="Source Sans Pro" panose="020B0503030403020204" pitchFamily="34" charset="0"/>
              </a:rPr>
              <a:t>$263,890</a:t>
            </a:r>
            <a:r>
              <a:rPr lang="en-GB" b="0" i="0" dirty="0">
                <a:solidFill>
                  <a:srgbClr val="212221"/>
                </a:solidFill>
                <a:effectLst/>
                <a:latin typeface="Source Sans Pro" panose="020B0503030403020204" pitchFamily="34" charset="0"/>
              </a:rPr>
              <a:t>. </a:t>
            </a:r>
          </a:p>
          <a:p>
            <a:r>
              <a:rPr lang="en-GB" b="0" i="0" dirty="0">
                <a:solidFill>
                  <a:srgbClr val="212221"/>
                </a:solidFill>
                <a:effectLst/>
                <a:latin typeface="Source Sans Pro" panose="020B0503030403020204" pitchFamily="34" charset="0"/>
              </a:rPr>
              <a:t>Salary ranges can vary widely depending on many important factors, including </a:t>
            </a:r>
            <a:r>
              <a:rPr lang="en-GB" b="0" i="0" u="none" strike="noStrike" dirty="0">
                <a:solidFill>
                  <a:srgbClr val="047DBB"/>
                </a:solidFill>
                <a:effectLst/>
                <a:latin typeface="Source Sans Pro" panose="020B0503030403020204" pitchFamily="34" charset="0"/>
              </a:rPr>
              <a:t>education</a:t>
            </a:r>
            <a:r>
              <a:rPr lang="en-GB" b="0" i="0" dirty="0">
                <a:solidFill>
                  <a:srgbClr val="212221"/>
                </a:solidFill>
                <a:effectLst/>
                <a:latin typeface="Source Sans Pro" panose="020B0503030403020204" pitchFamily="34" charset="0"/>
              </a:rPr>
              <a:t>, certifications, additional skills, </a:t>
            </a:r>
            <a:r>
              <a:rPr lang="en-GB" b="0" i="0" u="none" strike="noStrike" dirty="0">
                <a:solidFill>
                  <a:srgbClr val="047DBB"/>
                </a:solidFill>
                <a:effectLst/>
                <a:latin typeface="Source Sans Pro" panose="020B0503030403020204" pitchFamily="34" charset="0"/>
              </a:rPr>
              <a:t>the number of years</a:t>
            </a:r>
            <a:r>
              <a:rPr lang="en-GB" b="0" i="0" dirty="0">
                <a:solidFill>
                  <a:srgbClr val="212221"/>
                </a:solidFill>
                <a:effectLst/>
                <a:latin typeface="Source Sans Pro" panose="020B0503030403020204" pitchFamily="34" charset="0"/>
              </a:rPr>
              <a:t> you have spent in your profession. </a:t>
            </a:r>
          </a:p>
          <a:p>
            <a:endParaRPr lang="en-GB" b="0" i="0" dirty="0">
              <a:solidFill>
                <a:srgbClr val="212221"/>
              </a:solidFill>
              <a:effectLst/>
              <a:latin typeface="Source Sans Pro" panose="020B0503030403020204" pitchFamily="34" charset="0"/>
            </a:endParaRPr>
          </a:p>
          <a:p>
            <a:r>
              <a:rPr lang="en-IE" dirty="0"/>
              <a:t>https://www.salary.com/research/salary/alternate/chief-data-officer-salary</a:t>
            </a:r>
            <a:r>
              <a:rPr lang="en-GB" b="0" i="0" dirty="0">
                <a:solidFill>
                  <a:srgbClr val="212221"/>
                </a:solidFill>
                <a:effectLst/>
                <a:latin typeface="Source Sans Pro" panose="020B0503030403020204" pitchFamily="34" charset="0"/>
              </a:rPr>
              <a:t> </a:t>
            </a:r>
          </a:p>
          <a:p>
            <a:endParaRPr lang="en-GB" b="0" i="0" dirty="0">
              <a:solidFill>
                <a:srgbClr val="212221"/>
              </a:solidFill>
              <a:effectLst/>
              <a:latin typeface="Source Sans Pro" panose="020B0503030403020204" pitchFamily="34" charset="0"/>
            </a:endParaRPr>
          </a:p>
          <a:p>
            <a:endParaRPr lang="en-GB" b="0" i="0" dirty="0">
              <a:solidFill>
                <a:srgbClr val="212221"/>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1" i="0" dirty="0">
                <a:solidFill>
                  <a:srgbClr val="20262E"/>
                </a:solidFill>
                <a:effectLst/>
                <a:latin typeface="Lato" panose="020F0502020204030203" pitchFamily="34" charset="0"/>
              </a:rPr>
              <a:t>Chief Data Officer Salaries in Ireland </a:t>
            </a:r>
            <a:r>
              <a:rPr lang="en-IE" b="1" i="0" dirty="0">
                <a:solidFill>
                  <a:srgbClr val="20262E"/>
                </a:solidFill>
                <a:effectLst/>
                <a:latin typeface="Lato" panose="020F0502020204030203" pitchFamily="34" charset="0"/>
              </a:rPr>
              <a:t> €170,000</a:t>
            </a:r>
            <a:r>
              <a:rPr lang="en-IE" b="1" i="0" dirty="0">
                <a:solidFill>
                  <a:srgbClr val="505863"/>
                </a:solidFill>
                <a:effectLst/>
                <a:latin typeface="Lato" panose="020F0502020204030203" pitchFamily="34" charset="0"/>
              </a:rPr>
              <a:t> /</a:t>
            </a:r>
            <a:r>
              <a:rPr lang="en-IE" b="1" i="0" dirty="0" err="1">
                <a:solidFill>
                  <a:srgbClr val="505863"/>
                </a:solidFill>
                <a:effectLst/>
                <a:latin typeface="Lato" panose="020F0502020204030203" pitchFamily="34" charset="0"/>
              </a:rPr>
              <a:t>yr</a:t>
            </a:r>
            <a:r>
              <a:rPr lang="en-GB" b="0" i="0" dirty="0">
                <a:solidFill>
                  <a:srgbClr val="212221"/>
                </a:solidFill>
                <a:effectLst/>
                <a:latin typeface="Source Sans Pro" panose="020B0503030403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212221"/>
              </a:solidFill>
              <a:effectLst/>
              <a:latin typeface="Source Sans Pro" panose="020B0503030403020204" pitchFamily="34" charset="0"/>
            </a:endParaRPr>
          </a:p>
          <a:p>
            <a:r>
              <a:rPr lang="en-IE" dirty="0"/>
              <a:t>https://www.glassdoor.ie/Salaries/chief-data-officer-salary-SRCH_KO0,18.htm</a:t>
            </a:r>
          </a:p>
          <a:p>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12</a:t>
            </a:fld>
            <a:endParaRPr lang="en-IE"/>
          </a:p>
        </p:txBody>
      </p:sp>
    </p:spTree>
    <p:extLst>
      <p:ext uri="{BB962C8B-B14F-4D97-AF65-F5344CB8AC3E}">
        <p14:creationId xmlns:p14="http://schemas.microsoft.com/office/powerpoint/2010/main" val="1373240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role is still relatively new. </a:t>
            </a:r>
          </a:p>
          <a:p>
            <a:endParaRPr lang="en-GB" dirty="0"/>
          </a:p>
          <a:p>
            <a:r>
              <a:rPr lang="en-GB" dirty="0"/>
              <a:t>The role of CDO is still in its early stages</a:t>
            </a:r>
          </a:p>
          <a:p>
            <a:endParaRPr lang="en-GB" dirty="0"/>
          </a:p>
          <a:p>
            <a:r>
              <a:rPr lang="en-GB" dirty="0"/>
              <a:t>The role is likely to remain fluid for a number of years. </a:t>
            </a:r>
          </a:p>
          <a:p>
            <a:endParaRPr lang="en-GB" dirty="0"/>
          </a:p>
          <a:p>
            <a:r>
              <a:rPr lang="en-GB" dirty="0"/>
              <a:t>How the role is expressed depends on the company’s maturity level with respect to data management, as well as other factors such as size and industry sector.</a:t>
            </a:r>
          </a:p>
          <a:p>
            <a:endParaRPr lang="en-GB" dirty="0"/>
          </a:p>
          <a:p>
            <a:r>
              <a:rPr lang="en-GB" dirty="0"/>
              <a:t>It is important to align with and delineate clear responsibilities among related roles such as CIO and CTO. </a:t>
            </a:r>
          </a:p>
          <a:p>
            <a:endParaRPr lang="en-GB" dirty="0"/>
          </a:p>
          <a:p>
            <a:r>
              <a:rPr lang="en-GB" dirty="0"/>
              <a:t>The role of CDO will be pivotal to ensure the agility needed for future growth and success.</a:t>
            </a:r>
          </a:p>
          <a:p>
            <a:endParaRPr lang="en-GB" dirty="0"/>
          </a:p>
          <a:p>
            <a:r>
              <a:rPr lang="en-GB" dirty="0"/>
              <a:t>CDO is a role that can provide significant value to the enterprise. Given today’s data-driven environment, this role is likely to be on a growth trajectory for some time</a:t>
            </a:r>
          </a:p>
          <a:p>
            <a:endParaRPr lang="en-IE" dirty="0"/>
          </a:p>
        </p:txBody>
      </p:sp>
      <p:sp>
        <p:nvSpPr>
          <p:cNvPr id="4" name="Slide Number Placeholder 3"/>
          <p:cNvSpPr>
            <a:spLocks noGrp="1"/>
          </p:cNvSpPr>
          <p:nvPr>
            <p:ph type="sldNum" sz="quarter" idx="5"/>
          </p:nvPr>
        </p:nvSpPr>
        <p:spPr/>
        <p:txBody>
          <a:bodyPr/>
          <a:lstStyle/>
          <a:p>
            <a:fld id="{D8932CA6-6CAC-45CB-8689-738976C41ACE}" type="slidenum">
              <a:rPr lang="en-IE" smtClean="0"/>
              <a:t>13</a:t>
            </a:fld>
            <a:endParaRPr lang="en-IE"/>
          </a:p>
        </p:txBody>
      </p:sp>
    </p:spTree>
    <p:extLst>
      <p:ext uri="{BB962C8B-B14F-4D97-AF65-F5344CB8AC3E}">
        <p14:creationId xmlns:p14="http://schemas.microsoft.com/office/powerpoint/2010/main" val="2906103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fld id="{72EA7947-E287-4738-8C82-07CE4F01EF03}" type="datetime2">
              <a:rPr lang="en-US" smtClean="0"/>
              <a:t>Thursday, February 23, 2023</a:t>
            </a:fld>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836842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fld id="{6FE8C025-CD7A-4966-867E-81CF82B15267}" type="datetime2">
              <a:rPr lang="en-US" smtClean="0"/>
              <a:t>Thursday, February 23, 2023</a:t>
            </a:fld>
            <a:endParaRPr lang="en-US"/>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299377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fld id="{FE809929-0719-4517-94D6-FDF7F99E70F6}" type="datetime2">
              <a:rPr lang="en-US" smtClean="0"/>
              <a:t>Thursday, February 23, 2023</a:t>
            </a:fld>
            <a:endParaRPr lang="en-US"/>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012519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fld id="{20E95673-5512-4AAA-9AEB-E00C61EC65D5}" type="datetime2">
              <a:rPr lang="en-US" smtClean="0"/>
              <a:t>Thursday, February 23, 2023</a:t>
            </a:fld>
            <a:endParaRPr lang="en-US"/>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937438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fld id="{C13138FA-2E87-4873-8BBA-13E447C9A99A}" type="datetime2">
              <a:rPr lang="en-US" smtClean="0"/>
              <a:t>Thursday, February 23, 2023</a:t>
            </a:fld>
            <a:endParaRPr lang="en-US"/>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r>
              <a:rPr lang="en-US"/>
              <a:t>Sample Footer</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596905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fld id="{D75BB40A-97BD-4BFB-B639-0BFF95FDE8B7}" type="datetime2">
              <a:rPr lang="en-US" smtClean="0"/>
              <a:t>Thursday, February 23, 2023</a:t>
            </a:fld>
            <a:endParaRPr lang="en-US"/>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r>
              <a:rPr lang="en-US"/>
              <a:t>Sample Footer</a:t>
            </a:r>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953845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fld id="{9EE9E0E3-ECF6-4CFE-8698-AEFEBCECC3C0}" type="datetime2">
              <a:rPr lang="en-US" smtClean="0"/>
              <a:t>Thursday, February 23, 2023</a:t>
            </a:fld>
            <a:endParaRPr lang="en-US"/>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r>
              <a:rPr lang="en-US"/>
              <a:t>Sample Footer</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225646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fld id="{251462FC-960E-4740-921F-B36862979F21}" type="datetime2">
              <a:rPr lang="en-US" smtClean="0"/>
              <a:t>Thursday, February 23, 2023</a:t>
            </a:fld>
            <a:endParaRPr lang="en-US"/>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687374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fld id="{E50BC9E2-CB44-4C05-9BB5-496C18A241E0}" type="datetime2">
              <a:rPr lang="en-US" smtClean="0"/>
              <a:t>Thursday, February 23, 2023</a:t>
            </a:fld>
            <a:endParaRPr lang="en-US"/>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975853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fld id="{EE2EBD84-71F4-4271-8C46-0D47C0A9B12E}" type="datetime2">
              <a:rPr lang="en-US" smtClean="0"/>
              <a:t>Thursday, February 23, 2023</a:t>
            </a:fld>
            <a:endParaRPr lang="en-US"/>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049669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fld id="{ABAE0CE1-F450-4107-B2CB-17B18F8A3F4A}" type="datetime2">
              <a:rPr lang="en-US" smtClean="0"/>
              <a:t>Thursday, February 23, 2023</a:t>
            </a:fld>
            <a:endParaRPr lang="en-US"/>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296573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fld id="{246CB39B-5F4C-4A7E-9BE3-AAFD45576D16}" type="datetime2">
              <a:rPr lang="en-US" smtClean="0"/>
              <a:t>Thursday, February 23, 2023</a:t>
            </a:fld>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r>
              <a:rPr lang="en-US"/>
              <a:t>Sample Footer</a:t>
            </a:r>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900">
                <a:solidFill>
                  <a:schemeClr val="tx1">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720823964"/>
      </p:ext>
    </p:extLst>
  </p:cSld>
  <p:clrMap bg1="dk1" tx1="lt1" bg2="dk2" tx2="lt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hyperlink" Target="https://www.contractrecruiter.com/list-csuite-roles-titl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dataladder.com/the-impact-of-poor-data-quality-risks-challenges-and-solutions/" TargetMode="Externa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www.raconteur.net/c-suite/successful-cdo/"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info.earley.com/hubfs/Slide-Decks/EIS_ERT-Evolving-Role_CDO-2017-02.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trends.google.com/trends/explore?date=all&amp;q=%2Fm%2F07k3s_"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newvantage.com/_files/ugd/e5361a_ad5a8b3da8254a71807d2dccdb0844be.pdf"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4.gif"/><Relationship Id="rId7" Type="http://schemas.openxmlformats.org/officeDocument/2006/relationships/diagramColors" Target="../diagrams/colors4.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3A64E0-BA8E-4A6D-E797-FA32358F5E06}"/>
              </a:ext>
            </a:extLst>
          </p:cNvPr>
          <p:cNvSpPr>
            <a:spLocks noGrp="1"/>
          </p:cNvSpPr>
          <p:nvPr>
            <p:ph type="ctrTitle"/>
          </p:nvPr>
        </p:nvSpPr>
        <p:spPr>
          <a:xfrm>
            <a:off x="550863" y="549275"/>
            <a:ext cx="5437187" cy="2986234"/>
          </a:xfrm>
        </p:spPr>
        <p:txBody>
          <a:bodyPr vert="horz" wrap="square" lIns="0" tIns="0" rIns="0" bIns="0" rtlCol="0" anchor="b" anchorCtr="0">
            <a:normAutofit/>
          </a:bodyPr>
          <a:lstStyle/>
          <a:p>
            <a:pPr>
              <a:lnSpc>
                <a:spcPct val="90000"/>
              </a:lnSpc>
            </a:pPr>
            <a:r>
              <a:rPr lang="en-US" sz="5400" kern="1200" dirty="0">
                <a:solidFill>
                  <a:schemeClr val="tx1"/>
                </a:solidFill>
                <a:latin typeface="+mj-lt"/>
                <a:ea typeface="+mj-ea"/>
                <a:cs typeface="+mj-cs"/>
              </a:rPr>
              <a:t>The Evolving Role of the Chief Data Officer (CDO)</a:t>
            </a:r>
          </a:p>
        </p:txBody>
      </p:sp>
      <p:sp>
        <p:nvSpPr>
          <p:cNvPr id="3" name="Subtitle 2">
            <a:extLst>
              <a:ext uri="{FF2B5EF4-FFF2-40B4-BE49-F238E27FC236}">
                <a16:creationId xmlns:a16="http://schemas.microsoft.com/office/drawing/2014/main" id="{FA204F6F-06C1-1C80-625E-A5FADA972640}"/>
              </a:ext>
            </a:extLst>
          </p:cNvPr>
          <p:cNvSpPr>
            <a:spLocks noGrp="1"/>
          </p:cNvSpPr>
          <p:nvPr>
            <p:ph type="subTitle" idx="1"/>
          </p:nvPr>
        </p:nvSpPr>
        <p:spPr>
          <a:xfrm>
            <a:off x="550863" y="3827610"/>
            <a:ext cx="5437187" cy="2265216"/>
          </a:xfrm>
        </p:spPr>
        <p:txBody>
          <a:bodyPr vert="horz" wrap="square" lIns="0" tIns="0" rIns="0" bIns="0" rtlCol="0">
            <a:normAutofit/>
          </a:bodyPr>
          <a:lstStyle/>
          <a:p>
            <a:r>
              <a:rPr lang="en-US" kern="1200" dirty="0">
                <a:solidFill>
                  <a:schemeClr val="tx1">
                    <a:alpha val="60000"/>
                  </a:schemeClr>
                </a:solidFill>
                <a:latin typeface="+mn-lt"/>
                <a:ea typeface="+mn-ea"/>
                <a:cs typeface="+mn-cs"/>
              </a:rPr>
              <a:t>An investigation into findings gathered from the paper written by Seth </a:t>
            </a:r>
            <a:r>
              <a:rPr lang="en-US" kern="1200" dirty="0" err="1">
                <a:solidFill>
                  <a:schemeClr val="tx1">
                    <a:alpha val="60000"/>
                  </a:schemeClr>
                </a:solidFill>
                <a:latin typeface="+mn-lt"/>
                <a:ea typeface="+mn-ea"/>
                <a:cs typeface="+mn-cs"/>
              </a:rPr>
              <a:t>Earley</a:t>
            </a:r>
            <a:r>
              <a:rPr lang="en-US" kern="1200" dirty="0">
                <a:solidFill>
                  <a:schemeClr val="tx1">
                    <a:alpha val="60000"/>
                  </a:schemeClr>
                </a:solidFill>
                <a:latin typeface="+mn-lt"/>
                <a:ea typeface="+mn-ea"/>
                <a:cs typeface="+mn-cs"/>
              </a:rPr>
              <a:t> and published in the IT Professional Journal</a:t>
            </a:r>
          </a:p>
        </p:txBody>
      </p:sp>
      <p:sp>
        <p:nvSpPr>
          <p:cNvPr id="16" name="Oval 15">
            <a:extLst>
              <a:ext uri="{FF2B5EF4-FFF2-40B4-BE49-F238E27FC236}">
                <a16:creationId xmlns:a16="http://schemas.microsoft.com/office/drawing/2014/main" id="{D87560B9-86B8-4558-93E9-FAB8DBE40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66122" y="7174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Freeform: Shape 17">
            <a:extLst>
              <a:ext uri="{FF2B5EF4-FFF2-40B4-BE49-F238E27FC236}">
                <a16:creationId xmlns:a16="http://schemas.microsoft.com/office/drawing/2014/main" id="{71400469-1077-4353-BFB5-E4159ADF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11524143" y="5425719"/>
            <a:ext cx="826527" cy="463493"/>
          </a:xfrm>
          <a:custGeom>
            <a:avLst/>
            <a:gdLst>
              <a:gd name="connsiteX0" fmla="*/ 791231 w 826527"/>
              <a:gd name="connsiteY0" fmla="*/ 135754 h 463493"/>
              <a:gd name="connsiteX1" fmla="*/ 826527 w 826527"/>
              <a:gd name="connsiteY1" fmla="*/ 178533 h 463493"/>
              <a:gd name="connsiteX2" fmla="*/ 658803 w 826527"/>
              <a:gd name="connsiteY2" fmla="*/ 346257 h 463493"/>
              <a:gd name="connsiteX3" fmla="*/ 627362 w 826527"/>
              <a:gd name="connsiteY3" fmla="*/ 299623 h 463493"/>
              <a:gd name="connsiteX4" fmla="*/ 463493 w 826527"/>
              <a:gd name="connsiteY4" fmla="*/ 231747 h 463493"/>
              <a:gd name="connsiteX5" fmla="*/ 231747 w 826527"/>
              <a:gd name="connsiteY5" fmla="*/ 463493 h 463493"/>
              <a:gd name="connsiteX6" fmla="*/ 0 w 826527"/>
              <a:gd name="connsiteY6" fmla="*/ 463493 h 463493"/>
              <a:gd name="connsiteX7" fmla="*/ 463492 w 826527"/>
              <a:gd name="connsiteY7" fmla="*/ 0 h 463493"/>
              <a:gd name="connsiteX8" fmla="*/ 791231 w 826527"/>
              <a:gd name="connsiteY8" fmla="*/ 135754 h 463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6527" h="463493">
                <a:moveTo>
                  <a:pt x="791231" y="135754"/>
                </a:moveTo>
                <a:lnTo>
                  <a:pt x="826527" y="178533"/>
                </a:lnTo>
                <a:lnTo>
                  <a:pt x="658803" y="346257"/>
                </a:lnTo>
                <a:lnTo>
                  <a:pt x="627362" y="299623"/>
                </a:lnTo>
                <a:cubicBezTo>
                  <a:pt x="585424" y="257686"/>
                  <a:pt x="527487" y="231747"/>
                  <a:pt x="463493" y="231747"/>
                </a:cubicBezTo>
                <a:cubicBezTo>
                  <a:pt x="335503" y="231746"/>
                  <a:pt x="231746" y="335503"/>
                  <a:pt x="231747" y="463493"/>
                </a:cubicBezTo>
                <a:lnTo>
                  <a:pt x="0" y="463493"/>
                </a:lnTo>
                <a:cubicBezTo>
                  <a:pt x="0" y="207513"/>
                  <a:pt x="207513" y="0"/>
                  <a:pt x="463492" y="0"/>
                </a:cubicBezTo>
                <a:cubicBezTo>
                  <a:pt x="591482" y="0"/>
                  <a:pt x="707356" y="51879"/>
                  <a:pt x="791231" y="135754"/>
                </a:cubicBezTo>
                <a:close/>
              </a:path>
            </a:pathLst>
          </a:custGeom>
          <a:solidFill>
            <a:schemeClr val="bg2"/>
          </a:solidFill>
          <a:ln>
            <a:noFill/>
          </a:ln>
          <a:effectLst>
            <a:innerShdw blurRad="1270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0" name="Freeform: Shape 19">
            <a:extLst>
              <a:ext uri="{FF2B5EF4-FFF2-40B4-BE49-F238E27FC236}">
                <a16:creationId xmlns:a16="http://schemas.microsoft.com/office/drawing/2014/main" id="{F28851F7-6B20-43F1-90FF-B41CE11AF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11562489" y="5445666"/>
            <a:ext cx="807174" cy="508309"/>
          </a:xfrm>
          <a:custGeom>
            <a:avLst/>
            <a:gdLst>
              <a:gd name="connsiteX0" fmla="*/ 791232 w 807174"/>
              <a:gd name="connsiteY0" fmla="*/ 148880 h 508309"/>
              <a:gd name="connsiteX1" fmla="*/ 807174 w 807174"/>
              <a:gd name="connsiteY1" fmla="*/ 170072 h 508309"/>
              <a:gd name="connsiteX2" fmla="*/ 636502 w 807174"/>
              <a:gd name="connsiteY2" fmla="*/ 340744 h 508309"/>
              <a:gd name="connsiteX3" fmla="*/ 627362 w 807174"/>
              <a:gd name="connsiteY3" fmla="*/ 328595 h 508309"/>
              <a:gd name="connsiteX4" fmla="*/ 463493 w 807174"/>
              <a:gd name="connsiteY4" fmla="*/ 254155 h 508309"/>
              <a:gd name="connsiteX5" fmla="*/ 231747 w 807174"/>
              <a:gd name="connsiteY5" fmla="*/ 508309 h 508309"/>
              <a:gd name="connsiteX6" fmla="*/ 0 w 807174"/>
              <a:gd name="connsiteY6" fmla="*/ 508309 h 508309"/>
              <a:gd name="connsiteX7" fmla="*/ 463493 w 807174"/>
              <a:gd name="connsiteY7" fmla="*/ 0 h 508309"/>
              <a:gd name="connsiteX8" fmla="*/ 791232 w 807174"/>
              <a:gd name="connsiteY8" fmla="*/ 148880 h 508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7174" h="508309">
                <a:moveTo>
                  <a:pt x="791232" y="148880"/>
                </a:moveTo>
                <a:lnTo>
                  <a:pt x="807174" y="170072"/>
                </a:lnTo>
                <a:lnTo>
                  <a:pt x="636502" y="340744"/>
                </a:lnTo>
                <a:lnTo>
                  <a:pt x="627362" y="328595"/>
                </a:lnTo>
                <a:cubicBezTo>
                  <a:pt x="585425" y="282602"/>
                  <a:pt x="527487" y="254155"/>
                  <a:pt x="463493" y="254155"/>
                </a:cubicBezTo>
                <a:cubicBezTo>
                  <a:pt x="335503" y="254155"/>
                  <a:pt x="231746" y="367943"/>
                  <a:pt x="231747" y="508309"/>
                </a:cubicBezTo>
                <a:lnTo>
                  <a:pt x="0" y="508309"/>
                </a:lnTo>
                <a:cubicBezTo>
                  <a:pt x="0" y="227578"/>
                  <a:pt x="207513" y="0"/>
                  <a:pt x="463493" y="0"/>
                </a:cubicBezTo>
                <a:cubicBezTo>
                  <a:pt x="591482" y="-1"/>
                  <a:pt x="707356" y="56895"/>
                  <a:pt x="791232" y="148880"/>
                </a:cubicBezTo>
                <a:close/>
              </a:path>
            </a:pathLst>
          </a:custGeom>
          <a:solidFill>
            <a:schemeClr val="accent6">
              <a:lumMod val="60000"/>
              <a:lumOff val="40000"/>
              <a:alpha val="20000"/>
            </a:schemeClr>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pic>
        <p:nvPicPr>
          <p:cNvPr id="4" name="Picture 3" descr="chief data officer">
            <a:extLst>
              <a:ext uri="{FF2B5EF4-FFF2-40B4-BE49-F238E27FC236}">
                <a16:creationId xmlns:a16="http://schemas.microsoft.com/office/drawing/2014/main" id="{C4FA21E5-D4BB-1DA9-C3E2-36FD1073EC55}"/>
              </a:ext>
            </a:extLst>
          </p:cNvPr>
          <p:cNvPicPr>
            <a:picLocks noChangeAspect="1"/>
          </p:cNvPicPr>
          <p:nvPr/>
        </p:nvPicPr>
        <p:blipFill rotWithShape="1">
          <a:blip r:embed="rId3">
            <a:extLst>
              <a:ext uri="{28A0092B-C50C-407E-A947-70E740481C1C}">
                <a14:useLocalDpi xmlns:a14="http://schemas.microsoft.com/office/drawing/2010/main" val="0"/>
              </a:ext>
            </a:extLst>
          </a:blip>
          <a:srcRect l="5718" r="8020"/>
          <a:stretch/>
        </p:blipFill>
        <p:spPr bwMode="auto">
          <a:xfrm>
            <a:off x="6640455" y="606796"/>
            <a:ext cx="4868976" cy="5644408"/>
          </a:xfrm>
          <a:custGeom>
            <a:avLst/>
            <a:gdLst/>
            <a:ahLst/>
            <a:cxnLst/>
            <a:rect l="l" t="t" r="r" b="b"/>
            <a:pathLst>
              <a:path w="4868976" h="5644408">
                <a:moveTo>
                  <a:pt x="2398421" y="0"/>
                </a:moveTo>
                <a:lnTo>
                  <a:pt x="4868973" y="1424628"/>
                </a:lnTo>
                <a:lnTo>
                  <a:pt x="4868976" y="1424625"/>
                </a:lnTo>
                <a:lnTo>
                  <a:pt x="4868976" y="1424628"/>
                </a:lnTo>
                <a:lnTo>
                  <a:pt x="4868976" y="4219781"/>
                </a:lnTo>
                <a:lnTo>
                  <a:pt x="2398419" y="5644408"/>
                </a:lnTo>
                <a:lnTo>
                  <a:pt x="0" y="4219781"/>
                </a:lnTo>
                <a:lnTo>
                  <a:pt x="0" y="1424628"/>
                </a:lnTo>
                <a:lnTo>
                  <a:pt x="0" y="1424625"/>
                </a:lnTo>
                <a:lnTo>
                  <a:pt x="3" y="1424628"/>
                </a:lnTo>
                <a:close/>
              </a:path>
            </a:pathLst>
          </a:custGeom>
          <a:noFill/>
        </p:spPr>
      </p:pic>
      <p:sp>
        <p:nvSpPr>
          <p:cNvPr id="22" name="Oval 21">
            <a:extLst>
              <a:ext uri="{FF2B5EF4-FFF2-40B4-BE49-F238E27FC236}">
                <a16:creationId xmlns:a16="http://schemas.microsoft.com/office/drawing/2014/main" id="{09E6BACC-8290-425B-A517-1914E16D82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65497" y="5915162"/>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extBox 4">
            <a:extLst>
              <a:ext uri="{FF2B5EF4-FFF2-40B4-BE49-F238E27FC236}">
                <a16:creationId xmlns:a16="http://schemas.microsoft.com/office/drawing/2014/main" id="{E7C71780-9E8C-3764-DDD6-2D63448CD8BD}"/>
              </a:ext>
            </a:extLst>
          </p:cNvPr>
          <p:cNvSpPr txBox="1"/>
          <p:nvPr/>
        </p:nvSpPr>
        <p:spPr>
          <a:xfrm>
            <a:off x="8314268" y="6454801"/>
            <a:ext cx="4572000" cy="338554"/>
          </a:xfrm>
          <a:prstGeom prst="rect">
            <a:avLst/>
          </a:prstGeom>
          <a:noFill/>
        </p:spPr>
        <p:txBody>
          <a:bodyPr wrap="square" rtlCol="0">
            <a:spAutoFit/>
          </a:bodyPr>
          <a:lstStyle/>
          <a:p>
            <a:pPr>
              <a:spcAft>
                <a:spcPts val="600"/>
              </a:spcAft>
            </a:pPr>
            <a:r>
              <a:rPr lang="en-IE" sz="1600" dirty="0"/>
              <a:t>Niamh Daly | x19370553@student.ncirl.ie</a:t>
            </a:r>
            <a:endParaRPr lang="en-IE" sz="1600"/>
          </a:p>
        </p:txBody>
      </p:sp>
    </p:spTree>
    <p:extLst>
      <p:ext uri="{BB962C8B-B14F-4D97-AF65-F5344CB8AC3E}">
        <p14:creationId xmlns:p14="http://schemas.microsoft.com/office/powerpoint/2010/main" val="2914130440"/>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3" name="Rectangle 29">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D2C27C-EBAB-2FB3-941E-1A55D1ACEED5}"/>
              </a:ext>
            </a:extLst>
          </p:cNvPr>
          <p:cNvSpPr>
            <a:spLocks noGrp="1"/>
          </p:cNvSpPr>
          <p:nvPr>
            <p:ph type="title"/>
          </p:nvPr>
        </p:nvSpPr>
        <p:spPr>
          <a:xfrm>
            <a:off x="550863" y="550800"/>
            <a:ext cx="7308850" cy="986400"/>
          </a:xfrm>
        </p:spPr>
        <p:txBody>
          <a:bodyPr wrap="square" anchor="ctr">
            <a:normAutofit/>
          </a:bodyPr>
          <a:lstStyle/>
          <a:p>
            <a:pPr>
              <a:lnSpc>
                <a:spcPct val="90000"/>
              </a:lnSpc>
            </a:pPr>
            <a:r>
              <a:rPr lang="en-IE" sz="3700"/>
              <a:t>High Level Introduction to the Paper</a:t>
            </a:r>
          </a:p>
        </p:txBody>
      </p:sp>
      <p:sp>
        <p:nvSpPr>
          <p:cNvPr id="44" name="Rectangle 31">
            <a:extLst>
              <a:ext uri="{FF2B5EF4-FFF2-40B4-BE49-F238E27FC236}">
                <a16:creationId xmlns:a16="http://schemas.microsoft.com/office/drawing/2014/main" id="{88392DC7-0988-443B-A0D0-E726C7DB62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83435"/>
            <a:ext cx="12192000" cy="4774564"/>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5" name="Content Placeholder 2">
            <a:extLst>
              <a:ext uri="{FF2B5EF4-FFF2-40B4-BE49-F238E27FC236}">
                <a16:creationId xmlns:a16="http://schemas.microsoft.com/office/drawing/2014/main" id="{460057B1-4995-D343-D410-A8568D94C0A2}"/>
              </a:ext>
            </a:extLst>
          </p:cNvPr>
          <p:cNvGraphicFramePr>
            <a:graphicFrameLocks noGrp="1"/>
          </p:cNvGraphicFramePr>
          <p:nvPr>
            <p:ph idx="1"/>
            <p:extLst>
              <p:ext uri="{D42A27DB-BD31-4B8C-83A1-F6EECF244321}">
                <p14:modId xmlns:p14="http://schemas.microsoft.com/office/powerpoint/2010/main" val="3929923160"/>
              </p:ext>
            </p:extLst>
          </p:nvPr>
        </p:nvGraphicFramePr>
        <p:xfrm>
          <a:off x="550863" y="2624135"/>
          <a:ext cx="11090276" cy="34686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7730227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1" name="Rectangle 98">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0C954E-8796-C182-D005-C8FCD8876E86}"/>
              </a:ext>
            </a:extLst>
          </p:cNvPr>
          <p:cNvSpPr>
            <a:spLocks noGrp="1"/>
          </p:cNvSpPr>
          <p:nvPr>
            <p:ph type="title"/>
          </p:nvPr>
        </p:nvSpPr>
        <p:spPr>
          <a:xfrm>
            <a:off x="550863" y="549275"/>
            <a:ext cx="5437185" cy="941197"/>
          </a:xfrm>
        </p:spPr>
        <p:txBody>
          <a:bodyPr wrap="square" anchor="b">
            <a:normAutofit/>
          </a:bodyPr>
          <a:lstStyle/>
          <a:p>
            <a:r>
              <a:rPr lang="en-IE" dirty="0"/>
              <a:t>Seth </a:t>
            </a:r>
            <a:r>
              <a:rPr lang="en-IE" dirty="0" err="1"/>
              <a:t>Earley</a:t>
            </a:r>
            <a:endParaRPr lang="en-IE" dirty="0"/>
          </a:p>
        </p:txBody>
      </p:sp>
      <p:pic>
        <p:nvPicPr>
          <p:cNvPr id="5" name="Picture 4" descr="A person smiling for the camera&#10;&#10;Description automatically generated with medium confidence">
            <a:extLst>
              <a:ext uri="{FF2B5EF4-FFF2-40B4-BE49-F238E27FC236}">
                <a16:creationId xmlns:a16="http://schemas.microsoft.com/office/drawing/2014/main" id="{6A3B6A5C-872A-03A2-32B5-2C277D959738}"/>
              </a:ext>
            </a:extLst>
          </p:cNvPr>
          <p:cNvPicPr>
            <a:picLocks noChangeAspect="1"/>
          </p:cNvPicPr>
          <p:nvPr/>
        </p:nvPicPr>
        <p:blipFill>
          <a:blip r:embed="rId3"/>
          <a:stretch>
            <a:fillRect/>
          </a:stretch>
        </p:blipFill>
        <p:spPr>
          <a:xfrm>
            <a:off x="7507699" y="701167"/>
            <a:ext cx="3948017" cy="3948017"/>
          </a:xfrm>
          <a:custGeom>
            <a:avLst/>
            <a:gdLst/>
            <a:ahLst/>
            <a:cxnLst/>
            <a:rect l="l" t="t" r="r" b="b"/>
            <a:pathLst>
              <a:path w="4713922" h="5759450">
                <a:moveTo>
                  <a:pt x="0" y="0"/>
                </a:moveTo>
                <a:lnTo>
                  <a:pt x="4713922" y="0"/>
                </a:lnTo>
                <a:lnTo>
                  <a:pt x="4713922" y="5759450"/>
                </a:lnTo>
                <a:lnTo>
                  <a:pt x="0" y="5759450"/>
                </a:lnTo>
                <a:close/>
              </a:path>
            </a:pathLst>
          </a:custGeom>
        </p:spPr>
      </p:pic>
      <p:graphicFrame>
        <p:nvGraphicFramePr>
          <p:cNvPr id="49" name="Content Placeholder 6">
            <a:extLst>
              <a:ext uri="{FF2B5EF4-FFF2-40B4-BE49-F238E27FC236}">
                <a16:creationId xmlns:a16="http://schemas.microsoft.com/office/drawing/2014/main" id="{D5D30528-D5FF-E219-C455-FD3C706DC29C}"/>
              </a:ext>
            </a:extLst>
          </p:cNvPr>
          <p:cNvGraphicFramePr>
            <a:graphicFrameLocks noGrp="1"/>
          </p:cNvGraphicFramePr>
          <p:nvPr>
            <p:ph idx="1"/>
            <p:extLst>
              <p:ext uri="{D42A27DB-BD31-4B8C-83A1-F6EECF244321}">
                <p14:modId xmlns:p14="http://schemas.microsoft.com/office/powerpoint/2010/main" val="1222584849"/>
              </p:ext>
            </p:extLst>
          </p:nvPr>
        </p:nvGraphicFramePr>
        <p:xfrm>
          <a:off x="550863" y="1655064"/>
          <a:ext cx="5545137" cy="44377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A7F9A7E6-D425-A211-66B4-184B83E166DF}"/>
              </a:ext>
            </a:extLst>
          </p:cNvPr>
          <p:cNvPicPr>
            <a:picLocks noChangeAspect="1"/>
          </p:cNvPicPr>
          <p:nvPr/>
        </p:nvPicPr>
        <p:blipFill>
          <a:blip r:embed="rId9"/>
          <a:stretch>
            <a:fillRect/>
          </a:stretch>
        </p:blipFill>
        <p:spPr>
          <a:xfrm>
            <a:off x="7512366" y="4649184"/>
            <a:ext cx="3943350" cy="1162050"/>
          </a:xfrm>
          <a:prstGeom prst="rect">
            <a:avLst/>
          </a:prstGeom>
        </p:spPr>
      </p:pic>
    </p:spTree>
    <p:extLst>
      <p:ext uri="{BB962C8B-B14F-4D97-AF65-F5344CB8AC3E}">
        <p14:creationId xmlns:p14="http://schemas.microsoft.com/office/powerpoint/2010/main" val="88842673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3" name="Freeform: Shape 17">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4" name="Oval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5" name="Oval 21">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6" name="Group 2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47" name="Freeform: Shape 24">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Freeform: Shape 25">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Oval 26">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Oval 27">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51" name="Rectangle 29">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7421E7-ED81-EA91-1C72-8A159FFBDFC5}"/>
              </a:ext>
            </a:extLst>
          </p:cNvPr>
          <p:cNvSpPr>
            <a:spLocks noGrp="1"/>
          </p:cNvSpPr>
          <p:nvPr>
            <p:ph type="title"/>
          </p:nvPr>
        </p:nvSpPr>
        <p:spPr>
          <a:xfrm>
            <a:off x="550864" y="549275"/>
            <a:ext cx="8275636" cy="984885"/>
          </a:xfrm>
        </p:spPr>
        <p:txBody>
          <a:bodyPr vert="horz" wrap="square" lIns="0" tIns="0" rIns="0" bIns="0" rtlCol="0" anchor="ctr" anchorCtr="0">
            <a:normAutofit fontScale="90000"/>
          </a:bodyPr>
          <a:lstStyle/>
          <a:p>
            <a:pPr>
              <a:lnSpc>
                <a:spcPct val="90000"/>
              </a:lnSpc>
            </a:pPr>
            <a:r>
              <a:rPr lang="en-US" sz="4100" dirty="0"/>
              <a:t>Chief Data Officer in the Modern C-Suite</a:t>
            </a:r>
          </a:p>
        </p:txBody>
      </p:sp>
      <p:sp>
        <p:nvSpPr>
          <p:cNvPr id="52" name="Rectangle 31">
            <a:extLst>
              <a:ext uri="{FF2B5EF4-FFF2-40B4-BE49-F238E27FC236}">
                <a16:creationId xmlns:a16="http://schemas.microsoft.com/office/drawing/2014/main" id="{31ACE9CC-FA52-49A8-A8CB-4C6772C481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83434"/>
            <a:ext cx="12192000" cy="4774566"/>
          </a:xfrm>
          <a:prstGeom prst="rect">
            <a:avLst/>
          </a:prstGeom>
          <a:solidFill>
            <a:schemeClr val="bg2">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33">
            <a:extLst>
              <a:ext uri="{FF2B5EF4-FFF2-40B4-BE49-F238E27FC236}">
                <a16:creationId xmlns:a16="http://schemas.microsoft.com/office/drawing/2014/main" id="{28B56926-F216-4281-9196-1495BD3061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CD88979-C49B-F8D8-C8BE-1A3D63916A9B}"/>
              </a:ext>
            </a:extLst>
          </p:cNvPr>
          <p:cNvSpPr txBox="1"/>
          <p:nvPr/>
        </p:nvSpPr>
        <p:spPr>
          <a:xfrm>
            <a:off x="3723935" y="6351501"/>
            <a:ext cx="6052177" cy="369332"/>
          </a:xfrm>
          <a:prstGeom prst="rect">
            <a:avLst/>
          </a:prstGeom>
          <a:noFill/>
        </p:spPr>
        <p:txBody>
          <a:bodyPr wrap="square" rtlCol="0">
            <a:spAutoFit/>
          </a:bodyPr>
          <a:lstStyle/>
          <a:p>
            <a:r>
              <a:rPr lang="en-IE" dirty="0">
                <a:hlinkClick r:id="rId3"/>
              </a:rPr>
              <a:t>https://www.contractrecruiter.com/list-csuite-roles-titles/</a:t>
            </a:r>
            <a:r>
              <a:rPr lang="en-IE" dirty="0"/>
              <a:t> </a:t>
            </a:r>
          </a:p>
        </p:txBody>
      </p:sp>
      <p:pic>
        <p:nvPicPr>
          <p:cNvPr id="6" name="Picture 5">
            <a:extLst>
              <a:ext uri="{FF2B5EF4-FFF2-40B4-BE49-F238E27FC236}">
                <a16:creationId xmlns:a16="http://schemas.microsoft.com/office/drawing/2014/main" id="{78EE5887-DF89-6568-CA61-41E1DA881146}"/>
              </a:ext>
            </a:extLst>
          </p:cNvPr>
          <p:cNvPicPr>
            <a:picLocks noChangeAspect="1"/>
          </p:cNvPicPr>
          <p:nvPr/>
        </p:nvPicPr>
        <p:blipFill>
          <a:blip r:embed="rId4"/>
          <a:stretch>
            <a:fillRect/>
          </a:stretch>
        </p:blipFill>
        <p:spPr>
          <a:xfrm>
            <a:off x="2518552" y="1500818"/>
            <a:ext cx="7323135" cy="4859185"/>
          </a:xfrm>
          <a:prstGeom prst="rect">
            <a:avLst/>
          </a:prstGeom>
        </p:spPr>
      </p:pic>
    </p:spTree>
    <p:extLst>
      <p:ext uri="{BB962C8B-B14F-4D97-AF65-F5344CB8AC3E}">
        <p14:creationId xmlns:p14="http://schemas.microsoft.com/office/powerpoint/2010/main" val="329671904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746ECF6E-1937-4212-B2E3-E2F43AD7A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2413"/>
            <a:ext cx="670118" cy="1080000"/>
          </a:xfrm>
          <a:custGeom>
            <a:avLst/>
            <a:gdLst>
              <a:gd name="connsiteX0" fmla="*/ 130118 w 670118"/>
              <a:gd name="connsiteY0" fmla="*/ 0 h 1080000"/>
              <a:gd name="connsiteX1" fmla="*/ 670118 w 670118"/>
              <a:gd name="connsiteY1" fmla="*/ 540000 h 1080000"/>
              <a:gd name="connsiteX2" fmla="*/ 130118 w 670118"/>
              <a:gd name="connsiteY2" fmla="*/ 1080000 h 1080000"/>
              <a:gd name="connsiteX3" fmla="*/ 21289 w 670118"/>
              <a:gd name="connsiteY3" fmla="*/ 1069029 h 1080000"/>
              <a:gd name="connsiteX4" fmla="*/ 0 w 670118"/>
              <a:gd name="connsiteY4" fmla="*/ 1062421 h 1080000"/>
              <a:gd name="connsiteX5" fmla="*/ 0 w 670118"/>
              <a:gd name="connsiteY5" fmla="*/ 17579 h 1080000"/>
              <a:gd name="connsiteX6" fmla="*/ 21289 w 670118"/>
              <a:gd name="connsiteY6" fmla="*/ 10971 h 1080000"/>
              <a:gd name="connsiteX7" fmla="*/ 130118 w 670118"/>
              <a:gd name="connsiteY7" fmla="*/ 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0118" h="1080000">
                <a:moveTo>
                  <a:pt x="130118" y="0"/>
                </a:moveTo>
                <a:cubicBezTo>
                  <a:pt x="428352" y="0"/>
                  <a:pt x="670118" y="241766"/>
                  <a:pt x="670118" y="540000"/>
                </a:cubicBezTo>
                <a:cubicBezTo>
                  <a:pt x="670118" y="838234"/>
                  <a:pt x="428352" y="1080000"/>
                  <a:pt x="130118" y="1080000"/>
                </a:cubicBezTo>
                <a:cubicBezTo>
                  <a:pt x="92839" y="1080000"/>
                  <a:pt x="56442" y="1076223"/>
                  <a:pt x="21289" y="1069029"/>
                </a:cubicBezTo>
                <a:lnTo>
                  <a:pt x="0" y="1062421"/>
                </a:lnTo>
                <a:lnTo>
                  <a:pt x="0" y="17579"/>
                </a:lnTo>
                <a:lnTo>
                  <a:pt x="21289" y="10971"/>
                </a:lnTo>
                <a:cubicBezTo>
                  <a:pt x="56442" y="3778"/>
                  <a:pt x="92839" y="0"/>
                  <a:pt x="130118" y="0"/>
                </a:cubicBezTo>
                <a:close/>
              </a:path>
            </a:pathLst>
          </a:cu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a:extLst>
              <a:ext uri="{FF2B5EF4-FFF2-40B4-BE49-F238E27FC236}">
                <a16:creationId xmlns:a16="http://schemas.microsoft.com/office/drawing/2014/main" id="{14FD17C0-CF63-F33E-05AA-74C49B19813E}"/>
              </a:ext>
            </a:extLst>
          </p:cNvPr>
          <p:cNvSpPr>
            <a:spLocks noGrp="1"/>
          </p:cNvSpPr>
          <p:nvPr>
            <p:ph type="title"/>
          </p:nvPr>
        </p:nvSpPr>
        <p:spPr>
          <a:xfrm>
            <a:off x="550864" y="549275"/>
            <a:ext cx="5545136" cy="2193925"/>
          </a:xfrm>
        </p:spPr>
        <p:txBody>
          <a:bodyPr wrap="square" anchor="b">
            <a:noAutofit/>
          </a:bodyPr>
          <a:lstStyle/>
          <a:p>
            <a:pPr>
              <a:lnSpc>
                <a:spcPct val="90000"/>
              </a:lnSpc>
            </a:pPr>
            <a:r>
              <a:rPr lang="en-GB" dirty="0"/>
              <a:t>Problems occurring before the rise of the CDO</a:t>
            </a:r>
            <a:endParaRPr lang="en-IE" dirty="0"/>
          </a:p>
        </p:txBody>
      </p:sp>
      <p:grpSp>
        <p:nvGrpSpPr>
          <p:cNvPr id="44" name="Group 43">
            <a:extLst>
              <a:ext uri="{FF2B5EF4-FFF2-40B4-BE49-F238E27FC236}">
                <a16:creationId xmlns:a16="http://schemas.microsoft.com/office/drawing/2014/main" id="{7119AF2A-3C22-4BC0-A8C5-A077AA201C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47431" y="842413"/>
            <a:ext cx="762805" cy="734873"/>
            <a:chOff x="7950336" y="1300590"/>
            <a:chExt cx="762805" cy="734873"/>
          </a:xfrm>
        </p:grpSpPr>
        <p:sp>
          <p:nvSpPr>
            <p:cNvPr id="45" name="Freeform 5">
              <a:extLst>
                <a:ext uri="{FF2B5EF4-FFF2-40B4-BE49-F238E27FC236}">
                  <a16:creationId xmlns:a16="http://schemas.microsoft.com/office/drawing/2014/main" id="{E2A3E344-FE73-466B-9169-50D95B1DEB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20298" y="1428832"/>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0" scaled="0"/>
              <a:tileRect/>
            </a:gradFill>
            <a:ln>
              <a:noFill/>
            </a:ln>
            <a:effectLst>
              <a:innerShdw blurRad="254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Freeform 6">
              <a:extLst>
                <a:ext uri="{FF2B5EF4-FFF2-40B4-BE49-F238E27FC236}">
                  <a16:creationId xmlns:a16="http://schemas.microsoft.com/office/drawing/2014/main" id="{DEA66A1E-1BD8-4765-A717-BA22028078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066503" y="1339815"/>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60000"/>
                  </a:schemeClr>
                </a:gs>
                <a:gs pos="100000">
                  <a:schemeClr val="accent1">
                    <a:lumMod val="60000"/>
                    <a:lumOff val="40000"/>
                  </a:schemeClr>
                </a:gs>
              </a:gsLst>
              <a:lin ang="180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7" name="Freeform 8">
              <a:extLst>
                <a:ext uri="{FF2B5EF4-FFF2-40B4-BE49-F238E27FC236}">
                  <a16:creationId xmlns:a16="http://schemas.microsoft.com/office/drawing/2014/main" id="{D12B08F5-F02D-4B4E-975E-C41ED7AA9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17173" y="1608753"/>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18000000" scaled="0"/>
              <a:tileRect/>
            </a:gradFill>
            <a:ln>
              <a:noFill/>
            </a:ln>
            <a:effectLst>
              <a:innerShdw blurRad="508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4" name="Picture 3">
            <a:extLst>
              <a:ext uri="{FF2B5EF4-FFF2-40B4-BE49-F238E27FC236}">
                <a16:creationId xmlns:a16="http://schemas.microsoft.com/office/drawing/2014/main" id="{136406AC-A731-C39F-AB47-D369C4D447BC}"/>
              </a:ext>
            </a:extLst>
          </p:cNvPr>
          <p:cNvPicPr>
            <a:picLocks noChangeAspect="1"/>
          </p:cNvPicPr>
          <p:nvPr/>
        </p:nvPicPr>
        <p:blipFill>
          <a:blip r:embed="rId3"/>
          <a:stretch>
            <a:fillRect/>
          </a:stretch>
        </p:blipFill>
        <p:spPr>
          <a:xfrm>
            <a:off x="7016525" y="549275"/>
            <a:ext cx="4165235" cy="2771775"/>
          </a:xfrm>
          <a:custGeom>
            <a:avLst/>
            <a:gdLst/>
            <a:ahLst/>
            <a:cxnLst/>
            <a:rect l="l" t="t" r="r" b="b"/>
            <a:pathLst>
              <a:path w="5083992" h="2880518">
                <a:moveTo>
                  <a:pt x="0" y="0"/>
                </a:moveTo>
                <a:lnTo>
                  <a:pt x="5083992" y="0"/>
                </a:lnTo>
                <a:lnTo>
                  <a:pt x="5083992" y="2880518"/>
                </a:lnTo>
                <a:lnTo>
                  <a:pt x="0" y="2880518"/>
                </a:lnTo>
                <a:close/>
              </a:path>
            </a:pathLst>
          </a:custGeom>
        </p:spPr>
      </p:pic>
      <p:sp>
        <p:nvSpPr>
          <p:cNvPr id="49" name="Freeform: Shape 48">
            <a:extLst>
              <a:ext uri="{FF2B5EF4-FFF2-40B4-BE49-F238E27FC236}">
                <a16:creationId xmlns:a16="http://schemas.microsoft.com/office/drawing/2014/main" id="{57B709FF-BFDC-4D26-9990-BC26F14DE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695687" y="5744830"/>
            <a:ext cx="998223" cy="1262947"/>
          </a:xfrm>
          <a:custGeom>
            <a:avLst/>
            <a:gdLst>
              <a:gd name="connsiteX0" fmla="*/ 458223 w 998223"/>
              <a:gd name="connsiteY0" fmla="*/ 0 h 1262947"/>
              <a:gd name="connsiteX1" fmla="*/ 982597 w 998223"/>
              <a:gd name="connsiteY1" fmla="*/ 931034 h 1262947"/>
              <a:gd name="connsiteX2" fmla="*/ 987252 w 998223"/>
              <a:gd name="connsiteY2" fmla="*/ 938533 h 1262947"/>
              <a:gd name="connsiteX3" fmla="*/ 998223 w 998223"/>
              <a:gd name="connsiteY3" fmla="*/ 992947 h 1262947"/>
              <a:gd name="connsiteX4" fmla="*/ 458223 w 998223"/>
              <a:gd name="connsiteY4" fmla="*/ 1262947 h 1262947"/>
              <a:gd name="connsiteX5" fmla="*/ 448893 w 998223"/>
              <a:gd name="connsiteY5" fmla="*/ 1262476 h 1262947"/>
              <a:gd name="connsiteX6" fmla="*/ 0 w 998223"/>
              <a:gd name="connsiteY6" fmla="*/ 813583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8223" h="1262947">
                <a:moveTo>
                  <a:pt x="458223" y="0"/>
                </a:moveTo>
                <a:lnTo>
                  <a:pt x="982597" y="931034"/>
                </a:lnTo>
                <a:lnTo>
                  <a:pt x="987252" y="938533"/>
                </a:lnTo>
                <a:cubicBezTo>
                  <a:pt x="994446" y="956109"/>
                  <a:pt x="998223" y="974307"/>
                  <a:pt x="998223" y="992947"/>
                </a:cubicBezTo>
                <a:cubicBezTo>
                  <a:pt x="998223" y="1142064"/>
                  <a:pt x="756457" y="1262947"/>
                  <a:pt x="458223" y="1262947"/>
                </a:cubicBezTo>
                <a:lnTo>
                  <a:pt x="448893" y="1262476"/>
                </a:lnTo>
                <a:lnTo>
                  <a:pt x="0" y="813583"/>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27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Shape 50">
            <a:extLst>
              <a:ext uri="{FF2B5EF4-FFF2-40B4-BE49-F238E27FC236}">
                <a16:creationId xmlns:a16="http://schemas.microsoft.com/office/drawing/2014/main" id="{6F427B2B-E8F7-4FF7-AA4D-580128383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5188044" y="6135961"/>
            <a:ext cx="540000" cy="976595"/>
          </a:xfrm>
          <a:custGeom>
            <a:avLst/>
            <a:gdLst>
              <a:gd name="connsiteX0" fmla="*/ 164903 w 540000"/>
              <a:gd name="connsiteY0" fmla="*/ 42436 h 976595"/>
              <a:gd name="connsiteX1" fmla="*/ 270000 w 540000"/>
              <a:gd name="connsiteY1" fmla="*/ 0 h 976595"/>
              <a:gd name="connsiteX2" fmla="*/ 540000 w 540000"/>
              <a:gd name="connsiteY2" fmla="*/ 540000 h 976595"/>
              <a:gd name="connsiteX3" fmla="*/ 539530 w 540000"/>
              <a:gd name="connsiteY3" fmla="*/ 549329 h 976595"/>
              <a:gd name="connsiteX4" fmla="*/ 112264 w 540000"/>
              <a:gd name="connsiteY4" fmla="*/ 976595 h 976595"/>
              <a:gd name="connsiteX5" fmla="*/ 79081 w 540000"/>
              <a:gd name="connsiteY5" fmla="*/ 921838 h 976595"/>
              <a:gd name="connsiteX6" fmla="*/ 0 w 540000"/>
              <a:gd name="connsiteY6" fmla="*/ 540000 h 976595"/>
              <a:gd name="connsiteX7" fmla="*/ 164903 w 540000"/>
              <a:gd name="connsiteY7" fmla="*/ 42436 h 97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000" h="976595">
                <a:moveTo>
                  <a:pt x="164903" y="42436"/>
                </a:moveTo>
                <a:cubicBezTo>
                  <a:pt x="197206" y="15110"/>
                  <a:pt x="232721" y="0"/>
                  <a:pt x="270000" y="0"/>
                </a:cubicBezTo>
                <a:cubicBezTo>
                  <a:pt x="419117" y="0"/>
                  <a:pt x="540000" y="241766"/>
                  <a:pt x="540000" y="540000"/>
                </a:cubicBezTo>
                <a:lnTo>
                  <a:pt x="539530" y="549329"/>
                </a:lnTo>
                <a:lnTo>
                  <a:pt x="112264" y="976595"/>
                </a:lnTo>
                <a:lnTo>
                  <a:pt x="79081" y="921838"/>
                </a:lnTo>
                <a:cubicBezTo>
                  <a:pt x="30221" y="824117"/>
                  <a:pt x="0" y="689117"/>
                  <a:pt x="0" y="540000"/>
                </a:cubicBezTo>
                <a:cubicBezTo>
                  <a:pt x="0" y="316324"/>
                  <a:pt x="67997" y="124412"/>
                  <a:pt x="164903" y="4243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9D56E6A5-54D3-FCD2-4D79-4F92776C69DB}"/>
              </a:ext>
            </a:extLst>
          </p:cNvPr>
          <p:cNvSpPr>
            <a:spLocks noGrp="1"/>
          </p:cNvSpPr>
          <p:nvPr>
            <p:ph idx="1"/>
          </p:nvPr>
        </p:nvSpPr>
        <p:spPr>
          <a:xfrm>
            <a:off x="550864" y="2984895"/>
            <a:ext cx="5437187" cy="2682889"/>
          </a:xfrm>
        </p:spPr>
        <p:txBody>
          <a:bodyPr anchor="t">
            <a:normAutofit lnSpcReduction="10000"/>
          </a:bodyPr>
          <a:lstStyle/>
          <a:p>
            <a:r>
              <a:rPr lang="en-IE" sz="1800" dirty="0">
                <a:latin typeface="Calibri" panose="020F0502020204030204" pitchFamily="34" charset="0"/>
                <a:ea typeface="Calibri" panose="020F0502020204030204" pitchFamily="34" charset="0"/>
                <a:cs typeface="Times New Roman" panose="02020603050405020304" pitchFamily="18" charset="0"/>
              </a:rPr>
              <a:t>L</a:t>
            </a:r>
            <a:r>
              <a:rPr lang="en-IE" sz="1800" dirty="0">
                <a:effectLst/>
                <a:latin typeface="Calibri" panose="020F0502020204030204" pitchFamily="34" charset="0"/>
                <a:ea typeface="Calibri" panose="020F0502020204030204" pitchFamily="34" charset="0"/>
                <a:cs typeface="Times New Roman" panose="02020603050405020304" pitchFamily="18" charset="0"/>
              </a:rPr>
              <a:t>ack of insights or value from data </a:t>
            </a:r>
          </a:p>
          <a:p>
            <a:r>
              <a:rPr lang="en-IE" sz="1800" dirty="0">
                <a:latin typeface="Calibri" panose="020F0502020204030204" pitchFamily="34" charset="0"/>
                <a:ea typeface="Calibri" panose="020F0502020204030204" pitchFamily="34" charset="0"/>
                <a:cs typeface="Times New Roman" panose="02020603050405020304" pitchFamily="18" charset="0"/>
              </a:rPr>
              <a:t>Lack of responsibility for the data</a:t>
            </a:r>
          </a:p>
          <a:p>
            <a:r>
              <a:rPr lang="en-IE" sz="1800" dirty="0">
                <a:latin typeface="Calibri" panose="020F0502020204030204" pitchFamily="34" charset="0"/>
                <a:ea typeface="Calibri" panose="020F0502020204030204" pitchFamily="34" charset="0"/>
                <a:cs typeface="Times New Roman" panose="02020603050405020304" pitchFamily="18" charset="0"/>
              </a:rPr>
              <a:t>Data seen as an inconvenient means to an end</a:t>
            </a:r>
          </a:p>
          <a:p>
            <a:r>
              <a:rPr lang="en-IE" sz="1800" dirty="0">
                <a:latin typeface="Calibri" panose="020F0502020204030204" pitchFamily="34" charset="0"/>
                <a:ea typeface="Calibri" panose="020F0502020204030204" pitchFamily="34" charset="0"/>
                <a:cs typeface="Times New Roman" panose="02020603050405020304" pitchFamily="18" charset="0"/>
              </a:rPr>
              <a:t>Data issues getting in the way of productivity</a:t>
            </a:r>
          </a:p>
          <a:p>
            <a:r>
              <a:rPr lang="en-IE" sz="1800" dirty="0">
                <a:latin typeface="Calibri" panose="020F0502020204030204" pitchFamily="34" charset="0"/>
                <a:ea typeface="Calibri" panose="020F0502020204030204" pitchFamily="34" charset="0"/>
                <a:cs typeface="Times New Roman" panose="02020603050405020304" pitchFamily="18" charset="0"/>
              </a:rPr>
              <a:t>IT being expected to manage, fix, remediate, and make data consumable</a:t>
            </a:r>
            <a:endParaRPr lang="en-IE" sz="1800" dirty="0"/>
          </a:p>
        </p:txBody>
      </p:sp>
      <p:pic>
        <p:nvPicPr>
          <p:cNvPr id="6" name="Picture 5">
            <a:extLst>
              <a:ext uri="{FF2B5EF4-FFF2-40B4-BE49-F238E27FC236}">
                <a16:creationId xmlns:a16="http://schemas.microsoft.com/office/drawing/2014/main" id="{5E601292-B658-177E-B958-129009331347}"/>
              </a:ext>
            </a:extLst>
          </p:cNvPr>
          <p:cNvPicPr>
            <a:picLocks noChangeAspect="1"/>
          </p:cNvPicPr>
          <p:nvPr/>
        </p:nvPicPr>
        <p:blipFill>
          <a:blip r:embed="rId4"/>
          <a:stretch>
            <a:fillRect/>
          </a:stretch>
        </p:blipFill>
        <p:spPr>
          <a:xfrm>
            <a:off x="7021718" y="3536950"/>
            <a:ext cx="4154849" cy="2773362"/>
          </a:xfrm>
          <a:custGeom>
            <a:avLst/>
            <a:gdLst/>
            <a:ahLst/>
            <a:cxnLst/>
            <a:rect l="l" t="t" r="r" b="b"/>
            <a:pathLst>
              <a:path w="5083992" h="2880518">
                <a:moveTo>
                  <a:pt x="0" y="0"/>
                </a:moveTo>
                <a:lnTo>
                  <a:pt x="5083992" y="0"/>
                </a:lnTo>
                <a:lnTo>
                  <a:pt x="5083992" y="2880518"/>
                </a:lnTo>
                <a:lnTo>
                  <a:pt x="0" y="2880518"/>
                </a:lnTo>
                <a:close/>
              </a:path>
            </a:pathLst>
          </a:custGeom>
        </p:spPr>
      </p:pic>
    </p:spTree>
    <p:extLst>
      <p:ext uri="{BB962C8B-B14F-4D97-AF65-F5344CB8AC3E}">
        <p14:creationId xmlns:p14="http://schemas.microsoft.com/office/powerpoint/2010/main" val="297292243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The impact of poor data quality: Risks, challenges, and solutions - Data  Ladder">
            <a:extLst>
              <a:ext uri="{FF2B5EF4-FFF2-40B4-BE49-F238E27FC236}">
                <a16:creationId xmlns:a16="http://schemas.microsoft.com/office/drawing/2014/main" id="{F0B36CBD-4BCF-5F28-DA70-424720AA2E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675"/>
          <a:stretch/>
        </p:blipFill>
        <p:spPr bwMode="auto">
          <a:xfrm>
            <a:off x="702803" y="862013"/>
            <a:ext cx="10786393" cy="54839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01DD198-35A9-E941-B9AF-DCE17EDF9DB8}"/>
              </a:ext>
            </a:extLst>
          </p:cNvPr>
          <p:cNvSpPr txBox="1"/>
          <p:nvPr/>
        </p:nvSpPr>
        <p:spPr>
          <a:xfrm>
            <a:off x="3374136" y="6417302"/>
            <a:ext cx="10021824" cy="369332"/>
          </a:xfrm>
          <a:prstGeom prst="rect">
            <a:avLst/>
          </a:prstGeom>
          <a:noFill/>
        </p:spPr>
        <p:txBody>
          <a:bodyPr wrap="square" rtlCol="0">
            <a:spAutoFit/>
          </a:bodyPr>
          <a:lstStyle/>
          <a:p>
            <a:r>
              <a:rPr lang="en-IE" dirty="0">
                <a:hlinkClick r:id="rId4"/>
              </a:rPr>
              <a:t>https://dataladder.com/the-impact-of-poor-data-quality-risks-challenges-and-solutions/</a:t>
            </a:r>
            <a:r>
              <a:rPr lang="en-IE" dirty="0"/>
              <a:t> </a:t>
            </a:r>
          </a:p>
        </p:txBody>
      </p:sp>
    </p:spTree>
    <p:extLst>
      <p:ext uri="{BB962C8B-B14F-4D97-AF65-F5344CB8AC3E}">
        <p14:creationId xmlns:p14="http://schemas.microsoft.com/office/powerpoint/2010/main" val="41153916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F4BC7-C5E5-4873-7200-1C31CAA9E682}"/>
              </a:ext>
            </a:extLst>
          </p:cNvPr>
          <p:cNvSpPr>
            <a:spLocks noGrp="1"/>
          </p:cNvSpPr>
          <p:nvPr>
            <p:ph type="title"/>
          </p:nvPr>
        </p:nvSpPr>
        <p:spPr/>
        <p:txBody>
          <a:bodyPr/>
          <a:lstStyle/>
          <a:p>
            <a:r>
              <a:rPr lang="en-IE"/>
              <a:t>The role of a CDO</a:t>
            </a:r>
            <a:endParaRPr lang="en-IE" dirty="0"/>
          </a:p>
        </p:txBody>
      </p:sp>
      <p:graphicFrame>
        <p:nvGraphicFramePr>
          <p:cNvPr id="35" name="Content Placeholder 2">
            <a:extLst>
              <a:ext uri="{FF2B5EF4-FFF2-40B4-BE49-F238E27FC236}">
                <a16:creationId xmlns:a16="http://schemas.microsoft.com/office/drawing/2014/main" id="{AC857045-098A-5926-ECA3-E1A62B4CDE4E}"/>
              </a:ext>
            </a:extLst>
          </p:cNvPr>
          <p:cNvGraphicFramePr>
            <a:graphicFrameLocks noGrp="1"/>
          </p:cNvGraphicFramePr>
          <p:nvPr>
            <p:ph idx="1"/>
            <p:extLst>
              <p:ext uri="{D42A27DB-BD31-4B8C-83A1-F6EECF244321}">
                <p14:modId xmlns:p14="http://schemas.microsoft.com/office/powerpoint/2010/main" val="1323611217"/>
              </p:ext>
            </p:extLst>
          </p:nvPr>
        </p:nvGraphicFramePr>
        <p:xfrm>
          <a:off x="550863" y="2066545"/>
          <a:ext cx="11090274" cy="40262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353321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D87640-C4ED-7CF4-3DEE-5AF034DC459A}"/>
              </a:ext>
            </a:extLst>
          </p:cNvPr>
          <p:cNvSpPr>
            <a:spLocks noGrp="1"/>
          </p:cNvSpPr>
          <p:nvPr>
            <p:ph type="title"/>
          </p:nvPr>
        </p:nvSpPr>
        <p:spPr>
          <a:xfrm>
            <a:off x="6201412" y="549275"/>
            <a:ext cx="5437185" cy="1997855"/>
          </a:xfrm>
        </p:spPr>
        <p:txBody>
          <a:bodyPr wrap="square" anchor="b">
            <a:normAutofit/>
          </a:bodyPr>
          <a:lstStyle/>
          <a:p>
            <a:r>
              <a:rPr lang="en-IE" dirty="0"/>
              <a:t>Benefits of having a CDO</a:t>
            </a:r>
          </a:p>
        </p:txBody>
      </p:sp>
      <p:pic>
        <p:nvPicPr>
          <p:cNvPr id="2050" name="Picture 2" descr="What makes a successful Chief Data Officer and how to measure it?">
            <a:extLst>
              <a:ext uri="{FF2B5EF4-FFF2-40B4-BE49-F238E27FC236}">
                <a16:creationId xmlns:a16="http://schemas.microsoft.com/office/drawing/2014/main" id="{1CBC50F4-FEDC-5AFC-E1EF-A7C6AC27241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00900" y="1513112"/>
            <a:ext cx="5340875" cy="4019008"/>
          </a:xfrm>
          <a:custGeom>
            <a:avLst/>
            <a:gdLst/>
            <a:ahLst/>
            <a:cxnLst/>
            <a:rect l="l" t="t" r="r" b="b"/>
            <a:pathLst>
              <a:path w="5092062" h="5759450">
                <a:moveTo>
                  <a:pt x="0" y="0"/>
                </a:moveTo>
                <a:lnTo>
                  <a:pt x="5092062" y="0"/>
                </a:lnTo>
                <a:lnTo>
                  <a:pt x="5092062" y="5759450"/>
                </a:lnTo>
                <a:lnTo>
                  <a:pt x="0" y="5759450"/>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CD9F112-EB3E-F452-EDF3-29EF1D2AB64E}"/>
              </a:ext>
            </a:extLst>
          </p:cNvPr>
          <p:cNvSpPr>
            <a:spLocks noGrp="1"/>
          </p:cNvSpPr>
          <p:nvPr>
            <p:ph idx="1"/>
          </p:nvPr>
        </p:nvSpPr>
        <p:spPr>
          <a:xfrm>
            <a:off x="6201410" y="2677306"/>
            <a:ext cx="5437187" cy="3415519"/>
          </a:xfrm>
        </p:spPr>
        <p:txBody>
          <a:bodyPr anchor="t">
            <a:normAutofit/>
          </a:bodyPr>
          <a:lstStyle/>
          <a:p>
            <a:r>
              <a:rPr lang="en-GB" dirty="0"/>
              <a:t>Increase visibility and awareness in the C-suite</a:t>
            </a:r>
          </a:p>
          <a:p>
            <a:r>
              <a:rPr lang="en-GB" dirty="0"/>
              <a:t>Focus on cultural change</a:t>
            </a:r>
          </a:p>
          <a:p>
            <a:r>
              <a:rPr lang="en-GB" dirty="0"/>
              <a:t>Focus on process change</a:t>
            </a:r>
          </a:p>
          <a:p>
            <a:r>
              <a:rPr lang="en-GB" dirty="0"/>
              <a:t>Focus on data quality issues</a:t>
            </a:r>
          </a:p>
          <a:p>
            <a:r>
              <a:rPr lang="en-GB" dirty="0"/>
              <a:t>Focus on governance</a:t>
            </a:r>
            <a:endParaRPr lang="en-IE" dirty="0"/>
          </a:p>
        </p:txBody>
      </p:sp>
      <p:sp>
        <p:nvSpPr>
          <p:cNvPr id="4" name="TextBox 3">
            <a:extLst>
              <a:ext uri="{FF2B5EF4-FFF2-40B4-BE49-F238E27FC236}">
                <a16:creationId xmlns:a16="http://schemas.microsoft.com/office/drawing/2014/main" id="{0DE290F2-6B7C-3C9A-8CF4-A2CE9FFBDEF5}"/>
              </a:ext>
            </a:extLst>
          </p:cNvPr>
          <p:cNvSpPr txBox="1"/>
          <p:nvPr/>
        </p:nvSpPr>
        <p:spPr>
          <a:xfrm>
            <a:off x="553403" y="5617845"/>
            <a:ext cx="5188372" cy="369332"/>
          </a:xfrm>
          <a:prstGeom prst="rect">
            <a:avLst/>
          </a:prstGeom>
          <a:noFill/>
        </p:spPr>
        <p:txBody>
          <a:bodyPr wrap="square" rtlCol="0">
            <a:spAutoFit/>
          </a:bodyPr>
          <a:lstStyle/>
          <a:p>
            <a:r>
              <a:rPr lang="en-IE" dirty="0">
                <a:hlinkClick r:id="rId4"/>
              </a:rPr>
              <a:t>https://www.raconteur.net/c-suite/successful-cdo/</a:t>
            </a:r>
            <a:r>
              <a:rPr lang="en-IE" dirty="0"/>
              <a:t> </a:t>
            </a:r>
          </a:p>
        </p:txBody>
      </p:sp>
    </p:spTree>
    <p:extLst>
      <p:ext uri="{BB962C8B-B14F-4D97-AF65-F5344CB8AC3E}">
        <p14:creationId xmlns:p14="http://schemas.microsoft.com/office/powerpoint/2010/main" val="213674485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E6FE24-9FFE-0AA2-3F36-0C18ADC8C187}"/>
              </a:ext>
            </a:extLst>
          </p:cNvPr>
          <p:cNvSpPr>
            <a:spLocks noGrp="1"/>
          </p:cNvSpPr>
          <p:nvPr>
            <p:ph type="title"/>
          </p:nvPr>
        </p:nvSpPr>
        <p:spPr>
          <a:xfrm>
            <a:off x="550864" y="549275"/>
            <a:ext cx="3565524" cy="1997855"/>
          </a:xfrm>
        </p:spPr>
        <p:txBody>
          <a:bodyPr wrap="square" anchor="b">
            <a:normAutofit/>
          </a:bodyPr>
          <a:lstStyle/>
          <a:p>
            <a:pPr>
              <a:lnSpc>
                <a:spcPct val="90000"/>
              </a:lnSpc>
            </a:pPr>
            <a:r>
              <a:rPr lang="en-IE" dirty="0"/>
              <a:t>Increasing popularity in the Role</a:t>
            </a:r>
            <a:endParaRPr lang="en-IE"/>
          </a:p>
        </p:txBody>
      </p:sp>
      <p:grpSp>
        <p:nvGrpSpPr>
          <p:cNvPr id="13" name="Group 12">
            <a:extLst>
              <a:ext uri="{FF2B5EF4-FFF2-40B4-BE49-F238E27FC236}">
                <a16:creationId xmlns:a16="http://schemas.microsoft.com/office/drawing/2014/main" id="{9F2D4ED5-DC78-4C88-97AA-483206C53E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70793" y="0"/>
            <a:ext cx="1468514" cy="1521012"/>
            <a:chOff x="5236793" y="2432482"/>
            <a:chExt cx="1468514" cy="1521012"/>
          </a:xfrm>
        </p:grpSpPr>
        <p:sp>
          <p:nvSpPr>
            <p:cNvPr id="14" name="Freeform 5">
              <a:extLst>
                <a:ext uri="{FF2B5EF4-FFF2-40B4-BE49-F238E27FC236}">
                  <a16:creationId xmlns:a16="http://schemas.microsoft.com/office/drawing/2014/main" id="{0DE0B65A-4839-40B2-BA92-1464FEADBA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463135" y="2432482"/>
              <a:ext cx="1242172" cy="729202"/>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Freeform 6">
              <a:extLst>
                <a:ext uri="{FF2B5EF4-FFF2-40B4-BE49-F238E27FC236}">
                  <a16:creationId xmlns:a16="http://schemas.microsoft.com/office/drawing/2014/main" id="{842A0A68-39DD-4DA7-BAD5-63B9C13987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236793" y="2566400"/>
              <a:ext cx="611884" cy="1076550"/>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4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8">
              <a:extLst>
                <a:ext uri="{FF2B5EF4-FFF2-40B4-BE49-F238E27FC236}">
                  <a16:creationId xmlns:a16="http://schemas.microsoft.com/office/drawing/2014/main" id="{21A69E50-7E10-45C3-B4F2-19DBA77484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765469" y="2876944"/>
              <a:ext cx="630288" cy="1076550"/>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40000"/>
                    <a:lumOff val="60000"/>
                    <a:alpha val="60000"/>
                  </a:schemeClr>
                </a:gs>
              </a:gsLst>
              <a:lin ang="18000000" scaled="0"/>
              <a:tileRect/>
            </a:gradFill>
            <a:ln>
              <a:noFill/>
            </a:ln>
            <a:effectLst>
              <a:innerShdw blurRad="508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8" name="Oval 17">
            <a:extLst>
              <a:ext uri="{FF2B5EF4-FFF2-40B4-BE49-F238E27FC236}">
                <a16:creationId xmlns:a16="http://schemas.microsoft.com/office/drawing/2014/main" id="{D166A8AB-8924-421C-BCED-B54DBC405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7897" y="5497189"/>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Content Placeholder 7">
            <a:extLst>
              <a:ext uri="{FF2B5EF4-FFF2-40B4-BE49-F238E27FC236}">
                <a16:creationId xmlns:a16="http://schemas.microsoft.com/office/drawing/2014/main" id="{55086C69-217E-200C-E7B8-ACC4B3D6F769}"/>
              </a:ext>
            </a:extLst>
          </p:cNvPr>
          <p:cNvSpPr>
            <a:spLocks noGrp="1"/>
          </p:cNvSpPr>
          <p:nvPr>
            <p:ph idx="1"/>
          </p:nvPr>
        </p:nvSpPr>
        <p:spPr>
          <a:xfrm>
            <a:off x="550863" y="2677306"/>
            <a:ext cx="3565525" cy="3415519"/>
          </a:xfrm>
        </p:spPr>
        <p:txBody>
          <a:bodyPr anchor="t">
            <a:normAutofit/>
          </a:bodyPr>
          <a:lstStyle/>
          <a:p>
            <a:r>
              <a:rPr lang="en-IE" sz="1800" dirty="0">
                <a:effectLst/>
                <a:latin typeface="Calibri" panose="020F0502020204030204" pitchFamily="34" charset="0"/>
                <a:ea typeface="Calibri" panose="020F0502020204030204" pitchFamily="34" charset="0"/>
                <a:cs typeface="Times New Roman" panose="02020603050405020304" pitchFamily="18" charset="0"/>
              </a:rPr>
              <a:t>First coined in 2001 when Joe </a:t>
            </a:r>
            <a:r>
              <a:rPr lang="en-IE" sz="1800" dirty="0" err="1">
                <a:effectLst/>
                <a:latin typeface="Calibri" panose="020F0502020204030204" pitchFamily="34" charset="0"/>
                <a:ea typeface="Calibri" panose="020F0502020204030204" pitchFamily="34" charset="0"/>
                <a:cs typeface="Times New Roman" panose="02020603050405020304" pitchFamily="18" charset="0"/>
              </a:rPr>
              <a:t>Bugajski</a:t>
            </a:r>
            <a:r>
              <a:rPr lang="en-IE" sz="1800" dirty="0">
                <a:effectLst/>
                <a:latin typeface="Calibri" panose="020F0502020204030204" pitchFamily="34" charset="0"/>
                <a:ea typeface="Calibri" panose="020F0502020204030204" pitchFamily="34" charset="0"/>
                <a:cs typeface="Times New Roman" panose="02020603050405020304" pitchFamily="18" charset="0"/>
              </a:rPr>
              <a:t> was appointed VP and Chief Data Officer at Visa International. </a:t>
            </a:r>
          </a:p>
          <a:p>
            <a:r>
              <a:rPr lang="en-IE" sz="1800" dirty="0">
                <a:effectLst/>
                <a:latin typeface="Calibri" panose="020F0502020204030204" pitchFamily="34" charset="0"/>
                <a:ea typeface="Calibri" panose="020F0502020204030204" pitchFamily="34" charset="0"/>
                <a:cs typeface="Times New Roman" panose="02020603050405020304" pitchFamily="18" charset="0"/>
              </a:rPr>
              <a:t>Only two others held the title through 2005. Gartner Group estimated in November of 2016 that 2000 people now hold the title.</a:t>
            </a:r>
          </a:p>
          <a:p>
            <a:endParaRPr lang="en-US" sz="1600" dirty="0"/>
          </a:p>
        </p:txBody>
      </p:sp>
      <p:pic>
        <p:nvPicPr>
          <p:cNvPr id="4" name="Content Placeholder 3" descr="Chart&#10;&#10;Description automatically generated">
            <a:extLst>
              <a:ext uri="{FF2B5EF4-FFF2-40B4-BE49-F238E27FC236}">
                <a16:creationId xmlns:a16="http://schemas.microsoft.com/office/drawing/2014/main" id="{00F43828-92DF-02BF-8F78-B728702A3A56}"/>
              </a:ext>
            </a:extLst>
          </p:cNvPr>
          <p:cNvPicPr>
            <a:picLocks noChangeAspect="1"/>
          </p:cNvPicPr>
          <p:nvPr/>
        </p:nvPicPr>
        <p:blipFill>
          <a:blip r:embed="rId3"/>
          <a:stretch>
            <a:fillRect/>
          </a:stretch>
        </p:blipFill>
        <p:spPr>
          <a:xfrm>
            <a:off x="4708107" y="549275"/>
            <a:ext cx="6775823" cy="5759451"/>
          </a:xfrm>
          <a:custGeom>
            <a:avLst/>
            <a:gdLst/>
            <a:ahLst/>
            <a:cxnLst/>
            <a:rect l="l" t="t" r="r" b="b"/>
            <a:pathLst>
              <a:path w="7090237" h="5759451">
                <a:moveTo>
                  <a:pt x="0" y="0"/>
                </a:moveTo>
                <a:lnTo>
                  <a:pt x="7090237" y="0"/>
                </a:lnTo>
                <a:lnTo>
                  <a:pt x="7090237" y="5759451"/>
                </a:lnTo>
                <a:lnTo>
                  <a:pt x="0" y="5759451"/>
                </a:lnTo>
                <a:close/>
              </a:path>
            </a:pathLst>
          </a:custGeom>
        </p:spPr>
      </p:pic>
      <p:sp>
        <p:nvSpPr>
          <p:cNvPr id="5" name="TextBox 4">
            <a:extLst>
              <a:ext uri="{FF2B5EF4-FFF2-40B4-BE49-F238E27FC236}">
                <a16:creationId xmlns:a16="http://schemas.microsoft.com/office/drawing/2014/main" id="{CA16AD10-53BB-8375-3C78-F3C23F49EA69}"/>
              </a:ext>
            </a:extLst>
          </p:cNvPr>
          <p:cNvSpPr txBox="1"/>
          <p:nvPr/>
        </p:nvSpPr>
        <p:spPr>
          <a:xfrm>
            <a:off x="4573524" y="6326960"/>
            <a:ext cx="9307707" cy="344069"/>
          </a:xfrm>
          <a:prstGeom prst="rect">
            <a:avLst/>
          </a:prstGeom>
          <a:noFill/>
        </p:spPr>
        <p:txBody>
          <a:bodyPr wrap="square" rtlCol="0">
            <a:spAutoFit/>
          </a:bodyPr>
          <a:lstStyle/>
          <a:p>
            <a:pPr>
              <a:lnSpc>
                <a:spcPct val="107000"/>
              </a:lnSpc>
              <a:spcAft>
                <a:spcPts val="800"/>
              </a:spcAft>
            </a:pPr>
            <a:r>
              <a:rPr lang="en-IE" sz="1600" dirty="0">
                <a:effectLst/>
                <a:latin typeface="Calibri" panose="020F0502020204030204" pitchFamily="34" charset="0"/>
                <a:ea typeface="Calibri" panose="020F0502020204030204" pitchFamily="34" charset="0"/>
                <a:cs typeface="Times New Roman" panose="02020603050405020304" pitchFamily="18" charset="0"/>
                <a:hlinkClick r:id="rId4"/>
              </a:rPr>
              <a:t>https://info.earley.com/hubfs/Slide-Decks/EIS_ERT-Evolving-Role_CDO-2017-02.pdf</a:t>
            </a:r>
            <a:r>
              <a:rPr lang="en-IE" sz="1600" dirty="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45504067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65421-9A12-DA62-D993-A07DB85DF916}"/>
              </a:ext>
            </a:extLst>
          </p:cNvPr>
          <p:cNvSpPr>
            <a:spLocks noGrp="1"/>
          </p:cNvSpPr>
          <p:nvPr>
            <p:ph type="title"/>
          </p:nvPr>
        </p:nvSpPr>
        <p:spPr>
          <a:xfrm>
            <a:off x="550862" y="549275"/>
            <a:ext cx="8580438" cy="1562959"/>
          </a:xfrm>
        </p:spPr>
        <p:txBody>
          <a:bodyPr wrap="square" anchor="t">
            <a:normAutofit/>
          </a:bodyPr>
          <a:lstStyle/>
          <a:p>
            <a:r>
              <a:rPr lang="en-IE" dirty="0"/>
              <a:t>Google Trend ‘Chief Data Officer’ Interest Over Time</a:t>
            </a:r>
          </a:p>
        </p:txBody>
      </p:sp>
      <p:grpSp>
        <p:nvGrpSpPr>
          <p:cNvPr id="12" name="Group 11">
            <a:extLst>
              <a:ext uri="{FF2B5EF4-FFF2-40B4-BE49-F238E27FC236}">
                <a16:creationId xmlns:a16="http://schemas.microsoft.com/office/drawing/2014/main" id="{F4BF4F49-03E6-41CC-AF55-AD65DEBF06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07237" y="1292637"/>
            <a:ext cx="667800" cy="631474"/>
            <a:chOff x="8069541" y="1262702"/>
            <a:chExt cx="667800" cy="631474"/>
          </a:xfrm>
        </p:grpSpPr>
        <p:sp>
          <p:nvSpPr>
            <p:cNvPr id="13" name="Freeform: Shape 12">
              <a:extLst>
                <a:ext uri="{FF2B5EF4-FFF2-40B4-BE49-F238E27FC236}">
                  <a16:creationId xmlns:a16="http://schemas.microsoft.com/office/drawing/2014/main" id="{DC1EDB74-7A6D-4D1E-B5BB-49E885D8D9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a:off x="8069541" y="1262702"/>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127000" dist="50800" dir="42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Oval 13">
              <a:extLst>
                <a:ext uri="{FF2B5EF4-FFF2-40B4-BE49-F238E27FC236}">
                  <a16:creationId xmlns:a16="http://schemas.microsoft.com/office/drawing/2014/main" id="{54C11E97-305F-4D2F-B5FE-DE0ECD6BED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8332341" y="1436239"/>
              <a:ext cx="270000" cy="540000"/>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6" name="Group 15">
            <a:extLst>
              <a:ext uri="{FF2B5EF4-FFF2-40B4-BE49-F238E27FC236}">
                <a16:creationId xmlns:a16="http://schemas.microsoft.com/office/drawing/2014/main" id="{DA51DAFE-3CF2-44EC-B173-C51A298666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0862" y="2227091"/>
            <a:ext cx="1343549" cy="1980000"/>
            <a:chOff x="10157513" y="3767025"/>
            <a:chExt cx="1343549" cy="1980000"/>
          </a:xfrm>
        </p:grpSpPr>
        <p:sp>
          <p:nvSpPr>
            <p:cNvPr id="17" name="Freeform: Shape 16">
              <a:extLst>
                <a:ext uri="{FF2B5EF4-FFF2-40B4-BE49-F238E27FC236}">
                  <a16:creationId xmlns:a16="http://schemas.microsoft.com/office/drawing/2014/main" id="{3063301B-41B6-4FE1-B94D-CF323DEE8D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9700806" y="4356548"/>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20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3EC698B9-63DB-4BC1-9F0D-4E46583B703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9751989" y="4268631"/>
              <a:ext cx="1853969" cy="1042921"/>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Oval 18">
              <a:extLst>
                <a:ext uri="{FF2B5EF4-FFF2-40B4-BE49-F238E27FC236}">
                  <a16:creationId xmlns:a16="http://schemas.microsoft.com/office/drawing/2014/main" id="{E0CEC20B-5710-4F96-B241-1656BCFA58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00000">
              <a:off x="11393964" y="4748050"/>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0D00330D-9E5D-4427-87AC-50CF270186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00000">
              <a:off x="10412937" y="3767025"/>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5" name="Picture 4">
            <a:extLst>
              <a:ext uri="{FF2B5EF4-FFF2-40B4-BE49-F238E27FC236}">
                <a16:creationId xmlns:a16="http://schemas.microsoft.com/office/drawing/2014/main" id="{231E24C2-F1E1-BD2D-C041-C21BF6E19242}"/>
              </a:ext>
            </a:extLst>
          </p:cNvPr>
          <p:cNvPicPr>
            <a:picLocks noChangeAspect="1"/>
          </p:cNvPicPr>
          <p:nvPr/>
        </p:nvPicPr>
        <p:blipFill>
          <a:blip r:embed="rId3"/>
          <a:stretch>
            <a:fillRect/>
          </a:stretch>
        </p:blipFill>
        <p:spPr>
          <a:xfrm>
            <a:off x="732444" y="2367834"/>
            <a:ext cx="10727112" cy="3647216"/>
          </a:xfrm>
          <a:custGeom>
            <a:avLst/>
            <a:gdLst/>
            <a:ahLst/>
            <a:cxnLst/>
            <a:rect l="l" t="t" r="r" b="b"/>
            <a:pathLst>
              <a:path w="12192000" h="3647216">
                <a:moveTo>
                  <a:pt x="0" y="0"/>
                </a:moveTo>
                <a:lnTo>
                  <a:pt x="12192000" y="0"/>
                </a:lnTo>
                <a:lnTo>
                  <a:pt x="12192000" y="3647216"/>
                </a:lnTo>
                <a:lnTo>
                  <a:pt x="0" y="3647216"/>
                </a:lnTo>
                <a:close/>
              </a:path>
            </a:pathLst>
          </a:custGeom>
        </p:spPr>
      </p:pic>
      <p:sp>
        <p:nvSpPr>
          <p:cNvPr id="6" name="TextBox 5">
            <a:extLst>
              <a:ext uri="{FF2B5EF4-FFF2-40B4-BE49-F238E27FC236}">
                <a16:creationId xmlns:a16="http://schemas.microsoft.com/office/drawing/2014/main" id="{7F25DEF2-588E-2831-CBB0-493D481E84CD}"/>
              </a:ext>
            </a:extLst>
          </p:cNvPr>
          <p:cNvSpPr txBox="1"/>
          <p:nvPr/>
        </p:nvSpPr>
        <p:spPr>
          <a:xfrm>
            <a:off x="2603500" y="6172484"/>
            <a:ext cx="7941656" cy="369332"/>
          </a:xfrm>
          <a:prstGeom prst="rect">
            <a:avLst/>
          </a:prstGeom>
          <a:noFill/>
        </p:spPr>
        <p:txBody>
          <a:bodyPr wrap="square" rtlCol="0">
            <a:spAutoFit/>
          </a:bodyPr>
          <a:lstStyle/>
          <a:p>
            <a:r>
              <a:rPr lang="en-IE" dirty="0">
                <a:hlinkClick r:id="rId4"/>
              </a:rPr>
              <a:t>https://trends.google.com/trends/explore?date=all&amp;q=%2Fm%2F07k3s_</a:t>
            </a:r>
            <a:r>
              <a:rPr lang="en-IE" dirty="0"/>
              <a:t> </a:t>
            </a:r>
          </a:p>
        </p:txBody>
      </p:sp>
    </p:spTree>
    <p:extLst>
      <p:ext uri="{BB962C8B-B14F-4D97-AF65-F5344CB8AC3E}">
        <p14:creationId xmlns:p14="http://schemas.microsoft.com/office/powerpoint/2010/main" val="176064376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107" name="Rectangle 4106">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117C32-9A70-B8D1-C815-F2EE8E3F354D}"/>
              </a:ext>
            </a:extLst>
          </p:cNvPr>
          <p:cNvSpPr>
            <a:spLocks noGrp="1"/>
          </p:cNvSpPr>
          <p:nvPr>
            <p:ph type="title"/>
          </p:nvPr>
        </p:nvSpPr>
        <p:spPr>
          <a:xfrm>
            <a:off x="406272" y="127937"/>
            <a:ext cx="8001128" cy="1611032"/>
          </a:xfrm>
        </p:spPr>
        <p:txBody>
          <a:bodyPr vert="horz" wrap="square" lIns="0" tIns="0" rIns="0" bIns="0" rtlCol="0" anchor="b" anchorCtr="0">
            <a:normAutofit/>
          </a:bodyPr>
          <a:lstStyle/>
          <a:p>
            <a:pPr>
              <a:lnSpc>
                <a:spcPct val="90000"/>
              </a:lnSpc>
            </a:pPr>
            <a:r>
              <a:rPr lang="en-US" sz="4400" kern="1200" dirty="0">
                <a:solidFill>
                  <a:schemeClr val="tx1"/>
                </a:solidFill>
                <a:latin typeface="+mj-lt"/>
                <a:ea typeface="+mj-ea"/>
                <a:cs typeface="+mj-cs"/>
              </a:rPr>
              <a:t>CDO from organization to organization</a:t>
            </a:r>
          </a:p>
        </p:txBody>
      </p:sp>
      <p:sp>
        <p:nvSpPr>
          <p:cNvPr id="4" name="TextBox 3">
            <a:extLst>
              <a:ext uri="{FF2B5EF4-FFF2-40B4-BE49-F238E27FC236}">
                <a16:creationId xmlns:a16="http://schemas.microsoft.com/office/drawing/2014/main" id="{A1A74D69-5007-A57C-29CD-86426A0665F7}"/>
              </a:ext>
            </a:extLst>
          </p:cNvPr>
          <p:cNvSpPr txBox="1"/>
          <p:nvPr/>
        </p:nvSpPr>
        <p:spPr>
          <a:xfrm>
            <a:off x="2264029" y="6021991"/>
            <a:ext cx="8757729" cy="418004"/>
          </a:xfrm>
          <a:prstGeom prst="rect">
            <a:avLst/>
          </a:prstGeom>
        </p:spPr>
        <p:txBody>
          <a:bodyPr vert="horz" wrap="square" lIns="0" tIns="0" rIns="0" bIns="0" rtlCol="0" anchor="t">
            <a:normAutofit/>
          </a:bodyPr>
          <a:lstStyle/>
          <a:p>
            <a:pPr>
              <a:lnSpc>
                <a:spcPct val="110000"/>
              </a:lnSpc>
              <a:spcAft>
                <a:spcPts val="800"/>
              </a:spcAft>
            </a:pPr>
            <a:r>
              <a:rPr lang="en-US" sz="1600" dirty="0">
                <a:solidFill>
                  <a:schemeClr val="tx1">
                    <a:alpha val="60000"/>
                  </a:schemeClr>
                </a:solidFill>
                <a:hlinkClick r:id="rId3"/>
              </a:rPr>
              <a:t>https://www.newvantage.com/_files/ugd/e5361a_ad5a8b3da8254a71807d2dccdb0844be.pdf</a:t>
            </a:r>
            <a:r>
              <a:rPr lang="en-US" sz="1600" dirty="0">
                <a:solidFill>
                  <a:schemeClr val="tx1">
                    <a:alpha val="60000"/>
                  </a:schemeClr>
                </a:solidFill>
              </a:rPr>
              <a:t> </a:t>
            </a:r>
          </a:p>
        </p:txBody>
      </p:sp>
      <p:pic>
        <p:nvPicPr>
          <p:cNvPr id="6" name="Picture 5">
            <a:extLst>
              <a:ext uri="{FF2B5EF4-FFF2-40B4-BE49-F238E27FC236}">
                <a16:creationId xmlns:a16="http://schemas.microsoft.com/office/drawing/2014/main" id="{B69CD6BA-7B3E-644F-A2C7-EBC5C388596C}"/>
              </a:ext>
            </a:extLst>
          </p:cNvPr>
          <p:cNvPicPr>
            <a:picLocks noChangeAspect="1"/>
          </p:cNvPicPr>
          <p:nvPr/>
        </p:nvPicPr>
        <p:blipFill>
          <a:blip r:embed="rId4"/>
          <a:stretch>
            <a:fillRect/>
          </a:stretch>
        </p:blipFill>
        <p:spPr>
          <a:xfrm>
            <a:off x="1717135" y="2216836"/>
            <a:ext cx="8757729" cy="3745292"/>
          </a:xfrm>
          <a:prstGeom prst="rect">
            <a:avLst/>
          </a:prstGeom>
        </p:spPr>
      </p:pic>
    </p:spTree>
    <p:extLst>
      <p:ext uri="{BB962C8B-B14F-4D97-AF65-F5344CB8AC3E}">
        <p14:creationId xmlns:p14="http://schemas.microsoft.com/office/powerpoint/2010/main" val="2104915336"/>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188" name="Rectangle 5187">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4C3703-B7E6-4E45-F1CA-D15E8EA84904}"/>
              </a:ext>
            </a:extLst>
          </p:cNvPr>
          <p:cNvSpPr>
            <a:spLocks noGrp="1"/>
          </p:cNvSpPr>
          <p:nvPr>
            <p:ph type="title"/>
          </p:nvPr>
        </p:nvSpPr>
        <p:spPr>
          <a:xfrm>
            <a:off x="550862" y="580363"/>
            <a:ext cx="5437188" cy="1333055"/>
          </a:xfrm>
        </p:spPr>
        <p:txBody>
          <a:bodyPr wrap="square" anchor="t">
            <a:normAutofit/>
          </a:bodyPr>
          <a:lstStyle/>
          <a:p>
            <a:pPr>
              <a:lnSpc>
                <a:spcPct val="90000"/>
              </a:lnSpc>
            </a:pPr>
            <a:r>
              <a:rPr lang="en-IE" dirty="0"/>
              <a:t>Typical Salaries for this role</a:t>
            </a:r>
            <a:endParaRPr lang="en-IE"/>
          </a:p>
        </p:txBody>
      </p:sp>
      <p:grpSp>
        <p:nvGrpSpPr>
          <p:cNvPr id="5190" name="Group 5189">
            <a:extLst>
              <a:ext uri="{FF2B5EF4-FFF2-40B4-BE49-F238E27FC236}">
                <a16:creationId xmlns:a16="http://schemas.microsoft.com/office/drawing/2014/main" id="{D0342557-9691-41B1-9FFF-027845ED04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0971" y="1982786"/>
            <a:ext cx="734257" cy="760506"/>
            <a:chOff x="5243759" y="1363788"/>
            <a:chExt cx="734257" cy="760506"/>
          </a:xfrm>
        </p:grpSpPr>
        <p:sp>
          <p:nvSpPr>
            <p:cNvPr id="5191" name="Freeform 5">
              <a:extLst>
                <a:ext uri="{FF2B5EF4-FFF2-40B4-BE49-F238E27FC236}">
                  <a16:creationId xmlns:a16="http://schemas.microsoft.com/office/drawing/2014/main" id="{086D6FFF-B330-42B3-9F1F-607CECF8D9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92" name="Freeform 6">
              <a:extLst>
                <a:ext uri="{FF2B5EF4-FFF2-40B4-BE49-F238E27FC236}">
                  <a16:creationId xmlns:a16="http://schemas.microsoft.com/office/drawing/2014/main" id="{8D054D43-E740-4CA9-8197-85FBE2ECCE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93" name="Freeform 8">
              <a:extLst>
                <a:ext uri="{FF2B5EF4-FFF2-40B4-BE49-F238E27FC236}">
                  <a16:creationId xmlns:a16="http://schemas.microsoft.com/office/drawing/2014/main" id="{CB5EB56C-B805-41B2-88BA-B198E68E69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9" name="Picture 8" descr="A picture containing text, newspaper">
            <a:extLst>
              <a:ext uri="{FF2B5EF4-FFF2-40B4-BE49-F238E27FC236}">
                <a16:creationId xmlns:a16="http://schemas.microsoft.com/office/drawing/2014/main" id="{38409B4B-8F70-851D-C78C-1748F534EB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1850" y="2349003"/>
            <a:ext cx="5039784" cy="3779838"/>
          </a:xfrm>
          <a:custGeom>
            <a:avLst/>
            <a:gdLst/>
            <a:ahLst/>
            <a:cxnLst/>
            <a:rect l="l" t="t" r="r" b="b"/>
            <a:pathLst>
              <a:path w="5773738" h="3779838">
                <a:moveTo>
                  <a:pt x="0" y="0"/>
                </a:moveTo>
                <a:lnTo>
                  <a:pt x="5773738" y="0"/>
                </a:lnTo>
                <a:lnTo>
                  <a:pt x="5773738" y="3779838"/>
                </a:lnTo>
                <a:lnTo>
                  <a:pt x="0" y="3779838"/>
                </a:lnTo>
                <a:close/>
              </a:path>
            </a:pathLst>
          </a:custGeom>
        </p:spPr>
      </p:pic>
      <p:graphicFrame>
        <p:nvGraphicFramePr>
          <p:cNvPr id="5177" name="Content Placeholder 2">
            <a:extLst>
              <a:ext uri="{FF2B5EF4-FFF2-40B4-BE49-F238E27FC236}">
                <a16:creationId xmlns:a16="http://schemas.microsoft.com/office/drawing/2014/main" id="{3F45234E-6195-D974-8B85-59183ECFA096}"/>
              </a:ext>
            </a:extLst>
          </p:cNvPr>
          <p:cNvGraphicFramePr>
            <a:graphicFrameLocks noGrp="1"/>
          </p:cNvGraphicFramePr>
          <p:nvPr>
            <p:ph idx="1"/>
            <p:extLst>
              <p:ext uri="{D42A27DB-BD31-4B8C-83A1-F6EECF244321}">
                <p14:modId xmlns:p14="http://schemas.microsoft.com/office/powerpoint/2010/main" val="156325225"/>
              </p:ext>
            </p:extLst>
          </p:nvPr>
        </p:nvGraphicFramePr>
        <p:xfrm>
          <a:off x="7140575" y="1520825"/>
          <a:ext cx="4500562" cy="4572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6752629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C6AD79-C4B3-C49A-A6DD-7A3835CE4868}"/>
              </a:ext>
            </a:extLst>
          </p:cNvPr>
          <p:cNvSpPr>
            <a:spLocks noGrp="1"/>
          </p:cNvSpPr>
          <p:nvPr>
            <p:ph type="title"/>
          </p:nvPr>
        </p:nvSpPr>
        <p:spPr>
          <a:xfrm>
            <a:off x="550863" y="1520825"/>
            <a:ext cx="4535487" cy="3779838"/>
          </a:xfrm>
        </p:spPr>
        <p:txBody>
          <a:bodyPr anchor="ctr">
            <a:normAutofit/>
          </a:bodyPr>
          <a:lstStyle/>
          <a:p>
            <a:r>
              <a:rPr lang="en-IE" sz="6400"/>
              <a:t>Key Takeaways </a:t>
            </a:r>
          </a:p>
        </p:txBody>
      </p:sp>
      <p:grpSp>
        <p:nvGrpSpPr>
          <p:cNvPr id="16" name="Group 10">
            <a:extLst>
              <a:ext uri="{FF2B5EF4-FFF2-40B4-BE49-F238E27FC236}">
                <a16:creationId xmlns:a16="http://schemas.microsoft.com/office/drawing/2014/main" id="{20205E53-D75C-4F15-A4A3-21DA0826FC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2950" y="623661"/>
            <a:ext cx="667800" cy="631474"/>
            <a:chOff x="8069541" y="1262702"/>
            <a:chExt cx="667800" cy="631474"/>
          </a:xfrm>
        </p:grpSpPr>
        <p:sp>
          <p:nvSpPr>
            <p:cNvPr id="12" name="Freeform: Shape 11">
              <a:extLst>
                <a:ext uri="{FF2B5EF4-FFF2-40B4-BE49-F238E27FC236}">
                  <a16:creationId xmlns:a16="http://schemas.microsoft.com/office/drawing/2014/main" id="{EB48C7E5-9699-4FB1-9EEE-581C686293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a:off x="8069541" y="1262702"/>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127000" dist="50800" dir="42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Oval 12">
              <a:extLst>
                <a:ext uri="{FF2B5EF4-FFF2-40B4-BE49-F238E27FC236}">
                  <a16:creationId xmlns:a16="http://schemas.microsoft.com/office/drawing/2014/main" id="{316993F2-7052-4269-8B81-AC271D2D99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8332341" y="1436239"/>
              <a:ext cx="270000" cy="540000"/>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Oval 14">
            <a:extLst>
              <a:ext uri="{FF2B5EF4-FFF2-40B4-BE49-F238E27FC236}">
                <a16:creationId xmlns:a16="http://schemas.microsoft.com/office/drawing/2014/main" id="{52D58DC7-20C8-4471-BAA7-B296A2AEC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384" y="49771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Freeform: Shape 16">
            <a:extLst>
              <a:ext uri="{FF2B5EF4-FFF2-40B4-BE49-F238E27FC236}">
                <a16:creationId xmlns:a16="http://schemas.microsoft.com/office/drawing/2014/main" id="{8E4AABAC-100B-437F-86D3-981412859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3261346" y="5733597"/>
            <a:ext cx="1758388" cy="926985"/>
          </a:xfrm>
          <a:custGeom>
            <a:avLst/>
            <a:gdLst>
              <a:gd name="connsiteX0" fmla="*/ 1486881 w 1758388"/>
              <a:gd name="connsiteY0" fmla="*/ 271508 h 926985"/>
              <a:gd name="connsiteX1" fmla="*/ 1758388 w 1758388"/>
              <a:gd name="connsiteY1" fmla="*/ 926985 h 926985"/>
              <a:gd name="connsiteX2" fmla="*/ 1294895 w 1758388"/>
              <a:gd name="connsiteY2" fmla="*/ 926985 h 926985"/>
              <a:gd name="connsiteX3" fmla="*/ 831404 w 1758388"/>
              <a:gd name="connsiteY3" fmla="*/ 463493 h 926985"/>
              <a:gd name="connsiteX4" fmla="*/ 377328 w 1758388"/>
              <a:gd name="connsiteY4" fmla="*/ 833575 h 926985"/>
              <a:gd name="connsiteX5" fmla="*/ 371585 w 1758388"/>
              <a:gd name="connsiteY5" fmla="*/ 890552 h 926985"/>
              <a:gd name="connsiteX6" fmla="*/ 0 w 1758388"/>
              <a:gd name="connsiteY6" fmla="*/ 518968 h 926985"/>
              <a:gd name="connsiteX7" fmla="*/ 16301 w 1758388"/>
              <a:gd name="connsiteY7" fmla="*/ 485129 h 926985"/>
              <a:gd name="connsiteX8" fmla="*/ 831403 w 1758388"/>
              <a:gd name="connsiteY8" fmla="*/ 0 h 926985"/>
              <a:gd name="connsiteX9" fmla="*/ 1486881 w 1758388"/>
              <a:gd name="connsiteY9" fmla="*/ 271508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8388" h="926985">
                <a:moveTo>
                  <a:pt x="1486881" y="271508"/>
                </a:moveTo>
                <a:cubicBezTo>
                  <a:pt x="1654632" y="439259"/>
                  <a:pt x="1758388" y="671005"/>
                  <a:pt x="1758388" y="926985"/>
                </a:cubicBezTo>
                <a:lnTo>
                  <a:pt x="1294895" y="926985"/>
                </a:lnTo>
                <a:cubicBezTo>
                  <a:pt x="1294895" y="671005"/>
                  <a:pt x="1087383" y="463493"/>
                  <a:pt x="831404" y="463493"/>
                </a:cubicBezTo>
                <a:cubicBezTo>
                  <a:pt x="607421" y="463493"/>
                  <a:pt x="420547" y="622370"/>
                  <a:pt x="377328" y="833575"/>
                </a:cubicBezTo>
                <a:lnTo>
                  <a:pt x="371585" y="890552"/>
                </a:lnTo>
                <a:lnTo>
                  <a:pt x="0" y="518968"/>
                </a:lnTo>
                <a:lnTo>
                  <a:pt x="16301" y="485129"/>
                </a:lnTo>
                <a:cubicBezTo>
                  <a:pt x="173276" y="196165"/>
                  <a:pt x="479432" y="0"/>
                  <a:pt x="831403" y="0"/>
                </a:cubicBezTo>
                <a:cubicBezTo>
                  <a:pt x="1087383" y="0"/>
                  <a:pt x="1319129" y="103757"/>
                  <a:pt x="1486881" y="271508"/>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9" name="Freeform: Shape 18">
            <a:extLst>
              <a:ext uri="{FF2B5EF4-FFF2-40B4-BE49-F238E27FC236}">
                <a16:creationId xmlns:a16="http://schemas.microsoft.com/office/drawing/2014/main" id="{1DFD33E0-4D46-4176-BAE2-6AED15231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3353363" y="5725768"/>
            <a:ext cx="1728640" cy="1042921"/>
          </a:xfrm>
          <a:custGeom>
            <a:avLst/>
            <a:gdLst>
              <a:gd name="connsiteX0" fmla="*/ 1391304 w 1728640"/>
              <a:gd name="connsiteY0" fmla="*/ 238153 h 1042921"/>
              <a:gd name="connsiteX1" fmla="*/ 1728640 w 1728640"/>
              <a:gd name="connsiteY1" fmla="*/ 1042921 h 1042921"/>
              <a:gd name="connsiteX2" fmla="*/ 1265147 w 1728640"/>
              <a:gd name="connsiteY2" fmla="*/ 1042921 h 1042921"/>
              <a:gd name="connsiteX3" fmla="*/ 801655 w 1728640"/>
              <a:gd name="connsiteY3" fmla="*/ 521461 h 1042921"/>
              <a:gd name="connsiteX4" fmla="*/ 374587 w 1728640"/>
              <a:gd name="connsiteY4" fmla="*/ 839945 h 1042921"/>
              <a:gd name="connsiteX5" fmla="*/ 362576 w 1728640"/>
              <a:gd name="connsiteY5" fmla="*/ 883477 h 1042921"/>
              <a:gd name="connsiteX6" fmla="*/ 0 w 1728640"/>
              <a:gd name="connsiteY6" fmla="*/ 520901 h 1042921"/>
              <a:gd name="connsiteX7" fmla="*/ 32986 w 1728640"/>
              <a:gd name="connsiteY7" fmla="*/ 459814 h 1042921"/>
              <a:gd name="connsiteX8" fmla="*/ 801656 w 1728640"/>
              <a:gd name="connsiteY8" fmla="*/ 0 h 1042921"/>
              <a:gd name="connsiteX9" fmla="*/ 1391304 w 1728640"/>
              <a:gd name="connsiteY9" fmla="*/ 238153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8640" h="1042921">
                <a:moveTo>
                  <a:pt x="1391304" y="238153"/>
                </a:moveTo>
                <a:cubicBezTo>
                  <a:pt x="1597323" y="429440"/>
                  <a:pt x="1728640" y="718927"/>
                  <a:pt x="1728640" y="1042921"/>
                </a:cubicBezTo>
                <a:lnTo>
                  <a:pt x="1265147" y="1042921"/>
                </a:lnTo>
                <a:cubicBezTo>
                  <a:pt x="1265147" y="754926"/>
                  <a:pt x="1057635" y="521461"/>
                  <a:pt x="801655" y="521461"/>
                </a:cubicBezTo>
                <a:cubicBezTo>
                  <a:pt x="609671" y="521461"/>
                  <a:pt x="444949" y="652785"/>
                  <a:pt x="374587" y="839945"/>
                </a:cubicBezTo>
                <a:lnTo>
                  <a:pt x="362576" y="883477"/>
                </a:lnTo>
                <a:lnTo>
                  <a:pt x="0" y="520901"/>
                </a:lnTo>
                <a:lnTo>
                  <a:pt x="32986" y="459814"/>
                </a:lnTo>
                <a:cubicBezTo>
                  <a:pt x="199571" y="182395"/>
                  <a:pt x="481681" y="0"/>
                  <a:pt x="801656" y="0"/>
                </a:cubicBezTo>
                <a:cubicBezTo>
                  <a:pt x="1025638" y="0"/>
                  <a:pt x="1231066" y="89374"/>
                  <a:pt x="1391304" y="238153"/>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1" name="Oval 20">
            <a:extLst>
              <a:ext uri="{FF2B5EF4-FFF2-40B4-BE49-F238E27FC236}">
                <a16:creationId xmlns:a16="http://schemas.microsoft.com/office/drawing/2014/main" id="{022B5D87-7689-4E7F-B03A-7F803B5DF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872920" y="5836283"/>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18" name="Content Placeholder 2">
            <a:extLst>
              <a:ext uri="{FF2B5EF4-FFF2-40B4-BE49-F238E27FC236}">
                <a16:creationId xmlns:a16="http://schemas.microsoft.com/office/drawing/2014/main" id="{25D4DFC6-79F4-FAF8-D9E5-E22403115774}"/>
              </a:ext>
            </a:extLst>
          </p:cNvPr>
          <p:cNvGraphicFramePr>
            <a:graphicFrameLocks noGrp="1"/>
          </p:cNvGraphicFramePr>
          <p:nvPr>
            <p:ph idx="1"/>
            <p:extLst>
              <p:ext uri="{D42A27DB-BD31-4B8C-83A1-F6EECF244321}">
                <p14:modId xmlns:p14="http://schemas.microsoft.com/office/powerpoint/2010/main" val="3437567272"/>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878976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Oval 13">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6" name="Group 15">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17" name="Freeform: Shape 16">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Oval 18">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2" name="Rectangle 21">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8A00A08-E4E6-4184-B484-E0E034072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171" y="13882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6" name="Group 25">
            <a:extLst>
              <a:ext uri="{FF2B5EF4-FFF2-40B4-BE49-F238E27FC236}">
                <a16:creationId xmlns:a16="http://schemas.microsoft.com/office/drawing/2014/main" id="{0780E404-3121-4F33-AF2D-65F659A977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7675" y="288981"/>
            <a:ext cx="1262947" cy="1335600"/>
            <a:chOff x="2678417" y="2427951"/>
            <a:chExt cx="1262947" cy="1335600"/>
          </a:xfrm>
        </p:grpSpPr>
        <p:sp>
          <p:nvSpPr>
            <p:cNvPr id="27" name="Freeform: Shape 26">
              <a:extLst>
                <a:ext uri="{FF2B5EF4-FFF2-40B4-BE49-F238E27FC236}">
                  <a16:creationId xmlns:a16="http://schemas.microsoft.com/office/drawing/2014/main" id="{2339341D-8322-49F1-91DA-6D115CCAE7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8" name="Oval 27">
              <a:extLst>
                <a:ext uri="{FF2B5EF4-FFF2-40B4-BE49-F238E27FC236}">
                  <a16:creationId xmlns:a16="http://schemas.microsoft.com/office/drawing/2014/main" id="{7EB9DB0E-3B0E-411A-9274-448D565CA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5F3D50B7-65F5-CE7B-D533-B887935E922B}"/>
              </a:ext>
            </a:extLst>
          </p:cNvPr>
          <p:cNvSpPr>
            <a:spLocks noGrp="1"/>
          </p:cNvSpPr>
          <p:nvPr>
            <p:ph type="title"/>
          </p:nvPr>
        </p:nvSpPr>
        <p:spPr>
          <a:xfrm>
            <a:off x="550864" y="549275"/>
            <a:ext cx="3565524" cy="3034657"/>
          </a:xfrm>
        </p:spPr>
        <p:txBody>
          <a:bodyPr vert="horz" wrap="square" lIns="0" tIns="0" rIns="0" bIns="0" rtlCol="0" anchor="b" anchorCtr="0">
            <a:normAutofit/>
          </a:bodyPr>
          <a:lstStyle/>
          <a:p>
            <a:r>
              <a:rPr lang="en-US" dirty="0"/>
              <a:t>Questions?</a:t>
            </a:r>
          </a:p>
        </p:txBody>
      </p:sp>
      <p:grpSp>
        <p:nvGrpSpPr>
          <p:cNvPr id="30" name="Group 29">
            <a:extLst>
              <a:ext uri="{FF2B5EF4-FFF2-40B4-BE49-F238E27FC236}">
                <a16:creationId xmlns:a16="http://schemas.microsoft.com/office/drawing/2014/main" id="{4B158E9A-DBF4-4AA7-B6B7-8C8EB2FBD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25249" y="5435090"/>
            <a:ext cx="762805" cy="734873"/>
            <a:chOff x="7950336" y="1300590"/>
            <a:chExt cx="762805" cy="734873"/>
          </a:xfrm>
        </p:grpSpPr>
        <p:sp>
          <p:nvSpPr>
            <p:cNvPr id="31" name="Freeform 5">
              <a:extLst>
                <a:ext uri="{FF2B5EF4-FFF2-40B4-BE49-F238E27FC236}">
                  <a16:creationId xmlns:a16="http://schemas.microsoft.com/office/drawing/2014/main" id="{6150ACFD-AEC6-42A3-A5A7-E7AD6B13E0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20298" y="1428832"/>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0" scaled="0"/>
              <a:tileRect/>
            </a:gradFill>
            <a:ln>
              <a:noFill/>
            </a:ln>
            <a:effectLst>
              <a:innerShdw blurRad="254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Freeform 6">
              <a:extLst>
                <a:ext uri="{FF2B5EF4-FFF2-40B4-BE49-F238E27FC236}">
                  <a16:creationId xmlns:a16="http://schemas.microsoft.com/office/drawing/2014/main" id="{DB4D1217-FEB1-4D2A-80F4-C227B66D72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066503" y="1339815"/>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60000"/>
                  </a:schemeClr>
                </a:gs>
                <a:gs pos="100000">
                  <a:schemeClr val="accent1">
                    <a:lumMod val="60000"/>
                    <a:lumOff val="40000"/>
                  </a:schemeClr>
                </a:gs>
              </a:gsLst>
              <a:lin ang="180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Freeform 8">
              <a:extLst>
                <a:ext uri="{FF2B5EF4-FFF2-40B4-BE49-F238E27FC236}">
                  <a16:creationId xmlns:a16="http://schemas.microsoft.com/office/drawing/2014/main" id="{0BCA7138-22BA-4785-8B3D-9D45213E85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17173" y="1608753"/>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18000000" scaled="0"/>
              <a:tileRect/>
            </a:gradFill>
            <a:ln>
              <a:noFill/>
            </a:ln>
            <a:effectLst>
              <a:innerShdw blurRad="508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5" name="Content Placeholder 4" descr="Questions outline">
            <a:extLst>
              <a:ext uri="{FF2B5EF4-FFF2-40B4-BE49-F238E27FC236}">
                <a16:creationId xmlns:a16="http://schemas.microsoft.com/office/drawing/2014/main" id="{04F8B202-C166-641A-1A9E-8A4F9C5C3467}"/>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28238" y="619828"/>
            <a:ext cx="5761037" cy="5761037"/>
          </a:xfrm>
          <a:custGeom>
            <a:avLst/>
            <a:gdLst/>
            <a:ahLst/>
            <a:cxnLst/>
            <a:rect l="l" t="t" r="r" b="b"/>
            <a:pathLst>
              <a:path w="7345363" h="5761037">
                <a:moveTo>
                  <a:pt x="0" y="0"/>
                </a:moveTo>
                <a:lnTo>
                  <a:pt x="7345363" y="0"/>
                </a:lnTo>
                <a:lnTo>
                  <a:pt x="7345363" y="5761037"/>
                </a:lnTo>
                <a:lnTo>
                  <a:pt x="0" y="5761037"/>
                </a:lnTo>
                <a:close/>
              </a:path>
            </a:pathLst>
          </a:custGeom>
        </p:spPr>
      </p:pic>
    </p:spTree>
    <p:extLst>
      <p:ext uri="{BB962C8B-B14F-4D97-AF65-F5344CB8AC3E}">
        <p14:creationId xmlns:p14="http://schemas.microsoft.com/office/powerpoint/2010/main" val="498058564"/>
      </p:ext>
    </p:extLst>
  </p:cSld>
  <p:clrMapOvr>
    <a:masterClrMapping/>
  </p:clrMapOvr>
  <p:transition spd="slow">
    <p:push dir="u"/>
  </p:transition>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Sitka Heading"/>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927</TotalTime>
  <Words>4044</Words>
  <Application>Microsoft Office PowerPoint</Application>
  <PresentationFormat>Widescreen</PresentationFormat>
  <Paragraphs>279</Paragraphs>
  <Slides>14</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-apple-system</vt:lpstr>
      <vt:lpstr>Arial</vt:lpstr>
      <vt:lpstr>Calibri</vt:lpstr>
      <vt:lpstr>Lato</vt:lpstr>
      <vt:lpstr>Roboto</vt:lpstr>
      <vt:lpstr>Sitka Heading</vt:lpstr>
      <vt:lpstr>Source Sans Pro</vt:lpstr>
      <vt:lpstr>3DFloatVTI</vt:lpstr>
      <vt:lpstr>The Evolving Role of the Chief Data Officer (CDO)</vt:lpstr>
      <vt:lpstr>High Level Introduction to the Paper</vt:lpstr>
      <vt:lpstr>Seth Earley</vt:lpstr>
      <vt:lpstr>Chief Data Officer in the Modern C-Suite</vt:lpstr>
      <vt:lpstr>Problems occurring before the rise of the CDO</vt:lpstr>
      <vt:lpstr>PowerPoint Presentation</vt:lpstr>
      <vt:lpstr>The role of a CDO</vt:lpstr>
      <vt:lpstr>Benefits of having a CDO</vt:lpstr>
      <vt:lpstr>Increasing popularity in the Role</vt:lpstr>
      <vt:lpstr>Google Trend ‘Chief Data Officer’ Interest Over Time</vt:lpstr>
      <vt:lpstr>CDO from organization to organization</vt:lpstr>
      <vt:lpstr>Typical Salaries for this role</vt:lpstr>
      <vt:lpstr>Key Takeaways </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Evolving Role of the Chief Data Officer (CDO)</dc:title>
  <dc:creator>Niamh Daly</dc:creator>
  <cp:lastModifiedBy>Niamh Daly</cp:lastModifiedBy>
  <cp:revision>2</cp:revision>
  <dcterms:created xsi:type="dcterms:W3CDTF">2023-02-23T20:19:20Z</dcterms:created>
  <dcterms:modified xsi:type="dcterms:W3CDTF">2023-02-24T11:46:35Z</dcterms:modified>
</cp:coreProperties>
</file>