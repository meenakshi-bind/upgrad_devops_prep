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34A_5191FED1.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34B_A51D0E1.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34C_1A4AFAD3.xml" ContentType="application/vnd.ms-powerpoint.comments+xml"/>
  <Override PartName="/ppt/notesSlides/notesSlide7.xml" ContentType="application/vnd.openxmlformats-officedocument.presentationml.notesSlide+xml"/>
  <Override PartName="/ppt/comments/modernComment_34D_8F8211B2.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388_31AEE07B.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389_F37CE0F6.xml" ContentType="application/vnd.ms-powerpoint.comments+xml"/>
  <Override PartName="/ppt/notesSlides/notesSlide13.xml" ContentType="application/vnd.openxmlformats-officedocument.presentationml.notesSlide+xml"/>
  <Override PartName="/ppt/comments/modernComment_354_C3312278.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38D_B9A479ED.xml" ContentType="application/vnd.ms-powerpoint.comments+xml"/>
  <Override PartName="/ppt/notesSlides/notesSlide21.xml" ContentType="application/vnd.openxmlformats-officedocument.presentationml.notesSlide+xml"/>
  <Override PartName="/ppt/comments/modernComment_38E_A7856032.xml" ContentType="application/vnd.ms-powerpoint.comments+xml"/>
  <Override PartName="/ppt/notesSlides/notesSlide22.xml" ContentType="application/vnd.openxmlformats-officedocument.presentationml.notesSlide+xml"/>
  <Override PartName="/ppt/comments/modernComment_394_4CD03080.xml" ContentType="application/vnd.ms-powerpoint.comments+xml"/>
  <Override PartName="/ppt/comments/modernComment_391_16DA5A77.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omments/modernComment_398_E270D311.xml" ContentType="application/vnd.ms-powerpoint.comments+xml"/>
  <Override PartName="/ppt/notesSlides/notesSlide28.xml" ContentType="application/vnd.openxmlformats-officedocument.presentationml.notesSlide+xml"/>
  <Override PartName="/ppt/comments/modernComment_399_C01564DD.xml" ContentType="application/vnd.ms-powerpoint.comments+xml"/>
  <Override PartName="/ppt/notesSlides/notesSlide2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3"/>
  </p:notesMasterIdLst>
  <p:sldIdLst>
    <p:sldId id="257" r:id="rId5"/>
    <p:sldId id="291" r:id="rId6"/>
    <p:sldId id="842" r:id="rId7"/>
    <p:sldId id="918" r:id="rId8"/>
    <p:sldId id="903" r:id="rId9"/>
    <p:sldId id="902" r:id="rId10"/>
    <p:sldId id="843" r:id="rId11"/>
    <p:sldId id="906" r:id="rId12"/>
    <p:sldId id="844" r:id="rId13"/>
    <p:sldId id="845" r:id="rId14"/>
    <p:sldId id="846" r:id="rId15"/>
    <p:sldId id="904" r:id="rId16"/>
    <p:sldId id="848" r:id="rId17"/>
    <p:sldId id="849" r:id="rId18"/>
    <p:sldId id="850" r:id="rId19"/>
    <p:sldId id="905" r:id="rId20"/>
    <p:sldId id="852" r:id="rId21"/>
    <p:sldId id="854" r:id="rId22"/>
    <p:sldId id="907" r:id="rId23"/>
    <p:sldId id="855" r:id="rId24"/>
    <p:sldId id="809" r:id="rId25"/>
    <p:sldId id="856" r:id="rId26"/>
    <p:sldId id="857" r:id="rId27"/>
    <p:sldId id="858" r:id="rId28"/>
    <p:sldId id="908" r:id="rId29"/>
    <p:sldId id="909" r:id="rId30"/>
    <p:sldId id="910" r:id="rId31"/>
    <p:sldId id="911" r:id="rId32"/>
    <p:sldId id="916" r:id="rId33"/>
    <p:sldId id="912" r:id="rId34"/>
    <p:sldId id="913" r:id="rId35"/>
    <p:sldId id="914" r:id="rId36"/>
    <p:sldId id="915" r:id="rId37"/>
    <p:sldId id="917" r:id="rId38"/>
    <p:sldId id="919" r:id="rId39"/>
    <p:sldId id="920" r:id="rId40"/>
    <p:sldId id="921" r:id="rId41"/>
    <p:sldId id="503"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642928-73C4-3B36-5004-0C7231A89687}" name="Guest User" initials="GU" userId="S::urn:spo:anon#acd3e84f9bc229139764807e55defc87c408d882b866b2f246384ca463ce7dbe::" providerId="AD"/>
  <p188:author id="{157BD8F1-1D6F-D26C-25D7-876D38983E62}" name="Nikunj Singhal" initials="NS" userId="S::nikunj.singhal@upgrad.com::329cd218-463b-43d3-8217-a34204aa542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F1C602-D596-0F68-A9FF-D1C90DA86403}" v="1" dt="2024-09-20T09:32:26.619"/>
    <p1510:client id="{9B91ABFC-5CC9-4BF3-E9A6-C90B69812170}" v="6" dt="2024-09-20T05:24:10.752"/>
    <p1510:client id="{B4614F02-82C5-BF63-03B5-F512885E8F51}" v="45" dt="2024-09-20T05:20:30.012"/>
    <p1510:client id="{FADCFDC6-B2C5-42A3-2DD1-F02401B11C2C}" v="274" dt="2024-09-20T05:10:40.5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26" autoAdjust="0"/>
    <p:restoredTop sz="93103" autoAdjust="0"/>
  </p:normalViewPr>
  <p:slideViewPr>
    <p:cSldViewPr snapToGrid="0">
      <p:cViewPr varScale="1">
        <p:scale>
          <a:sx n="62" d="100"/>
          <a:sy n="62" d="100"/>
        </p:scale>
        <p:origin x="90"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omments/modernComment_34A_5191FED1.xml><?xml version="1.0" encoding="utf-8"?>
<p188:cmLst xmlns:a="http://schemas.openxmlformats.org/drawingml/2006/main" xmlns:r="http://schemas.openxmlformats.org/officeDocument/2006/relationships" xmlns:p188="http://schemas.microsoft.com/office/powerpoint/2018/8/main">
  <p188:cm id="{7918A832-2172-4F91-AE29-CE350D88B904}" authorId="{EF642928-73C4-3B36-5004-0C7231A89687}" created="2024-09-20T04:08:36.255">
    <ac:txMkLst xmlns:ac="http://schemas.microsoft.com/office/drawing/2013/main/command">
      <pc:docMk xmlns:pc="http://schemas.microsoft.com/office/powerpoint/2013/main/command"/>
      <pc:sldMk xmlns:pc="http://schemas.microsoft.com/office/powerpoint/2013/main/command" cId="1368522449" sldId="842"/>
      <ac:spMk id="11" creationId="{4125A2CB-555F-8149-A98E-EC7B83CC0412}"/>
      <ac:txMk cp="12" len="9">
        <ac:context len="163" hash="2888660856"/>
      </ac:txMk>
    </ac:txMkLst>
    <p188:pos x="2645433" y="244415"/>
    <p188:replyLst>
      <p188:reply id="{9CE6AB1E-EEDE-4128-8235-BB6A11689206}" authorId="{157BD8F1-1D6F-D26C-25D7-876D38983E62}" created="2024-09-27T09:58:24.401">
        <p188:txBody>
          <a:bodyPr/>
          <a:lstStyle/>
          <a:p>
            <a:r>
              <a:rPr lang="en-US"/>
              <a:t>corrected</a:t>
            </a:r>
          </a:p>
        </p188:txBody>
      </p188:reply>
    </p188:replyLst>
    <p188:txBody>
      <a:bodyPr/>
      <a:lstStyle/>
      <a:p>
        <a:r>
          <a:rPr lang="en-US"/>
          <a:t>expanding what?</a:t>
        </a:r>
      </a:p>
    </p188:txBody>
  </p188:cm>
  <p188:cm id="{D6E08FCC-CD71-43EC-AA05-A2D684D4062E}" authorId="{EF642928-73C4-3B36-5004-0C7231A89687}" created="2024-09-20T09:32:26.619">
    <ac:txMkLst xmlns:ac="http://schemas.microsoft.com/office/drawing/2013/main/command">
      <pc:docMk xmlns:pc="http://schemas.microsoft.com/office/powerpoint/2013/main/command"/>
      <pc:sldMk xmlns:pc="http://schemas.microsoft.com/office/powerpoint/2013/main/command" cId="1368522449" sldId="842"/>
      <ac:spMk id="14" creationId="{293FCA96-1F65-7E46-83B0-70D1DE35E58F}"/>
      <ac:txMk cp="0" len="1">
        <ac:context len="19" hash="3462293908"/>
      </ac:txMk>
    </ac:txMkLst>
    <p188:pos x="4471358" y="373811"/>
    <p188:txBody>
      <a:bodyPr/>
      <a:lstStyle/>
      <a:p>
        <a:r>
          <a:rPr lang="en-US"/>
          <a:t>Please check if all the slide headings should be in all caps.</a:t>
        </a:r>
      </a:p>
    </p188:txBody>
  </p188:cm>
</p188:cmLst>
</file>

<file path=ppt/comments/modernComment_34B_A51D0E1.xml><?xml version="1.0" encoding="utf-8"?>
<p188:cmLst xmlns:a="http://schemas.openxmlformats.org/drawingml/2006/main" xmlns:r="http://schemas.openxmlformats.org/officeDocument/2006/relationships" xmlns:p188="http://schemas.microsoft.com/office/powerpoint/2018/8/main">
  <p188:cm id="{91CED771-4943-4C1B-85C7-38C984AF27E9}" authorId="{EF642928-73C4-3B36-5004-0C7231A89687}" created="2024-09-20T04:14:11.161">
    <ac:txMkLst xmlns:ac="http://schemas.microsoft.com/office/drawing/2013/main/command">
      <pc:docMk xmlns:pc="http://schemas.microsoft.com/office/powerpoint/2013/main/command"/>
      <pc:sldMk xmlns:pc="http://schemas.microsoft.com/office/powerpoint/2013/main/command" cId="173134049" sldId="843"/>
      <ac:spMk id="11" creationId="{EFFB00D3-E606-7F40-A12B-1ABD663EBC76}"/>
      <ac:txMk cp="0" len="10">
        <ac:context len="11" hash="1082096706"/>
      </ac:txMk>
    </ac:txMkLst>
    <p188:replyLst>
      <p188:reply id="{B2965A02-0022-44D2-8DBD-96FE4208EB92}" authorId="{157BD8F1-1D6F-D26C-25D7-876D38983E62}" created="2024-09-27T09:59:04.581">
        <p188:txBody>
          <a:bodyPr/>
          <a:lstStyle/>
          <a:p>
            <a:r>
              <a:rPr lang="en-US"/>
              <a:t>revised</a:t>
            </a:r>
          </a:p>
        </p188:txBody>
      </p188:reply>
    </p188:replyLst>
    <p188:txBody>
      <a:bodyPr/>
      <a:lstStyle/>
      <a:p>
        <a:r>
          <a:rPr lang="en-US"/>
          <a:t>Please replace this with a more appropriate title </a:t>
        </a:r>
      </a:p>
    </p188:txBody>
    <p188:extLst>
      <p:ext xmlns:p="http://schemas.openxmlformats.org/presentationml/2006/main" uri="{57CB4572-C831-44C2-8A1C-0ADB6CCDFE69}">
        <p223:reactions xmlns:p223="http://schemas.microsoft.com/office/powerpoint/2022/03/main">
          <p223:rxn type="👍">
            <p223:instance time="2024-09-27T09:18:29.483" authorId="{157BD8F1-1D6F-D26C-25D7-876D38983E62}"/>
          </p223:rxn>
        </p223:reactions>
      </p:ext>
    </p188:extLst>
  </p188:cm>
</p188:cmLst>
</file>

<file path=ppt/comments/modernComment_34C_1A4AFAD3.xml><?xml version="1.0" encoding="utf-8"?>
<p188:cmLst xmlns:a="http://schemas.openxmlformats.org/drawingml/2006/main" xmlns:r="http://schemas.openxmlformats.org/officeDocument/2006/relationships" xmlns:p188="http://schemas.microsoft.com/office/powerpoint/2018/8/main">
  <p188:cm id="{8840CAA4-D4E9-48DC-A0BF-C9D70C836943}" authorId="{EF642928-73C4-3B36-5004-0C7231A89687}" created="2024-09-20T04:15:10.444">
    <ac:txMkLst xmlns:ac="http://schemas.microsoft.com/office/drawing/2013/main/command">
      <pc:docMk xmlns:pc="http://schemas.microsoft.com/office/powerpoint/2013/main/command"/>
      <pc:sldMk xmlns:pc="http://schemas.microsoft.com/office/powerpoint/2013/main/command" cId="441121491" sldId="844"/>
      <ac:spMk id="15" creationId="{F281C94B-3604-A840-A6D9-ED20B625CD74}"/>
      <ac:txMk cp="77">
        <ac:context len="78" hash="2245609791"/>
      </ac:txMk>
    </ac:txMkLst>
    <p188:pos x="2458528" y="675735"/>
    <p188:replyLst>
      <p188:reply id="{71E0456D-E519-4FE0-8E4F-DAD0B1565591}" authorId="{157BD8F1-1D6F-D26C-25D7-876D38983E62}" created="2024-09-27T09:59:54.677">
        <p188:txBody>
          <a:bodyPr/>
          <a:lstStyle/>
          <a:p>
            <a:r>
              <a:rPr lang="en-US"/>
              <a:t>Revised it to be more clear</a:t>
            </a:r>
          </a:p>
        </p188:txBody>
      </p188:reply>
    </p188:replyLst>
    <p188:txBody>
      <a:bodyPr/>
      <a:lstStyle/>
      <a:p>
        <a:r>
          <a:rPr lang="en-US"/>
          <a:t>Specify what 'it' refers to here</a:t>
        </a:r>
      </a:p>
    </p188:txBody>
  </p188:cm>
</p188:cmLst>
</file>

<file path=ppt/comments/modernComment_34D_8F8211B2.xml><?xml version="1.0" encoding="utf-8"?>
<p188:cmLst xmlns:a="http://schemas.openxmlformats.org/drawingml/2006/main" xmlns:r="http://schemas.openxmlformats.org/officeDocument/2006/relationships" xmlns:p188="http://schemas.microsoft.com/office/powerpoint/2018/8/main">
  <p188:cm id="{1C4184E5-E9AF-4F90-A48F-3CC27892716D}" authorId="{EF642928-73C4-3B36-5004-0C7231A89687}" created="2024-09-20T04:17:55.967">
    <ac:txMkLst xmlns:ac="http://schemas.microsoft.com/office/drawing/2013/main/command">
      <pc:docMk xmlns:pc="http://schemas.microsoft.com/office/powerpoint/2013/main/command"/>
      <pc:sldMk xmlns:pc="http://schemas.microsoft.com/office/powerpoint/2013/main/command" cId="2407666098" sldId="845"/>
      <ac:spMk id="15" creationId="{8DD1C775-6F49-A34C-AC2E-1D885791C94A}"/>
      <ac:txMk cp="90" len="1">
        <ac:context len="145" hash="3819529606"/>
      </ac:txMk>
    </ac:txMkLst>
    <p188:pos x="3234905" y="1380226"/>
    <p188:replyLst>
      <p188:reply id="{37EDFF0A-F72B-434B-80A2-71AF52E48DB7}" authorId="{157BD8F1-1D6F-D26C-25D7-876D38983E62}" created="2024-09-27T10:00:05.282">
        <p188:txBody>
          <a:bodyPr/>
          <a:lstStyle/>
          <a:p>
            <a:r>
              <a:rPr lang="en-US"/>
              <a:t>Revised</a:t>
            </a:r>
          </a:p>
        </p188:txBody>
      </p188:reply>
    </p188:replyLst>
    <p188:txBody>
      <a:bodyPr/>
      <a:lstStyle/>
      <a:p>
        <a:r>
          <a:rPr lang="en-US"/>
          <a:t>Store? Add?</a:t>
        </a:r>
      </a:p>
    </p188:txBody>
  </p188:cm>
</p188:cmLst>
</file>

<file path=ppt/comments/modernComment_38D_B9A479ED.xml><?xml version="1.0" encoding="utf-8"?>
<p188:cmLst xmlns:a="http://schemas.openxmlformats.org/drawingml/2006/main" xmlns:r="http://schemas.openxmlformats.org/officeDocument/2006/relationships" xmlns:p188="http://schemas.microsoft.com/office/powerpoint/2018/8/main">
  <p188:cm id="{7E3651C9-7277-40C4-BC9D-845CBC82D536}" authorId="{EF642928-73C4-3B36-5004-0C7231A89687}" created="2024-09-20T05:04:46.998">
    <ac:txMkLst xmlns:ac="http://schemas.microsoft.com/office/drawing/2013/main/command">
      <pc:docMk xmlns:pc="http://schemas.microsoft.com/office/powerpoint/2013/main/command"/>
      <pc:sldMk xmlns:pc="http://schemas.microsoft.com/office/powerpoint/2013/main/command" cId="3114564077" sldId="909"/>
      <ac:spMk id="13" creationId="{6D99FF52-2EDD-44B1-C789-53A116DB9D77}"/>
      <ac:txMk cp="6" len="25">
        <ac:context len="330" hash="1181318766"/>
      </ac:txMk>
    </ac:txMkLst>
    <p188:pos x="3824377" y="388188"/>
    <p188:replyLst>
      <p188:reply id="{251F3B89-2CC1-4274-8562-A3EA79960969}" authorId="{157BD8F1-1D6F-D26C-25D7-876D38983E62}" created="2024-09-27T09:20:11.141">
        <p188:txBody>
          <a:bodyPr/>
          <a:lstStyle/>
          <a:p>
            <a:r>
              <a:rPr lang="en-US"/>
              <a:t>It is accurate
</a:t>
            </a:r>
          </a:p>
        </p188:txBody>
      </p188:reply>
    </p188:replyLst>
    <p188:txBody>
      <a:bodyPr/>
      <a:lstStyle/>
      <a:p>
        <a:r>
          <a:rPr lang="en-US"/>
          <a:t>Please check whether this is technically accurate and revise if required.</a:t>
        </a:r>
      </a:p>
    </p188:txBody>
  </p188:cm>
</p188:cmLst>
</file>

<file path=ppt/comments/modernComment_38E_A7856032.xml><?xml version="1.0" encoding="utf-8"?>
<p188:cmLst xmlns:a="http://schemas.openxmlformats.org/drawingml/2006/main" xmlns:r="http://schemas.openxmlformats.org/officeDocument/2006/relationships" xmlns:p188="http://schemas.microsoft.com/office/powerpoint/2018/8/main">
  <p188:cm id="{D9CB0761-47AA-4C97-A26F-20E6574CCEC2}" authorId="{EF642928-73C4-3B36-5004-0C7231A89687}" created="2024-09-20T05:07:56.787">
    <ac:txMkLst xmlns:ac="http://schemas.microsoft.com/office/drawing/2013/main/command">
      <pc:docMk xmlns:pc="http://schemas.microsoft.com/office/powerpoint/2013/main/command"/>
      <pc:sldMk xmlns:pc="http://schemas.microsoft.com/office/powerpoint/2013/main/command" cId="2810535986" sldId="910"/>
      <ac:spMk id="13" creationId="{37EADEF1-8C45-3819-42C8-FB9BCC809D64}"/>
      <ac:txMk cp="40" len="4">
        <ac:context len="68" hash="512453652"/>
      </ac:txMk>
    </ac:txMkLst>
    <p188:pos x="4572000" y="345056"/>
    <p188:replyLst>
      <p188:reply id="{C01D451A-3B26-41F6-A1E7-F5EA59CC70B7}" authorId="{157BD8F1-1D6F-D26C-25D7-876D38983E62}" created="2024-09-27T09:20:27.479">
        <p188:txBody>
          <a:bodyPr/>
          <a:lstStyle/>
          <a:p>
            <a:r>
              <a:rPr lang="en-US"/>
              <a:t>It’s correct
</a:t>
            </a:r>
          </a:p>
        </p188:txBody>
      </p188:reply>
    </p188:replyLst>
    <p188:txBody>
      <a:bodyPr/>
      <a:lstStyle/>
      <a:p>
        <a:r>
          <a:rPr lang="en-US"/>
          <a:t>Ensure that the casing here is accurate and revise (if applicable).</a:t>
        </a:r>
      </a:p>
    </p188:txBody>
  </p188:cm>
</p188:cmLst>
</file>

<file path=ppt/comments/modernComment_354_C3312278.xml><?xml version="1.0" encoding="utf-8"?>
<p188:cmLst xmlns:a="http://schemas.openxmlformats.org/drawingml/2006/main" xmlns:r="http://schemas.openxmlformats.org/officeDocument/2006/relationships" xmlns:p188="http://schemas.microsoft.com/office/powerpoint/2018/8/main">
  <p188:cm id="{EFC3AC0F-3069-4BA5-A459-9D3825662A4C}" authorId="{EF642928-73C4-3B36-5004-0C7231A89687}" created="2024-09-20T04:28:35.183">
    <ac:txMkLst xmlns:ac="http://schemas.microsoft.com/office/drawing/2013/main/command">
      <pc:docMk xmlns:pc="http://schemas.microsoft.com/office/powerpoint/2013/main/command"/>
      <pc:sldMk xmlns:pc="http://schemas.microsoft.com/office/powerpoint/2013/main/command" cId="3274777208" sldId="852"/>
      <ac:spMk id="15" creationId="{C1609D68-4A8F-0742-8390-4518CC431A54}"/>
      <ac:txMk cp="130">
        <ac:context len="199" hash="3616702999"/>
      </ac:txMk>
    </ac:txMkLst>
    <p188:pos x="5290867" y="2041584"/>
    <p188:replyLst>
      <p188:reply id="{CDA5BA5C-B05E-4F03-A5C4-4AEE01CE18F6}" authorId="{157BD8F1-1D6F-D26C-25D7-876D38983E62}" created="2024-09-27T10:00:28.263">
        <p188:txBody>
          <a:bodyPr/>
          <a:lstStyle/>
          <a:p>
            <a:r>
              <a:rPr lang="en-US"/>
              <a:t>revised</a:t>
            </a:r>
          </a:p>
        </p188:txBody>
      </p188:reply>
    </p188:replyLst>
    <p188:txBody>
      <a:bodyPr/>
      <a:lstStyle/>
      <a:p>
        <a:r>
          <a:rPr lang="en-US"/>
          <a:t>Please check whether this is technically accurate and revise if required.</a:t>
        </a:r>
      </a:p>
    </p188:txBody>
  </p188:cm>
</p188:cmLst>
</file>

<file path=ppt/comments/modernComment_388_31AEE07B.xml><?xml version="1.0" encoding="utf-8"?>
<p188:cmLst xmlns:a="http://schemas.openxmlformats.org/drawingml/2006/main" xmlns:r="http://schemas.openxmlformats.org/officeDocument/2006/relationships" xmlns:p188="http://schemas.microsoft.com/office/powerpoint/2018/8/main">
  <p188:cm id="{E424A4DD-5336-4CA9-A542-51BFC4B0F1E7}" authorId="{EF642928-73C4-3B36-5004-0C7231A89687}" created="2024-09-20T04:22:15.291">
    <ac:txMkLst xmlns:ac="http://schemas.microsoft.com/office/drawing/2013/main/command">
      <pc:docMk xmlns:pc="http://schemas.microsoft.com/office/powerpoint/2013/main/command"/>
      <pc:sldMk xmlns:pc="http://schemas.microsoft.com/office/powerpoint/2013/main/command" cId="833544315" sldId="904"/>
      <ac:spMk id="62" creationId="{8417C1FC-F1D4-3047-93A2-5E55720C0DB4}"/>
      <ac:txMk cp="0" len="18">
        <ac:context len="19" hash="156157460"/>
      </ac:txMk>
    </ac:txMkLst>
    <p188:pos x="1193320" y="359433"/>
    <p188:txBody>
      <a:bodyPr/>
      <a:lstStyle/>
      <a:p>
        <a:r>
          <a:rPr lang="en-US"/>
          <a:t>Please check if sentence case can be used for this phrase </a:t>
        </a:r>
      </a:p>
    </p188:txBody>
  </p188:cm>
</p188:cmLst>
</file>

<file path=ppt/comments/modernComment_389_F37CE0F6.xml><?xml version="1.0" encoding="utf-8"?>
<p188:cmLst xmlns:a="http://schemas.openxmlformats.org/drawingml/2006/main" xmlns:r="http://schemas.openxmlformats.org/officeDocument/2006/relationships" xmlns:p188="http://schemas.microsoft.com/office/powerpoint/2018/8/main">
  <p188:cm id="{135F2EB9-54E6-4E1C-BFBC-55076D8B0061}" authorId="{EF642928-73C4-3B36-5004-0C7231A89687}" created="2024-09-20T04:25:49.098">
    <ac:deMkLst xmlns:ac="http://schemas.microsoft.com/office/drawing/2013/main/command">
      <pc:docMk xmlns:pc="http://schemas.microsoft.com/office/powerpoint/2013/main/command"/>
      <pc:sldMk xmlns:pc="http://schemas.microsoft.com/office/powerpoint/2013/main/command" cId="4085047542" sldId="905"/>
      <ac:spMk id="13" creationId="{8E32E27D-684A-B045-8852-91E25E1E54F5}"/>
    </ac:deMkLst>
    <p188:txBody>
      <a:bodyPr/>
      <a:lstStyle/>
      <a:p>
        <a:r>
          <a:rPr lang="en-US"/>
          <a:t>Front end vs frontend
Back end vs backend
Ensure that the spacing of this is accurate and consistent throughout.</a:t>
        </a:r>
      </a:p>
    </p188:txBody>
  </p188:cm>
</p188:cmLst>
</file>

<file path=ppt/comments/modernComment_391_16DA5A77.xml><?xml version="1.0" encoding="utf-8"?>
<p188:cmLst xmlns:a="http://schemas.openxmlformats.org/drawingml/2006/main" xmlns:r="http://schemas.openxmlformats.org/officeDocument/2006/relationships" xmlns:p188="http://schemas.microsoft.com/office/powerpoint/2018/8/main">
  <p188:cm id="{780A22D6-FCBF-48C4-BB38-4DF949458DEA}" authorId="{EF642928-73C4-3B36-5004-0C7231A89687}" created="2024-09-20T05:13:34.820">
    <ac:txMkLst xmlns:ac="http://schemas.microsoft.com/office/drawing/2013/main/command">
      <pc:docMk xmlns:pc="http://schemas.microsoft.com/office/powerpoint/2013/main/command"/>
      <pc:sldMk xmlns:pc="http://schemas.microsoft.com/office/powerpoint/2013/main/command" cId="383408759" sldId="913"/>
      <ac:spMk id="17" creationId="{541475A2-2095-D344-9654-7D8B41F657C0}"/>
      <ac:txMk cp="37" len="10">
        <ac:context len="227" hash="815819147"/>
      </ac:txMk>
    </ac:txMkLst>
    <p188:pos x="5434641" y="388188"/>
    <p188:txBody>
      <a:bodyPr/>
      <a:lstStyle/>
      <a:p>
        <a:r>
          <a:rPr lang="en-US"/>
          <a:t>Unclear what 'everything' means here - the term is quite vague. Please check and revise accordingly.</a:t>
        </a:r>
      </a:p>
    </p188:txBody>
  </p188:cm>
</p188:cmLst>
</file>

<file path=ppt/comments/modernComment_394_4CD03080.xml><?xml version="1.0" encoding="utf-8"?>
<p188:cmLst xmlns:a="http://schemas.openxmlformats.org/drawingml/2006/main" xmlns:r="http://schemas.openxmlformats.org/officeDocument/2006/relationships" xmlns:p188="http://schemas.microsoft.com/office/powerpoint/2018/8/main">
  <p188:cm id="{8612385A-DC16-4BD5-B4C0-095F0E8362D3}" authorId="{EF642928-73C4-3B36-5004-0C7231A89687}" created="2024-09-20T05:12:25.241">
    <ac:txMkLst xmlns:ac="http://schemas.microsoft.com/office/drawing/2013/main/command">
      <pc:docMk xmlns:pc="http://schemas.microsoft.com/office/powerpoint/2013/main/command"/>
      <pc:sldMk xmlns:pc="http://schemas.microsoft.com/office/powerpoint/2013/main/command" cId="1288712320" sldId="916"/>
      <ac:spMk id="9" creationId="{C2548839-3939-0CEE-BB80-F07D21DCA629}"/>
      <ac:txMk cp="0" len="23">
        <ac:context len="27" hash="34558271"/>
      </ac:txMk>
    </ac:txMkLst>
    <p188:pos x="5549660" y="345056"/>
    <p188:txBody>
      <a:bodyPr/>
      <a:lstStyle/>
      <a:p>
        <a:r>
          <a:rPr lang="en-US"/>
          <a:t>Unclear what this means here - hands-off approach?
Please check and revise accordingly.</a:t>
        </a:r>
      </a:p>
    </p188:txBody>
  </p188:cm>
</p188:cmLst>
</file>

<file path=ppt/comments/modernComment_398_E270D311.xml><?xml version="1.0" encoding="utf-8"?>
<p188:cmLst xmlns:a="http://schemas.openxmlformats.org/drawingml/2006/main" xmlns:r="http://schemas.openxmlformats.org/officeDocument/2006/relationships" xmlns:p188="http://schemas.microsoft.com/office/powerpoint/2018/8/main">
  <p188:cm id="{BC293C23-2996-40E8-B769-7A5EDCCF274E}" authorId="{EF642928-73C4-3B36-5004-0C7231A89687}" created="2024-09-20T05:18:12.448">
    <ac:txMkLst xmlns:ac="http://schemas.microsoft.com/office/drawing/2013/main/command">
      <pc:docMk xmlns:pc="http://schemas.microsoft.com/office/powerpoint/2013/main/command"/>
      <pc:sldMk xmlns:pc="http://schemas.microsoft.com/office/powerpoint/2013/main/command" cId="3799044881" sldId="920"/>
      <ac:spMk id="29" creationId="{2794A971-3097-944D-BD3D-437B87B74C96}"/>
      <ac:txMk cp="1" len="69">
        <ac:context len="109" hash="1841878407"/>
      </ac:txMk>
    </ac:txMkLst>
    <p188:pos x="10423584" y="819509"/>
    <p188:txBody>
      <a:bodyPr/>
      <a:lstStyle/>
      <a:p>
        <a:r>
          <a:rPr lang="en-US"/>
          <a:t>Should this be revised to: To deploy infrastructure in a consistent, repeatable manner?</a:t>
        </a:r>
      </a:p>
    </p188:txBody>
  </p188:cm>
</p188:cmLst>
</file>

<file path=ppt/comments/modernComment_399_C01564DD.xml><?xml version="1.0" encoding="utf-8"?>
<p188:cmLst xmlns:a="http://schemas.openxmlformats.org/drawingml/2006/main" xmlns:r="http://schemas.openxmlformats.org/officeDocument/2006/relationships" xmlns:p188="http://schemas.microsoft.com/office/powerpoint/2018/8/main">
  <p188:cm id="{DDDAE367-99E1-4158-B6C7-6EE8EB809EF7}" authorId="{EF642928-73C4-3B36-5004-0C7231A89687}" created="2024-09-20T05:19:47.309">
    <ac:txMkLst xmlns:ac="http://schemas.microsoft.com/office/drawing/2013/main/command">
      <pc:docMk xmlns:pc="http://schemas.microsoft.com/office/powerpoint/2013/main/command"/>
      <pc:sldMk xmlns:pc="http://schemas.microsoft.com/office/powerpoint/2013/main/command" cId="3222627549" sldId="921"/>
      <ac:spMk id="14" creationId="{CC70F254-99EF-B240-A5D0-1DFF448CE5CE}"/>
      <ac:txMk cp="131" len="15">
        <ac:context len="147" hash="2801032139"/>
      </ac:txMk>
    </ac:txMkLst>
    <p188:pos x="6067245" y="3594339"/>
    <p188:txBody>
      <a:bodyPr/>
      <a:lstStyle/>
      <a:p>
        <a:r>
          <a:rPr lang="en-US"/>
          <a:t>deletion policy vs DeletionPolicy
Ensure that the casing and spacing of this is accurate and consistent throughout the document.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344A7F-495B-40D9-B5C0-E113B9D331BB}" type="datetimeFigureOut">
              <a:rPr lang="en-US" smtClean="0"/>
              <a:t>9/27/2024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761C40-39FF-400D-8CBC-046C06871F34}" type="slidenum">
              <a:rPr lang="en-US" smtClean="0"/>
              <a:t>‹#›</a:t>
            </a:fld>
            <a:endParaRPr lang="en-US"/>
          </a:p>
        </p:txBody>
      </p:sp>
    </p:spTree>
    <p:extLst>
      <p:ext uri="{BB962C8B-B14F-4D97-AF65-F5344CB8AC3E}">
        <p14:creationId xmlns:p14="http://schemas.microsoft.com/office/powerpoint/2010/main" val="2042223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ocs.aws.amazon.com/AWSCloudFormation/latest/UserGuide/aws-template-resource-type-ref.html"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docs.aws.amazon.com/AWSCloudFormation/latest/UserGuide/using-cfn-stack-drift.html" TargetMode="External"/><Relationship Id="rId5" Type="http://schemas.openxmlformats.org/officeDocument/2006/relationships/hyperlink" Target="https://docs.aws.amazon.com/AWSCloudFormation/latest/UserGuide/detect-drift-stack.html" TargetMode="External"/><Relationship Id="rId4" Type="http://schemas.openxmlformats.org/officeDocument/2006/relationships/hyperlink" Target="https://docs.aws.amazon.com/AWSCloudFormation/latest/UserGuide/cfn-sample-templates.html"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docs.aws.amazon.com/AWSCloudFormation/latest/UserGuide/using-cfn-updating-stacks-changesets.html"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aws.amazon.com/quickstart/"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8" Type="http://schemas.openxmlformats.org/officeDocument/2006/relationships/hyperlink" Target="https://docs.aws.amazon.com/systems-manager/latest/userguide/systems-manager-inventory.html" TargetMode="External"/><Relationship Id="rId3" Type="http://schemas.openxmlformats.org/officeDocument/2006/relationships/hyperlink" Target="https://docs.aws.amazon.com/systems-manager/latest/userguide/execute-remote-commands.html" TargetMode="External"/><Relationship Id="rId7" Type="http://schemas.openxmlformats.org/officeDocument/2006/relationships/hyperlink" Target="https://docs.aws.amazon.com/systems-manager/latest/userguide/session-manager.html" TargetMode="External"/><Relationship Id="rId2" Type="http://schemas.openxmlformats.org/officeDocument/2006/relationships/slide" Target="../slides/slide22.xml"/><Relationship Id="rId1" Type="http://schemas.openxmlformats.org/officeDocument/2006/relationships/notesMaster" Target="../notesMasters/notesMaster1.xml"/><Relationship Id="rId6" Type="http://schemas.openxmlformats.org/officeDocument/2006/relationships/hyperlink" Target="https://docs.aws.amazon.com/systems-manager/latest/userguide/systems-manager-state.html" TargetMode="External"/><Relationship Id="rId11" Type="http://schemas.openxmlformats.org/officeDocument/2006/relationships/hyperlink" Target="https://www.flaticon.com/authors/wanicon" TargetMode="External"/><Relationship Id="rId5" Type="http://schemas.openxmlformats.org/officeDocument/2006/relationships/hyperlink" Target="https://docs.aws.amazon.com/systems-manager/latest/userguide/systems-manager-maintenance.html" TargetMode="External"/><Relationship Id="rId10" Type="http://schemas.openxmlformats.org/officeDocument/2006/relationships/hyperlink" Target="http://www.flaticon.com/" TargetMode="External"/><Relationship Id="rId4" Type="http://schemas.openxmlformats.org/officeDocument/2006/relationships/hyperlink" Target="https://docs.aws.amazon.com/systems-manager/latest/userguide/systems-manager-patch.html" TargetMode="External"/><Relationship Id="rId9" Type="http://schemas.openxmlformats.org/officeDocument/2006/relationships/hyperlink" Target="https://www.flaticon.com/authors/smalllikeart"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99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It takes significant time and energy to build a large-scale computing environment.</a:t>
            </a:r>
            <a:r>
              <a:rPr lang="en-US" baseline="0" dirty="0">
                <a:latin typeface="Calibri" panose="020F0502020204030204" pitchFamily="34" charset="0"/>
              </a:rPr>
              <a:t> Here are some questions to consider: </a:t>
            </a:r>
          </a:p>
          <a:p>
            <a:pPr marL="171450" indent="-171450">
              <a:buFont typeface="Arial" panose="020B0604020202020204" pitchFamily="34" charset="0"/>
              <a:buChar char="•"/>
            </a:pPr>
            <a:r>
              <a:rPr lang="en-US" dirty="0">
                <a:latin typeface="Calibri" panose="020F0502020204030204" pitchFamily="34" charset="0"/>
              </a:rPr>
              <a:t>Where do you want to put your efforts:</a:t>
            </a:r>
            <a:r>
              <a:rPr lang="en-US" baseline="0" dirty="0">
                <a:latin typeface="Calibri" panose="020F0502020204030204" pitchFamily="34" charset="0"/>
              </a:rPr>
              <a:t> </a:t>
            </a:r>
            <a:r>
              <a:rPr lang="en-US" dirty="0">
                <a:latin typeface="Calibri" panose="020F0502020204030204" pitchFamily="34" charset="0"/>
              </a:rPr>
              <a:t>the design or the implementation?</a:t>
            </a:r>
            <a:r>
              <a:rPr lang="en-US" baseline="0" dirty="0">
                <a:latin typeface="Calibri" panose="020F0502020204030204" pitchFamily="34" charset="0"/>
              </a:rPr>
              <a:t> And </a:t>
            </a:r>
            <a:r>
              <a:rPr lang="en-US" dirty="0">
                <a:latin typeface="Calibri" panose="020F0502020204030204" pitchFamily="34" charset="0"/>
              </a:rPr>
              <a:t>what are the risks of manual implementations? </a:t>
            </a:r>
          </a:p>
          <a:p>
            <a:pPr marL="171450" indent="-171450">
              <a:buFont typeface="Arial" panose="020B0604020202020204" pitchFamily="34" charset="0"/>
              <a:buChar char="•"/>
            </a:pPr>
            <a:r>
              <a:rPr lang="en-US" dirty="0">
                <a:latin typeface="Calibri" panose="020F0502020204030204" pitchFamily="34" charset="0"/>
              </a:rPr>
              <a:t>How do you update production servers? How are you going to roll out deployments across multiple geographic regions? When things break, and they will, how do you manage the rollback?</a:t>
            </a:r>
          </a:p>
          <a:p>
            <a:pPr marL="171450" indent="-171450">
              <a:buFont typeface="Arial" panose="020B0604020202020204" pitchFamily="34" charset="0"/>
              <a:buChar char="•"/>
            </a:pPr>
            <a:r>
              <a:rPr lang="en-US" dirty="0">
                <a:latin typeface="Calibri" panose="020F0502020204030204" pitchFamily="34" charset="0"/>
              </a:rPr>
              <a:t>What about debugging deployments? How do you find what’s wrong and then fix it so that it says fixed?</a:t>
            </a:r>
          </a:p>
          <a:p>
            <a:pPr marL="171450" indent="-171450">
              <a:buFont typeface="Arial" panose="020B0604020202020204" pitchFamily="34" charset="0"/>
              <a:buChar char="•"/>
            </a:pPr>
            <a:r>
              <a:rPr lang="en-US" dirty="0">
                <a:latin typeface="Calibri" panose="020F0502020204030204" pitchFamily="34" charset="0"/>
              </a:rPr>
              <a:t>How will you manage dependencies on the various systems and subsystems in your organization? </a:t>
            </a:r>
          </a:p>
          <a:p>
            <a:pPr marL="171450" indent="-171450">
              <a:buFont typeface="Arial" panose="020B0604020202020204" pitchFamily="34" charset="0"/>
              <a:buChar char="•"/>
            </a:pPr>
            <a:r>
              <a:rPr lang="en-US" dirty="0">
                <a:latin typeface="Calibri" panose="020F0502020204030204" pitchFamily="34" charset="0"/>
              </a:rPr>
              <a:t>Finally,</a:t>
            </a:r>
            <a:r>
              <a:rPr lang="en-US" baseline="0" dirty="0">
                <a:latin typeface="Calibri" panose="020F0502020204030204" pitchFamily="34" charset="0"/>
              </a:rPr>
              <a:t> c</a:t>
            </a:r>
            <a:r>
              <a:rPr lang="en-US" dirty="0">
                <a:latin typeface="Calibri" panose="020F0502020204030204" pitchFamily="34" charset="0"/>
              </a:rPr>
              <a:t>an you do all of this by hand?</a:t>
            </a:r>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5</a:t>
            </a:fld>
            <a:endParaRPr lang="en-US"/>
          </a:p>
        </p:txBody>
      </p:sp>
    </p:spTree>
    <p:extLst>
      <p:ext uri="{BB962C8B-B14F-4D97-AF65-F5344CB8AC3E}">
        <p14:creationId xmlns:p14="http://schemas.microsoft.com/office/powerpoint/2010/main" val="27484991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Calibri" panose="020F0502020204030204" pitchFamily="34" charset="0"/>
              </a:rPr>
              <a:t>Having to manually create and add pieces to your environment does not scale. </a:t>
            </a:r>
            <a:r>
              <a:rPr lang="en-US" dirty="0">
                <a:latin typeface="Calibri" panose="020F0502020204030204" pitchFamily="34" charset="0"/>
              </a:rPr>
              <a:t>If you are responsible for a large corporate application, there are not enough people to manually sail the ship.</a:t>
            </a:r>
          </a:p>
          <a:p>
            <a:endParaRPr lang="en-US" dirty="0">
              <a:latin typeface="Calibri" panose="020F0502020204030204" pitchFamily="34" charset="0"/>
            </a:endParaRPr>
          </a:p>
          <a:p>
            <a:r>
              <a:rPr lang="en-US" dirty="0">
                <a:latin typeface="Calibri" panose="020F0502020204030204" pitchFamily="34" charset="0"/>
              </a:rPr>
              <a:t>Creating architecture and applications by scratch doesn’t have inherent version control. In case of emergency,</a:t>
            </a:r>
            <a:r>
              <a:rPr lang="en-US" baseline="0" dirty="0">
                <a:latin typeface="Calibri" panose="020F0502020204030204" pitchFamily="34" charset="0"/>
              </a:rPr>
              <a:t> it’s helpful to </a:t>
            </a:r>
            <a:r>
              <a:rPr lang="en-US" dirty="0">
                <a:latin typeface="Calibri" panose="020F0502020204030204" pitchFamily="34" charset="0"/>
              </a:rPr>
              <a:t>roll back the production stack to a previous version—but that’s not possible</a:t>
            </a:r>
            <a:r>
              <a:rPr lang="en-US" baseline="0" dirty="0">
                <a:latin typeface="Calibri" panose="020F0502020204030204" pitchFamily="34" charset="0"/>
              </a:rPr>
              <a:t> when you create your environment manually. </a:t>
            </a:r>
            <a:endParaRPr lang="en-US" dirty="0">
              <a:latin typeface="Calibri" panose="020F0502020204030204" pitchFamily="34" charset="0"/>
            </a:endParaRPr>
          </a:p>
          <a:p>
            <a:endParaRPr lang="en-US" dirty="0">
              <a:latin typeface="Calibri" panose="020F0502020204030204" pitchFamily="34" charset="0"/>
            </a:endParaRPr>
          </a:p>
          <a:p>
            <a:r>
              <a:rPr lang="en-US" dirty="0">
                <a:latin typeface="Calibri" panose="020F0502020204030204" pitchFamily="34" charset="0"/>
              </a:rPr>
              <a:t>Having an audit trail is very important for many compliance and security situations. It’s dangerous to allow people</a:t>
            </a:r>
            <a:r>
              <a:rPr lang="en-US" baseline="0" dirty="0">
                <a:latin typeface="Calibri" panose="020F0502020204030204" pitchFamily="34" charset="0"/>
              </a:rPr>
              <a:t> to </a:t>
            </a:r>
            <a:r>
              <a:rPr lang="en-US" dirty="0">
                <a:latin typeface="Calibri" panose="020F0502020204030204" pitchFamily="34" charset="0"/>
              </a:rPr>
              <a:t>manually control and edit your environment. </a:t>
            </a:r>
          </a:p>
          <a:p>
            <a:endParaRPr lang="en-US" dirty="0">
              <a:latin typeface="Calibri" panose="020F0502020204030204" pitchFamily="34" charset="0"/>
            </a:endParaRPr>
          </a:p>
          <a:p>
            <a:r>
              <a:rPr lang="en-US" dirty="0">
                <a:latin typeface="Calibri" panose="020F0502020204030204" pitchFamily="34" charset="0"/>
              </a:rPr>
              <a:t>Finally, consistency is critical when minimizing risks. Automation allows you to maintain consistency.</a:t>
            </a:r>
          </a:p>
          <a:p>
            <a:endParaRPr lang="en-US" dirty="0"/>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6</a:t>
            </a:fld>
            <a:endParaRPr lang="en-US"/>
          </a:p>
        </p:txBody>
      </p:sp>
    </p:spTree>
    <p:extLst>
      <p:ext uri="{BB962C8B-B14F-4D97-AF65-F5344CB8AC3E}">
        <p14:creationId xmlns:p14="http://schemas.microsoft.com/office/powerpoint/2010/main" val="2607655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8</a:t>
            </a:fld>
            <a:endParaRPr lang="en-US"/>
          </a:p>
        </p:txBody>
      </p:sp>
    </p:spTree>
    <p:extLst>
      <p:ext uri="{BB962C8B-B14F-4D97-AF65-F5344CB8AC3E}">
        <p14:creationId xmlns:p14="http://schemas.microsoft.com/office/powerpoint/2010/main" val="1028580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dirty="0">
                <a:solidFill>
                  <a:schemeClr val="tx1"/>
                </a:solidFill>
                <a:effectLst/>
                <a:latin typeface="Calibri" panose="020F0502020204030204" pitchFamily="34" charset="0"/>
                <a:ea typeface="+mn-ea"/>
                <a:cs typeface="+mn-cs"/>
              </a:rPr>
              <a:t>AWS CloudFormation provisions resources in a safe, repeatable manner, allowing you to build and rebuild your infrastructure and applications without having to perform manual actions or write custom scripts. </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Using AWS CloudFormation allows you to treat your infrastructure as code. Author it with any code editor, check it into a version control system</a:t>
            </a:r>
            <a:r>
              <a:rPr lang="en-US" b="0" i="0" kern="1200" baseline="0" dirty="0">
                <a:solidFill>
                  <a:schemeClr val="tx1"/>
                </a:solidFill>
                <a:effectLst/>
                <a:latin typeface="Calibri" panose="020F0502020204030204" pitchFamily="34" charset="0"/>
                <a:ea typeface="+mn-ea"/>
                <a:cs typeface="+mn-cs"/>
              </a:rPr>
              <a:t> </a:t>
            </a:r>
            <a:r>
              <a:rPr lang="en-US" b="0" i="0" kern="1200" dirty="0">
                <a:solidFill>
                  <a:schemeClr val="tx1"/>
                </a:solidFill>
                <a:effectLst/>
                <a:latin typeface="Calibri" panose="020F0502020204030204" pitchFamily="34" charset="0"/>
                <a:ea typeface="+mn-ea"/>
                <a:cs typeface="+mn-cs"/>
              </a:rPr>
              <a:t>such as GitHub or AWS </a:t>
            </a:r>
            <a:r>
              <a:rPr lang="en-US" b="0" i="0" kern="1200" dirty="0" err="1">
                <a:solidFill>
                  <a:schemeClr val="tx1"/>
                </a:solidFill>
                <a:effectLst/>
                <a:latin typeface="Calibri" panose="020F0502020204030204" pitchFamily="34" charset="0"/>
                <a:ea typeface="+mn-ea"/>
                <a:cs typeface="+mn-cs"/>
              </a:rPr>
              <a:t>CodeCommit</a:t>
            </a:r>
            <a:r>
              <a:rPr lang="en-US" b="0" i="0" kern="1200" dirty="0">
                <a:solidFill>
                  <a:schemeClr val="tx1"/>
                </a:solidFill>
                <a:effectLst/>
                <a:latin typeface="Calibri" panose="020F0502020204030204" pitchFamily="34" charset="0"/>
                <a:ea typeface="+mn-ea"/>
                <a:cs typeface="+mn-cs"/>
              </a:rPr>
              <a:t>, and review files with team members before deploying into the appropriate environments.</a:t>
            </a:r>
            <a:endParaRPr lang="en-US" dirty="0">
              <a:latin typeface="Calibri" panose="020F050202020403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9</a:t>
            </a:fld>
            <a:endParaRPr lang="en-US"/>
          </a:p>
        </p:txBody>
      </p:sp>
    </p:spTree>
    <p:extLst>
      <p:ext uri="{BB962C8B-B14F-4D97-AF65-F5344CB8AC3E}">
        <p14:creationId xmlns:p14="http://schemas.microsoft.com/office/powerpoint/2010/main" val="31136964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latin typeface="Calibri" panose="020F0502020204030204" pitchFamily="34" charset="0"/>
              </a:rPr>
              <a:t>Additional</a:t>
            </a:r>
            <a:r>
              <a:rPr lang="en-US" b="0" baseline="0" dirty="0">
                <a:latin typeface="Calibri" panose="020F0502020204030204" pitchFamily="34" charset="0"/>
              </a:rPr>
              <a:t> points for </a:t>
            </a:r>
            <a:r>
              <a:rPr lang="en-US" dirty="0">
                <a:latin typeface="Calibri" panose="020F0502020204030204" pitchFamily="34" charset="0"/>
              </a:rPr>
              <a:t>an AWS </a:t>
            </a:r>
            <a:r>
              <a:rPr lang="en-US" b="0" baseline="0" dirty="0">
                <a:latin typeface="Calibri" panose="020F0502020204030204" pitchFamily="34" charset="0"/>
              </a:rPr>
              <a:t>CloudFormation </a:t>
            </a:r>
            <a:r>
              <a:rPr lang="en-US" dirty="0">
                <a:latin typeface="Calibri" panose="020F0502020204030204" pitchFamily="34" charset="0"/>
              </a:rPr>
              <a:t>template</a:t>
            </a:r>
            <a:r>
              <a:rPr lang="en-US" b="0" baseline="0" dirty="0">
                <a:latin typeface="Calibri" panose="020F0502020204030204" pitchFamily="34" charset="0"/>
              </a:rPr>
              <a:t>:</a:t>
            </a:r>
            <a:endParaRPr lang="en-US" b="0" dirty="0">
              <a:latin typeface="Calibri" panose="020F0502020204030204" pitchFamily="34" charset="0"/>
            </a:endParaRPr>
          </a:p>
          <a:p>
            <a:pPr marL="171450" indent="-171450">
              <a:buFont typeface="Arial" panose="020B0604020202020204" pitchFamily="34" charset="0"/>
              <a:buChar char="•"/>
            </a:pPr>
            <a:r>
              <a:rPr lang="en-US" dirty="0">
                <a:latin typeface="Calibri" panose="020F0502020204030204" pitchFamily="34" charset="0"/>
              </a:rPr>
              <a:t>Treat</a:t>
            </a:r>
            <a:r>
              <a:rPr lang="en-US" baseline="0" dirty="0">
                <a:latin typeface="Calibri" panose="020F0502020204030204" pitchFamily="34" charset="0"/>
              </a:rPr>
              <a:t> it </a:t>
            </a:r>
            <a:r>
              <a:rPr lang="en-US" dirty="0">
                <a:latin typeface="Calibri" panose="020F0502020204030204" pitchFamily="34" charset="0"/>
              </a:rPr>
              <a:t>as code and manage it using your</a:t>
            </a:r>
            <a:r>
              <a:rPr lang="en-US" baseline="0" dirty="0">
                <a:latin typeface="Calibri" panose="020F0502020204030204" pitchFamily="34" charset="0"/>
              </a:rPr>
              <a:t> choice of </a:t>
            </a:r>
            <a:r>
              <a:rPr lang="en-US" dirty="0">
                <a:latin typeface="Calibri" panose="020F0502020204030204" pitchFamily="34" charset="0"/>
              </a:rPr>
              <a:t>version control</a:t>
            </a:r>
            <a:r>
              <a:rPr lang="en-US" baseline="0" dirty="0">
                <a:latin typeface="Calibri" panose="020F0502020204030204" pitchFamily="34" charset="0"/>
              </a:rPr>
              <a:t> (</a:t>
            </a:r>
            <a:r>
              <a:rPr lang="en-US" dirty="0">
                <a:latin typeface="Calibri" panose="020F0502020204030204" pitchFamily="34" charset="0"/>
              </a:rPr>
              <a:t>e.g., </a:t>
            </a:r>
            <a:r>
              <a:rPr lang="en-US" baseline="0" dirty="0">
                <a:latin typeface="Calibri" panose="020F0502020204030204" pitchFamily="34" charset="0"/>
              </a:rPr>
              <a:t>G</a:t>
            </a:r>
            <a:r>
              <a:rPr lang="en-US" dirty="0">
                <a:latin typeface="Calibri" panose="020F0502020204030204" pitchFamily="34" charset="0"/>
              </a:rPr>
              <a:t>it or </a:t>
            </a:r>
            <a:r>
              <a:rPr lang="en-US" baseline="0" dirty="0">
                <a:latin typeface="Calibri" panose="020F0502020204030204" pitchFamily="34" charset="0"/>
              </a:rPr>
              <a:t>SVN)</a:t>
            </a:r>
            <a:r>
              <a:rPr lang="en-US" dirty="0">
                <a:latin typeface="Calibri" panose="020F0502020204030204" pitchFamily="34" charset="0"/>
              </a:rPr>
              <a:t>.</a:t>
            </a:r>
          </a:p>
          <a:p>
            <a:pPr marL="171450" indent="-171450">
              <a:buFont typeface="Arial" panose="020B0604020202020204" pitchFamily="34" charset="0"/>
              <a:buChar char="•"/>
            </a:pPr>
            <a:r>
              <a:rPr lang="en-US" dirty="0">
                <a:latin typeface="Calibri" panose="020F0502020204030204" pitchFamily="34" charset="0"/>
              </a:rPr>
              <a:t>Define an entire application stack (all resources required for your application) in a JSON template file.</a:t>
            </a:r>
          </a:p>
          <a:p>
            <a:pPr marL="171450" indent="-171450">
              <a:buFont typeface="Arial" panose="020B0604020202020204" pitchFamily="34" charset="0"/>
              <a:buChar char="•"/>
            </a:pPr>
            <a:r>
              <a:rPr lang="en-US" dirty="0">
                <a:latin typeface="Calibri" panose="020F0502020204030204" pitchFamily="34" charset="0"/>
              </a:rPr>
              <a:t>Define runtime parameters for a template (Amazon EC2 instance size, Amazon EC2 key pair, etc.).</a:t>
            </a:r>
          </a:p>
          <a:p>
            <a:pPr marL="171450" indent="-171450">
              <a:buFont typeface="Arial" panose="020B0604020202020204" pitchFamily="34" charset="0"/>
              <a:buChar char="•"/>
            </a:pPr>
            <a:endParaRPr lang="en-US" dirty="0">
              <a:latin typeface="Calibri" panose="020F0502020204030204" pitchFamily="34" charset="0"/>
            </a:endParaRPr>
          </a:p>
          <a:p>
            <a:pPr marL="0" indent="0">
              <a:buFont typeface="Arial" panose="020B0604020202020204" pitchFamily="34" charset="0"/>
              <a:buNone/>
            </a:pPr>
            <a:r>
              <a:rPr lang="en-US" b="0" i="0" kern="1200" dirty="0">
                <a:solidFill>
                  <a:schemeClr val="tx1"/>
                </a:solidFill>
                <a:effectLst/>
                <a:latin typeface="Calibri" panose="020F0502020204030204" pitchFamily="34" charset="0"/>
                <a:cs typeface="Arial" panose="020B0604020202020204" pitchFamily="34" charset="0"/>
              </a:rPr>
              <a:t>You can now create YAML-formatted templates to describe your AWS resources and properties in AWS CloudFormation. Now, you have the option to use either YAML-formatted templates or JSON-formatted templates to model and describe your AWS infrastructure. YAML-formatted AWS CloudFormation templates follow the same anatomy as existing JSON-formatted templates and support all the same features.</a:t>
            </a:r>
          </a:p>
          <a:p>
            <a:pPr marL="0" indent="0">
              <a:buFont typeface="Arial" panose="020B0604020202020204" pitchFamily="34" charset="0"/>
              <a:buNone/>
            </a:pPr>
            <a:endParaRPr lang="en-US" b="0" i="0" kern="1200" dirty="0">
              <a:solidFill>
                <a:schemeClr val="tx1"/>
              </a:solidFill>
              <a:effectLst/>
              <a:latin typeface="Calibri" panose="020F0502020204030204" pitchFamily="34" charset="0"/>
              <a:cs typeface="Arial" panose="020B0604020202020204" pitchFamily="34" charset="0"/>
            </a:endParaRPr>
          </a:p>
          <a:p>
            <a:pPr marL="0" indent="0">
              <a:buFont typeface="Arial" panose="020B0604020202020204" pitchFamily="34" charset="0"/>
              <a:buNone/>
            </a:pPr>
            <a:r>
              <a:rPr lang="en-US" b="0" i="0" kern="1200" dirty="0">
                <a:solidFill>
                  <a:schemeClr val="tx1"/>
                </a:solidFill>
                <a:effectLst/>
                <a:latin typeface="Calibri" panose="020F0502020204030204" pitchFamily="34" charset="0"/>
                <a:cs typeface="Arial" panose="020B0604020202020204" pitchFamily="34" charset="0"/>
              </a:rPr>
              <a:t>You can also create cross stack references that let you share outputs from one stack with another stack. This lets you share things such as IAM roles, VPC information, and security groups. Previously, you needed to use AWS CloudFormation custom resources to accomplish this. Now, you can simply export values from one stack and import them to another stack using the new </a:t>
            </a:r>
            <a:r>
              <a:rPr lang="en-US" b="0" i="0" kern="1200" dirty="0" err="1">
                <a:solidFill>
                  <a:schemeClr val="tx1"/>
                </a:solidFill>
                <a:effectLst/>
                <a:latin typeface="Calibri" panose="020F0502020204030204" pitchFamily="34" charset="0"/>
                <a:cs typeface="Arial" panose="020B0604020202020204" pitchFamily="34" charset="0"/>
              </a:rPr>
              <a:t>ImportValue</a:t>
            </a:r>
            <a:r>
              <a:rPr lang="en-US" b="0" i="0" kern="1200" dirty="0">
                <a:solidFill>
                  <a:schemeClr val="tx1"/>
                </a:solidFill>
                <a:effectLst/>
                <a:latin typeface="Calibri" panose="020F0502020204030204" pitchFamily="34" charset="0"/>
                <a:cs typeface="Arial" panose="020B0604020202020204" pitchFamily="34" charset="0"/>
              </a:rPr>
              <a:t> intrinsic function.</a:t>
            </a:r>
          </a:p>
          <a:p>
            <a:pPr marL="0" indent="0">
              <a:buFont typeface="Arial" panose="020B0604020202020204" pitchFamily="34" charset="0"/>
              <a:buNone/>
            </a:pPr>
            <a:endParaRPr lang="en-US" b="0" i="0" kern="1200" dirty="0">
              <a:solidFill>
                <a:schemeClr val="tx1"/>
              </a:solidFill>
              <a:effectLst/>
              <a:latin typeface="Calibri" panose="020F0502020204030204" pitchFamily="34" charset="0"/>
              <a:cs typeface="Arial" panose="020B0604020202020204" pitchFamily="34" charset="0"/>
            </a:endParaRPr>
          </a:p>
          <a:p>
            <a:pPr marL="0" indent="0">
              <a:buFont typeface="Arial" panose="020B0604020202020204" pitchFamily="34" charset="0"/>
              <a:buNone/>
            </a:pPr>
            <a:endParaRPr lang="en-US" b="0" i="0" kern="1200" dirty="0">
              <a:solidFill>
                <a:schemeClr val="tx1"/>
              </a:solidFill>
              <a:effectLst/>
              <a:latin typeface="Calibri" panose="020F0502020204030204" pitchFamily="34" charset="0"/>
              <a:cs typeface="Arial" panose="020B0604020202020204" pitchFamily="34" charset="0"/>
            </a:endParaRPr>
          </a:p>
          <a:p>
            <a:pPr marL="0" indent="0">
              <a:buFont typeface="Arial" panose="020B0604020202020204" pitchFamily="34" charset="0"/>
              <a:buNone/>
            </a:pPr>
            <a:r>
              <a:rPr lang="en-US" b="0" i="0" kern="1200" dirty="0">
                <a:solidFill>
                  <a:schemeClr val="tx1"/>
                </a:solidFill>
                <a:effectLst/>
                <a:latin typeface="Calibri" panose="020F0502020204030204" pitchFamily="34" charset="0"/>
                <a:cs typeface="Arial" panose="020B0604020202020204" pitchFamily="34" charset="0"/>
              </a:rPr>
              <a:t>Cross-stack references are useful for customers who separate their AWS infrastructure into logical components grouped by stack (e.g. a network stack, an application stack, etc.) and who need a way to loosely couple stacks together as an alternative to nested stacks.</a:t>
            </a:r>
            <a:endParaRPr lang="en-US" b="1" dirty="0">
              <a:latin typeface="Calibri" panose="020F050202020403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10</a:t>
            </a:fld>
            <a:endParaRPr lang="en-US"/>
          </a:p>
        </p:txBody>
      </p:sp>
    </p:spTree>
    <p:extLst>
      <p:ext uri="{BB962C8B-B14F-4D97-AF65-F5344CB8AC3E}">
        <p14:creationId xmlns:p14="http://schemas.microsoft.com/office/powerpoint/2010/main" val="3130187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3395" rtl="0" eaLnBrk="1" fontAlgn="auto" latinLnBrk="0" hangingPunct="1">
              <a:lnSpc>
                <a:spcPct val="100000"/>
              </a:lnSpc>
              <a:spcBef>
                <a:spcPts val="0"/>
              </a:spcBef>
              <a:spcAft>
                <a:spcPts val="0"/>
              </a:spcAft>
              <a:buClrTx/>
              <a:buSzTx/>
              <a:buFontTx/>
              <a:buNone/>
              <a:tabLst/>
              <a:defRPr/>
            </a:pPr>
            <a:r>
              <a:rPr lang="en-US" b="0" i="0" kern="1200" dirty="0">
                <a:solidFill>
                  <a:schemeClr val="tx1"/>
                </a:solidFill>
                <a:effectLst/>
                <a:latin typeface="Calibri" panose="020F0502020204030204" pitchFamily="34" charset="0"/>
                <a:ea typeface="+mn-ea"/>
                <a:cs typeface="+mn-cs"/>
              </a:rPr>
              <a:t>AWS CloudFormation makes deploying a set of Amazon Web Services (AWS) resources as simple as submitting a template to the service. </a:t>
            </a:r>
          </a:p>
          <a:p>
            <a:pPr marL="0" marR="0" lvl="0" indent="0" algn="l" defTabSz="913395" rtl="0" eaLnBrk="1" fontAlgn="auto" latinLnBrk="0" hangingPunct="1">
              <a:lnSpc>
                <a:spcPct val="100000"/>
              </a:lnSpc>
              <a:spcBef>
                <a:spcPts val="0"/>
              </a:spcBef>
              <a:spcAft>
                <a:spcPts val="0"/>
              </a:spcAft>
              <a:buClrTx/>
              <a:buSzTx/>
              <a:buFontTx/>
              <a:buNone/>
              <a:tabLst/>
              <a:defRPr/>
            </a:pPr>
            <a:endParaRPr lang="en-US" b="0" i="0" kern="1200" dirty="0">
              <a:solidFill>
                <a:schemeClr val="tx1"/>
              </a:solidFill>
              <a:effectLst/>
              <a:latin typeface="Calibri" panose="020F0502020204030204" pitchFamily="34" charset="0"/>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b="0" i="0" kern="1200" dirty="0">
                <a:solidFill>
                  <a:schemeClr val="tx1"/>
                </a:solidFill>
                <a:effectLst/>
                <a:latin typeface="Calibri" panose="020F0502020204030204" pitchFamily="34" charset="0"/>
                <a:ea typeface="+mn-ea"/>
                <a:cs typeface="+mn-cs"/>
              </a:rPr>
              <a:t>A </a:t>
            </a:r>
            <a:r>
              <a:rPr lang="en-US" b="0" i="1" kern="1200" dirty="0">
                <a:solidFill>
                  <a:schemeClr val="tx1"/>
                </a:solidFill>
                <a:effectLst/>
                <a:latin typeface="Calibri" panose="020F0502020204030204" pitchFamily="34" charset="0"/>
                <a:ea typeface="+mn-ea"/>
                <a:cs typeface="+mn-cs"/>
              </a:rPr>
              <a:t>template</a:t>
            </a:r>
            <a:r>
              <a:rPr lang="en-US" b="0" i="0" kern="1200" dirty="0">
                <a:solidFill>
                  <a:schemeClr val="tx1"/>
                </a:solidFill>
                <a:effectLst/>
                <a:latin typeface="Calibri" panose="020F0502020204030204" pitchFamily="34" charset="0"/>
                <a:ea typeface="+mn-ea"/>
                <a:cs typeface="+mn-cs"/>
              </a:rPr>
              <a:t> is a text file that describes and defines the resources to be deployed in an environment</a:t>
            </a:r>
            <a:r>
              <a:rPr lang="en-US" b="0" i="1" kern="1200" dirty="0">
                <a:solidFill>
                  <a:schemeClr val="tx1"/>
                </a:solidFill>
                <a:effectLst/>
                <a:latin typeface="Calibri" panose="020F0502020204030204" pitchFamily="34" charset="0"/>
                <a:ea typeface="+mn-ea"/>
                <a:cs typeface="+mn-cs"/>
              </a:rPr>
              <a:t>.</a:t>
            </a:r>
          </a:p>
          <a:p>
            <a:pPr marL="0" marR="0" lvl="0" indent="0" algn="l" defTabSz="913395" rtl="0" eaLnBrk="1" fontAlgn="auto" latinLnBrk="0" hangingPunct="1">
              <a:lnSpc>
                <a:spcPct val="100000"/>
              </a:lnSpc>
              <a:spcBef>
                <a:spcPts val="0"/>
              </a:spcBef>
              <a:spcAft>
                <a:spcPts val="0"/>
              </a:spcAft>
              <a:buClrTx/>
              <a:buSzTx/>
              <a:buFontTx/>
              <a:buNone/>
              <a:tabLst/>
              <a:defRPr/>
            </a:pPr>
            <a:endParaRPr lang="en-US" b="0" i="1" kern="1200" dirty="0">
              <a:solidFill>
                <a:schemeClr val="tx1"/>
              </a:solidFill>
              <a:effectLst/>
              <a:latin typeface="Calibri" panose="020F0502020204030204" pitchFamily="34" charset="0"/>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b="0" i="1" kern="1200" dirty="0">
                <a:solidFill>
                  <a:schemeClr val="tx1"/>
                </a:solidFill>
                <a:effectLst/>
                <a:latin typeface="Calibri" panose="020F0502020204030204" pitchFamily="34" charset="0"/>
                <a:ea typeface="+mn-ea"/>
                <a:cs typeface="+mn-cs"/>
              </a:rPr>
              <a:t>AWS CloudFormation </a:t>
            </a:r>
            <a:r>
              <a:rPr lang="en-US" b="0" i="0" kern="1200" dirty="0">
                <a:solidFill>
                  <a:schemeClr val="tx1"/>
                </a:solidFill>
                <a:effectLst/>
                <a:latin typeface="Calibri" panose="020F0502020204030204" pitchFamily="34" charset="0"/>
                <a:ea typeface="+mn-ea"/>
                <a:cs typeface="+mn-cs"/>
              </a:rPr>
              <a:t>is the engine that processes the template. The output of AWS CloudFormation is called a </a:t>
            </a:r>
            <a:r>
              <a:rPr lang="en-US" b="0" i="1" kern="1200" dirty="0">
                <a:solidFill>
                  <a:schemeClr val="tx1"/>
                </a:solidFill>
                <a:effectLst/>
                <a:latin typeface="Calibri" panose="020F0502020204030204" pitchFamily="34" charset="0"/>
                <a:ea typeface="+mn-ea"/>
                <a:cs typeface="+mn-cs"/>
              </a:rPr>
              <a:t>stack</a:t>
            </a:r>
            <a:r>
              <a:rPr lang="en-US" b="0" i="0" kern="1200" dirty="0">
                <a:solidFill>
                  <a:schemeClr val="tx1"/>
                </a:solidFill>
                <a:effectLst/>
                <a:latin typeface="Calibri" panose="020F0502020204030204" pitchFamily="34" charset="0"/>
                <a:ea typeface="+mn-ea"/>
                <a:cs typeface="+mn-cs"/>
              </a:rPr>
              <a:t>. </a:t>
            </a:r>
          </a:p>
          <a:p>
            <a:pPr marL="0" marR="0" lvl="0" indent="0" algn="l" defTabSz="913395" rtl="0" eaLnBrk="1" fontAlgn="auto" latinLnBrk="0" hangingPunct="1">
              <a:lnSpc>
                <a:spcPct val="100000"/>
              </a:lnSpc>
              <a:spcBef>
                <a:spcPts val="0"/>
              </a:spcBef>
              <a:spcAft>
                <a:spcPts val="0"/>
              </a:spcAft>
              <a:buClrTx/>
              <a:buSzTx/>
              <a:buFontTx/>
              <a:buNone/>
              <a:tabLst/>
              <a:defRPr/>
            </a:pPr>
            <a:r>
              <a:rPr lang="en-US" b="0" i="0" kern="1200" dirty="0">
                <a:solidFill>
                  <a:schemeClr val="tx1"/>
                </a:solidFill>
                <a:effectLst/>
                <a:latin typeface="Calibri" panose="020F0502020204030204" pitchFamily="34" charset="0"/>
                <a:ea typeface="+mn-ea"/>
                <a:cs typeface="+mn-cs"/>
              </a:rPr>
              <a:t>A </a:t>
            </a:r>
            <a:r>
              <a:rPr lang="en-US" b="0" i="1" kern="1200" dirty="0">
                <a:solidFill>
                  <a:schemeClr val="tx1"/>
                </a:solidFill>
                <a:effectLst/>
                <a:latin typeface="Calibri" panose="020F0502020204030204" pitchFamily="34" charset="0"/>
                <a:ea typeface="+mn-ea"/>
                <a:cs typeface="+mn-cs"/>
              </a:rPr>
              <a:t>stack</a:t>
            </a:r>
            <a:r>
              <a:rPr lang="en-US" b="0" i="0" kern="1200" dirty="0">
                <a:solidFill>
                  <a:schemeClr val="tx1"/>
                </a:solidFill>
                <a:effectLst/>
                <a:latin typeface="Calibri" panose="020F0502020204030204" pitchFamily="34" charset="0"/>
                <a:ea typeface="+mn-ea"/>
                <a:cs typeface="+mn-cs"/>
              </a:rPr>
              <a:t> is a collection of AWS resources deployed together as a group.</a:t>
            </a:r>
          </a:p>
          <a:p>
            <a:pPr marL="0" marR="0" lvl="0" indent="0" algn="l" defTabSz="913395" rtl="0" eaLnBrk="1" fontAlgn="auto" latinLnBrk="0" hangingPunct="1">
              <a:lnSpc>
                <a:spcPct val="100000"/>
              </a:lnSpc>
              <a:spcBef>
                <a:spcPts val="0"/>
              </a:spcBef>
              <a:spcAft>
                <a:spcPts val="0"/>
              </a:spcAft>
              <a:buClrTx/>
              <a:buSzTx/>
              <a:buFontTx/>
              <a:buNone/>
              <a:tabLst/>
              <a:defRPr/>
            </a:pPr>
            <a:endParaRPr lang="en-US" b="0" i="0" kern="1200" dirty="0">
              <a:solidFill>
                <a:schemeClr val="tx1"/>
              </a:solidFill>
              <a:effectLst/>
              <a:latin typeface="Calibri" panose="020F0502020204030204" pitchFamily="34" charset="0"/>
              <a:ea typeface="+mn-ea"/>
              <a:cs typeface="+mn-cs"/>
            </a:endParaRPr>
          </a:p>
          <a:p>
            <a:r>
              <a:rPr lang="en-US" b="0" dirty="0">
                <a:latin typeface="Calibri" panose="020F0502020204030204" pitchFamily="34" charset="0"/>
              </a:rPr>
              <a:t>Additional</a:t>
            </a:r>
            <a:r>
              <a:rPr lang="en-US" b="0" baseline="0" dirty="0">
                <a:latin typeface="Calibri" panose="020F0502020204030204" pitchFamily="34" charset="0"/>
              </a:rPr>
              <a:t> points for </a:t>
            </a:r>
            <a:r>
              <a:rPr lang="en-US" dirty="0">
                <a:latin typeface="Calibri" panose="020F0502020204030204" pitchFamily="34" charset="0"/>
              </a:rPr>
              <a:t>an AWS </a:t>
            </a:r>
            <a:r>
              <a:rPr lang="en-US" b="0" baseline="0" dirty="0">
                <a:latin typeface="Calibri" panose="020F0502020204030204" pitchFamily="34" charset="0"/>
              </a:rPr>
              <a:t>CloudFormation </a:t>
            </a:r>
            <a:r>
              <a:rPr lang="en-US" dirty="0">
                <a:latin typeface="Calibri" panose="020F0502020204030204" pitchFamily="34" charset="0"/>
              </a:rPr>
              <a:t>template</a:t>
            </a:r>
            <a:r>
              <a:rPr lang="en-US" b="0" baseline="0" dirty="0">
                <a:latin typeface="Calibri" panose="020F0502020204030204" pitchFamily="34" charset="0"/>
              </a:rPr>
              <a:t>:</a:t>
            </a:r>
            <a:endParaRPr lang="en-US" b="0" dirty="0">
              <a:latin typeface="Calibri" panose="020F0502020204030204" pitchFamily="34" charset="0"/>
            </a:endParaRPr>
          </a:p>
          <a:p>
            <a:pPr marL="171450" indent="-171450">
              <a:buFont typeface="Arial" panose="020B0604020202020204" pitchFamily="34" charset="0"/>
              <a:buChar char="•"/>
            </a:pPr>
            <a:r>
              <a:rPr lang="en-US" dirty="0">
                <a:latin typeface="Calibri" panose="020F0502020204030204" pitchFamily="34" charset="0"/>
              </a:rPr>
              <a:t>Treat</a:t>
            </a:r>
            <a:r>
              <a:rPr lang="en-US" baseline="0" dirty="0">
                <a:latin typeface="Calibri" panose="020F0502020204030204" pitchFamily="34" charset="0"/>
              </a:rPr>
              <a:t> it </a:t>
            </a:r>
            <a:r>
              <a:rPr lang="en-US" dirty="0">
                <a:latin typeface="Calibri" panose="020F0502020204030204" pitchFamily="34" charset="0"/>
              </a:rPr>
              <a:t>as code and manage it using a</a:t>
            </a:r>
            <a:r>
              <a:rPr lang="en-US" baseline="0" dirty="0">
                <a:latin typeface="Calibri" panose="020F0502020204030204" pitchFamily="34" charset="0"/>
              </a:rPr>
              <a:t> </a:t>
            </a:r>
            <a:r>
              <a:rPr lang="en-US" dirty="0">
                <a:latin typeface="Calibri" panose="020F0502020204030204" pitchFamily="34" charset="0"/>
              </a:rPr>
              <a:t>version control system.</a:t>
            </a:r>
          </a:p>
          <a:p>
            <a:pPr marL="171450" indent="-171450">
              <a:buFont typeface="Arial" panose="020B0604020202020204" pitchFamily="34" charset="0"/>
              <a:buChar char="•"/>
            </a:pPr>
            <a:r>
              <a:rPr lang="en-US" dirty="0">
                <a:latin typeface="Calibri" panose="020F0502020204030204" pitchFamily="34" charset="0"/>
              </a:rPr>
              <a:t>Define an entire application stack (all resources required for your application) in a JSON or YAML template file.</a:t>
            </a:r>
          </a:p>
          <a:p>
            <a:pPr marL="171450" indent="-171450">
              <a:buFont typeface="Arial" panose="020B0604020202020204" pitchFamily="34" charset="0"/>
              <a:buChar char="•"/>
            </a:pPr>
            <a:r>
              <a:rPr lang="en-US" dirty="0">
                <a:latin typeface="Calibri" panose="020F0502020204030204" pitchFamily="34" charset="0"/>
              </a:rPr>
              <a:t>Define runtime parameters for a template (Amazon EC2 instance size, Amazon EC2 key pair, etc.).</a:t>
            </a:r>
          </a:p>
          <a:p>
            <a:pPr marL="0" marR="0" lvl="0" indent="0" algn="l" defTabSz="913395" rtl="0" eaLnBrk="1" fontAlgn="auto" latinLnBrk="0" hangingPunct="1">
              <a:lnSpc>
                <a:spcPct val="100000"/>
              </a:lnSpc>
              <a:spcBef>
                <a:spcPts val="0"/>
              </a:spcBef>
              <a:spcAft>
                <a:spcPts val="0"/>
              </a:spcAft>
              <a:buClrTx/>
              <a:buSzTx/>
              <a:buFontTx/>
              <a:buNone/>
              <a:tabLst/>
              <a:defRPr/>
            </a:pPr>
            <a:endParaRPr lang="en-US" b="0" i="0" kern="1200" dirty="0">
              <a:solidFill>
                <a:schemeClr val="tx1"/>
              </a:solidFill>
              <a:effectLst/>
              <a:latin typeface="Calibri" panose="020F0502020204030204" pitchFamily="34" charset="0"/>
              <a:ea typeface="+mn-ea"/>
              <a:cs typeface="+mn-cs"/>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b="0" i="0" kern="1200" dirty="0">
                <a:solidFill>
                  <a:schemeClr val="tx1"/>
                </a:solidFill>
                <a:effectLst/>
                <a:latin typeface="Calibri" panose="020F0502020204030204" pitchFamily="34" charset="0"/>
                <a:ea typeface="+mn-ea"/>
                <a:cs typeface="+mn-cs"/>
              </a:rPr>
              <a:t>For a list of resources supported by AWS CloudFormation, see  </a:t>
            </a:r>
            <a:r>
              <a:rPr lang="en-US" dirty="0">
                <a:latin typeface="Calibri" panose="020F0502020204030204" pitchFamily="34" charset="0"/>
                <a:hlinkClick r:id="rId3"/>
              </a:rPr>
              <a:t>https://docs.aws.amazon.com/AWSCloudFormation/latest/UserGuide/aws-template-resource-type-ref.html</a:t>
            </a:r>
            <a:r>
              <a:rPr lang="en-US" dirty="0">
                <a:latin typeface="Calibri" panose="020F0502020204030204" pitchFamily="34" charset="0"/>
              </a:rPr>
              <a:t>.</a:t>
            </a:r>
            <a:endParaRPr lang="en-US" dirty="0"/>
          </a:p>
          <a:p>
            <a:pPr marL="0" marR="0" lvl="0" indent="0" algn="l" defTabSz="913395" rtl="0" eaLnBrk="1" fontAlgn="auto" latinLnBrk="0" hangingPunct="1">
              <a:lnSpc>
                <a:spcPct val="100000"/>
              </a:lnSpc>
              <a:spcBef>
                <a:spcPts val="0"/>
              </a:spcBef>
              <a:spcAft>
                <a:spcPts val="0"/>
              </a:spcAft>
              <a:buClrTx/>
              <a:buSzTx/>
              <a:buFontTx/>
              <a:buNone/>
              <a:tabLst/>
              <a:defRPr/>
            </a:pPr>
            <a:endParaRPr lang="en-US" dirty="0">
              <a:latin typeface="Calibri" panose="020F0502020204030204" pitchFamily="34" charset="0"/>
            </a:endParaRPr>
          </a:p>
          <a:p>
            <a:pPr marL="0" marR="0" lvl="0" indent="0" algn="l" defTabSz="913395" rtl="0" eaLnBrk="1" fontAlgn="auto" latinLnBrk="0" hangingPunct="1">
              <a:lnSpc>
                <a:spcPct val="100000"/>
              </a:lnSpc>
              <a:spcBef>
                <a:spcPts val="0"/>
              </a:spcBef>
              <a:spcAft>
                <a:spcPts val="0"/>
              </a:spcAft>
              <a:buClrTx/>
              <a:buSzTx/>
              <a:buFontTx/>
              <a:buNone/>
              <a:tabLst/>
              <a:defRPr/>
            </a:pPr>
            <a:endParaRPr lang="en-US" dirty="0">
              <a:latin typeface="Calibri" panose="020F0502020204030204" pitchFamily="34" charset="0"/>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rPr>
              <a:t>For sample templates,</a:t>
            </a:r>
            <a:r>
              <a:rPr lang="en-US" baseline="0" dirty="0">
                <a:latin typeface="Calibri" panose="020F0502020204030204" pitchFamily="34" charset="0"/>
              </a:rPr>
              <a:t> see</a:t>
            </a:r>
            <a:r>
              <a:rPr lang="en-US" dirty="0">
                <a:latin typeface="Calibri" panose="020F0502020204030204" pitchFamily="34" charset="0"/>
              </a:rPr>
              <a:t> </a:t>
            </a:r>
            <a:r>
              <a:rPr lang="en-US" dirty="0">
                <a:latin typeface="Calibri" panose="020F0502020204030204" pitchFamily="34" charset="0"/>
                <a:hlinkClick r:id="rId4"/>
              </a:rPr>
              <a:t>https://docs.aws.amazon.com/AWSCloudFormation/latest/UserGuide/cfn-sample-templates.html</a:t>
            </a:r>
            <a:r>
              <a:rPr lang="en-US" dirty="0">
                <a:latin typeface="Calibri" panose="020F0502020204030204" pitchFamily="34" charset="0"/>
              </a:rPr>
              <a:t>.</a:t>
            </a:r>
            <a:endParaRPr lang="en-US" dirty="0"/>
          </a:p>
          <a:p>
            <a:pPr marL="0" marR="0" lvl="0" indent="0" algn="l" defTabSz="913395" rtl="0" eaLnBrk="1" fontAlgn="auto" latinLnBrk="0" hangingPunct="1">
              <a:lnSpc>
                <a:spcPct val="100000"/>
              </a:lnSpc>
              <a:spcBef>
                <a:spcPts val="0"/>
              </a:spcBef>
              <a:spcAft>
                <a:spcPts val="0"/>
              </a:spcAft>
              <a:buClrTx/>
              <a:buSzTx/>
              <a:buFontTx/>
              <a:buNone/>
              <a:tabLst/>
              <a:defRPr/>
            </a:pPr>
            <a:endParaRPr lang="en-US" dirty="0">
              <a:latin typeface="Calibri" panose="020F0502020204030204" pitchFamily="34" charset="0"/>
            </a:endParaRPr>
          </a:p>
          <a:p>
            <a:r>
              <a:rPr lang="en-US" sz="1200" kern="1200" dirty="0">
                <a:solidFill>
                  <a:schemeClr val="tx1"/>
                </a:solidFill>
                <a:effectLst/>
                <a:latin typeface="+mn-lt"/>
                <a:ea typeface="+mn-ea"/>
                <a:cs typeface="+mn-cs"/>
              </a:rPr>
              <a:t>Performing a drift detection operation on a stack determines whether the stack has drifted from its expected template configuration, and returns detailed information about the drift status of each resource in the stack that </a:t>
            </a:r>
            <a:r>
              <a:rPr lang="en-US" sz="1200" i="1" kern="1200" dirty="0">
                <a:solidFill>
                  <a:schemeClr val="tx1"/>
                </a:solidFill>
                <a:effectLst/>
                <a:latin typeface="+mn-lt"/>
                <a:ea typeface="+mn-ea"/>
                <a:cs typeface="+mn-cs"/>
              </a:rPr>
              <a:t>supports</a:t>
            </a:r>
            <a:r>
              <a:rPr lang="en-US" sz="1200" kern="1200" dirty="0">
                <a:solidFill>
                  <a:schemeClr val="tx1"/>
                </a:solidFill>
                <a:effectLst/>
                <a:latin typeface="+mn-lt"/>
                <a:ea typeface="+mn-ea"/>
                <a:cs typeface="+mn-cs"/>
              </a:rPr>
              <a:t> drift detection. Drift detection can be enabled on a stack by clicking on “Detect Drift for current stack” dialog box. The process will continue the drift detection even if you close the dialog box and review the drift details later. For more information, see these sites: </a:t>
            </a:r>
          </a:p>
          <a:p>
            <a:pPr marL="171450" indent="-171450">
              <a:buFont typeface="Arial" panose="020B0604020202020204" pitchFamily="34" charset="0"/>
              <a:buChar char="•"/>
            </a:pPr>
            <a:r>
              <a:rPr lang="en-US" sz="1200" u="sng" kern="1200" dirty="0">
                <a:solidFill>
                  <a:schemeClr val="tx1"/>
                </a:solidFill>
                <a:effectLst/>
                <a:latin typeface="+mn-lt"/>
                <a:ea typeface="+mn-ea"/>
                <a:cs typeface="+mn-cs"/>
                <a:hlinkClick r:id="rId5"/>
              </a:rPr>
              <a:t>https://docs.aws.amazon.com/AWSCloudFormation/latest/UserGuide/detect-drift-stack.html</a:t>
            </a:r>
            <a:endParaRPr lang="en-U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US" sz="1200" u="sng" kern="1200" dirty="0">
                <a:solidFill>
                  <a:schemeClr val="tx1"/>
                </a:solidFill>
                <a:effectLst/>
                <a:latin typeface="+mn-lt"/>
                <a:ea typeface="+mn-ea"/>
                <a:cs typeface="+mn-cs"/>
                <a:hlinkClick r:id="rId6"/>
              </a:rPr>
              <a:t>https://docs.aws.amazon.com/AWSCloudFormation/latest/UserGuide/using-cfn-stack-drift.html</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11</a:t>
            </a:fld>
            <a:endParaRPr lang="en-US"/>
          </a:p>
        </p:txBody>
      </p:sp>
    </p:spTree>
    <p:extLst>
      <p:ext uri="{BB962C8B-B14F-4D97-AF65-F5344CB8AC3E}">
        <p14:creationId xmlns:p14="http://schemas.microsoft.com/office/powerpoint/2010/main" val="2742706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If you build infrastructure with code, you gain the benefits of repeatability and reusability while building your environments. </a:t>
            </a:r>
          </a:p>
          <a:p>
            <a:endParaRPr lang="en-US" dirty="0">
              <a:latin typeface="Calibri" panose="020F0502020204030204" pitchFamily="34" charset="0"/>
            </a:endParaRPr>
          </a:p>
          <a:p>
            <a:r>
              <a:rPr lang="en-US" dirty="0">
                <a:latin typeface="Calibri" panose="020F0502020204030204" pitchFamily="34" charset="0"/>
              </a:rPr>
              <a:t>With one template (or a combination of templates), you can build the same complex environments over and over again. </a:t>
            </a:r>
          </a:p>
          <a:p>
            <a:endParaRPr lang="en-US" dirty="0">
              <a:latin typeface="Calibri" panose="020F0502020204030204" pitchFamily="34" charset="0"/>
            </a:endParaRPr>
          </a:p>
          <a:p>
            <a:r>
              <a:rPr lang="en-US" dirty="0">
                <a:latin typeface="Calibri" panose="020F0502020204030204" pitchFamily="34" charset="0"/>
              </a:rPr>
              <a:t>When doing this with AWS, you can even create environments dependent upon conditions, so that what ends up being built is specific to the context in which you've created it. For instance, a template can be designed so that different AMIs are used based on whether or not this template was launched into the development or the production environments.</a:t>
            </a:r>
            <a:endParaRPr lang="en-US" dirty="0"/>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12</a:t>
            </a:fld>
            <a:endParaRPr lang="en-US"/>
          </a:p>
        </p:txBody>
      </p:sp>
    </p:spTree>
    <p:extLst>
      <p:ext uri="{BB962C8B-B14F-4D97-AF65-F5344CB8AC3E}">
        <p14:creationId xmlns:p14="http://schemas.microsoft.com/office/powerpoint/2010/main" val="11870372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In this scenario, the template has been updated to add new security groups to the instance stacks. </a:t>
            </a:r>
          </a:p>
          <a:p>
            <a:endParaRPr lang="en-US" dirty="0">
              <a:latin typeface="Calibri" panose="020F0502020204030204" pitchFamily="34" charset="0"/>
            </a:endParaRPr>
          </a:p>
          <a:p>
            <a:r>
              <a:rPr lang="en-US" dirty="0">
                <a:latin typeface="Calibri" panose="020F0502020204030204" pitchFamily="34" charset="0"/>
              </a:rPr>
              <a:t>With one change to the template used to launch these environments, all four environments can have the new security group resource added.</a:t>
            </a:r>
          </a:p>
          <a:p>
            <a:endParaRPr lang="en-US" dirty="0">
              <a:latin typeface="Calibri" panose="020F0502020204030204" pitchFamily="34" charset="0"/>
            </a:endParaRPr>
          </a:p>
          <a:p>
            <a:r>
              <a:rPr lang="en-US" dirty="0">
                <a:latin typeface="Calibri" panose="020F0502020204030204" pitchFamily="34" charset="0"/>
              </a:rPr>
              <a:t>This feature provides the benefit of easier maintainability of resources, as well as greater consistency and a reduction in effort through parallelization.</a:t>
            </a:r>
          </a:p>
          <a:p>
            <a:endParaRPr lang="en-US" dirty="0">
              <a:latin typeface="Calibri" panose="020F050202020403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13</a:t>
            </a:fld>
            <a:endParaRPr lang="en-US"/>
          </a:p>
        </p:txBody>
      </p:sp>
    </p:spTree>
    <p:extLst>
      <p:ext uri="{BB962C8B-B14F-4D97-AF65-F5344CB8AC3E}">
        <p14:creationId xmlns:p14="http://schemas.microsoft.com/office/powerpoint/2010/main" val="19484723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3395" rtl="0" eaLnBrk="1" fontAlgn="auto" latinLnBrk="0" hangingPunct="1">
              <a:lnSpc>
                <a:spcPct val="100000"/>
              </a:lnSpc>
              <a:spcBef>
                <a:spcPts val="0"/>
              </a:spcBef>
              <a:spcAft>
                <a:spcPts val="0"/>
              </a:spcAft>
              <a:buClrTx/>
              <a:buSzTx/>
              <a:buFontTx/>
              <a:buNone/>
              <a:tabLst/>
              <a:defRPr/>
            </a:pPr>
            <a:r>
              <a:rPr lang="en-US" b="0" dirty="0">
                <a:latin typeface="Calibri" panose="020F0502020204030204" pitchFamily="34" charset="0"/>
              </a:rPr>
              <a:t>Your</a:t>
            </a:r>
            <a:r>
              <a:rPr lang="en-US" b="0" baseline="0" dirty="0">
                <a:latin typeface="Calibri" panose="020F0502020204030204" pitchFamily="34" charset="0"/>
              </a:rPr>
              <a:t> production environment and development environment </a:t>
            </a:r>
            <a:r>
              <a:rPr lang="en-US" dirty="0">
                <a:latin typeface="Calibri" panose="020F0502020204030204" pitchFamily="34" charset="0"/>
              </a:rPr>
              <a:t>must </a:t>
            </a:r>
            <a:r>
              <a:rPr lang="en-US" b="0" baseline="0" dirty="0">
                <a:latin typeface="Calibri" panose="020F0502020204030204" pitchFamily="34" charset="0"/>
              </a:rPr>
              <a:t>be built from the same stack. This ensures that your application works in production the way it was designed and developed. </a:t>
            </a:r>
          </a:p>
          <a:p>
            <a:pPr marL="0" marR="0" lvl="0" indent="0" algn="l" defTabSz="913395" rtl="0" eaLnBrk="1" fontAlgn="auto" latinLnBrk="0" hangingPunct="1">
              <a:lnSpc>
                <a:spcPct val="100000"/>
              </a:lnSpc>
              <a:spcBef>
                <a:spcPts val="0"/>
              </a:spcBef>
              <a:spcAft>
                <a:spcPts val="0"/>
              </a:spcAft>
              <a:buClrTx/>
              <a:buSzTx/>
              <a:buFontTx/>
              <a:buNone/>
              <a:tabLst/>
              <a:defRPr/>
            </a:pPr>
            <a:endParaRPr lang="en-US" b="0" baseline="0" dirty="0">
              <a:latin typeface="Calibri" panose="020F0502020204030204" pitchFamily="34" charset="0"/>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b="0" baseline="0" dirty="0">
                <a:latin typeface="Calibri" panose="020F0502020204030204" pitchFamily="34" charset="0"/>
              </a:rPr>
              <a:t>Additionally, your development environment and testing environment must use the same stack. All environments will have identical applications and configurations. </a:t>
            </a:r>
          </a:p>
          <a:p>
            <a:pPr marL="0" marR="0" lvl="0" indent="0" algn="l" defTabSz="913395" rtl="0" eaLnBrk="1" fontAlgn="auto" latinLnBrk="0" hangingPunct="1">
              <a:lnSpc>
                <a:spcPct val="100000"/>
              </a:lnSpc>
              <a:spcBef>
                <a:spcPts val="0"/>
              </a:spcBef>
              <a:spcAft>
                <a:spcPts val="0"/>
              </a:spcAft>
              <a:buClrTx/>
              <a:buSzTx/>
              <a:buFontTx/>
              <a:buNone/>
              <a:tabLst/>
              <a:defRPr/>
            </a:pPr>
            <a:endParaRPr lang="en-US" b="0" baseline="0" dirty="0">
              <a:latin typeface="Calibri" panose="020F0502020204030204" pitchFamily="34" charset="0"/>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b="0" baseline="0" dirty="0">
                <a:latin typeface="Calibri" panose="020F0502020204030204" pitchFamily="34" charset="0"/>
              </a:rPr>
              <a:t>You might need several testing environments for functional testing, user acceptance testing, and load testing. Creating those </a:t>
            </a:r>
            <a:r>
              <a:rPr lang="en-US" dirty="0">
                <a:latin typeface="Calibri" panose="020F0502020204030204" pitchFamily="34" charset="0"/>
              </a:rPr>
              <a:t>environments </a:t>
            </a:r>
            <a:r>
              <a:rPr lang="en-US" b="0" baseline="0" dirty="0">
                <a:latin typeface="Calibri" panose="020F0502020204030204" pitchFamily="34" charset="0"/>
              </a:rPr>
              <a:t>manually comes with great risk. </a:t>
            </a:r>
          </a:p>
          <a:p>
            <a:pPr marL="0" marR="0" lvl="0" indent="0" algn="l" defTabSz="913395" rtl="0" eaLnBrk="1" fontAlgn="auto" latinLnBrk="0" hangingPunct="1">
              <a:lnSpc>
                <a:spcPct val="100000"/>
              </a:lnSpc>
              <a:spcBef>
                <a:spcPts val="0"/>
              </a:spcBef>
              <a:spcAft>
                <a:spcPts val="0"/>
              </a:spcAft>
              <a:buClrTx/>
              <a:buSzTx/>
              <a:buFontTx/>
              <a:buNone/>
              <a:tabLst/>
              <a:defRPr/>
            </a:pPr>
            <a:endParaRPr lang="en-US" b="0" baseline="0" dirty="0">
              <a:latin typeface="Calibri" panose="020F0502020204030204" pitchFamily="34" charset="0"/>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b="0" baseline="0" dirty="0">
                <a:latin typeface="Calibri" panose="020F0502020204030204" pitchFamily="34" charset="0"/>
              </a:rPr>
              <a:t>You can use </a:t>
            </a:r>
            <a:r>
              <a:rPr lang="en-US" dirty="0">
                <a:latin typeface="Calibri" panose="020F0502020204030204" pitchFamily="34" charset="0"/>
              </a:rPr>
              <a:t>a </a:t>
            </a:r>
            <a:r>
              <a:rPr lang="en-US" b="0" i="1" baseline="0" dirty="0">
                <a:latin typeface="Calibri" panose="020F0502020204030204" pitchFamily="34" charset="0"/>
              </a:rPr>
              <a:t>Conditions</a:t>
            </a:r>
            <a:r>
              <a:rPr lang="en-US" b="0" i="0" baseline="0" dirty="0">
                <a:latin typeface="Calibri" panose="020F0502020204030204" pitchFamily="34" charset="0"/>
              </a:rPr>
              <a:t> statement in AWS CloudFormation templates to ensure that, while different in size and scope, development, test, and production are configured identically.</a:t>
            </a:r>
          </a:p>
          <a:p>
            <a:endParaRPr lang="en-US" dirty="0"/>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14</a:t>
            </a:fld>
            <a:endParaRPr lang="en-US"/>
          </a:p>
        </p:txBody>
      </p:sp>
    </p:spTree>
    <p:extLst>
      <p:ext uri="{BB962C8B-B14F-4D97-AF65-F5344CB8AC3E}">
        <p14:creationId xmlns:p14="http://schemas.microsoft.com/office/powerpoint/2010/main" val="8257253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cs typeface="Arial" panose="020B0604020202020204" pitchFamily="34" charset="0"/>
              </a:rPr>
              <a:t>One way</a:t>
            </a:r>
            <a:r>
              <a:rPr lang="en-US" baseline="0" dirty="0">
                <a:latin typeface="Calibri" panose="020F0502020204030204" pitchFamily="34" charset="0"/>
                <a:cs typeface="Arial" panose="020B0604020202020204" pitchFamily="34" charset="0"/>
              </a:rPr>
              <a:t> to update your stacks</a:t>
            </a:r>
            <a:r>
              <a:rPr lang="en-US" dirty="0">
                <a:latin typeface="Calibri" panose="020F0502020204030204" pitchFamily="34" charset="0"/>
                <a:cs typeface="Arial" panose="020B0604020202020204" pitchFamily="34" charset="0"/>
              </a:rPr>
              <a:t> is to edit your existing templates and run them again.</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However, if you need additional insight about the changes AWS CloudFormation is planning to perform when it updates a stack, you can use a </a:t>
            </a:r>
            <a:r>
              <a:rPr lang="en-US" b="0" i="1" kern="1200" dirty="0">
                <a:solidFill>
                  <a:schemeClr val="tx1"/>
                </a:solidFill>
                <a:effectLst/>
                <a:latin typeface="Calibri" panose="020F0502020204030204" pitchFamily="34" charset="0"/>
                <a:ea typeface="+mn-ea"/>
                <a:cs typeface="+mn-cs"/>
              </a:rPr>
              <a:t>change set</a:t>
            </a:r>
            <a:r>
              <a:rPr lang="en-US" b="0" i="0" kern="1200" dirty="0">
                <a:solidFill>
                  <a:schemeClr val="tx1"/>
                </a:solidFill>
                <a:effectLst/>
                <a:latin typeface="Calibri" panose="020F0502020204030204" pitchFamily="34" charset="0"/>
                <a:ea typeface="+mn-ea"/>
                <a:cs typeface="+mn-cs"/>
              </a:rPr>
              <a:t>.</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Change sets will let you preview the changes, allow you to verify they are in line with expectations, and then approve the update before proceeding.</a:t>
            </a:r>
            <a:endParaRPr lang="en-US" dirty="0">
              <a:latin typeface="Calibri" panose="020F0502020204030204" pitchFamily="34" charset="0"/>
              <a:cs typeface="Arial" panose="020B0604020202020204" pitchFamily="34" charset="0"/>
            </a:endParaRPr>
          </a:p>
          <a:p>
            <a:endParaRPr lang="en-US" dirty="0">
              <a:latin typeface="Calibri" panose="020F0502020204030204" pitchFamily="34" charset="0"/>
              <a:cs typeface="Arial" panose="020B0604020202020204" pitchFamily="34" charset="0"/>
            </a:endParaRPr>
          </a:p>
          <a:p>
            <a:r>
              <a:rPr lang="en-US" dirty="0">
                <a:latin typeface="Calibri" panose="020F0502020204030204" pitchFamily="34" charset="0"/>
                <a:cs typeface="Arial" panose="020B0604020202020204" pitchFamily="34" charset="0"/>
              </a:rPr>
              <a:t>This is the basic workflow for using</a:t>
            </a:r>
            <a:r>
              <a:rPr lang="en-US" baseline="0" dirty="0">
                <a:latin typeface="Calibri" panose="020F0502020204030204" pitchFamily="34" charset="0"/>
                <a:cs typeface="Arial" panose="020B0604020202020204" pitchFamily="34" charset="0"/>
              </a:rPr>
              <a:t> change sets:</a:t>
            </a:r>
          </a:p>
          <a:p>
            <a:endParaRPr lang="en-US" baseline="0" dirty="0">
              <a:latin typeface="Calibri" panose="020F0502020204030204" pitchFamily="34" charset="0"/>
              <a:cs typeface="Arial" panose="020B0604020202020204" pitchFamily="34" charset="0"/>
            </a:endParaRPr>
          </a:p>
          <a:p>
            <a:pPr marL="228600" indent="-228600">
              <a:buAutoNum type="arabicPeriod"/>
            </a:pPr>
            <a:r>
              <a:rPr lang="en-US" dirty="0">
                <a:latin typeface="Calibri" panose="020F0502020204030204" pitchFamily="34" charset="0"/>
                <a:cs typeface="Arial" panose="020B0604020202020204" pitchFamily="34" charset="0"/>
              </a:rPr>
              <a:t>Create a change set by submitting changes for the stack that you want to update. </a:t>
            </a:r>
          </a:p>
          <a:p>
            <a:pPr marL="228600" indent="-228600">
              <a:buAutoNum type="arabicPeriod"/>
            </a:pPr>
            <a:r>
              <a:rPr lang="en-US" dirty="0">
                <a:latin typeface="Calibri" panose="020F0502020204030204" pitchFamily="34" charset="0"/>
                <a:cs typeface="Arial" panose="020B0604020202020204" pitchFamily="34" charset="0"/>
              </a:rPr>
              <a:t>View the change set to see which stack settings and resources will change. </a:t>
            </a:r>
          </a:p>
          <a:p>
            <a:pPr marL="228600" indent="-228600">
              <a:buAutoNum type="arabicPeriod"/>
            </a:pPr>
            <a:r>
              <a:rPr lang="en-US" dirty="0">
                <a:latin typeface="Calibri" panose="020F0502020204030204" pitchFamily="34" charset="0"/>
                <a:cs typeface="Arial" panose="020B0604020202020204" pitchFamily="34" charset="0"/>
              </a:rPr>
              <a:t>If you want to consider other changes before you decide which changes to make, create additional change sets. </a:t>
            </a:r>
          </a:p>
          <a:p>
            <a:pPr marL="228600" indent="-228600">
              <a:buAutoNum type="arabicPeriod"/>
            </a:pPr>
            <a:r>
              <a:rPr lang="en-US" dirty="0">
                <a:latin typeface="Calibri" panose="020F0502020204030204" pitchFamily="34" charset="0"/>
                <a:cs typeface="Arial" panose="020B0604020202020204" pitchFamily="34" charset="0"/>
              </a:rPr>
              <a:t>Run the change set. AWS CloudFormation updates your stack with those changes.</a:t>
            </a:r>
          </a:p>
          <a:p>
            <a:pPr marL="228600" indent="-228600">
              <a:buAutoNum type="arabicPeriod"/>
            </a:pPr>
            <a:endParaRPr lang="en-US" dirty="0">
              <a:latin typeface="Calibri" panose="020F0502020204030204" pitchFamily="34" charset="0"/>
              <a:cs typeface="Arial" panose="020B0604020202020204" pitchFamily="34" charset="0"/>
            </a:endParaRPr>
          </a:p>
          <a:p>
            <a:pPr marL="0" indent="0">
              <a:buNone/>
            </a:pPr>
            <a:r>
              <a:rPr lang="en-US" dirty="0">
                <a:latin typeface="Calibri" panose="020F0502020204030204" pitchFamily="34" charset="0"/>
                <a:cs typeface="Arial" panose="020B0604020202020204" pitchFamily="34" charset="0"/>
              </a:rPr>
              <a:t>With the </a:t>
            </a:r>
            <a:r>
              <a:rPr lang="en-US" dirty="0" err="1">
                <a:latin typeface="Calibri" panose="020F0502020204030204" pitchFamily="34" charset="0"/>
                <a:cs typeface="Arial" panose="020B0604020202020204" pitchFamily="34" charset="0"/>
              </a:rPr>
              <a:t>DeletionPolicy</a:t>
            </a:r>
            <a:r>
              <a:rPr lang="en-US" dirty="0">
                <a:latin typeface="Calibri" panose="020F0502020204030204" pitchFamily="34" charset="0"/>
                <a:cs typeface="Arial" panose="020B0604020202020204" pitchFamily="34" charset="0"/>
              </a:rPr>
              <a:t> attribute you can preserve or (in some cases) backup a resource when its stack is deleted or updated. For example, if you remove the resource from the stack template, and then update the stack with the template. You specify a </a:t>
            </a:r>
            <a:r>
              <a:rPr lang="en-US" dirty="0" err="1">
                <a:latin typeface="Calibri" panose="020F0502020204030204" pitchFamily="34" charset="0"/>
                <a:cs typeface="Arial" panose="020B0604020202020204" pitchFamily="34" charset="0"/>
              </a:rPr>
              <a:t>DeletionPolicy</a:t>
            </a:r>
            <a:r>
              <a:rPr lang="en-US" dirty="0">
                <a:latin typeface="Calibri" panose="020F0502020204030204" pitchFamily="34" charset="0"/>
                <a:cs typeface="Arial" panose="020B0604020202020204" pitchFamily="34" charset="0"/>
              </a:rPr>
              <a:t> attribute for each resource that you want to control. If a resource has no </a:t>
            </a:r>
            <a:r>
              <a:rPr lang="en-US" dirty="0" err="1">
                <a:latin typeface="Calibri" panose="020F0502020204030204" pitchFamily="34" charset="0"/>
                <a:cs typeface="Arial" panose="020B0604020202020204" pitchFamily="34" charset="0"/>
              </a:rPr>
              <a:t>DeletionPolicy</a:t>
            </a:r>
            <a:r>
              <a:rPr lang="en-US" dirty="0">
                <a:latin typeface="Calibri" panose="020F0502020204030204" pitchFamily="34" charset="0"/>
                <a:cs typeface="Arial" panose="020B0604020202020204" pitchFamily="34" charset="0"/>
              </a:rPr>
              <a:t> attribute, AWS CloudFormation deletes the resource by default. This capability does not apply to resources whose physical instance is replaced during stack update operations. For example, if you edit a resource's properties such that AWS CloudFormation replaces that resource during a stack update.</a:t>
            </a:r>
          </a:p>
          <a:p>
            <a:pPr marL="0" indent="0">
              <a:buNone/>
            </a:pPr>
            <a:endParaRPr lang="en-US" dirty="0">
              <a:latin typeface="Calibri" panose="020F0502020204030204" pitchFamily="34" charset="0"/>
              <a:cs typeface="Arial" panose="020B0604020202020204" pitchFamily="34" charset="0"/>
            </a:endParaRPr>
          </a:p>
          <a:p>
            <a:pPr marL="0" indent="0">
              <a:buNone/>
            </a:pPr>
            <a:r>
              <a:rPr lang="en-US" dirty="0">
                <a:latin typeface="Calibri" panose="020F0502020204030204" pitchFamily="34" charset="0"/>
                <a:cs typeface="Arial" panose="020B0604020202020204" pitchFamily="34" charset="0"/>
              </a:rPr>
              <a:t>For more information, see: </a:t>
            </a:r>
            <a:r>
              <a:rPr lang="en-US" dirty="0">
                <a:latin typeface="Calibri" panose="020F0502020204030204" pitchFamily="34" charset="0"/>
                <a:cs typeface="Arial" panose="020B0604020202020204" pitchFamily="34" charset="0"/>
                <a:hlinkClick r:id="rId3"/>
              </a:rPr>
              <a:t>http://docs.aws.amazon.com/AWSCloudFormation/latest/UserGuide/using-cfn-updating-stacks-changesets.html</a:t>
            </a:r>
            <a:r>
              <a:rPr lang="en-US" dirty="0">
                <a:latin typeface="Calibri" panose="020F0502020204030204" pitchFamily="34" charset="0"/>
                <a:cs typeface="Arial" panose="020B0604020202020204" pitchFamily="34" charset="0"/>
              </a:rPr>
              <a:t>. </a:t>
            </a:r>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15</a:t>
            </a:fld>
            <a:endParaRPr lang="en-US"/>
          </a:p>
        </p:txBody>
      </p:sp>
    </p:spTree>
    <p:extLst>
      <p:ext uri="{BB962C8B-B14F-4D97-AF65-F5344CB8AC3E}">
        <p14:creationId xmlns:p14="http://schemas.microsoft.com/office/powerpoint/2010/main" val="3485568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kern="1200" dirty="0">
                <a:solidFill>
                  <a:schemeClr val="tx1"/>
                </a:solidFill>
                <a:effectLst/>
                <a:latin typeface="Calibri" panose="020F0502020204030204" pitchFamily="34" charset="0"/>
                <a:ea typeface="+mn-ea"/>
                <a:cs typeface="+mn-cs"/>
              </a:rPr>
              <a:t>Quick Starts are built by AWS solutions architects and partners to help you deploy popular solutions on AWS, based on AWS best practices for security and high availability. These reference deployments implement key technologies automatically on the AWS Cloud, often with a single click and in less than an hour. You can build your test or production environment in a few steps, and start using it immediately.</a:t>
            </a:r>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17</a:t>
            </a:fld>
            <a:endParaRPr lang="en-US"/>
          </a:p>
        </p:txBody>
      </p:sp>
    </p:spTree>
    <p:extLst>
      <p:ext uri="{BB962C8B-B14F-4D97-AF65-F5344CB8AC3E}">
        <p14:creationId xmlns:p14="http://schemas.microsoft.com/office/powerpoint/2010/main" val="2452255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The Quick Start is made of an AWS CloudFormation template and associated scripts to create the environment in your AWS account. It deals with all the bootstrapping and deploying on your behalf. There is also a deployment guide that will tell you how everything was created.</a:t>
            </a:r>
          </a:p>
          <a:p>
            <a:endParaRPr lang="en-US" dirty="0">
              <a:latin typeface="Calibri" panose="020F0502020204030204" pitchFamily="34" charset="0"/>
            </a:endParaRPr>
          </a:p>
          <a:p>
            <a:r>
              <a:rPr lang="en-US" dirty="0">
                <a:latin typeface="Calibri" panose="020F0502020204030204" pitchFamily="34" charset="0"/>
              </a:rPr>
              <a:t>You will be charged for the resources used in the creation of, and running of this environment.</a:t>
            </a:r>
          </a:p>
          <a:p>
            <a:endParaRPr lang="en-US" dirty="0">
              <a:latin typeface="Calibri" panose="020F0502020204030204" pitchFamily="34" charset="0"/>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rPr>
              <a:t>For more information, see </a:t>
            </a:r>
            <a:r>
              <a:rPr lang="en-US" dirty="0">
                <a:latin typeface="Calibri" panose="020F0502020204030204" pitchFamily="34" charset="0"/>
                <a:hlinkClick r:id="rId3"/>
              </a:rPr>
              <a:t>https://aws.amazon.com/quickstart/</a:t>
            </a:r>
            <a:endParaRPr lang="en-US" dirty="0"/>
          </a:p>
          <a:p>
            <a:endParaRPr lang="en-US" dirty="0">
              <a:latin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18</a:t>
            </a:fld>
            <a:endParaRPr lang="en-US"/>
          </a:p>
        </p:txBody>
      </p:sp>
    </p:spTree>
    <p:extLst>
      <p:ext uri="{BB962C8B-B14F-4D97-AF65-F5344CB8AC3E}">
        <p14:creationId xmlns:p14="http://schemas.microsoft.com/office/powerpoint/2010/main" val="14294129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You</a:t>
            </a:r>
            <a:r>
              <a:rPr lang="en-US" baseline="0" dirty="0">
                <a:latin typeface="Calibri" panose="020F0502020204030204" pitchFamily="34" charset="0"/>
              </a:rPr>
              <a:t> can </a:t>
            </a:r>
            <a:r>
              <a:rPr lang="en-US" dirty="0">
                <a:latin typeface="Calibri" panose="020F0502020204030204" pitchFamily="34" charset="0"/>
              </a:rPr>
              <a:t>create an entire infrastructure automatically by using AWS CloudFormation, but there are still some important questions to ask.</a:t>
            </a:r>
          </a:p>
          <a:p>
            <a:endParaRPr lang="en-US" dirty="0">
              <a:latin typeface="Calibri" panose="020F0502020204030204" pitchFamily="34" charset="0"/>
            </a:endParaRPr>
          </a:p>
          <a:p>
            <a:r>
              <a:rPr lang="en-US" dirty="0">
                <a:latin typeface="Calibri" panose="020F0502020204030204" pitchFamily="34" charset="0"/>
              </a:rPr>
              <a:t>How do update your Amazon EC2 instances? Are you supposed to log into each box and run update commands yourself? Download the newest version of your web app? How do you revert a change if something goes wrong? What if you have 100 servers that run three different apps? </a:t>
            </a:r>
          </a:p>
          <a:p>
            <a:endParaRPr lang="en-US" dirty="0">
              <a:latin typeface="Calibri" panose="020F0502020204030204" pitchFamily="34" charset="0"/>
            </a:endParaRPr>
          </a:p>
          <a:p>
            <a:r>
              <a:rPr lang="en-US" dirty="0">
                <a:latin typeface="Calibri" panose="020F0502020204030204" pitchFamily="34" charset="0"/>
              </a:rPr>
              <a:t>There are traditional tools that can help with these scenarios, but an out-of-the-box solution would be more convenient. </a:t>
            </a:r>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20</a:t>
            </a:fld>
            <a:endParaRPr lang="en-US"/>
          </a:p>
        </p:txBody>
      </p:sp>
    </p:spTree>
    <p:extLst>
      <p:ext uri="{BB962C8B-B14F-4D97-AF65-F5344CB8AC3E}">
        <p14:creationId xmlns:p14="http://schemas.microsoft.com/office/powerpoint/2010/main" val="23783974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AWS Systems Manager is a management service that helps you automatically collect software inventory, apply OS patches, create system images, and configure Windows and Linux operating systems. These capabilities help you define and track system configurations, prevent drift, and maintain software compliance of your Amazon EC2 and on-premises configurations. By providing a management approach that is designed for the scale and agility of the cloud but extends into your on-premises data center, AWS Systems Manager makes it easier for you to seamlessly bridge your existing infrastructure with AWS.</a:t>
            </a:r>
          </a:p>
          <a:p>
            <a:endParaRPr lang="en-US" dirty="0">
              <a:latin typeface="Calibri" panose="020F0502020204030204" pitchFamily="34" charset="0"/>
            </a:endParaRPr>
          </a:p>
          <a:p>
            <a:r>
              <a:rPr lang="en-US" dirty="0">
                <a:latin typeface="Calibri" panose="020F0502020204030204" pitchFamily="34" charset="0"/>
              </a:rPr>
              <a:t>You can open AWS Systems Manager from</a:t>
            </a:r>
            <a:r>
              <a:rPr lang="en-US" baseline="0" dirty="0">
                <a:latin typeface="Calibri" panose="020F0502020204030204" pitchFamily="34" charset="0"/>
              </a:rPr>
              <a:t> the Amazon EC2 console</a:t>
            </a:r>
            <a:r>
              <a:rPr lang="en-US" dirty="0">
                <a:latin typeface="Calibri" panose="020F0502020204030204" pitchFamily="34" charset="0"/>
              </a:rPr>
              <a:t>.</a:t>
            </a:r>
            <a:r>
              <a:rPr lang="en-US" baseline="0" dirty="0">
                <a:latin typeface="Calibri" panose="020F0502020204030204" pitchFamily="34" charset="0"/>
              </a:rPr>
              <a:t> </a:t>
            </a:r>
            <a:r>
              <a:rPr lang="en-US" dirty="0">
                <a:latin typeface="Calibri" panose="020F0502020204030204" pitchFamily="34" charset="0"/>
              </a:rPr>
              <a:t>Select the instances you want to manage, and define the management tasks you want to perform. AWS Systems Manager is available at no cost to manage both your Amazon EC2 and on-premises resources.</a:t>
            </a:r>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21</a:t>
            </a:fld>
            <a:endParaRPr lang="en-US"/>
          </a:p>
        </p:txBody>
      </p:sp>
    </p:spTree>
    <p:extLst>
      <p:ext uri="{BB962C8B-B14F-4D97-AF65-F5344CB8AC3E}">
        <p14:creationId xmlns:p14="http://schemas.microsoft.com/office/powerpoint/2010/main" val="1053438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dirty="0">
                <a:solidFill>
                  <a:schemeClr val="tx1"/>
                </a:solidFill>
                <a:effectLst/>
                <a:latin typeface="Calibri" panose="020F0502020204030204" pitchFamily="34" charset="0"/>
                <a:ea typeface="+mn-ea"/>
                <a:cs typeface="+mn-cs"/>
              </a:rPr>
              <a:t>Use Systems Manager Run Command to remotely and securely manage the configuration of your managed instances at scale. Use Run Command to perform on-demand changes like updating applications or running Linux shell scripts and Windows PowerShell commands on a target set of dozens or hundreds of instances.</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For more information, see: </a:t>
            </a:r>
            <a:r>
              <a:rPr lang="en-US" dirty="0">
                <a:hlinkClick r:id="rId3"/>
              </a:rPr>
              <a:t>https://docs.aws.amazon.com/systems-manager/latest/userguide/execute-remote-commands.html</a:t>
            </a:r>
            <a:endParaRPr lang="en-US" dirty="0"/>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Use Patch Manager to automate the process of patching your managed instances. This capability enables you to scan instances for missing patches and apply missing patches individually or to large groups of instances by using Amazon EC2 instance tags. For security patches, Patch Manager uses patch baselines that include rules for auto-approving patches within days of their release, as well as a list of approved and rejected patches. Security patches are installed from the default repository for patches configured for the instance. You can install security patches on a regular basis by scheduling patching to run as a Systems Manager Maintenance Window task. For Linux operating systems, you can define the repositories that should be used for patching operations as part of your patch baseline.</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This allows you to ensure that updates are installed only from trusted repositories regardless of what repositories are configured on the instance. For Linux, you also have the ability to update any package on the instance, not just those that are classified as operating system security updates.</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For more information, see: </a:t>
            </a:r>
            <a:r>
              <a:rPr lang="en-US" dirty="0">
                <a:hlinkClick r:id="rId4"/>
              </a:rPr>
              <a:t>https://docs.aws.amazon.com/systems-manager/latest/userguide/systems-manager-patch.html</a:t>
            </a:r>
            <a:endParaRPr lang="en-US" dirty="0"/>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Use Maintenance Windows to set up recurring schedules for managed instances to run administrative tasks like installing patches and updates without interrupting business-critical operations.</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For more information, see: </a:t>
            </a:r>
            <a:r>
              <a:rPr lang="en-US" dirty="0">
                <a:hlinkClick r:id="rId5"/>
              </a:rPr>
              <a:t>https://docs.aws.amazon.com/systems-manager/latest/userguide/systems-manager-maintenance.html</a:t>
            </a:r>
            <a:endParaRPr lang="en-US" b="0" i="0" kern="1200" dirty="0">
              <a:solidFill>
                <a:schemeClr val="tx1"/>
              </a:solidFill>
              <a:effectLst/>
              <a:latin typeface="Calibri" panose="020F0502020204030204" pitchFamily="34" charset="0"/>
              <a:ea typeface="+mn-ea"/>
              <a:cs typeface="+mn-cs"/>
            </a:endParaRP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Use Systems Manager State Manager to automate the process of keeping your managed instances in a defined state. You can use State Manager to ensure that your instances are bootstrapped with specific software at startup, joined to a Windows domain (Windows instances only), or patched with specific software updates.</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For more information, see: </a:t>
            </a:r>
            <a:r>
              <a:rPr lang="en-US" dirty="0">
                <a:hlinkClick r:id="rId6"/>
              </a:rPr>
              <a:t>https://docs.aws.amazon.com/systems-manager/latest/userguide/systems-manager-state.html</a:t>
            </a:r>
            <a:endParaRPr lang="en-US" b="0" i="0" kern="1200" dirty="0">
              <a:solidFill>
                <a:schemeClr val="tx1"/>
              </a:solidFill>
              <a:effectLst/>
              <a:latin typeface="Calibri" panose="020F0502020204030204" pitchFamily="34" charset="0"/>
              <a:ea typeface="+mn-ea"/>
              <a:cs typeface="+mn-cs"/>
            </a:endParaRPr>
          </a:p>
          <a:p>
            <a:endParaRPr lang="en-US" b="0" i="0" kern="1200" dirty="0">
              <a:solidFill>
                <a:schemeClr val="tx1"/>
              </a:solidFill>
              <a:effectLst/>
              <a:latin typeface="Calibri" panose="020F0502020204030204" pitchFamily="34" charset="0"/>
              <a:ea typeface="+mn-ea"/>
              <a:cs typeface="+mn-cs"/>
            </a:endParaRPr>
          </a:p>
          <a:p>
            <a:r>
              <a:rPr lang="en-US" dirty="0">
                <a:latin typeface="Calibri" panose="020F0502020204030204" pitchFamily="34" charset="0"/>
              </a:rPr>
              <a:t>Use Session Manager to </a:t>
            </a:r>
            <a:r>
              <a:rPr lang="en-US" dirty="0"/>
              <a:t>manage your Amazon EC2 instances through an interactive one-click browser-based shell or through the AWS CLI. Session Manager provides secure and auditable instance management without the need to open inbound ports, maintain bastion hosts, or manage SSH keys. Session Manager also makes it easy to comply with corporate policies that require controlled access to instances, strict security practices, and fully auditable logs with instance access details, while still providing end users with simple one-click cross-platform access to your Amazon EC2 instances.</a:t>
            </a:r>
          </a:p>
          <a:p>
            <a:endParaRPr lang="en-US" dirty="0"/>
          </a:p>
          <a:p>
            <a:r>
              <a:rPr lang="en-US" dirty="0"/>
              <a:t>For more information, see: </a:t>
            </a:r>
            <a:r>
              <a:rPr lang="en-US" dirty="0">
                <a:hlinkClick r:id="rId7"/>
              </a:rPr>
              <a:t>https://docs.aws.amazon.com/systems-manager/latest/userguide/session-manager.html</a:t>
            </a:r>
            <a:endParaRPr lang="en-US" dirty="0"/>
          </a:p>
          <a:p>
            <a:endParaRPr lang="en-US" dirty="0">
              <a:latin typeface="Calibri" panose="020F0502020204030204" pitchFamily="34" charset="0"/>
            </a:endParaRPr>
          </a:p>
          <a:p>
            <a:r>
              <a:rPr lang="en-US" sz="1200" dirty="0">
                <a:latin typeface="Calibri" panose="020F0502020204030204" pitchFamily="34" charset="0"/>
                <a:cs typeface="Calibri" panose="020F0502020204030204" pitchFamily="34" charset="0"/>
              </a:rPr>
              <a:t>Use Inventory</a:t>
            </a:r>
            <a:r>
              <a:rPr lang="en-US" sz="1200" dirty="0">
                <a:effectLst/>
                <a:latin typeface="Calibri" panose="020F0502020204030204" pitchFamily="34" charset="0"/>
                <a:cs typeface="Calibri" panose="020F0502020204030204" pitchFamily="34" charset="0"/>
              </a:rPr>
              <a:t> for </a:t>
            </a:r>
            <a:r>
              <a:rPr lang="en-US" sz="1200" dirty="0">
                <a:latin typeface="Calibri" panose="020F0502020204030204" pitchFamily="34" charset="0"/>
                <a:cs typeface="Calibri" panose="020F0502020204030204" pitchFamily="34" charset="0"/>
              </a:rPr>
              <a:t>visibility into your Amazon EC2 and on-premises computing environment. You can use Inventory to collect metadata from your managed instances. </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For more information, see: </a:t>
            </a:r>
            <a:r>
              <a:rPr lang="en-US" sz="1200" dirty="0">
                <a:latin typeface="Calibri" panose="020F0502020204030204" pitchFamily="34" charset="0"/>
                <a:cs typeface="Calibri" panose="020F0502020204030204" pitchFamily="34" charset="0"/>
                <a:hlinkClick r:id="rId8"/>
              </a:rPr>
              <a:t>https://docs.aws.amazon.com/systems-manager/latest/userguide/systems-manager-inventory.html</a:t>
            </a:r>
            <a:endParaRPr lang="en-US" sz="1200" dirty="0">
              <a:latin typeface="Calibri" panose="020F0502020204030204" pitchFamily="34" charset="0"/>
              <a:cs typeface="Calibri" panose="020F0502020204030204" pitchFamily="34" charset="0"/>
            </a:endParaRPr>
          </a:p>
          <a:p>
            <a:endParaRPr lang="en-US" sz="1200" dirty="0">
              <a:latin typeface="Calibri" panose="020F0502020204030204" pitchFamily="34" charset="0"/>
              <a:cs typeface="Calibri" panose="020F0502020204030204" pitchFamily="34" charset="0"/>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sz="1200" b="0" dirty="0">
                <a:latin typeface="Calibri" panose="020F0502020204030204" pitchFamily="34" charset="0"/>
                <a:cs typeface="Calibri" panose="020F0502020204030204" pitchFamily="34" charset="0"/>
              </a:rPr>
              <a:t>Session Manager icon </a:t>
            </a:r>
            <a:r>
              <a:rPr lang="en-US" sz="1200" b="0" dirty="0">
                <a:solidFill>
                  <a:srgbClr val="5F7D95"/>
                </a:solidFill>
                <a:latin typeface="Calibri" panose="020F0502020204030204" pitchFamily="34" charset="0"/>
                <a:ea typeface="Amazon Ember" panose="020B0603020204020204" pitchFamily="34" charset="0"/>
                <a:cs typeface="Calibri" panose="020F0502020204030204" pitchFamily="34" charset="0"/>
              </a:rPr>
              <a:t>made by </a:t>
            </a:r>
            <a:r>
              <a:rPr lang="en-US" sz="1200" b="0" dirty="0" err="1">
                <a:solidFill>
                  <a:srgbClr val="5F7D95"/>
                </a:solidFill>
                <a:latin typeface="Calibri" panose="020F0502020204030204" pitchFamily="34" charset="0"/>
                <a:ea typeface="Amazon Ember" panose="020B0603020204020204" pitchFamily="34" charset="0"/>
                <a:cs typeface="Calibri" panose="020F0502020204030204" pitchFamily="34" charset="0"/>
                <a:hlinkClick r:id="rId9"/>
              </a:rPr>
              <a:t>smalllikeart</a:t>
            </a:r>
            <a:r>
              <a:rPr lang="en-US" sz="1200" b="0" dirty="0">
                <a:solidFill>
                  <a:srgbClr val="5F7D95"/>
                </a:solidFill>
                <a:latin typeface="Calibri" panose="020F0502020204030204" pitchFamily="34" charset="0"/>
                <a:ea typeface="Amazon Ember" panose="020B0603020204020204" pitchFamily="34" charset="0"/>
                <a:cs typeface="Calibri" panose="020F0502020204030204" pitchFamily="34" charset="0"/>
              </a:rPr>
              <a:t> from </a:t>
            </a:r>
            <a:r>
              <a:rPr lang="en-US" sz="1200" b="0" dirty="0">
                <a:solidFill>
                  <a:srgbClr val="4AD295"/>
                </a:solidFill>
                <a:latin typeface="Calibri" panose="020F0502020204030204" pitchFamily="34" charset="0"/>
                <a:ea typeface="Amazon Ember" panose="020B0603020204020204" pitchFamily="34" charset="0"/>
                <a:cs typeface="Calibri" panose="020F0502020204030204" pitchFamily="34" charset="0"/>
                <a:hlinkClick r:id="rId10"/>
              </a:rPr>
              <a:t>www.flaticon.com</a:t>
            </a:r>
            <a:endParaRPr lang="en-US" sz="1200" b="0" dirty="0">
              <a:solidFill>
                <a:srgbClr val="4AD295"/>
              </a:solidFill>
              <a:latin typeface="Calibri" panose="020F0502020204030204" pitchFamily="34" charset="0"/>
              <a:ea typeface="Amazon Ember" panose="020B0603020204020204" pitchFamily="34" charset="0"/>
              <a:cs typeface="Calibri" panose="020F0502020204030204" pitchFamily="34" charset="0"/>
            </a:endParaRPr>
          </a:p>
          <a:p>
            <a:pPr marL="0" marR="0" lvl="0" indent="0" algn="l" defTabSz="913395" rtl="0" eaLnBrk="1" fontAlgn="auto" latinLnBrk="0" hangingPunct="1">
              <a:lnSpc>
                <a:spcPct val="100000"/>
              </a:lnSpc>
              <a:spcBef>
                <a:spcPts val="0"/>
              </a:spcBef>
              <a:spcAft>
                <a:spcPts val="0"/>
              </a:spcAft>
              <a:buClrTx/>
              <a:buSzTx/>
              <a:buFontTx/>
              <a:buNone/>
              <a:tabLst/>
              <a:defRPr/>
            </a:pPr>
            <a:r>
              <a:rPr lang="en-US" sz="1200" b="0" dirty="0">
                <a:solidFill>
                  <a:srgbClr val="4AD295"/>
                </a:solidFill>
                <a:latin typeface="Calibri" panose="020F0502020204030204" pitchFamily="34" charset="0"/>
                <a:ea typeface="Amazon Ember" panose="020B0603020204020204" pitchFamily="34" charset="0"/>
                <a:cs typeface="Calibri" panose="020F0502020204030204" pitchFamily="34" charset="0"/>
              </a:rPr>
              <a:t>Inventory </a:t>
            </a:r>
            <a:r>
              <a:rPr lang="en-US" sz="1200" b="0" dirty="0">
                <a:solidFill>
                  <a:srgbClr val="5F7D95"/>
                </a:solidFill>
                <a:latin typeface="Calibri" panose="020F0502020204030204" pitchFamily="34" charset="0"/>
                <a:ea typeface="Amazon Ember" panose="020B0603020204020204" pitchFamily="34" charset="0"/>
                <a:cs typeface="Calibri" panose="020F0502020204030204" pitchFamily="34" charset="0"/>
              </a:rPr>
              <a:t>Icon made by </a:t>
            </a:r>
            <a:r>
              <a:rPr lang="en-US" sz="1200" b="0" dirty="0" err="1">
                <a:solidFill>
                  <a:srgbClr val="5F7D95"/>
                </a:solidFill>
                <a:latin typeface="Calibri" panose="020F0502020204030204" pitchFamily="34" charset="0"/>
                <a:ea typeface="Amazon Ember" panose="020B0603020204020204" pitchFamily="34" charset="0"/>
                <a:cs typeface="Calibri" panose="020F0502020204030204" pitchFamily="34" charset="0"/>
                <a:hlinkClick r:id="rId11"/>
              </a:rPr>
              <a:t>wanicon</a:t>
            </a:r>
            <a:r>
              <a:rPr lang="en-US" sz="1200" b="0" dirty="0">
                <a:solidFill>
                  <a:srgbClr val="5F7D95"/>
                </a:solidFill>
                <a:latin typeface="Calibri" panose="020F0502020204030204" pitchFamily="34" charset="0"/>
                <a:ea typeface="Amazon Ember" panose="020B0603020204020204" pitchFamily="34" charset="0"/>
                <a:cs typeface="Calibri" panose="020F0502020204030204" pitchFamily="34" charset="0"/>
              </a:rPr>
              <a:t> from </a:t>
            </a:r>
            <a:r>
              <a:rPr lang="en-US" sz="1200" b="0" dirty="0">
                <a:solidFill>
                  <a:srgbClr val="4AD295"/>
                </a:solidFill>
                <a:latin typeface="Calibri" panose="020F0502020204030204" pitchFamily="34" charset="0"/>
                <a:ea typeface="Amazon Ember" panose="020B0603020204020204" pitchFamily="34" charset="0"/>
                <a:cs typeface="Calibri" panose="020F0502020204030204" pitchFamily="34" charset="0"/>
                <a:hlinkClick r:id="rId10"/>
              </a:rPr>
              <a:t>www.flaticon.com</a:t>
            </a:r>
            <a:endParaRPr lang="en-US" sz="1200" b="0" dirty="0">
              <a:latin typeface="Calibri" panose="020F0502020204030204" pitchFamily="34" charset="0"/>
              <a:ea typeface="Amazon Ember" panose="020B0603020204020204" pitchFamily="34" charset="0"/>
              <a:cs typeface="Calibri" panose="020F0502020204030204" pitchFamily="34" charset="0"/>
            </a:endParaRPr>
          </a:p>
          <a:p>
            <a:pPr marL="0" marR="0" lvl="0" indent="0" algn="l" defTabSz="913395" rtl="0" eaLnBrk="1" fontAlgn="auto" latinLnBrk="0" hangingPunct="1">
              <a:lnSpc>
                <a:spcPct val="100000"/>
              </a:lnSpc>
              <a:spcBef>
                <a:spcPts val="0"/>
              </a:spcBef>
              <a:spcAft>
                <a:spcPts val="0"/>
              </a:spcAft>
              <a:buClrTx/>
              <a:buSzTx/>
              <a:buFontTx/>
              <a:buNone/>
              <a:tabLst/>
              <a:defRPr/>
            </a:pPr>
            <a:endParaRPr lang="en-US" sz="800" dirty="0">
              <a:latin typeface="Calibri" panose="020F0502020204030204" pitchFamily="34" charset="0"/>
              <a:ea typeface="Amazon Ember" panose="020B0603020204020204" pitchFamily="34" charset="0"/>
              <a:cs typeface="Calibri" panose="020F0502020204030204" pitchFamily="34" charset="0"/>
            </a:endParaRPr>
          </a:p>
          <a:p>
            <a:endParaRPr lang="en-US" dirty="0">
              <a:latin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22</a:t>
            </a:fld>
            <a:endParaRPr lang="en-US"/>
          </a:p>
        </p:txBody>
      </p:sp>
    </p:spTree>
    <p:extLst>
      <p:ext uri="{BB962C8B-B14F-4D97-AF65-F5344CB8AC3E}">
        <p14:creationId xmlns:p14="http://schemas.microsoft.com/office/powerpoint/2010/main" val="16297490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AWS </a:t>
            </a:r>
            <a:r>
              <a:rPr lang="en-US" dirty="0" err="1">
                <a:latin typeface="Calibri" panose="020F0502020204030204" pitchFamily="34" charset="0"/>
              </a:rPr>
              <a:t>OpsWorks</a:t>
            </a:r>
            <a:r>
              <a:rPr lang="en-US" dirty="0">
                <a:latin typeface="Calibri" panose="020F0502020204030204" pitchFamily="34" charset="0"/>
              </a:rPr>
              <a:t> Stacks is a configuration management service that helps you configure and operate applications of all shapes and sizes using Chef. You can define the application’s architecture and the specification of each component, including package installation, software configuration and resources such as storage. Start from templates for common technologies such as application servers and databases or build your own to perform any task that can be scripted. AWS </a:t>
            </a:r>
            <a:r>
              <a:rPr lang="en-US" dirty="0" err="1">
                <a:latin typeface="Calibri" panose="020F0502020204030204" pitchFamily="34" charset="0"/>
              </a:rPr>
              <a:t>OpsWorks</a:t>
            </a:r>
            <a:r>
              <a:rPr lang="en-US" dirty="0">
                <a:latin typeface="Calibri" panose="020F0502020204030204" pitchFamily="34" charset="0"/>
              </a:rPr>
              <a:t> Stacks includes automation to scale your application based on time or load and dynamic configuration to orchestrate changes as your environment scales.</a:t>
            </a:r>
          </a:p>
          <a:p>
            <a:endParaRPr lang="en-US" dirty="0">
              <a:latin typeface="Calibri" panose="020F0502020204030204" pitchFamily="34" charset="0"/>
            </a:endParaRPr>
          </a:p>
          <a:p>
            <a:r>
              <a:rPr lang="en-US" sz="1200" b="0" i="0" kern="1200" dirty="0">
                <a:solidFill>
                  <a:schemeClr val="tx1"/>
                </a:solidFill>
                <a:effectLst/>
                <a:latin typeface="+mn-lt"/>
                <a:ea typeface="+mn-ea"/>
                <a:cs typeface="+mn-cs"/>
              </a:rPr>
              <a:t>AWS </a:t>
            </a:r>
            <a:r>
              <a:rPr lang="en-US" sz="1200" b="0" i="0" kern="1200" dirty="0" err="1">
                <a:solidFill>
                  <a:schemeClr val="tx1"/>
                </a:solidFill>
                <a:effectLst/>
                <a:latin typeface="+mn-lt"/>
                <a:ea typeface="+mn-ea"/>
                <a:cs typeface="+mn-cs"/>
              </a:rPr>
              <a:t>OpsWorks</a:t>
            </a:r>
            <a:r>
              <a:rPr lang="en-US" sz="1200" b="0" i="0" kern="1200" dirty="0">
                <a:solidFill>
                  <a:schemeClr val="tx1"/>
                </a:solidFill>
                <a:effectLst/>
                <a:latin typeface="+mn-lt"/>
                <a:ea typeface="+mn-ea"/>
                <a:cs typeface="+mn-cs"/>
              </a:rPr>
              <a:t> for Chef Automate provides a fully managed Chef Automate server and suite of automation tools that give you workflow automation for continuous deployment, automated testing for compliance and security, and a user interface that gives you visibility into your nodes and their status. The Chef Automate platform gives you full stack automation by handling operational tasks such as software and operating system configurations, continuous compliance, package installations, database setups, and more. The Chef server centrally stores your configuration tasks and provides them to each node in your compute environment at any scale, from a few nodes to thousands of nodes. </a:t>
            </a:r>
            <a:r>
              <a:rPr lang="en-US" sz="1200" b="0" i="0" kern="1200" dirty="0" err="1">
                <a:solidFill>
                  <a:schemeClr val="tx1"/>
                </a:solidFill>
                <a:effectLst/>
                <a:latin typeface="+mn-lt"/>
                <a:ea typeface="+mn-ea"/>
                <a:cs typeface="+mn-cs"/>
              </a:rPr>
              <a:t>OpsWorks</a:t>
            </a:r>
            <a:r>
              <a:rPr lang="en-US" sz="1200" b="0" i="0" kern="1200" dirty="0">
                <a:solidFill>
                  <a:schemeClr val="tx1"/>
                </a:solidFill>
                <a:effectLst/>
                <a:latin typeface="+mn-lt"/>
                <a:ea typeface="+mn-ea"/>
                <a:cs typeface="+mn-cs"/>
              </a:rPr>
              <a:t> for Chef Automate is completely compatible with tooling and cookbooks from the Chef community and automatically registers new nodes with your Chef server. </a:t>
            </a:r>
          </a:p>
          <a:p>
            <a:endParaRPr lang="en-US" sz="1200" b="0" i="0" kern="1200" dirty="0">
              <a:solidFill>
                <a:schemeClr val="tx1"/>
              </a:solidFill>
              <a:effectLst/>
              <a:latin typeface="+mn-lt"/>
              <a:ea typeface="+mn-ea"/>
              <a:cs typeface="+mn-cs"/>
            </a:endParaRPr>
          </a:p>
          <a:p>
            <a:endParaRPr lang="en-US" dirty="0">
              <a:latin typeface="Calibri" panose="020F0502020204030204" pitchFamily="34" charset="0"/>
            </a:endParaRPr>
          </a:p>
          <a:p>
            <a:r>
              <a:rPr lang="en-US" b="0" i="0" kern="1200" dirty="0">
                <a:solidFill>
                  <a:schemeClr val="tx1"/>
                </a:solidFill>
                <a:effectLst/>
                <a:latin typeface="Calibri" panose="020F0502020204030204" pitchFamily="34" charset="0"/>
                <a:ea typeface="+mn-ea"/>
                <a:cs typeface="+mn-cs"/>
              </a:rPr>
              <a:t>AWS </a:t>
            </a:r>
            <a:r>
              <a:rPr lang="en-US" b="0" i="0" kern="1200" dirty="0" err="1">
                <a:solidFill>
                  <a:schemeClr val="tx1"/>
                </a:solidFill>
                <a:effectLst/>
                <a:latin typeface="Calibri" panose="020F0502020204030204" pitchFamily="34" charset="0"/>
                <a:ea typeface="+mn-ea"/>
                <a:cs typeface="+mn-cs"/>
              </a:rPr>
              <a:t>OpsWorks</a:t>
            </a:r>
            <a:r>
              <a:rPr lang="en-US" b="0" i="0" kern="1200" dirty="0">
                <a:solidFill>
                  <a:schemeClr val="tx1"/>
                </a:solidFill>
                <a:effectLst/>
                <a:latin typeface="Calibri" panose="020F0502020204030204" pitchFamily="34" charset="0"/>
                <a:ea typeface="+mn-ea"/>
                <a:cs typeface="+mn-cs"/>
              </a:rPr>
              <a:t> for Puppet Enterprise provides a managed Puppet Enterprise server and suite of automation tools that give you workflow automation for orchestration, automated provisioning, and visualization for traceability. The Puppet Enterprise server gives you full stack automation by handling operational tasks such as software and operating system configurations, package installations, database setups, and more. The Puppet master server centrally stores your configuration tasks and provides them to each node in your compute environment at any scale, from a few nodes to thousands of nodes.</a:t>
            </a:r>
            <a:endParaRPr lang="en-US" dirty="0">
              <a:latin typeface="Calibri" panose="020F050202020403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23</a:t>
            </a:fld>
            <a:endParaRPr lang="en-US"/>
          </a:p>
        </p:txBody>
      </p:sp>
    </p:spTree>
    <p:extLst>
      <p:ext uri="{BB962C8B-B14F-4D97-AF65-F5344CB8AC3E}">
        <p14:creationId xmlns:p14="http://schemas.microsoft.com/office/powerpoint/2010/main" val="19791696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rPr>
              <a:t>The fundamental unit of creation in an AWS </a:t>
            </a:r>
            <a:r>
              <a:rPr lang="en-US" dirty="0" err="1">
                <a:latin typeface="Calibri" panose="020F0502020204030204" pitchFamily="34" charset="0"/>
              </a:rPr>
              <a:t>OpsWorks</a:t>
            </a:r>
            <a:r>
              <a:rPr lang="en-US" dirty="0">
                <a:latin typeface="Calibri" panose="020F0502020204030204" pitchFamily="34" charset="0"/>
              </a:rPr>
              <a:t> Stacks application is the stack. You can think of this much in the way you think of an AWS CloudFormation stack: i.e., as the collection of resources utilized by your system. Unlike AWS CloudFormation, however, AWS </a:t>
            </a:r>
            <a:r>
              <a:rPr lang="en-US" dirty="0" err="1">
                <a:latin typeface="Calibri" panose="020F0502020204030204" pitchFamily="34" charset="0"/>
              </a:rPr>
              <a:t>OpsWorks</a:t>
            </a:r>
            <a:r>
              <a:rPr lang="en-US" dirty="0">
                <a:latin typeface="Calibri" panose="020F0502020204030204" pitchFamily="34" charset="0"/>
              </a:rPr>
              <a:t> Stacks applications contain another layer of management that ultimately simplifies deployment and configuration. </a:t>
            </a:r>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25</a:t>
            </a:fld>
            <a:endParaRPr lang="en-US"/>
          </a:p>
        </p:txBody>
      </p:sp>
    </p:spTree>
    <p:extLst>
      <p:ext uri="{BB962C8B-B14F-4D97-AF65-F5344CB8AC3E}">
        <p14:creationId xmlns:p14="http://schemas.microsoft.com/office/powerpoint/2010/main" val="4395840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rPr>
              <a:t>After a stack is created, you can add multiple layers to that stack, building out your application as a set of interacting layers of related functionality. </a:t>
            </a:r>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26</a:t>
            </a:fld>
            <a:endParaRPr lang="en-US"/>
          </a:p>
        </p:txBody>
      </p:sp>
    </p:spTree>
    <p:extLst>
      <p:ext uri="{BB962C8B-B14F-4D97-AF65-F5344CB8AC3E}">
        <p14:creationId xmlns:p14="http://schemas.microsoft.com/office/powerpoint/2010/main" val="6832383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Suppose that you have a need to customize an existing layer ( e.g., you want to add additional functionality to the instances in your PHP app server layer), such as a series of custom library packages required by your application. Or, suppose that you need to create a layer for an application type that currently isn't provided as a default layer by AWS </a:t>
            </a:r>
            <a:r>
              <a:rPr lang="en-US" dirty="0" err="1">
                <a:latin typeface="Calibri" panose="020F0502020204030204" pitchFamily="34" charset="0"/>
              </a:rPr>
              <a:t>OpsWorks</a:t>
            </a:r>
            <a:r>
              <a:rPr lang="en-US" dirty="0">
                <a:latin typeface="Calibri" panose="020F0502020204030204" pitchFamily="34" charset="0"/>
              </a:rPr>
              <a:t> Stacks, e.g., a Go application layer, or a Redis layer. </a:t>
            </a:r>
          </a:p>
          <a:p>
            <a:r>
              <a:rPr lang="en-US" dirty="0">
                <a:latin typeface="Calibri" panose="020F0502020204030204" pitchFamily="34" charset="0"/>
              </a:rPr>
              <a:t>You can customize the instances on an AWS </a:t>
            </a:r>
            <a:r>
              <a:rPr lang="en-US" dirty="0" err="1">
                <a:latin typeface="Calibri" panose="020F0502020204030204" pitchFamily="34" charset="0"/>
              </a:rPr>
              <a:t>OpsWorks</a:t>
            </a:r>
            <a:r>
              <a:rPr lang="en-US" dirty="0">
                <a:latin typeface="Calibri" panose="020F0502020204030204" pitchFamily="34" charset="0"/>
              </a:rPr>
              <a:t> Stacks layer by creating custom cookbooks. AWS </a:t>
            </a:r>
            <a:r>
              <a:rPr lang="en-US" dirty="0" err="1">
                <a:latin typeface="Calibri" panose="020F0502020204030204" pitchFamily="34" charset="0"/>
              </a:rPr>
              <a:t>OpsWorks</a:t>
            </a:r>
            <a:r>
              <a:rPr lang="en-US" dirty="0">
                <a:latin typeface="Calibri" panose="020F0502020204030204" pitchFamily="34" charset="0"/>
              </a:rPr>
              <a:t> Stacks layers use Chef cookbooks to handle tasks such as installing and configuring packages and deploying apps. Custom cookbooks are the key to AWS </a:t>
            </a:r>
            <a:r>
              <a:rPr lang="en-US" dirty="0" err="1">
                <a:latin typeface="Calibri" panose="020F0502020204030204" pitchFamily="34" charset="0"/>
              </a:rPr>
              <a:t>OpsWorks</a:t>
            </a:r>
            <a:r>
              <a:rPr lang="en-US" dirty="0">
                <a:latin typeface="Calibri" panose="020F0502020204030204" pitchFamily="34" charset="0"/>
              </a:rPr>
              <a:t> Stacks’ power and flexibility. By creating and attaching new recipes in this method, it's possible to create a layer that initializes the application environment for each instance added to the layer to fit your specific needs.</a:t>
            </a:r>
          </a:p>
          <a:p>
            <a:endParaRPr lang="en-US" dirty="0"/>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27</a:t>
            </a:fld>
            <a:endParaRPr lang="en-US"/>
          </a:p>
        </p:txBody>
      </p:sp>
    </p:spTree>
    <p:extLst>
      <p:ext uri="{BB962C8B-B14F-4D97-AF65-F5344CB8AC3E}">
        <p14:creationId xmlns:p14="http://schemas.microsoft.com/office/powerpoint/2010/main" val="31800007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rPr>
              <a:t>Because AWS </a:t>
            </a:r>
            <a:r>
              <a:rPr lang="en-US" dirty="0" err="1">
                <a:latin typeface="Calibri" panose="020F0502020204030204" pitchFamily="34" charset="0"/>
              </a:rPr>
              <a:t>OpsWorks</a:t>
            </a:r>
            <a:r>
              <a:rPr lang="en-US" dirty="0">
                <a:latin typeface="Calibri" panose="020F0502020204030204" pitchFamily="34" charset="0"/>
              </a:rPr>
              <a:t> Stacks can be created via AWS CloudFormation, the use of the two technologies is not mutually exclusive. You can use a set of tiered AWS CloudFormation templates in which one template creates the infrastructure for your environment (e.g., an Amazon VPC, IAM roles, an Amazon SQS queue for communication with external applications) and then uses a separate AWS CloudFormation template to create the AWS </a:t>
            </a:r>
            <a:r>
              <a:rPr lang="en-US" dirty="0" err="1">
                <a:latin typeface="Calibri" panose="020F0502020204030204" pitchFamily="34" charset="0"/>
              </a:rPr>
              <a:t>OpsWorks</a:t>
            </a:r>
            <a:r>
              <a:rPr lang="en-US" dirty="0">
                <a:latin typeface="Calibri" panose="020F0502020204030204" pitchFamily="34" charset="0"/>
              </a:rPr>
              <a:t> Stacks stack that will be deployed within that infrastructure. </a:t>
            </a:r>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28</a:t>
            </a:fld>
            <a:endParaRPr lang="en-US"/>
          </a:p>
        </p:txBody>
      </p:sp>
    </p:spTree>
    <p:extLst>
      <p:ext uri="{BB962C8B-B14F-4D97-AF65-F5344CB8AC3E}">
        <p14:creationId xmlns:p14="http://schemas.microsoft.com/office/powerpoint/2010/main" val="14742432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3395" rtl="0" eaLnBrk="1" fontAlgn="auto" latinLnBrk="0" hangingPunct="1">
              <a:lnSpc>
                <a:spcPct val="100000"/>
              </a:lnSpc>
              <a:spcBef>
                <a:spcPts val="0"/>
              </a:spcBef>
              <a:spcAft>
                <a:spcPts val="0"/>
              </a:spcAft>
              <a:buClrTx/>
              <a:buSzTx/>
              <a:buFontTx/>
              <a:buNone/>
              <a:tabLst/>
              <a:defRPr/>
            </a:pPr>
            <a:r>
              <a:rPr lang="en-US" dirty="0">
                <a:latin typeface="Calibri" panose="020F0502020204030204" pitchFamily="34" charset="0"/>
              </a:rPr>
              <a:t>The goal of AWS Elastic Beanstalk is to help developers deploy and maintain scalable web applications and services in the cloud without having to worry about the underlying infrastructure. Elastic Beanstalk configures each EC2 instance in your environment with the components necessary to run applications for the selected platform. You don’t have to worry about logging into instances to install and configure your application stack.</a:t>
            </a:r>
          </a:p>
          <a:p>
            <a:endParaRPr lang="en-US" dirty="0"/>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32</a:t>
            </a:fld>
            <a:endParaRPr lang="en-US"/>
          </a:p>
        </p:txBody>
      </p:sp>
    </p:spTree>
    <p:extLst>
      <p:ext uri="{BB962C8B-B14F-4D97-AF65-F5344CB8AC3E}">
        <p14:creationId xmlns:p14="http://schemas.microsoft.com/office/powerpoint/2010/main" val="12831749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There are two types of environments you can choose from when working with AWS Elastic Beanstalk. The single-instance environment will allow you to launch a single EC2 instance and will not include load balancing or Auto Scaling. The other type of environment can launch multiple EC2 instances and includes load balancing and Auto Scaling configuration.</a:t>
            </a:r>
          </a:p>
          <a:p>
            <a:endParaRPr lang="en-US" dirty="0">
              <a:latin typeface="Calibri" panose="020F0502020204030204" pitchFamily="34" charset="0"/>
            </a:endParaRPr>
          </a:p>
          <a:p>
            <a:pPr marL="0" marR="0" indent="0" algn="l" defTabSz="457200" rtl="0" eaLnBrk="1" fontAlgn="auto" latinLnBrk="0" hangingPunct="1">
              <a:lnSpc>
                <a:spcPct val="100000"/>
              </a:lnSpc>
              <a:spcBef>
                <a:spcPts val="0"/>
              </a:spcBef>
              <a:spcAft>
                <a:spcPts val="600"/>
              </a:spcAft>
              <a:buClrTx/>
              <a:buSzTx/>
              <a:buFontTx/>
              <a:buNone/>
              <a:tabLst/>
              <a:defRPr/>
            </a:pPr>
            <a:r>
              <a:rPr lang="en-US" dirty="0">
                <a:latin typeface="Calibri" panose="020F0502020204030204" pitchFamily="34" charset="0"/>
              </a:rPr>
              <a:t>Elastic Beanstalk provisions necessary infrastructure resources, such as ELB, Auto Scaling groups, security groups, and databases (optional).</a:t>
            </a:r>
          </a:p>
          <a:p>
            <a:endParaRPr lang="en-US" dirty="0">
              <a:latin typeface="Calibri" panose="020F050202020403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33</a:t>
            </a:fld>
            <a:endParaRPr lang="en-US"/>
          </a:p>
        </p:txBody>
      </p:sp>
    </p:spTree>
    <p:extLst>
      <p:ext uri="{BB962C8B-B14F-4D97-AF65-F5344CB8AC3E}">
        <p14:creationId xmlns:p14="http://schemas.microsoft.com/office/powerpoint/2010/main" val="18211336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One frequently </a:t>
            </a:r>
            <a:r>
              <a:rPr lang="en-US" b="0" baseline="0" dirty="0">
                <a:latin typeface="Calibri" panose="020F0502020204030204" pitchFamily="34" charset="0"/>
              </a:rPr>
              <a:t>asked question is </a:t>
            </a:r>
            <a:r>
              <a:rPr lang="en-US" dirty="0">
                <a:latin typeface="Calibri" panose="020F0502020204030204" pitchFamily="34" charset="0"/>
              </a:rPr>
              <a:t>about the </a:t>
            </a:r>
            <a:r>
              <a:rPr lang="en-US" b="0" baseline="0" dirty="0">
                <a:latin typeface="Calibri" panose="020F0502020204030204" pitchFamily="34" charset="0"/>
              </a:rPr>
              <a:t>multiple services that </a:t>
            </a:r>
            <a:r>
              <a:rPr lang="en-US" dirty="0">
                <a:latin typeface="Calibri" panose="020F0502020204030204" pitchFamily="34" charset="0"/>
              </a:rPr>
              <a:t>provide </a:t>
            </a:r>
            <a:r>
              <a:rPr lang="en-US" b="0" baseline="0" dirty="0">
                <a:latin typeface="Calibri" panose="020F0502020204030204" pitchFamily="34" charset="0"/>
              </a:rPr>
              <a:t>application management capabilities</a:t>
            </a:r>
            <a:r>
              <a:rPr lang="en-US" dirty="0">
                <a:latin typeface="Calibri" panose="020F0502020204030204" pitchFamily="34" charset="0"/>
              </a:rPr>
              <a:t>,</a:t>
            </a:r>
            <a:r>
              <a:rPr lang="en-US" b="0" baseline="0" dirty="0">
                <a:latin typeface="Calibri" panose="020F0502020204030204" pitchFamily="34" charset="0"/>
              </a:rPr>
              <a:t> and where the line between them </a:t>
            </a:r>
            <a:r>
              <a:rPr lang="en-US" dirty="0">
                <a:latin typeface="Calibri" panose="020F0502020204030204" pitchFamily="34" charset="0"/>
              </a:rPr>
              <a:t>is</a:t>
            </a:r>
            <a:r>
              <a:rPr lang="en-US" b="0" baseline="0" dirty="0">
                <a:latin typeface="Calibri" panose="020F0502020204030204" pitchFamily="34" charset="0"/>
              </a:rPr>
              <a:t>. It really depends on the level of convenience and control that you need.</a:t>
            </a:r>
          </a:p>
          <a:p>
            <a:endParaRPr lang="en-US" b="0" dirty="0">
              <a:latin typeface="Calibri" panose="020F0502020204030204" pitchFamily="34" charset="0"/>
            </a:endParaRPr>
          </a:p>
          <a:p>
            <a:r>
              <a:rPr lang="en-US" b="0" dirty="0">
                <a:latin typeface="Calibri" panose="020F0502020204030204" pitchFamily="34" charset="0"/>
              </a:rPr>
              <a:t>AWS Elastic Beanstalk is an </a:t>
            </a:r>
            <a:r>
              <a:rPr lang="en-US" dirty="0">
                <a:latin typeface="Calibri" panose="020F0502020204030204" pitchFamily="34" charset="0"/>
              </a:rPr>
              <a:t>easy-to-use </a:t>
            </a:r>
            <a:r>
              <a:rPr lang="en-US" b="0" dirty="0">
                <a:latin typeface="Calibri" panose="020F0502020204030204" pitchFamily="34" charset="0"/>
              </a:rPr>
              <a:t>application</a:t>
            </a:r>
            <a:r>
              <a:rPr lang="en-US" b="0" baseline="0" dirty="0">
                <a:latin typeface="Calibri" panose="020F0502020204030204" pitchFamily="34" charset="0"/>
              </a:rPr>
              <a:t> service for building </a:t>
            </a:r>
            <a:r>
              <a:rPr lang="en-US" dirty="0">
                <a:latin typeface="Calibri" panose="020F0502020204030204" pitchFamily="34" charset="0"/>
              </a:rPr>
              <a:t>web </a:t>
            </a:r>
            <a:r>
              <a:rPr lang="en-US" b="0" baseline="0" dirty="0">
                <a:latin typeface="Calibri" panose="020F0502020204030204" pitchFamily="34" charset="0"/>
              </a:rPr>
              <a:t>applications with </a:t>
            </a:r>
            <a:r>
              <a:rPr lang="en-US" dirty="0">
                <a:latin typeface="Calibri" panose="020F0502020204030204" pitchFamily="34" charset="0"/>
              </a:rPr>
              <a:t>a </a:t>
            </a:r>
            <a:r>
              <a:rPr lang="en-US" b="0" baseline="0" dirty="0">
                <a:latin typeface="Calibri" panose="020F0502020204030204" pitchFamily="34" charset="0"/>
              </a:rPr>
              <a:t>popular container: Java, PHP, Node.js, Python, Ruby</a:t>
            </a:r>
            <a:r>
              <a:rPr lang="en-US" dirty="0">
                <a:latin typeface="Calibri" panose="020F0502020204030204" pitchFamily="34" charset="0"/>
              </a:rPr>
              <a:t>,</a:t>
            </a:r>
            <a:r>
              <a:rPr lang="en-US" b="0" baseline="0" dirty="0">
                <a:latin typeface="Calibri" panose="020F0502020204030204" pitchFamily="34" charset="0"/>
              </a:rPr>
              <a:t> and Docker. If you want to upload your code and </a:t>
            </a:r>
            <a:r>
              <a:rPr lang="en-US" dirty="0">
                <a:latin typeface="Calibri" panose="020F0502020204030204" pitchFamily="34" charset="0"/>
              </a:rPr>
              <a:t>don’t </a:t>
            </a:r>
            <a:r>
              <a:rPr lang="en-US" b="0" baseline="0" dirty="0">
                <a:latin typeface="Calibri" panose="020F0502020204030204" pitchFamily="34" charset="0"/>
              </a:rPr>
              <a:t>need to customize your environment, Elastic Beanstalk may be </a:t>
            </a:r>
            <a:r>
              <a:rPr lang="en-US" dirty="0">
                <a:latin typeface="Calibri" panose="020F0502020204030204" pitchFamily="34" charset="0"/>
              </a:rPr>
              <a:t>a good choice </a:t>
            </a:r>
            <a:r>
              <a:rPr lang="en-US" b="0" baseline="0" dirty="0">
                <a:latin typeface="Calibri" panose="020F0502020204030204" pitchFamily="34" charset="0"/>
              </a:rPr>
              <a:t>for you.</a:t>
            </a:r>
          </a:p>
          <a:p>
            <a:endParaRPr lang="en-US" b="0" baseline="0" dirty="0">
              <a:latin typeface="Calibri" panose="020F0502020204030204" pitchFamily="34" charset="0"/>
            </a:endParaRPr>
          </a:p>
          <a:p>
            <a:r>
              <a:rPr lang="en-US" b="0" baseline="0" dirty="0">
                <a:latin typeface="Calibri" panose="020F0502020204030204" pitchFamily="34" charset="0"/>
              </a:rPr>
              <a:t>AWS </a:t>
            </a:r>
            <a:r>
              <a:rPr lang="en-US" b="0" baseline="0" dirty="0" err="1">
                <a:latin typeface="Calibri" panose="020F0502020204030204" pitchFamily="34" charset="0"/>
              </a:rPr>
              <a:t>OpsWorks</a:t>
            </a:r>
            <a:r>
              <a:rPr lang="en-US" b="0" baseline="0" dirty="0">
                <a:latin typeface="Calibri" panose="020F0502020204030204" pitchFamily="34" charset="0"/>
              </a:rPr>
              <a:t> lets you launch an application and define its architecture and the specification of each component</a:t>
            </a:r>
            <a:r>
              <a:rPr lang="en-US" dirty="0">
                <a:latin typeface="Calibri" panose="020F0502020204030204" pitchFamily="34" charset="0"/>
              </a:rPr>
              <a:t>,</a:t>
            </a:r>
            <a:r>
              <a:rPr lang="en-US" b="0" baseline="0" dirty="0">
                <a:latin typeface="Calibri" panose="020F0502020204030204" pitchFamily="34" charset="0"/>
              </a:rPr>
              <a:t> including package installation, software configuration and resources, such as storage. You can use templates for common technologies (app servers, databases, etc.) or you can build your own template instead.</a:t>
            </a:r>
          </a:p>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34</a:t>
            </a:fld>
            <a:endParaRPr lang="en-US"/>
          </a:p>
        </p:txBody>
      </p:sp>
    </p:spTree>
    <p:extLst>
      <p:ext uri="{BB962C8B-B14F-4D97-AF65-F5344CB8AC3E}">
        <p14:creationId xmlns:p14="http://schemas.microsoft.com/office/powerpoint/2010/main" val="41778389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35</a:t>
            </a:fld>
            <a:endParaRPr lang="en-US"/>
          </a:p>
        </p:txBody>
      </p:sp>
    </p:spTree>
    <p:extLst>
      <p:ext uri="{BB962C8B-B14F-4D97-AF65-F5344CB8AC3E}">
        <p14:creationId xmlns:p14="http://schemas.microsoft.com/office/powerpoint/2010/main" val="16274740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36</a:t>
            </a:fld>
            <a:endParaRPr lang="en-US"/>
          </a:p>
        </p:txBody>
      </p:sp>
    </p:spTree>
    <p:extLst>
      <p:ext uri="{BB962C8B-B14F-4D97-AF65-F5344CB8AC3E}">
        <p14:creationId xmlns:p14="http://schemas.microsoft.com/office/powerpoint/2010/main" val="24861513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F761C40-39FF-400D-8CBC-046C06871F34}" type="slidenum">
              <a:rPr lang="en-US" smtClean="0"/>
              <a:t>37</a:t>
            </a:fld>
            <a:endParaRPr lang="en-US"/>
          </a:p>
        </p:txBody>
      </p:sp>
    </p:spTree>
    <p:extLst>
      <p:ext uri="{BB962C8B-B14F-4D97-AF65-F5344CB8AC3E}">
        <p14:creationId xmlns:p14="http://schemas.microsoft.com/office/powerpoint/2010/main" val="34641541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BBAB9-62A4-6483-FD77-6858031B41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649753-F753-B85B-A1E0-1A79BA1AD2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D56C135-8FB7-8743-6D0A-508B53A76CC9}"/>
              </a:ext>
            </a:extLst>
          </p:cNvPr>
          <p:cNvSpPr>
            <a:spLocks noGrp="1"/>
          </p:cNvSpPr>
          <p:nvPr>
            <p:ph type="dt" sz="half" idx="10"/>
          </p:nvPr>
        </p:nvSpPr>
        <p:spPr/>
        <p:txBody>
          <a:bodyPr/>
          <a:lstStyle/>
          <a:p>
            <a:fld id="{5407B734-2C2C-45C8-842D-9DF0231BC85F}" type="datetimeFigureOut">
              <a:rPr lang="en-US" smtClean="0"/>
              <a:t>9/27/2024</a:t>
            </a:fld>
            <a:endParaRPr lang="en-US"/>
          </a:p>
        </p:txBody>
      </p:sp>
      <p:sp>
        <p:nvSpPr>
          <p:cNvPr id="5" name="Footer Placeholder 4">
            <a:extLst>
              <a:ext uri="{FF2B5EF4-FFF2-40B4-BE49-F238E27FC236}">
                <a16:creationId xmlns:a16="http://schemas.microsoft.com/office/drawing/2014/main" id="{6B2D364C-376A-D364-2E37-6BBC74B46A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B277CE-6697-AE8D-D204-AEFCDAAF2115}"/>
              </a:ext>
            </a:extLst>
          </p:cNvPr>
          <p:cNvSpPr>
            <a:spLocks noGrp="1"/>
          </p:cNvSpPr>
          <p:nvPr>
            <p:ph type="sldNum" sz="quarter" idx="12"/>
          </p:nvPr>
        </p:nvSpPr>
        <p:spPr/>
        <p:txBody>
          <a:bodyPr/>
          <a:lstStyle/>
          <a:p>
            <a:fld id="{A1206329-57E0-45BD-B808-E358632F88B4}" type="slidenum">
              <a:rPr lang="en-US" smtClean="0"/>
              <a:t>‹#›</a:t>
            </a:fld>
            <a:endParaRPr lang="en-US"/>
          </a:p>
        </p:txBody>
      </p:sp>
    </p:spTree>
    <p:extLst>
      <p:ext uri="{BB962C8B-B14F-4D97-AF65-F5344CB8AC3E}">
        <p14:creationId xmlns:p14="http://schemas.microsoft.com/office/powerpoint/2010/main" val="3808194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363CD-DB2D-077D-2C23-39AC320A41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CB37F3-D32D-AD37-6AE9-C4A26D98C1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5DCAFD-3CBB-738E-8E40-DF0C044672CE}"/>
              </a:ext>
            </a:extLst>
          </p:cNvPr>
          <p:cNvSpPr>
            <a:spLocks noGrp="1"/>
          </p:cNvSpPr>
          <p:nvPr>
            <p:ph type="dt" sz="half" idx="10"/>
          </p:nvPr>
        </p:nvSpPr>
        <p:spPr/>
        <p:txBody>
          <a:bodyPr/>
          <a:lstStyle/>
          <a:p>
            <a:fld id="{5407B734-2C2C-45C8-842D-9DF0231BC85F}" type="datetimeFigureOut">
              <a:rPr lang="en-US" smtClean="0"/>
              <a:t>9/27/2024</a:t>
            </a:fld>
            <a:endParaRPr lang="en-US"/>
          </a:p>
        </p:txBody>
      </p:sp>
      <p:sp>
        <p:nvSpPr>
          <p:cNvPr id="5" name="Footer Placeholder 4">
            <a:extLst>
              <a:ext uri="{FF2B5EF4-FFF2-40B4-BE49-F238E27FC236}">
                <a16:creationId xmlns:a16="http://schemas.microsoft.com/office/drawing/2014/main" id="{4F8FA679-933E-45F3-260D-3B4B49044E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AD496A-3803-8B75-002F-CF3C6DF79E1E}"/>
              </a:ext>
            </a:extLst>
          </p:cNvPr>
          <p:cNvSpPr>
            <a:spLocks noGrp="1"/>
          </p:cNvSpPr>
          <p:nvPr>
            <p:ph type="sldNum" sz="quarter" idx="12"/>
          </p:nvPr>
        </p:nvSpPr>
        <p:spPr/>
        <p:txBody>
          <a:bodyPr/>
          <a:lstStyle/>
          <a:p>
            <a:fld id="{A1206329-57E0-45BD-B808-E358632F88B4}" type="slidenum">
              <a:rPr lang="en-US" smtClean="0"/>
              <a:t>‹#›</a:t>
            </a:fld>
            <a:endParaRPr lang="en-US"/>
          </a:p>
        </p:txBody>
      </p:sp>
    </p:spTree>
    <p:extLst>
      <p:ext uri="{BB962C8B-B14F-4D97-AF65-F5344CB8AC3E}">
        <p14:creationId xmlns:p14="http://schemas.microsoft.com/office/powerpoint/2010/main" val="4055892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9039A-33A5-3265-3AB0-1D737CE595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08F54C-10EE-E921-0194-6D4A4DD3E3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C07C12C-7488-12C4-AA9F-DA630BBDB37A}"/>
              </a:ext>
            </a:extLst>
          </p:cNvPr>
          <p:cNvSpPr>
            <a:spLocks noGrp="1"/>
          </p:cNvSpPr>
          <p:nvPr>
            <p:ph type="dt" sz="half" idx="10"/>
          </p:nvPr>
        </p:nvSpPr>
        <p:spPr/>
        <p:txBody>
          <a:bodyPr/>
          <a:lstStyle/>
          <a:p>
            <a:fld id="{5407B734-2C2C-45C8-842D-9DF0231BC85F}" type="datetimeFigureOut">
              <a:rPr lang="en-US" smtClean="0"/>
              <a:t>9/27/2024</a:t>
            </a:fld>
            <a:endParaRPr lang="en-US"/>
          </a:p>
        </p:txBody>
      </p:sp>
      <p:sp>
        <p:nvSpPr>
          <p:cNvPr id="5" name="Footer Placeholder 4">
            <a:extLst>
              <a:ext uri="{FF2B5EF4-FFF2-40B4-BE49-F238E27FC236}">
                <a16:creationId xmlns:a16="http://schemas.microsoft.com/office/drawing/2014/main" id="{ED39714D-06E1-24F8-D533-B40F51764C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7EACF1-5737-FA1F-F42D-D811B04C4A7F}"/>
              </a:ext>
            </a:extLst>
          </p:cNvPr>
          <p:cNvSpPr>
            <a:spLocks noGrp="1"/>
          </p:cNvSpPr>
          <p:nvPr>
            <p:ph type="sldNum" sz="quarter" idx="12"/>
          </p:nvPr>
        </p:nvSpPr>
        <p:spPr/>
        <p:txBody>
          <a:bodyPr/>
          <a:lstStyle/>
          <a:p>
            <a:fld id="{A1206329-57E0-45BD-B808-E358632F88B4}" type="slidenum">
              <a:rPr lang="en-US" smtClean="0"/>
              <a:t>‹#›</a:t>
            </a:fld>
            <a:endParaRPr lang="en-US"/>
          </a:p>
        </p:txBody>
      </p:sp>
    </p:spTree>
    <p:extLst>
      <p:ext uri="{BB962C8B-B14F-4D97-AF65-F5344CB8AC3E}">
        <p14:creationId xmlns:p14="http://schemas.microsoft.com/office/powerpoint/2010/main" val="3634266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C8E3C-9F97-3B9F-E238-31E1E6920C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F0466E-9746-B245-E209-949C3C8C6E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2C7DC3-F380-9E18-EBBD-2811414CB1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6E3356-BE48-8F8B-B10F-BEE7AADE4DED}"/>
              </a:ext>
            </a:extLst>
          </p:cNvPr>
          <p:cNvSpPr>
            <a:spLocks noGrp="1"/>
          </p:cNvSpPr>
          <p:nvPr>
            <p:ph type="dt" sz="half" idx="10"/>
          </p:nvPr>
        </p:nvSpPr>
        <p:spPr/>
        <p:txBody>
          <a:bodyPr/>
          <a:lstStyle/>
          <a:p>
            <a:fld id="{5407B734-2C2C-45C8-842D-9DF0231BC85F}" type="datetimeFigureOut">
              <a:rPr lang="en-US" smtClean="0"/>
              <a:t>9/27/2024</a:t>
            </a:fld>
            <a:endParaRPr lang="en-US"/>
          </a:p>
        </p:txBody>
      </p:sp>
      <p:sp>
        <p:nvSpPr>
          <p:cNvPr id="6" name="Footer Placeholder 5">
            <a:extLst>
              <a:ext uri="{FF2B5EF4-FFF2-40B4-BE49-F238E27FC236}">
                <a16:creationId xmlns:a16="http://schemas.microsoft.com/office/drawing/2014/main" id="{BC36A0C6-2251-5241-5C0B-D15A8E462E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9E0AC0-F88F-CBFC-53EA-C27105566C50}"/>
              </a:ext>
            </a:extLst>
          </p:cNvPr>
          <p:cNvSpPr>
            <a:spLocks noGrp="1"/>
          </p:cNvSpPr>
          <p:nvPr>
            <p:ph type="sldNum" sz="quarter" idx="12"/>
          </p:nvPr>
        </p:nvSpPr>
        <p:spPr/>
        <p:txBody>
          <a:bodyPr/>
          <a:lstStyle/>
          <a:p>
            <a:fld id="{A1206329-57E0-45BD-B808-E358632F88B4}" type="slidenum">
              <a:rPr lang="en-US" smtClean="0"/>
              <a:t>‹#›</a:t>
            </a:fld>
            <a:endParaRPr lang="en-US"/>
          </a:p>
        </p:txBody>
      </p:sp>
    </p:spTree>
    <p:extLst>
      <p:ext uri="{BB962C8B-B14F-4D97-AF65-F5344CB8AC3E}">
        <p14:creationId xmlns:p14="http://schemas.microsoft.com/office/powerpoint/2010/main" val="2115914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66174-7328-50D4-0927-0D0B25CBDA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29EDBD-A8AE-A0DA-B23C-B84EF79238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DC58D3-BBEB-E4C2-1484-99486A886B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A9EF0D-8D3D-E236-E877-EF417CFDF7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BCB63F-E7F8-3CA0-AEC0-0DD90B37EE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40BA593-FDB5-EE55-2F5D-78ADD919BA53}"/>
              </a:ext>
            </a:extLst>
          </p:cNvPr>
          <p:cNvSpPr>
            <a:spLocks noGrp="1"/>
          </p:cNvSpPr>
          <p:nvPr>
            <p:ph type="dt" sz="half" idx="10"/>
          </p:nvPr>
        </p:nvSpPr>
        <p:spPr/>
        <p:txBody>
          <a:bodyPr/>
          <a:lstStyle/>
          <a:p>
            <a:fld id="{5407B734-2C2C-45C8-842D-9DF0231BC85F}" type="datetimeFigureOut">
              <a:rPr lang="en-US" smtClean="0"/>
              <a:t>9/27/2024</a:t>
            </a:fld>
            <a:endParaRPr lang="en-US"/>
          </a:p>
        </p:txBody>
      </p:sp>
      <p:sp>
        <p:nvSpPr>
          <p:cNvPr id="8" name="Footer Placeholder 7">
            <a:extLst>
              <a:ext uri="{FF2B5EF4-FFF2-40B4-BE49-F238E27FC236}">
                <a16:creationId xmlns:a16="http://schemas.microsoft.com/office/drawing/2014/main" id="{D74839DD-FB9E-BA2C-C13C-922FE6552E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F2BAE3-9FCD-1D79-B577-A34300D68318}"/>
              </a:ext>
            </a:extLst>
          </p:cNvPr>
          <p:cNvSpPr>
            <a:spLocks noGrp="1"/>
          </p:cNvSpPr>
          <p:nvPr>
            <p:ph type="sldNum" sz="quarter" idx="12"/>
          </p:nvPr>
        </p:nvSpPr>
        <p:spPr/>
        <p:txBody>
          <a:bodyPr/>
          <a:lstStyle/>
          <a:p>
            <a:fld id="{A1206329-57E0-45BD-B808-E358632F88B4}" type="slidenum">
              <a:rPr lang="en-US" smtClean="0"/>
              <a:t>‹#›</a:t>
            </a:fld>
            <a:endParaRPr lang="en-US"/>
          </a:p>
        </p:txBody>
      </p:sp>
    </p:spTree>
    <p:extLst>
      <p:ext uri="{BB962C8B-B14F-4D97-AF65-F5344CB8AC3E}">
        <p14:creationId xmlns:p14="http://schemas.microsoft.com/office/powerpoint/2010/main" val="9977232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38927-186A-CFE6-3927-A16B6091C51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A8205BE-A862-3954-2D48-33B824E2EDD1}"/>
              </a:ext>
            </a:extLst>
          </p:cNvPr>
          <p:cNvSpPr>
            <a:spLocks noGrp="1"/>
          </p:cNvSpPr>
          <p:nvPr>
            <p:ph type="dt" sz="half" idx="10"/>
          </p:nvPr>
        </p:nvSpPr>
        <p:spPr/>
        <p:txBody>
          <a:bodyPr/>
          <a:lstStyle/>
          <a:p>
            <a:fld id="{5407B734-2C2C-45C8-842D-9DF0231BC85F}" type="datetimeFigureOut">
              <a:rPr lang="en-US" smtClean="0"/>
              <a:t>9/27/2024</a:t>
            </a:fld>
            <a:endParaRPr lang="en-US"/>
          </a:p>
        </p:txBody>
      </p:sp>
      <p:sp>
        <p:nvSpPr>
          <p:cNvPr id="4" name="Footer Placeholder 3">
            <a:extLst>
              <a:ext uri="{FF2B5EF4-FFF2-40B4-BE49-F238E27FC236}">
                <a16:creationId xmlns:a16="http://schemas.microsoft.com/office/drawing/2014/main" id="{ED307560-C460-5521-B44B-A0602EB418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BF1804-DE88-071C-C833-6341397A41F1}"/>
              </a:ext>
            </a:extLst>
          </p:cNvPr>
          <p:cNvSpPr>
            <a:spLocks noGrp="1"/>
          </p:cNvSpPr>
          <p:nvPr>
            <p:ph type="sldNum" sz="quarter" idx="12"/>
          </p:nvPr>
        </p:nvSpPr>
        <p:spPr/>
        <p:txBody>
          <a:bodyPr/>
          <a:lstStyle/>
          <a:p>
            <a:fld id="{A1206329-57E0-45BD-B808-E358632F88B4}" type="slidenum">
              <a:rPr lang="en-US" smtClean="0"/>
              <a:t>‹#›</a:t>
            </a:fld>
            <a:endParaRPr lang="en-US"/>
          </a:p>
        </p:txBody>
      </p:sp>
    </p:spTree>
    <p:extLst>
      <p:ext uri="{BB962C8B-B14F-4D97-AF65-F5344CB8AC3E}">
        <p14:creationId xmlns:p14="http://schemas.microsoft.com/office/powerpoint/2010/main" val="3003601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BEE3A5-F624-9095-42EC-A72909A344E5}"/>
              </a:ext>
            </a:extLst>
          </p:cNvPr>
          <p:cNvSpPr>
            <a:spLocks noGrp="1"/>
          </p:cNvSpPr>
          <p:nvPr>
            <p:ph type="dt" sz="half" idx="10"/>
          </p:nvPr>
        </p:nvSpPr>
        <p:spPr/>
        <p:txBody>
          <a:bodyPr/>
          <a:lstStyle/>
          <a:p>
            <a:fld id="{5407B734-2C2C-45C8-842D-9DF0231BC85F}" type="datetimeFigureOut">
              <a:rPr lang="en-US" smtClean="0"/>
              <a:t>9/27/2024</a:t>
            </a:fld>
            <a:endParaRPr lang="en-US"/>
          </a:p>
        </p:txBody>
      </p:sp>
      <p:sp>
        <p:nvSpPr>
          <p:cNvPr id="3" name="Footer Placeholder 2">
            <a:extLst>
              <a:ext uri="{FF2B5EF4-FFF2-40B4-BE49-F238E27FC236}">
                <a16:creationId xmlns:a16="http://schemas.microsoft.com/office/drawing/2014/main" id="{75BE9CD7-776C-F54A-02DD-835DFD0C1E2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79009A-DCD4-6DF3-F68B-DC9456A74415}"/>
              </a:ext>
            </a:extLst>
          </p:cNvPr>
          <p:cNvSpPr>
            <a:spLocks noGrp="1"/>
          </p:cNvSpPr>
          <p:nvPr>
            <p:ph type="sldNum" sz="quarter" idx="12"/>
          </p:nvPr>
        </p:nvSpPr>
        <p:spPr/>
        <p:txBody>
          <a:bodyPr/>
          <a:lstStyle/>
          <a:p>
            <a:fld id="{A1206329-57E0-45BD-B808-E358632F88B4}" type="slidenum">
              <a:rPr lang="en-US" smtClean="0"/>
              <a:t>‹#›</a:t>
            </a:fld>
            <a:endParaRPr lang="en-US"/>
          </a:p>
        </p:txBody>
      </p:sp>
    </p:spTree>
    <p:extLst>
      <p:ext uri="{BB962C8B-B14F-4D97-AF65-F5344CB8AC3E}">
        <p14:creationId xmlns:p14="http://schemas.microsoft.com/office/powerpoint/2010/main" val="1354790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DF57B-3673-BEC4-7FD0-C2B54BDA35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B1DD9A-DC9F-E5C8-53D7-345F2D4593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E316022-91BD-8ECC-FB35-9BDAB54244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E173D6-D41F-123F-6D93-5AFC388B5377}"/>
              </a:ext>
            </a:extLst>
          </p:cNvPr>
          <p:cNvSpPr>
            <a:spLocks noGrp="1"/>
          </p:cNvSpPr>
          <p:nvPr>
            <p:ph type="dt" sz="half" idx="10"/>
          </p:nvPr>
        </p:nvSpPr>
        <p:spPr/>
        <p:txBody>
          <a:bodyPr/>
          <a:lstStyle/>
          <a:p>
            <a:fld id="{5407B734-2C2C-45C8-842D-9DF0231BC85F}" type="datetimeFigureOut">
              <a:rPr lang="en-US" smtClean="0"/>
              <a:t>9/27/2024</a:t>
            </a:fld>
            <a:endParaRPr lang="en-US"/>
          </a:p>
        </p:txBody>
      </p:sp>
      <p:sp>
        <p:nvSpPr>
          <p:cNvPr id="6" name="Footer Placeholder 5">
            <a:extLst>
              <a:ext uri="{FF2B5EF4-FFF2-40B4-BE49-F238E27FC236}">
                <a16:creationId xmlns:a16="http://schemas.microsoft.com/office/drawing/2014/main" id="{8BA06054-B09A-98E8-CC05-D3FF8A3E39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80DCB-31CF-1335-34A2-76D89E6FB202}"/>
              </a:ext>
            </a:extLst>
          </p:cNvPr>
          <p:cNvSpPr>
            <a:spLocks noGrp="1"/>
          </p:cNvSpPr>
          <p:nvPr>
            <p:ph type="sldNum" sz="quarter" idx="12"/>
          </p:nvPr>
        </p:nvSpPr>
        <p:spPr/>
        <p:txBody>
          <a:bodyPr/>
          <a:lstStyle/>
          <a:p>
            <a:fld id="{A1206329-57E0-45BD-B808-E358632F88B4}" type="slidenum">
              <a:rPr lang="en-US" smtClean="0"/>
              <a:t>‹#›</a:t>
            </a:fld>
            <a:endParaRPr lang="en-US"/>
          </a:p>
        </p:txBody>
      </p:sp>
    </p:spTree>
    <p:extLst>
      <p:ext uri="{BB962C8B-B14F-4D97-AF65-F5344CB8AC3E}">
        <p14:creationId xmlns:p14="http://schemas.microsoft.com/office/powerpoint/2010/main" val="909336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37CCC-79B3-D86D-49D4-43C862C5DC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D15D2E-0EBC-BBD2-9DF3-33A0510C3A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124720B-4983-BD43-5849-945B11A9AB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9EA5A4-D32E-F0D2-4173-7D90476BFB4F}"/>
              </a:ext>
            </a:extLst>
          </p:cNvPr>
          <p:cNvSpPr>
            <a:spLocks noGrp="1"/>
          </p:cNvSpPr>
          <p:nvPr>
            <p:ph type="dt" sz="half" idx="10"/>
          </p:nvPr>
        </p:nvSpPr>
        <p:spPr/>
        <p:txBody>
          <a:bodyPr/>
          <a:lstStyle/>
          <a:p>
            <a:fld id="{5407B734-2C2C-45C8-842D-9DF0231BC85F}" type="datetimeFigureOut">
              <a:rPr lang="en-US" smtClean="0"/>
              <a:t>9/27/2024</a:t>
            </a:fld>
            <a:endParaRPr lang="en-US"/>
          </a:p>
        </p:txBody>
      </p:sp>
      <p:sp>
        <p:nvSpPr>
          <p:cNvPr id="6" name="Footer Placeholder 5">
            <a:extLst>
              <a:ext uri="{FF2B5EF4-FFF2-40B4-BE49-F238E27FC236}">
                <a16:creationId xmlns:a16="http://schemas.microsoft.com/office/drawing/2014/main" id="{20540F30-A7C0-FD1B-E222-BB5ABB299A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DFC9B9-B63E-8574-F874-1EBAED061805}"/>
              </a:ext>
            </a:extLst>
          </p:cNvPr>
          <p:cNvSpPr>
            <a:spLocks noGrp="1"/>
          </p:cNvSpPr>
          <p:nvPr>
            <p:ph type="sldNum" sz="quarter" idx="12"/>
          </p:nvPr>
        </p:nvSpPr>
        <p:spPr/>
        <p:txBody>
          <a:bodyPr/>
          <a:lstStyle/>
          <a:p>
            <a:fld id="{A1206329-57E0-45BD-B808-E358632F88B4}" type="slidenum">
              <a:rPr lang="en-US" smtClean="0"/>
              <a:t>‹#›</a:t>
            </a:fld>
            <a:endParaRPr lang="en-US"/>
          </a:p>
        </p:txBody>
      </p:sp>
    </p:spTree>
    <p:extLst>
      <p:ext uri="{BB962C8B-B14F-4D97-AF65-F5344CB8AC3E}">
        <p14:creationId xmlns:p14="http://schemas.microsoft.com/office/powerpoint/2010/main" val="671346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D3B0-ED89-9B70-DFDF-B402779179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987FD2-92FE-0D58-B457-4604F1ADAC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576FDC-EEFA-5258-978B-44355E0BAA93}"/>
              </a:ext>
            </a:extLst>
          </p:cNvPr>
          <p:cNvSpPr>
            <a:spLocks noGrp="1"/>
          </p:cNvSpPr>
          <p:nvPr>
            <p:ph type="dt" sz="half" idx="10"/>
          </p:nvPr>
        </p:nvSpPr>
        <p:spPr/>
        <p:txBody>
          <a:bodyPr/>
          <a:lstStyle/>
          <a:p>
            <a:fld id="{5407B734-2C2C-45C8-842D-9DF0231BC85F}" type="datetimeFigureOut">
              <a:rPr lang="en-US" smtClean="0"/>
              <a:t>9/27/2024</a:t>
            </a:fld>
            <a:endParaRPr lang="en-US"/>
          </a:p>
        </p:txBody>
      </p:sp>
      <p:sp>
        <p:nvSpPr>
          <p:cNvPr id="5" name="Footer Placeholder 4">
            <a:extLst>
              <a:ext uri="{FF2B5EF4-FFF2-40B4-BE49-F238E27FC236}">
                <a16:creationId xmlns:a16="http://schemas.microsoft.com/office/drawing/2014/main" id="{E90953F9-FEF6-3F0F-9652-4529A59DB3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148EEF-91FC-05F1-AA44-DE96858A8D8E}"/>
              </a:ext>
            </a:extLst>
          </p:cNvPr>
          <p:cNvSpPr>
            <a:spLocks noGrp="1"/>
          </p:cNvSpPr>
          <p:nvPr>
            <p:ph type="sldNum" sz="quarter" idx="12"/>
          </p:nvPr>
        </p:nvSpPr>
        <p:spPr/>
        <p:txBody>
          <a:bodyPr/>
          <a:lstStyle/>
          <a:p>
            <a:fld id="{A1206329-57E0-45BD-B808-E358632F88B4}" type="slidenum">
              <a:rPr lang="en-US" smtClean="0"/>
              <a:t>‹#›</a:t>
            </a:fld>
            <a:endParaRPr lang="en-US"/>
          </a:p>
        </p:txBody>
      </p:sp>
    </p:spTree>
    <p:extLst>
      <p:ext uri="{BB962C8B-B14F-4D97-AF65-F5344CB8AC3E}">
        <p14:creationId xmlns:p14="http://schemas.microsoft.com/office/powerpoint/2010/main" val="415115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0AB4B1-6BD0-11D8-0FB0-5486297D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151984-B7D9-958E-74AB-FC2404266A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D268FB-FECF-95F4-55F3-071B9EC1996B}"/>
              </a:ext>
            </a:extLst>
          </p:cNvPr>
          <p:cNvSpPr>
            <a:spLocks noGrp="1"/>
          </p:cNvSpPr>
          <p:nvPr>
            <p:ph type="dt" sz="half" idx="10"/>
          </p:nvPr>
        </p:nvSpPr>
        <p:spPr/>
        <p:txBody>
          <a:bodyPr/>
          <a:lstStyle/>
          <a:p>
            <a:fld id="{5407B734-2C2C-45C8-842D-9DF0231BC85F}" type="datetimeFigureOut">
              <a:rPr lang="en-US" smtClean="0"/>
              <a:t>9/27/2024</a:t>
            </a:fld>
            <a:endParaRPr lang="en-US"/>
          </a:p>
        </p:txBody>
      </p:sp>
      <p:sp>
        <p:nvSpPr>
          <p:cNvPr id="5" name="Footer Placeholder 4">
            <a:extLst>
              <a:ext uri="{FF2B5EF4-FFF2-40B4-BE49-F238E27FC236}">
                <a16:creationId xmlns:a16="http://schemas.microsoft.com/office/drawing/2014/main" id="{345B6247-7A4C-CA2A-0E4B-C61D902E6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26EDF9-076C-B757-1314-3F63DB953AA2}"/>
              </a:ext>
            </a:extLst>
          </p:cNvPr>
          <p:cNvSpPr>
            <a:spLocks noGrp="1"/>
          </p:cNvSpPr>
          <p:nvPr>
            <p:ph type="sldNum" sz="quarter" idx="12"/>
          </p:nvPr>
        </p:nvSpPr>
        <p:spPr/>
        <p:txBody>
          <a:bodyPr/>
          <a:lstStyle/>
          <a:p>
            <a:fld id="{A1206329-57E0-45BD-B808-E358632F88B4}" type="slidenum">
              <a:rPr lang="en-US" smtClean="0"/>
              <a:t>‹#›</a:t>
            </a:fld>
            <a:endParaRPr lang="en-US"/>
          </a:p>
        </p:txBody>
      </p:sp>
    </p:spTree>
    <p:extLst>
      <p:ext uri="{BB962C8B-B14F-4D97-AF65-F5344CB8AC3E}">
        <p14:creationId xmlns:p14="http://schemas.microsoft.com/office/powerpoint/2010/main" val="856889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BEF328-315C-27A4-61A9-8BA5A09459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1C977A7-2E24-A1C5-AF08-7C9C072D4E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3B0AFA-AEFB-643E-0E7D-3B235DAB58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07B734-2C2C-45C8-842D-9DF0231BC85F}" type="datetimeFigureOut">
              <a:rPr lang="en-US" smtClean="0"/>
              <a:t>9/27/2024</a:t>
            </a:fld>
            <a:endParaRPr lang="en-US"/>
          </a:p>
        </p:txBody>
      </p:sp>
      <p:sp>
        <p:nvSpPr>
          <p:cNvPr id="5" name="Footer Placeholder 4">
            <a:extLst>
              <a:ext uri="{FF2B5EF4-FFF2-40B4-BE49-F238E27FC236}">
                <a16:creationId xmlns:a16="http://schemas.microsoft.com/office/drawing/2014/main" id="{3CF5289C-D062-C81E-55D5-A859528C26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ED3D8C3-664C-343B-44EA-1454B6600A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206329-57E0-45BD-B808-E358632F88B4}" type="slidenum">
              <a:rPr lang="en-US" smtClean="0"/>
              <a:t>‹#›</a:t>
            </a:fld>
            <a:endParaRPr lang="en-US"/>
          </a:p>
        </p:txBody>
      </p:sp>
    </p:spTree>
    <p:extLst>
      <p:ext uri="{BB962C8B-B14F-4D97-AF65-F5344CB8AC3E}">
        <p14:creationId xmlns:p14="http://schemas.microsoft.com/office/powerpoint/2010/main" val="11899528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microsoft.com/office/2018/10/relationships/comments" Target="../comments/modernComment_34A_5191FED1.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1.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11.png"/><Relationship Id="rId5" Type="http://schemas.openxmlformats.org/officeDocument/2006/relationships/image" Target="../media/image4.emf"/><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3.emf"/><Relationship Id="rId9" Type="http://schemas.openxmlformats.org/officeDocument/2006/relationships/image" Target="../media/image9.png"/><Relationship Id="rId1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20.png"/><Relationship Id="rId5" Type="http://schemas.openxmlformats.org/officeDocument/2006/relationships/image" Target="../media/image4.emf"/><Relationship Id="rId10" Type="http://schemas.openxmlformats.org/officeDocument/2006/relationships/image" Target="../media/image19.png"/><Relationship Id="rId4" Type="http://schemas.openxmlformats.org/officeDocument/2006/relationships/image" Target="../media/image3.emf"/><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34B_A51D0E1.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microsoft.com/office/2018/10/relationships/comments" Target="../comments/modernComment_34C_1A4AFAD3.xml"/><Relationship Id="rId7" Type="http://schemas.openxmlformats.org/officeDocument/2006/relationships/image" Target="../media/image5.emf"/><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emf"/><Relationship Id="rId10" Type="http://schemas.openxmlformats.org/officeDocument/2006/relationships/image" Target="../media/image23.png"/><Relationship Id="rId4" Type="http://schemas.openxmlformats.org/officeDocument/2006/relationships/image" Target="../media/image1.png"/><Relationship Id="rId9" Type="http://schemas.openxmlformats.org/officeDocument/2006/relationships/image" Target="../media/image22.pn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microsoft.com/office/2018/10/relationships/comments" Target="../comments/modernComment_34D_8F8211B2.xml"/><Relationship Id="rId7"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png"/><Relationship Id="rId7" Type="http://schemas.openxmlformats.org/officeDocument/2006/relationships/image" Target="../media/image25.png"/><Relationship Id="rId12"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13.png"/><Relationship Id="rId5" Type="http://schemas.openxmlformats.org/officeDocument/2006/relationships/image" Target="../media/image4.emf"/><Relationship Id="rId10" Type="http://schemas.openxmlformats.org/officeDocument/2006/relationships/image" Target="../media/image27.emf"/><Relationship Id="rId4" Type="http://schemas.openxmlformats.org/officeDocument/2006/relationships/image" Target="../media/image3.emf"/><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microsoft.com/office/2018/10/relationships/comments" Target="../comments/modernComment_388_31AEE07B.xml"/><Relationship Id="rId7" Type="http://schemas.openxmlformats.org/officeDocument/2006/relationships/image" Target="../media/image5.emf"/><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emf"/><Relationship Id="rId10" Type="http://schemas.openxmlformats.org/officeDocument/2006/relationships/image" Target="../media/image24.png"/><Relationship Id="rId4" Type="http://schemas.openxmlformats.org/officeDocument/2006/relationships/image" Target="../media/image1.png"/><Relationship Id="rId9"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 Id="rId9"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29.png"/><Relationship Id="rId5" Type="http://schemas.openxmlformats.org/officeDocument/2006/relationships/image" Target="../media/image4.emf"/><Relationship Id="rId10" Type="http://schemas.openxmlformats.org/officeDocument/2006/relationships/image" Target="../media/image31.png"/><Relationship Id="rId4" Type="http://schemas.openxmlformats.org/officeDocument/2006/relationships/image" Target="../media/image3.emf"/><Relationship Id="rId9" Type="http://schemas.openxmlformats.org/officeDocument/2006/relationships/image" Target="../media/image24.png"/></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10" Type="http://schemas.openxmlformats.org/officeDocument/2006/relationships/image" Target="../media/image34.png"/><Relationship Id="rId4" Type="http://schemas.openxmlformats.org/officeDocument/2006/relationships/image" Target="../media/image3.emf"/><Relationship Id="rId9"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microsoft.com/office/2018/10/relationships/comments" Target="../comments/modernComment_389_F37CE0F6.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7.xml.rels><?xml version="1.0" encoding="UTF-8" standalone="yes"?>
<Relationships xmlns="http://schemas.openxmlformats.org/package/2006/relationships"><Relationship Id="rId8" Type="http://schemas.openxmlformats.org/officeDocument/2006/relationships/image" Target="../media/image35.tiff"/><Relationship Id="rId3" Type="http://schemas.microsoft.com/office/2018/10/relationships/comments" Target="../comments/modernComment_354_C3312278.xml"/><Relationship Id="rId7" Type="http://schemas.openxmlformats.org/officeDocument/2006/relationships/image" Target="../media/image5.emf"/><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8" Type="http://schemas.openxmlformats.org/officeDocument/2006/relationships/image" Target="../media/image35.tiff"/><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10" Type="http://schemas.openxmlformats.org/officeDocument/2006/relationships/image" Target="../media/image15.png"/><Relationship Id="rId4" Type="http://schemas.openxmlformats.org/officeDocument/2006/relationships/image" Target="../media/image3.emf"/><Relationship Id="rId9"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emf"/><Relationship Id="rId4" Type="http://schemas.openxmlformats.org/officeDocument/2006/relationships/image" Target="../media/image4.emf"/></Relationships>
</file>

<file path=ppt/slides/_rels/slide2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png"/><Relationship Id="rId7" Type="http://schemas.openxmlformats.org/officeDocument/2006/relationships/image" Target="../media/image36.png"/><Relationship Id="rId12"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37.png"/><Relationship Id="rId5" Type="http://schemas.openxmlformats.org/officeDocument/2006/relationships/image" Target="../media/image4.emf"/><Relationship Id="rId10" Type="http://schemas.openxmlformats.org/officeDocument/2006/relationships/image" Target="../media/image7.png"/><Relationship Id="rId4" Type="http://schemas.openxmlformats.org/officeDocument/2006/relationships/image" Target="../media/image3.emf"/><Relationship Id="rId9"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43.png"/><Relationship Id="rId5" Type="http://schemas.openxmlformats.org/officeDocument/2006/relationships/image" Target="../media/image4.emf"/><Relationship Id="rId10" Type="http://schemas.openxmlformats.org/officeDocument/2006/relationships/image" Target="../media/image42.png"/><Relationship Id="rId4" Type="http://schemas.openxmlformats.org/officeDocument/2006/relationships/image" Target="../media/image3.emf"/><Relationship Id="rId9" Type="http://schemas.openxmlformats.org/officeDocument/2006/relationships/image" Target="../media/image41.png"/></Relationships>
</file>

<file path=ppt/slides/_rels/slide23.xml.rels><?xml version="1.0" encoding="UTF-8" standalone="yes"?>
<Relationships xmlns="http://schemas.openxmlformats.org/package/2006/relationships"><Relationship Id="rId8" Type="http://schemas.openxmlformats.org/officeDocument/2006/relationships/image" Target="../media/image46.tiff"/><Relationship Id="rId3" Type="http://schemas.openxmlformats.org/officeDocument/2006/relationships/image" Target="../media/image1.png"/><Relationship Id="rId7"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 Id="rId9" Type="http://schemas.openxmlformats.org/officeDocument/2006/relationships/image" Target="../media/image47.png"/></Relationships>
</file>

<file path=ppt/slides/_rels/slide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5.emf"/><Relationship Id="rId4" Type="http://schemas.openxmlformats.org/officeDocument/2006/relationships/image" Target="../media/image4.emf"/></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8.emf"/><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6.xml.rels><?xml version="1.0" encoding="UTF-8" standalone="yes"?>
<Relationships xmlns="http://schemas.openxmlformats.org/package/2006/relationships"><Relationship Id="rId8" Type="http://schemas.openxmlformats.org/officeDocument/2006/relationships/image" Target="../media/image49.png"/><Relationship Id="rId3" Type="http://schemas.microsoft.com/office/2018/10/relationships/comments" Target="../comments/modernComment_38D_B9A479ED.xml"/><Relationship Id="rId7" Type="http://schemas.openxmlformats.org/officeDocument/2006/relationships/image" Target="../media/image5.emf"/><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4.emf"/><Relationship Id="rId11" Type="http://schemas.openxmlformats.org/officeDocument/2006/relationships/image" Target="../media/image48.emf"/><Relationship Id="rId5" Type="http://schemas.openxmlformats.org/officeDocument/2006/relationships/image" Target="../media/image3.emf"/><Relationship Id="rId10" Type="http://schemas.openxmlformats.org/officeDocument/2006/relationships/image" Target="../media/image29.png"/><Relationship Id="rId4" Type="http://schemas.openxmlformats.org/officeDocument/2006/relationships/image" Target="../media/image1.png"/><Relationship Id="rId9" Type="http://schemas.openxmlformats.org/officeDocument/2006/relationships/image" Target="../media/image50.emf"/></Relationships>
</file>

<file path=ppt/slides/_rels/slide27.xml.rels><?xml version="1.0" encoding="UTF-8" standalone="yes"?>
<Relationships xmlns="http://schemas.openxmlformats.org/package/2006/relationships"><Relationship Id="rId8" Type="http://schemas.openxmlformats.org/officeDocument/2006/relationships/image" Target="../media/image6.png"/><Relationship Id="rId13" Type="http://schemas.microsoft.com/office/2007/relationships/hdphoto" Target="../media/hdphoto1.wdp"/><Relationship Id="rId3" Type="http://schemas.microsoft.com/office/2018/10/relationships/comments" Target="../comments/modernComment_38E_A7856032.xml"/><Relationship Id="rId7" Type="http://schemas.openxmlformats.org/officeDocument/2006/relationships/image" Target="../media/image5.emf"/><Relationship Id="rId12" Type="http://schemas.openxmlformats.org/officeDocument/2006/relationships/image" Target="../media/image52.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4.emf"/><Relationship Id="rId11" Type="http://schemas.openxmlformats.org/officeDocument/2006/relationships/image" Target="../media/image7.png"/><Relationship Id="rId5" Type="http://schemas.openxmlformats.org/officeDocument/2006/relationships/image" Target="../media/image3.emf"/><Relationship Id="rId10" Type="http://schemas.openxmlformats.org/officeDocument/2006/relationships/image" Target="../media/image51.png"/><Relationship Id="rId4" Type="http://schemas.openxmlformats.org/officeDocument/2006/relationships/image" Target="../media/image1.png"/><Relationship Id="rId9" Type="http://schemas.openxmlformats.org/officeDocument/2006/relationships/image" Target="../media/image50.emf"/><Relationship Id="rId14" Type="http://schemas.openxmlformats.org/officeDocument/2006/relationships/image" Target="../media/image53.png"/></Relationships>
</file>

<file path=ppt/slides/_rels/slide28.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7.png"/><Relationship Id="rId3" Type="http://schemas.openxmlformats.org/officeDocument/2006/relationships/image" Target="../media/image1.png"/><Relationship Id="rId7" Type="http://schemas.openxmlformats.org/officeDocument/2006/relationships/image" Target="../media/image6.png"/><Relationship Id="rId12" Type="http://schemas.openxmlformats.org/officeDocument/2006/relationships/image" Target="../media/image56.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55.png"/><Relationship Id="rId5" Type="http://schemas.openxmlformats.org/officeDocument/2006/relationships/image" Target="../media/image4.emf"/><Relationship Id="rId15" Type="http://schemas.openxmlformats.org/officeDocument/2006/relationships/image" Target="../media/image59.png"/><Relationship Id="rId10" Type="http://schemas.openxmlformats.org/officeDocument/2006/relationships/image" Target="../media/image50.emf"/><Relationship Id="rId4" Type="http://schemas.openxmlformats.org/officeDocument/2006/relationships/image" Target="../media/image3.emf"/><Relationship Id="rId9" Type="http://schemas.openxmlformats.org/officeDocument/2006/relationships/image" Target="../media/image49.png"/><Relationship Id="rId14" Type="http://schemas.openxmlformats.org/officeDocument/2006/relationships/image" Target="../media/image58.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394_4CD03080.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emf"/><Relationship Id="rId4" Type="http://schemas.openxmlformats.org/officeDocument/2006/relationships/image" Target="../media/image4.emf"/></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0.png"/><Relationship Id="rId2" Type="http://schemas.microsoft.com/office/2018/10/relationships/comments" Target="../comments/modernComment_391_16DA5A77.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2.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1.png"/><Relationship Id="rId7" Type="http://schemas.openxmlformats.org/officeDocument/2006/relationships/image" Target="../media/image61.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 Id="rId9" Type="http://schemas.openxmlformats.org/officeDocument/2006/relationships/image" Target="../media/image14.png"/></Relationships>
</file>

<file path=ppt/slides/_rels/slide33.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66.png"/><Relationship Id="rId3" Type="http://schemas.openxmlformats.org/officeDocument/2006/relationships/image" Target="../media/image1.png"/><Relationship Id="rId7" Type="http://schemas.openxmlformats.org/officeDocument/2006/relationships/image" Target="../media/image6.png"/><Relationship Id="rId12" Type="http://schemas.openxmlformats.org/officeDocument/2006/relationships/image" Target="../media/image65.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5.emf"/><Relationship Id="rId11" Type="http://schemas.openxmlformats.org/officeDocument/2006/relationships/image" Target="../media/image64.png"/><Relationship Id="rId5" Type="http://schemas.openxmlformats.org/officeDocument/2006/relationships/image" Target="../media/image4.emf"/><Relationship Id="rId10" Type="http://schemas.openxmlformats.org/officeDocument/2006/relationships/image" Target="../media/image29.png"/><Relationship Id="rId4" Type="http://schemas.openxmlformats.org/officeDocument/2006/relationships/image" Target="../media/image3.emf"/><Relationship Id="rId9" Type="http://schemas.openxmlformats.org/officeDocument/2006/relationships/image" Target="../media/image63.png"/></Relationships>
</file>

<file path=ppt/slides/_rels/slide34.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1.png"/><Relationship Id="rId7" Type="http://schemas.openxmlformats.org/officeDocument/2006/relationships/image" Target="../media/image67.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10" Type="http://schemas.openxmlformats.org/officeDocument/2006/relationships/image" Target="../media/image60.png"/><Relationship Id="rId4" Type="http://schemas.openxmlformats.org/officeDocument/2006/relationships/image" Target="../media/image3.emf"/><Relationship Id="rId9" Type="http://schemas.openxmlformats.org/officeDocument/2006/relationships/image" Target="../media/image69.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6.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18/10/relationships/comments" Target="../comments/modernComment_398_E270D311.xml"/><Relationship Id="rId7" Type="http://schemas.openxmlformats.org/officeDocument/2006/relationships/image" Target="../media/image5.emf"/><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18/10/relationships/comments" Target="../comments/modernComment_399_C01564DD.xml"/><Relationship Id="rId7" Type="http://schemas.openxmlformats.org/officeDocument/2006/relationships/image" Target="../media/image5.emf"/><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a:solidFill>
                  <a:schemeClr val="bg1"/>
                </a:solidFill>
                <a:latin typeface="Lato"/>
                <a:ea typeface="Lato"/>
                <a:cs typeface="Lato"/>
                <a:sym typeface="Lato"/>
              </a:rPr>
              <a:t>Infrastructure as Code (</a:t>
            </a:r>
            <a:r>
              <a:rPr lang="en-US" sz="4800" err="1">
                <a:solidFill>
                  <a:schemeClr val="bg1"/>
                </a:solidFill>
                <a:latin typeface="Lato"/>
                <a:ea typeface="Lato"/>
                <a:cs typeface="Lato"/>
                <a:sym typeface="Lato"/>
              </a:rPr>
              <a:t>IaC</a:t>
            </a:r>
            <a:r>
              <a:rPr lang="en-US" sz="4800" dirty="0">
                <a:solidFill>
                  <a:schemeClr val="bg1"/>
                </a:solidFill>
                <a:latin typeface="Lato"/>
                <a:ea typeface="Lato"/>
                <a:cs typeface="Lato"/>
                <a:sym typeface="Lato"/>
              </a:rPr>
              <a:t>) in AWS</a:t>
            </a: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IN">
                <a:solidFill>
                  <a:srgbClr val="FF0000"/>
                </a:solidFill>
                <a:latin typeface="Proxima Nova"/>
                <a:ea typeface="Proxima Nova"/>
                <a:cs typeface="Proxima Nova"/>
                <a:sym typeface="Proxima Nova"/>
              </a:rPr>
              <a:pPr/>
              <a:t>1</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7" name="Picture 6">
            <a:extLst>
              <a:ext uri="{FF2B5EF4-FFF2-40B4-BE49-F238E27FC236}">
                <a16:creationId xmlns:a16="http://schemas.microsoft.com/office/drawing/2014/main" id="{8343D47F-0850-4C54-ECA1-347E58687108}"/>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8" name="Rectangle 7">
            <a:extLst>
              <a:ext uri="{FF2B5EF4-FFF2-40B4-BE49-F238E27FC236}">
                <a16:creationId xmlns:a16="http://schemas.microsoft.com/office/drawing/2014/main" id="{9B9679C1-BC8C-6DA1-DAAC-A17D4D80D152}"/>
              </a:ext>
            </a:extLst>
          </p:cNvPr>
          <p:cNvSpPr/>
          <p:nvPr/>
        </p:nvSpPr>
        <p:spPr>
          <a:xfrm>
            <a:off x="974708" y="2835973"/>
            <a:ext cx="10242584" cy="1891999"/>
          </a:xfrm>
          <a:prstGeom prst="rect">
            <a:avLst/>
          </a:prstGeom>
          <a:solidFill>
            <a:srgbClr val="F9F9F9"/>
          </a:solidFill>
          <a:ln>
            <a:noFill/>
          </a:ln>
          <a:effectLst>
            <a:outerShdw blurRad="50800" dist="38100" dir="5400000" algn="t" rotWithShape="0">
              <a:prstClr val="black">
                <a:alpha val="11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IN">
                <a:solidFill>
                  <a:srgbClr val="FF0000"/>
                </a:solidFill>
                <a:latin typeface="Proxima Nova"/>
                <a:ea typeface="Proxima Nova"/>
                <a:cs typeface="Proxima Nova"/>
                <a:sym typeface="Proxima Nova"/>
              </a:rPr>
              <a:pPr/>
              <a:t>2</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10586575" y="339777"/>
            <a:ext cx="839192" cy="839192"/>
          </a:xfrm>
          <a:prstGeom prst="rect">
            <a:avLst/>
          </a:prstGeom>
          <a:noFill/>
          <a:ln>
            <a:noFill/>
          </a:ln>
        </p:spPr>
      </p:pic>
      <p:sp>
        <p:nvSpPr>
          <p:cNvPr id="2" name="Google Shape;625;p35">
            <a:extLst>
              <a:ext uri="{FF2B5EF4-FFF2-40B4-BE49-F238E27FC236}">
                <a16:creationId xmlns:a16="http://schemas.microsoft.com/office/drawing/2014/main" id="{291948C9-9A2C-87BE-CE08-117DF3B40FEB}"/>
              </a:ext>
            </a:extLst>
          </p:cNvPr>
          <p:cNvSpPr txBox="1"/>
          <p:nvPr/>
        </p:nvSpPr>
        <p:spPr>
          <a:xfrm>
            <a:off x="1238600" y="3025047"/>
            <a:ext cx="10320821" cy="1410192"/>
          </a:xfrm>
          <a:prstGeom prst="rect">
            <a:avLst/>
          </a:prstGeom>
          <a:noFill/>
          <a:ln>
            <a:noFill/>
          </a:ln>
        </p:spPr>
        <p:txBody>
          <a:bodyPr spcFirstLastPara="1" wrap="square" lIns="121900" tIns="60933" rIns="121900" bIns="60933" anchor="t" anchorCtr="0">
            <a:noAutofit/>
          </a:bodyPr>
          <a:lstStyle/>
          <a:p>
            <a:pPr>
              <a:lnSpc>
                <a:spcPct val="90000"/>
              </a:lnSpc>
              <a:buClr>
                <a:srgbClr val="000000"/>
              </a:buClr>
              <a:buSzPts val="1800"/>
            </a:pPr>
            <a:r>
              <a:rPr lang="en-IN" sz="2400" b="1" dirty="0">
                <a:solidFill>
                  <a:srgbClr val="004F9B"/>
                </a:solidFill>
                <a:latin typeface="Proxima Nova"/>
                <a:ea typeface="Proxima Nova"/>
                <a:cs typeface="Proxima Nova"/>
                <a:sym typeface="Proxima Nova"/>
              </a:rPr>
              <a:t>Course: </a:t>
            </a:r>
            <a:r>
              <a:rPr lang="en-IN" sz="2400" dirty="0">
                <a:latin typeface="Proxima Nova"/>
                <a:ea typeface="Proxima Nova"/>
                <a:cs typeface="Proxima Nova"/>
                <a:sym typeface="Proxima Nova"/>
              </a:rPr>
              <a:t>Mastering Amazon AWS	</a:t>
            </a:r>
          </a:p>
          <a:p>
            <a:pPr>
              <a:lnSpc>
                <a:spcPct val="90000"/>
              </a:lnSpc>
              <a:spcBef>
                <a:spcPts val="1333"/>
              </a:spcBef>
              <a:buClr>
                <a:srgbClr val="000000"/>
              </a:buClr>
              <a:buSzPts val="1800"/>
            </a:pPr>
            <a:r>
              <a:rPr lang="en-IN" sz="2400" b="1" dirty="0">
                <a:solidFill>
                  <a:srgbClr val="004F9B"/>
                </a:solidFill>
                <a:latin typeface="Proxima Nova"/>
                <a:ea typeface="Proxima Nova"/>
                <a:cs typeface="Proxima Nova"/>
                <a:sym typeface="Proxima Nova"/>
              </a:rPr>
              <a:t>Lecture on</a:t>
            </a:r>
            <a:r>
              <a:rPr lang="en-IN" sz="2400" b="1">
                <a:solidFill>
                  <a:srgbClr val="004F9B"/>
                </a:solidFill>
                <a:latin typeface="Proxima Nova"/>
                <a:ea typeface="Proxima Nova"/>
                <a:cs typeface="Proxima Nova"/>
                <a:sym typeface="Proxima Nova"/>
              </a:rPr>
              <a:t>: </a:t>
            </a:r>
            <a:r>
              <a:rPr lang="en-IN" sz="2400">
                <a:latin typeface="Proxima Nova"/>
                <a:ea typeface="Proxima Nova"/>
                <a:cs typeface="Proxima Nova"/>
                <a:sym typeface="Proxima Nova"/>
              </a:rPr>
              <a:t>IAC on AWS</a:t>
            </a:r>
            <a:endParaRPr lang="en-IN" sz="2400" b="1" dirty="0">
              <a:solidFill>
                <a:srgbClr val="004F9B"/>
              </a:solidFill>
              <a:latin typeface="Proxima Nova"/>
              <a:ea typeface="Proxima Nova"/>
              <a:cs typeface="Proxima Nova"/>
              <a:sym typeface="Proxima Nova"/>
            </a:endParaRPr>
          </a:p>
          <a:p>
            <a:pPr>
              <a:lnSpc>
                <a:spcPct val="90000"/>
              </a:lnSpc>
              <a:spcBef>
                <a:spcPts val="1333"/>
              </a:spcBef>
              <a:buClr>
                <a:srgbClr val="000000"/>
              </a:buClr>
              <a:buSzPts val="1800"/>
            </a:pPr>
            <a:r>
              <a:rPr lang="en-IN" sz="2400" b="1" dirty="0">
                <a:solidFill>
                  <a:srgbClr val="004F9B"/>
                </a:solidFill>
                <a:latin typeface="Proxima Nova"/>
                <a:ea typeface="Proxima Nova"/>
                <a:cs typeface="Proxima Nova"/>
                <a:sym typeface="Proxima Nova"/>
              </a:rPr>
              <a:t>Instructor:</a:t>
            </a:r>
            <a:r>
              <a:rPr lang="en-IN" sz="2400" dirty="0">
                <a:solidFill>
                  <a:srgbClr val="004F9B"/>
                </a:solidFill>
                <a:latin typeface="Proxima Nova"/>
                <a:ea typeface="Proxima Nova"/>
                <a:cs typeface="Proxima Nova"/>
                <a:sym typeface="Proxima Nova"/>
              </a:rPr>
              <a:t> </a:t>
            </a:r>
            <a:r>
              <a:rPr lang="en-IN" sz="2400" dirty="0">
                <a:latin typeface="Proxima Nova"/>
                <a:ea typeface="Proxima Nova"/>
                <a:cs typeface="Proxima Nova"/>
                <a:sym typeface="Proxima Nova"/>
              </a:rPr>
              <a:t>Siddharth Sharma</a:t>
            </a:r>
          </a:p>
        </p:txBody>
      </p:sp>
      <p:sp>
        <p:nvSpPr>
          <p:cNvPr id="10" name="Rectangle 9">
            <a:extLst>
              <a:ext uri="{FF2B5EF4-FFF2-40B4-BE49-F238E27FC236}">
                <a16:creationId xmlns:a16="http://schemas.microsoft.com/office/drawing/2014/main" id="{3A08B53D-9306-9D48-39AC-6DE1ADEA2CB3}"/>
              </a:ext>
            </a:extLst>
          </p:cNvPr>
          <p:cNvSpPr/>
          <p:nvPr/>
        </p:nvSpPr>
        <p:spPr>
          <a:xfrm>
            <a:off x="502022" y="554705"/>
            <a:ext cx="4035748" cy="10538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1" name="Picture 10">
            <a:extLst>
              <a:ext uri="{FF2B5EF4-FFF2-40B4-BE49-F238E27FC236}">
                <a16:creationId xmlns:a16="http://schemas.microsoft.com/office/drawing/2014/main" id="{A9F23375-B8AB-D09C-AE78-7CB2ACA91BA0}"/>
              </a:ext>
            </a:extLst>
          </p:cNvPr>
          <p:cNvPicPr>
            <a:picLocks noChangeAspect="1"/>
          </p:cNvPicPr>
          <p:nvPr/>
        </p:nvPicPr>
        <p:blipFill>
          <a:blip r:embed="rId4"/>
          <a:stretch>
            <a:fillRect/>
          </a:stretch>
        </p:blipFill>
        <p:spPr>
          <a:xfrm>
            <a:off x="9262181" y="674400"/>
            <a:ext cx="1214204" cy="321112"/>
          </a:xfrm>
          <a:prstGeom prst="rect">
            <a:avLst/>
          </a:prstGeom>
        </p:spPr>
      </p:pic>
      <p:pic>
        <p:nvPicPr>
          <p:cNvPr id="3" name="Picture 2">
            <a:extLst>
              <a:ext uri="{FF2B5EF4-FFF2-40B4-BE49-F238E27FC236}">
                <a16:creationId xmlns:a16="http://schemas.microsoft.com/office/drawing/2014/main" id="{C5638F4F-FD5E-21E6-1E9F-FDC54ACC902B}"/>
              </a:ext>
            </a:extLst>
          </p:cNvPr>
          <p:cNvPicPr>
            <a:picLocks noChangeAspect="1"/>
          </p:cNvPicPr>
          <p:nvPr/>
        </p:nvPicPr>
        <p:blipFill>
          <a:blip r:embed="rId5"/>
          <a:stretch>
            <a:fillRect/>
          </a:stretch>
        </p:blipFill>
        <p:spPr>
          <a:xfrm>
            <a:off x="1" y="-6519"/>
            <a:ext cx="2242807" cy="1783508"/>
          </a:xfrm>
          <a:prstGeom prst="rect">
            <a:avLst/>
          </a:prstGeom>
        </p:spPr>
      </p:pic>
      <p:pic>
        <p:nvPicPr>
          <p:cNvPr id="5" name="Picture 4">
            <a:extLst>
              <a:ext uri="{FF2B5EF4-FFF2-40B4-BE49-F238E27FC236}">
                <a16:creationId xmlns:a16="http://schemas.microsoft.com/office/drawing/2014/main" id="{0862FBDC-6DA2-B87B-EE85-C2E7BA6FF1E4}"/>
              </a:ext>
            </a:extLst>
          </p:cNvPr>
          <p:cNvPicPr>
            <a:picLocks noChangeAspect="1"/>
          </p:cNvPicPr>
          <p:nvPr/>
        </p:nvPicPr>
        <p:blipFill>
          <a:blip r:embed="rId6"/>
          <a:stretch>
            <a:fillRect/>
          </a:stretch>
        </p:blipFill>
        <p:spPr>
          <a:xfrm>
            <a:off x="11240112" y="-13039"/>
            <a:ext cx="964928" cy="1220633"/>
          </a:xfrm>
          <a:prstGeom prst="rect">
            <a:avLst/>
          </a:prstGeom>
        </p:spPr>
      </p:pic>
      <p:pic>
        <p:nvPicPr>
          <p:cNvPr id="9" name="Picture 8">
            <a:extLst>
              <a:ext uri="{FF2B5EF4-FFF2-40B4-BE49-F238E27FC236}">
                <a16:creationId xmlns:a16="http://schemas.microsoft.com/office/drawing/2014/main" id="{6FACF819-EB7A-C5FA-9359-22256A6A507F}"/>
              </a:ext>
            </a:extLst>
          </p:cNvPr>
          <p:cNvPicPr>
            <a:picLocks noChangeAspect="1"/>
          </p:cNvPicPr>
          <p:nvPr/>
        </p:nvPicPr>
        <p:blipFill>
          <a:blip r:embed="rId5">
            <a:alphaModFix amt="11000"/>
          </a:blip>
          <a:stretch>
            <a:fillRect/>
          </a:stretch>
        </p:blipFill>
        <p:spPr>
          <a:xfrm rot="10800000">
            <a:off x="11253151" y="6109915"/>
            <a:ext cx="940736" cy="748085"/>
          </a:xfrm>
          <a:prstGeom prst="rect">
            <a:avLst/>
          </a:prstGeom>
        </p:spPr>
      </p:pic>
      <p:pic>
        <p:nvPicPr>
          <p:cNvPr id="12" name="Picture 11">
            <a:extLst>
              <a:ext uri="{FF2B5EF4-FFF2-40B4-BE49-F238E27FC236}">
                <a16:creationId xmlns:a16="http://schemas.microsoft.com/office/drawing/2014/main" id="{98EE7E7C-67F5-30B2-6350-6BDF088EE9E8}"/>
              </a:ext>
            </a:extLst>
          </p:cNvPr>
          <p:cNvPicPr>
            <a:picLocks noChangeAspect="1"/>
          </p:cNvPicPr>
          <p:nvPr/>
        </p:nvPicPr>
        <p:blipFill>
          <a:blip r:embed="rId6">
            <a:alphaModFix amt="27000"/>
          </a:blip>
          <a:stretch>
            <a:fillRect/>
          </a:stretch>
        </p:blipFill>
        <p:spPr>
          <a:xfrm rot="10800000">
            <a:off x="0" y="6388576"/>
            <a:ext cx="371088" cy="469425"/>
          </a:xfrm>
          <a:prstGeom prst="rect">
            <a:avLst/>
          </a:prstGeom>
        </p:spPr>
      </p:pic>
    </p:spTree>
    <p:extLst>
      <p:ext uri="{BB962C8B-B14F-4D97-AF65-F5344CB8AC3E}">
        <p14:creationId xmlns:p14="http://schemas.microsoft.com/office/powerpoint/2010/main" val="2235927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1" name="Content Placeholder 2">
            <a:extLst>
              <a:ext uri="{FF2B5EF4-FFF2-40B4-BE49-F238E27FC236}">
                <a16:creationId xmlns:a16="http://schemas.microsoft.com/office/drawing/2014/main" id="{4125A2CB-555F-8149-A98E-EC7B83CC0412}"/>
              </a:ext>
            </a:extLst>
          </p:cNvPr>
          <p:cNvSpPr>
            <a:spLocks noGrp="1" noChangeAspect="1"/>
          </p:cNvSpPr>
          <p:nvPr/>
        </p:nvSpPr>
        <p:spPr>
          <a:xfrm>
            <a:off x="608080" y="2095028"/>
            <a:ext cx="10975840" cy="1125416"/>
          </a:xfrm>
          <a:prstGeom prst="rect">
            <a:avLst/>
          </a:prstGeom>
        </p:spPr>
        <p:txBody>
          <a:bodyPr vert="horz" lIns="91440" tIns="45720" rIns="91440" bIns="45720" rtlCol="0" anchor="ctr" anchorCtr="0">
            <a:normAutofit/>
          </a:bodyPr>
          <a:lstStyle>
            <a:lvl1pPr marL="228562" indent="-319990" algn="l" defTabSz="914199" rtl="0" eaLnBrk="1" latinLnBrk="0" hangingPunct="1">
              <a:lnSpc>
                <a:spcPct val="90000"/>
              </a:lnSpc>
              <a:spcBef>
                <a:spcPts val="1000"/>
              </a:spcBef>
              <a:buClr>
                <a:srgbClr val="FF9900"/>
              </a:buClr>
              <a:buFont typeface="Arial" panose="020B0604020202020204" pitchFamily="34" charset="0"/>
              <a:buChar char="•"/>
              <a:defRPr sz="2799" b="0" i="0" kern="1200">
                <a:solidFill>
                  <a:schemeClr val="tx1"/>
                </a:solidFill>
                <a:latin typeface="Amazon Ember Light" charset="0"/>
                <a:ea typeface="Amazon Ember Light" charset="0"/>
                <a:cs typeface="Amazon Ember Light" charset="0"/>
              </a:defRPr>
            </a:lvl1pPr>
            <a:lvl2pPr marL="685690" indent="-319990" algn="l" defTabSz="914199" rtl="0" eaLnBrk="1" latinLnBrk="0" hangingPunct="1">
              <a:lnSpc>
                <a:spcPct val="90000"/>
              </a:lnSpc>
              <a:spcBef>
                <a:spcPts val="500"/>
              </a:spcBef>
              <a:buClr>
                <a:srgbClr val="FF9900"/>
              </a:buClr>
              <a:buFont typeface="Arial" panose="020B0604020202020204" pitchFamily="34" charset="0"/>
              <a:buChar char="•"/>
              <a:defRPr sz="2399" b="0" i="0" kern="1200">
                <a:solidFill>
                  <a:schemeClr val="tx1"/>
                </a:solidFill>
                <a:latin typeface="Amazon Ember Light" charset="0"/>
                <a:ea typeface="Amazon Ember Light" charset="0"/>
                <a:cs typeface="Amazon Ember Light" charset="0"/>
              </a:defRPr>
            </a:lvl2pPr>
            <a:lvl3pPr marL="1142817" indent="-319990" algn="l" defTabSz="914199" rtl="0" eaLnBrk="1" latinLnBrk="0" hangingPunct="1">
              <a:lnSpc>
                <a:spcPct val="90000"/>
              </a:lnSpc>
              <a:spcBef>
                <a:spcPts val="500"/>
              </a:spcBef>
              <a:buClr>
                <a:srgbClr val="FF9900"/>
              </a:buClr>
              <a:buFont typeface="Arial" panose="020B0604020202020204" pitchFamily="34" charset="0"/>
              <a:buChar char="•"/>
              <a:defRPr sz="1999" b="0" i="0" kern="1200">
                <a:solidFill>
                  <a:schemeClr val="tx1"/>
                </a:solidFill>
                <a:latin typeface="Amazon Ember Light" charset="0"/>
                <a:ea typeface="Amazon Ember Light" charset="0"/>
                <a:cs typeface="Amazon Ember Light" charset="0"/>
              </a:defRPr>
            </a:lvl3pPr>
            <a:lvl4pPr marL="1599944" indent="-228562" algn="l" defTabSz="914199" rtl="0" eaLnBrk="1" latinLnBrk="0" hangingPunct="1">
              <a:lnSpc>
                <a:spcPct val="90000"/>
              </a:lnSpc>
              <a:spcBef>
                <a:spcPts val="500"/>
              </a:spcBef>
              <a:buFontTx/>
              <a:buBlip>
                <a:blip r:embed="rId7"/>
              </a:buBlip>
              <a:defRPr sz="1799" b="0" i="0" kern="1200">
                <a:solidFill>
                  <a:schemeClr val="tx1"/>
                </a:solidFill>
                <a:latin typeface="Amazon Ember Light" charset="0"/>
                <a:ea typeface="Amazon Ember Light" charset="0"/>
                <a:cs typeface="Amazon Ember Light" charset="0"/>
              </a:defRPr>
            </a:lvl4pPr>
            <a:lvl5pPr marL="2057072" indent="-228562" algn="l" defTabSz="914199" rtl="0" eaLnBrk="1" latinLnBrk="0" hangingPunct="1">
              <a:lnSpc>
                <a:spcPct val="90000"/>
              </a:lnSpc>
              <a:spcBef>
                <a:spcPts val="500"/>
              </a:spcBef>
              <a:buFontTx/>
              <a:buBlip>
                <a:blip r:embed="rId7"/>
              </a:buBlip>
              <a:defRPr sz="1799" b="0" i="0" kern="1200">
                <a:solidFill>
                  <a:schemeClr val="tx1"/>
                </a:solidFill>
                <a:latin typeface="Amazon Ember Light" charset="0"/>
                <a:ea typeface="Amazon Ember Light" charset="0"/>
                <a:cs typeface="Amazon Ember Light" charset="0"/>
              </a:defRPr>
            </a:lvl5pPr>
            <a:lvl6pPr marL="2514047"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1146"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82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3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sz="2200" dirty="0">
                <a:latin typeface="Amazon Ember Light"/>
              </a:rPr>
              <a:t>To continue expanding business, you must begin automating. You need a method to reliably deploy, maintain and upgrade the numerous architectures your company has</a:t>
            </a:r>
          </a:p>
          <a:p>
            <a:pPr marL="0" indent="0">
              <a:buNone/>
            </a:pPr>
            <a:endParaRPr lang="en-US" sz="2200" dirty="0"/>
          </a:p>
        </p:txBody>
      </p:sp>
      <p:sp>
        <p:nvSpPr>
          <p:cNvPr id="13" name="Rectangle 12">
            <a:extLst>
              <a:ext uri="{FF2B5EF4-FFF2-40B4-BE49-F238E27FC236}">
                <a16:creationId xmlns:a16="http://schemas.microsoft.com/office/drawing/2014/main" id="{345952D5-B215-5243-9570-2C52E40FF5F2}"/>
              </a:ext>
            </a:extLst>
          </p:cNvPr>
          <p:cNvSpPr/>
          <p:nvPr/>
        </p:nvSpPr>
        <p:spPr>
          <a:xfrm>
            <a:off x="608080" y="4279088"/>
            <a:ext cx="8767834" cy="1323439"/>
          </a:xfrm>
          <a:prstGeom prst="rect">
            <a:avLst/>
          </a:prstGeom>
        </p:spPr>
        <p:txBody>
          <a:bodyPr wrap="square" lIns="91440" tIns="45720" rIns="91440" bIns="4572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marL="799465" lvl="1" indent="-342900">
              <a:buFont typeface="Arial" panose="020B0604020202020204" pitchFamily="34" charset="0"/>
              <a:buChar char="•"/>
            </a:pPr>
            <a:r>
              <a:rPr lang="en-US" sz="2000" dirty="0">
                <a:solidFill>
                  <a:schemeClr val="tx1">
                    <a:lumMod val="75000"/>
                    <a:lumOff val="25000"/>
                  </a:schemeClr>
                </a:solidFill>
                <a:latin typeface="Amazon Ember"/>
                <a:ea typeface="Amazon Ember" panose="020B0603020204020204" pitchFamily="34" charset="0"/>
                <a:cs typeface="Amazon Ember" panose="020B0603020204020204" pitchFamily="34" charset="0"/>
              </a:rPr>
              <a:t>Need for Automation</a:t>
            </a:r>
            <a:endParaRPr lang="en-US" dirty="0">
              <a:solidFill>
                <a:schemeClr val="tx1">
                  <a:lumMod val="75000"/>
                  <a:lumOff val="25000"/>
                </a:schemeClr>
              </a:solidFill>
              <a:latin typeface="Amazon Ember"/>
            </a:endParaRPr>
          </a:p>
          <a:p>
            <a:pPr marL="799465" lvl="1" indent="-342900">
              <a:buFont typeface="Arial" panose="020B0604020202020204" pitchFamily="34" charset="0"/>
              <a:buChar char="•"/>
            </a:pPr>
            <a:r>
              <a:rPr lang="en-US" sz="2000" dirty="0">
                <a:solidFill>
                  <a:schemeClr val="tx1">
                    <a:lumMod val="75000"/>
                    <a:lumOff val="25000"/>
                  </a:schemeClr>
                </a:solidFill>
                <a:latin typeface="Amazon Ember"/>
                <a:ea typeface="Amazon Ember" panose="020B0603020204020204" pitchFamily="34" charset="0"/>
                <a:cs typeface="Amazon Ember" panose="020B0603020204020204" pitchFamily="34" charset="0"/>
              </a:rPr>
              <a:t>Automating Your Infrastructure</a:t>
            </a:r>
          </a:p>
          <a:p>
            <a:pPr marL="799465" lvl="1" indent="-342900">
              <a:buFont typeface="Arial" panose="020B0604020202020204" pitchFamily="34" charset="0"/>
              <a:buChar char="•"/>
            </a:pPr>
            <a:r>
              <a:rPr lang="en-US" sz="2000" dirty="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Automating Deployment</a:t>
            </a:r>
          </a:p>
          <a:p>
            <a:pPr marL="799465" lvl="1" indent="-342900">
              <a:buFont typeface="Arial" panose="020B0604020202020204" pitchFamily="34" charset="0"/>
              <a:buChar char="•"/>
            </a:pPr>
            <a:endParaRPr lang="en-US" sz="2000" dirty="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4" name="TextBox 8">
            <a:extLst>
              <a:ext uri="{FF2B5EF4-FFF2-40B4-BE49-F238E27FC236}">
                <a16:creationId xmlns:a16="http://schemas.microsoft.com/office/drawing/2014/main" id="{293FCA96-1F65-7E46-83B0-70D1DE35E58F}"/>
              </a:ext>
            </a:extLst>
          </p:cNvPr>
          <p:cNvSpPr txBox="1"/>
          <p:nvPr/>
        </p:nvSpPr>
        <p:spPr>
          <a:xfrm>
            <a:off x="2945314" y="1287812"/>
            <a:ext cx="6301371" cy="461665"/>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400" b="1" dirty="0">
                <a:solidFill>
                  <a:schemeClr val="accent1"/>
                </a:solidFill>
                <a:latin typeface="Amazon Ember"/>
                <a:ea typeface="Amazon Ember" panose="020B0603020204020204" pitchFamily="34" charset="0"/>
                <a:cs typeface="Amazon Ember" panose="020B0603020204020204" pitchFamily="34" charset="0"/>
              </a:rPr>
              <a:t>ARCHITECTURAL NEED</a:t>
            </a:r>
            <a:endParaRPr lang="en-US" sz="24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5" name="Rectangle 14">
            <a:extLst>
              <a:ext uri="{FF2B5EF4-FFF2-40B4-BE49-F238E27FC236}">
                <a16:creationId xmlns:a16="http://schemas.microsoft.com/office/drawing/2014/main" id="{0E3335A6-F866-B44A-A394-404C1DDE13E6}"/>
              </a:ext>
            </a:extLst>
          </p:cNvPr>
          <p:cNvSpPr/>
          <p:nvPr/>
        </p:nvSpPr>
        <p:spPr>
          <a:xfrm>
            <a:off x="608080" y="3652465"/>
            <a:ext cx="2299027" cy="400110"/>
          </a:xfrm>
          <a:prstGeom prst="rect">
            <a:avLst/>
          </a:prstGeom>
        </p:spPr>
        <p:txBody>
          <a:bodyPr wrap="non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000" b="1" dirty="0">
                <a:solidFill>
                  <a:schemeClr val="tx1">
                    <a:lumMod val="75000"/>
                    <a:lumOff val="25000"/>
                  </a:schemeClr>
                </a:solidFill>
                <a:latin typeface="Amazon Ember" panose="020B0603020204020204" pitchFamily="34" charset="0"/>
                <a:ea typeface="Amazon Ember" panose="020B0603020204020204" pitchFamily="34" charset="0"/>
                <a:cs typeface="Amazon Ember" panose="020B0603020204020204" pitchFamily="34" charset="0"/>
              </a:rPr>
              <a:t>Module Overview</a:t>
            </a:r>
          </a:p>
        </p:txBody>
      </p:sp>
    </p:spTree>
    <p:extLst>
      <p:ext uri="{BB962C8B-B14F-4D97-AF65-F5344CB8AC3E}">
        <p14:creationId xmlns:p14="http://schemas.microsoft.com/office/powerpoint/2010/main" val="1368522449"/>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algn="ctr"/>
            <a:r>
              <a:rPr lang="en-US" sz="3200" dirty="0">
                <a:solidFill>
                  <a:sysClr val="windowText" lastClr="000000"/>
                </a:solidFill>
                <a:latin typeface="Proxima Nova"/>
                <a:ea typeface="Proxima Nova"/>
                <a:cs typeface="Proxima Nova"/>
                <a:sym typeface="Proxima Nova"/>
              </a:rPr>
              <a:t>Need for Automation</a:t>
            </a: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4277037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8610600" y="6356350"/>
            <a:ext cx="2743200" cy="365125"/>
          </a:xfrm>
          <a:noFill/>
          <a:ln>
            <a:noFill/>
          </a:ln>
        </p:spPr>
        <p:txBody>
          <a:bodyPr spcFirstLastPara="1" wrap="square" lIns="91425" tIns="45700" rIns="91425" bIns="45700" anchor="ctr" anchorCtr="0">
            <a:noAutofit/>
          </a:bodyPr>
          <a:lstStyle/>
          <a:p>
            <a:pPr lvl="0"/>
            <a:fld id="{00000000-1234-1234-1234-123412341234}" type="slidenum">
              <a:rPr lang="en-IN">
                <a:sym typeface="Proxima Nova"/>
              </a:rPr>
              <a:pPr lvl="0"/>
              <a:t>5</a:t>
            </a:fld>
            <a:endParaRPr lang="en-IN">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1" name="Title 1">
            <a:extLst>
              <a:ext uri="{FF2B5EF4-FFF2-40B4-BE49-F238E27FC236}">
                <a16:creationId xmlns:a16="http://schemas.microsoft.com/office/drawing/2014/main" id="{B5A966F5-8575-D746-9CF2-79F4DFEE77A1}"/>
              </a:ext>
            </a:extLst>
          </p:cNvPr>
          <p:cNvSpPr>
            <a:spLocks noGrp="1"/>
          </p:cNvSpPr>
          <p:nvPr/>
        </p:nvSpPr>
        <p:spPr>
          <a:xfrm>
            <a:off x="1055690" y="741427"/>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600" dirty="0">
                <a:solidFill>
                  <a:schemeClr val="tx1"/>
                </a:solidFill>
              </a:rPr>
              <a:t>Without Automation</a:t>
            </a:r>
          </a:p>
        </p:txBody>
      </p:sp>
      <p:grpSp>
        <p:nvGrpSpPr>
          <p:cNvPr id="12" name="Group 11">
            <a:extLst>
              <a:ext uri="{FF2B5EF4-FFF2-40B4-BE49-F238E27FC236}">
                <a16:creationId xmlns:a16="http://schemas.microsoft.com/office/drawing/2014/main" id="{7B960ECB-50C8-9E4A-ACD7-B1501646D088}"/>
              </a:ext>
            </a:extLst>
          </p:cNvPr>
          <p:cNvGrpSpPr/>
          <p:nvPr/>
        </p:nvGrpSpPr>
        <p:grpSpPr>
          <a:xfrm>
            <a:off x="8679163" y="4459914"/>
            <a:ext cx="2325416" cy="728100"/>
            <a:chOff x="6189810" y="2153526"/>
            <a:chExt cx="2325416" cy="728100"/>
          </a:xfrm>
        </p:grpSpPr>
        <p:pic>
          <p:nvPicPr>
            <p:cNvPr id="33" name="Picture 32">
              <a:extLst>
                <a:ext uri="{FF2B5EF4-FFF2-40B4-BE49-F238E27FC236}">
                  <a16:creationId xmlns:a16="http://schemas.microsoft.com/office/drawing/2014/main" id="{ECF53B06-C429-AC45-AF14-4F553674EFC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89810" y="2153526"/>
              <a:ext cx="728100" cy="728100"/>
            </a:xfrm>
            <a:prstGeom prst="rect">
              <a:avLst/>
            </a:prstGeom>
          </p:spPr>
        </p:pic>
        <p:pic>
          <p:nvPicPr>
            <p:cNvPr id="34" name="Picture 33">
              <a:extLst>
                <a:ext uri="{FF2B5EF4-FFF2-40B4-BE49-F238E27FC236}">
                  <a16:creationId xmlns:a16="http://schemas.microsoft.com/office/drawing/2014/main" id="{BEFA24AD-9350-A54D-90C2-A1051EAB65D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88468" y="2153526"/>
              <a:ext cx="728100" cy="728100"/>
            </a:xfrm>
            <a:prstGeom prst="rect">
              <a:avLst/>
            </a:prstGeom>
          </p:spPr>
        </p:pic>
        <p:pic>
          <p:nvPicPr>
            <p:cNvPr id="35" name="Picture 34">
              <a:extLst>
                <a:ext uri="{FF2B5EF4-FFF2-40B4-BE49-F238E27FC236}">
                  <a16:creationId xmlns:a16="http://schemas.microsoft.com/office/drawing/2014/main" id="{989A2FC5-DA5B-8A4C-884C-52D6AFDB5C3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87126" y="2153526"/>
              <a:ext cx="728100" cy="728100"/>
            </a:xfrm>
            <a:prstGeom prst="rect">
              <a:avLst/>
            </a:prstGeom>
          </p:spPr>
        </p:pic>
      </p:grpSp>
      <p:sp>
        <p:nvSpPr>
          <p:cNvPr id="13" name="TextBox 22">
            <a:extLst>
              <a:ext uri="{FF2B5EF4-FFF2-40B4-BE49-F238E27FC236}">
                <a16:creationId xmlns:a16="http://schemas.microsoft.com/office/drawing/2014/main" id="{2A4CE40C-1BFC-AD40-8B94-F1B79B80EA11}"/>
              </a:ext>
            </a:extLst>
          </p:cNvPr>
          <p:cNvSpPr txBox="1"/>
          <p:nvPr/>
        </p:nvSpPr>
        <p:spPr>
          <a:xfrm>
            <a:off x="8243220" y="3969652"/>
            <a:ext cx="3197302" cy="369012"/>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Create your instances</a:t>
            </a:r>
          </a:p>
        </p:txBody>
      </p:sp>
      <p:sp>
        <p:nvSpPr>
          <p:cNvPr id="14" name="TextBox 23">
            <a:extLst>
              <a:ext uri="{FF2B5EF4-FFF2-40B4-BE49-F238E27FC236}">
                <a16:creationId xmlns:a16="http://schemas.microsoft.com/office/drawing/2014/main" id="{12D68778-F462-7540-A569-4F96EF1AAC83}"/>
              </a:ext>
            </a:extLst>
          </p:cNvPr>
          <p:cNvSpPr txBox="1"/>
          <p:nvPr/>
        </p:nvSpPr>
        <p:spPr>
          <a:xfrm>
            <a:off x="8243220" y="5309264"/>
            <a:ext cx="3197302" cy="369012"/>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Build your databases</a:t>
            </a:r>
          </a:p>
        </p:txBody>
      </p:sp>
      <p:grpSp>
        <p:nvGrpSpPr>
          <p:cNvPr id="15" name="Group 14">
            <a:extLst>
              <a:ext uri="{FF2B5EF4-FFF2-40B4-BE49-F238E27FC236}">
                <a16:creationId xmlns:a16="http://schemas.microsoft.com/office/drawing/2014/main" id="{62EFFBBA-13DD-1E49-BD40-76E50B1CD395}"/>
              </a:ext>
            </a:extLst>
          </p:cNvPr>
          <p:cNvGrpSpPr/>
          <p:nvPr/>
        </p:nvGrpSpPr>
        <p:grpSpPr>
          <a:xfrm>
            <a:off x="9198543" y="5799527"/>
            <a:ext cx="1286657" cy="602829"/>
            <a:chOff x="6657227" y="3505490"/>
            <a:chExt cx="1286657" cy="602829"/>
          </a:xfrm>
        </p:grpSpPr>
        <p:pic>
          <p:nvPicPr>
            <p:cNvPr id="31" name="Picture 30">
              <a:extLst>
                <a:ext uri="{FF2B5EF4-FFF2-40B4-BE49-F238E27FC236}">
                  <a16:creationId xmlns:a16="http://schemas.microsoft.com/office/drawing/2014/main" id="{FD9C9A06-B29D-D440-B283-53A33CF6377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657227" y="3505490"/>
              <a:ext cx="521366" cy="602829"/>
            </a:xfrm>
            <a:prstGeom prst="rect">
              <a:avLst/>
            </a:prstGeom>
          </p:spPr>
        </p:pic>
        <p:pic>
          <p:nvPicPr>
            <p:cNvPr id="32" name="Picture 31">
              <a:extLst>
                <a:ext uri="{FF2B5EF4-FFF2-40B4-BE49-F238E27FC236}">
                  <a16:creationId xmlns:a16="http://schemas.microsoft.com/office/drawing/2014/main" id="{0E1BFE57-B360-5C41-B6BA-6B0802C24D7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400418" y="3505907"/>
              <a:ext cx="543466" cy="601994"/>
            </a:xfrm>
            <a:prstGeom prst="rect">
              <a:avLst/>
            </a:prstGeom>
          </p:spPr>
        </p:pic>
      </p:grpSp>
      <p:sp>
        <p:nvSpPr>
          <p:cNvPr id="16" name="TextBox 27">
            <a:extLst>
              <a:ext uri="{FF2B5EF4-FFF2-40B4-BE49-F238E27FC236}">
                <a16:creationId xmlns:a16="http://schemas.microsoft.com/office/drawing/2014/main" id="{53AFC77F-7742-D940-AA6E-8A466B2C5A4E}"/>
              </a:ext>
            </a:extLst>
          </p:cNvPr>
          <p:cNvSpPr txBox="1"/>
          <p:nvPr/>
        </p:nvSpPr>
        <p:spPr>
          <a:xfrm>
            <a:off x="8243220" y="1500985"/>
            <a:ext cx="3197302" cy="369012"/>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Set up your storage</a:t>
            </a:r>
          </a:p>
        </p:txBody>
      </p:sp>
      <p:grpSp>
        <p:nvGrpSpPr>
          <p:cNvPr id="17" name="Group 16">
            <a:extLst>
              <a:ext uri="{FF2B5EF4-FFF2-40B4-BE49-F238E27FC236}">
                <a16:creationId xmlns:a16="http://schemas.microsoft.com/office/drawing/2014/main" id="{75EBA51C-FF32-9941-B0D4-28B9B9D4FC96}"/>
              </a:ext>
            </a:extLst>
          </p:cNvPr>
          <p:cNvGrpSpPr/>
          <p:nvPr/>
        </p:nvGrpSpPr>
        <p:grpSpPr>
          <a:xfrm>
            <a:off x="8850445" y="1991247"/>
            <a:ext cx="1982853" cy="655062"/>
            <a:chOff x="6298002" y="4631388"/>
            <a:chExt cx="1982853" cy="655062"/>
          </a:xfrm>
        </p:grpSpPr>
        <p:pic>
          <p:nvPicPr>
            <p:cNvPr id="28" name="Picture 27">
              <a:extLst>
                <a:ext uri="{FF2B5EF4-FFF2-40B4-BE49-F238E27FC236}">
                  <a16:creationId xmlns:a16="http://schemas.microsoft.com/office/drawing/2014/main" id="{D883279A-4CC6-034E-ACBD-06C00DBF0D1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298002" y="4660810"/>
              <a:ext cx="521367" cy="625640"/>
            </a:xfrm>
            <a:prstGeom prst="rect">
              <a:avLst/>
            </a:prstGeom>
          </p:spPr>
        </p:pic>
        <p:pic>
          <p:nvPicPr>
            <p:cNvPr id="29" name="Picture 28">
              <a:extLst>
                <a:ext uri="{FF2B5EF4-FFF2-40B4-BE49-F238E27FC236}">
                  <a16:creationId xmlns:a16="http://schemas.microsoft.com/office/drawing/2014/main" id="{A4D80C74-10A7-F14B-B22C-B2B9D8A93C6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006076" y="4633174"/>
              <a:ext cx="543292" cy="651950"/>
            </a:xfrm>
            <a:prstGeom prst="rect">
              <a:avLst/>
            </a:prstGeom>
          </p:spPr>
        </p:pic>
        <p:pic>
          <p:nvPicPr>
            <p:cNvPr id="30" name="Picture 29">
              <a:extLst>
                <a:ext uri="{FF2B5EF4-FFF2-40B4-BE49-F238E27FC236}">
                  <a16:creationId xmlns:a16="http://schemas.microsoft.com/office/drawing/2014/main" id="{7519E774-A3E5-3842-8E8A-0536E82CBDF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736075" y="4631388"/>
              <a:ext cx="544780" cy="653736"/>
            </a:xfrm>
            <a:prstGeom prst="rect">
              <a:avLst/>
            </a:prstGeom>
          </p:spPr>
        </p:pic>
      </p:grpSp>
      <p:pic>
        <p:nvPicPr>
          <p:cNvPr id="18" name="Picture 17">
            <a:extLst>
              <a:ext uri="{FF2B5EF4-FFF2-40B4-BE49-F238E27FC236}">
                <a16:creationId xmlns:a16="http://schemas.microsoft.com/office/drawing/2014/main" id="{57911530-1483-404D-BA21-48BDBC358D1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389512" y="3257821"/>
            <a:ext cx="904719" cy="590581"/>
          </a:xfrm>
          <a:prstGeom prst="rect">
            <a:avLst/>
          </a:prstGeom>
        </p:spPr>
      </p:pic>
      <p:sp>
        <p:nvSpPr>
          <p:cNvPr id="19" name="TextBox 33">
            <a:extLst>
              <a:ext uri="{FF2B5EF4-FFF2-40B4-BE49-F238E27FC236}">
                <a16:creationId xmlns:a16="http://schemas.microsoft.com/office/drawing/2014/main" id="{88F0FB53-CF1F-7D47-BA7B-1735600D307A}"/>
              </a:ext>
            </a:extLst>
          </p:cNvPr>
          <p:cNvSpPr txBox="1"/>
          <p:nvPr/>
        </p:nvSpPr>
        <p:spPr>
          <a:xfrm>
            <a:off x="8243220" y="2767559"/>
            <a:ext cx="3197302" cy="369012"/>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Route your network</a:t>
            </a:r>
          </a:p>
        </p:txBody>
      </p:sp>
      <p:sp>
        <p:nvSpPr>
          <p:cNvPr id="20" name="Rectangle 19">
            <a:extLst>
              <a:ext uri="{FF2B5EF4-FFF2-40B4-BE49-F238E27FC236}">
                <a16:creationId xmlns:a16="http://schemas.microsoft.com/office/drawing/2014/main" id="{8F1EF790-A6D2-6B49-B7FE-1D3457C67511}"/>
              </a:ext>
            </a:extLst>
          </p:cNvPr>
          <p:cNvSpPr/>
          <p:nvPr/>
        </p:nvSpPr>
        <p:spPr>
          <a:xfrm>
            <a:off x="8243220" y="1404141"/>
            <a:ext cx="3197302" cy="5229225"/>
          </a:xfrm>
          <a:prstGeom prst="rect">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dirty="0"/>
          </a:p>
        </p:txBody>
      </p:sp>
      <p:cxnSp>
        <p:nvCxnSpPr>
          <p:cNvPr id="21" name="Straight Arrow Connector 20">
            <a:extLst>
              <a:ext uri="{FF2B5EF4-FFF2-40B4-BE49-F238E27FC236}">
                <a16:creationId xmlns:a16="http://schemas.microsoft.com/office/drawing/2014/main" id="{85DFE4FC-6C0F-ED44-B185-8496A9018AFE}"/>
              </a:ext>
            </a:extLst>
          </p:cNvPr>
          <p:cNvCxnSpPr>
            <a:cxnSpLocks/>
          </p:cNvCxnSpPr>
          <p:nvPr/>
        </p:nvCxnSpPr>
        <p:spPr>
          <a:xfrm>
            <a:off x="3601768" y="4213844"/>
            <a:ext cx="959942" cy="3861"/>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D8B3FE08-5A99-1D41-8849-A5A7ED0AD5DD}"/>
              </a:ext>
            </a:extLst>
          </p:cNvPr>
          <p:cNvGrpSpPr/>
          <p:nvPr/>
        </p:nvGrpSpPr>
        <p:grpSpPr>
          <a:xfrm>
            <a:off x="953753" y="2550250"/>
            <a:ext cx="6684694" cy="2505217"/>
            <a:chOff x="131250" y="2589147"/>
            <a:chExt cx="6684694" cy="2505217"/>
          </a:xfrm>
        </p:grpSpPr>
        <p:pic>
          <p:nvPicPr>
            <p:cNvPr id="23" name="Picture 22">
              <a:extLst>
                <a:ext uri="{FF2B5EF4-FFF2-40B4-BE49-F238E27FC236}">
                  <a16:creationId xmlns:a16="http://schemas.microsoft.com/office/drawing/2014/main" id="{A7B7E684-1A92-6848-ABEA-47684E431E4E}"/>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843661" y="3765061"/>
              <a:ext cx="975360" cy="975360"/>
            </a:xfrm>
            <a:prstGeom prst="rect">
              <a:avLst/>
            </a:prstGeom>
          </p:spPr>
        </p:pic>
        <p:sp>
          <p:nvSpPr>
            <p:cNvPr id="24" name="TextBox 6">
              <a:extLst>
                <a:ext uri="{FF2B5EF4-FFF2-40B4-BE49-F238E27FC236}">
                  <a16:creationId xmlns:a16="http://schemas.microsoft.com/office/drawing/2014/main" id="{64E21D89-F542-4F41-AC02-A8566C3A391D}"/>
                </a:ext>
              </a:extLst>
            </p:cNvPr>
            <p:cNvSpPr txBox="1"/>
            <p:nvPr/>
          </p:nvSpPr>
          <p:spPr>
            <a:xfrm>
              <a:off x="1445516" y="4709347"/>
              <a:ext cx="1771650" cy="369332"/>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800" dirty="0">
                  <a:latin typeface="Amazon Ember" panose="020B0603020204020204" pitchFamily="34" charset="0"/>
                  <a:ea typeface="Amazon Ember" panose="020B0603020204020204" pitchFamily="34" charset="0"/>
                  <a:cs typeface="Amazon Ember" panose="020B0603020204020204" pitchFamily="34" charset="0"/>
                </a:rPr>
                <a:t>You</a:t>
              </a:r>
            </a:p>
          </p:txBody>
        </p:sp>
        <p:pic>
          <p:nvPicPr>
            <p:cNvPr id="25" name="Picture 24">
              <a:extLst>
                <a:ext uri="{FF2B5EF4-FFF2-40B4-BE49-F238E27FC236}">
                  <a16:creationId xmlns:a16="http://schemas.microsoft.com/office/drawing/2014/main" id="{A7B3EF52-EF73-2844-9D78-25CD1138972E}"/>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907379" y="3882811"/>
              <a:ext cx="731520" cy="731520"/>
            </a:xfrm>
            <a:prstGeom prst="rect">
              <a:avLst/>
            </a:prstGeom>
          </p:spPr>
        </p:pic>
        <p:sp>
          <p:nvSpPr>
            <p:cNvPr id="26" name="TextBox 8">
              <a:extLst>
                <a:ext uri="{FF2B5EF4-FFF2-40B4-BE49-F238E27FC236}">
                  <a16:creationId xmlns:a16="http://schemas.microsoft.com/office/drawing/2014/main" id="{F6374ED9-C97A-324A-8A4C-06F8C871F03C}"/>
                </a:ext>
              </a:extLst>
            </p:cNvPr>
            <p:cNvSpPr txBox="1"/>
            <p:nvPr/>
          </p:nvSpPr>
          <p:spPr>
            <a:xfrm>
              <a:off x="3750387" y="4693662"/>
              <a:ext cx="1078992" cy="400702"/>
            </a:xfrm>
            <a:prstGeom prst="rect">
              <a:avLst/>
            </a:prstGeom>
            <a:noFill/>
          </p:spPr>
          <p:txBody>
            <a:bodyPr wrap="square" lIns="0" tIns="0" rIns="0" bIns="0" rtlCol="0" anchor="ctr">
              <a:no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800" dirty="0">
                  <a:latin typeface="Amazon Ember" panose="020B0603020204020204" pitchFamily="34" charset="0"/>
                  <a:ea typeface="Amazon Ember" panose="020B0603020204020204" pitchFamily="34" charset="0"/>
                  <a:cs typeface="Amazon Ember" panose="020B0603020204020204" pitchFamily="34" charset="0"/>
                </a:rPr>
                <a:t>Console</a:t>
              </a:r>
            </a:p>
          </p:txBody>
        </p:sp>
        <p:sp>
          <p:nvSpPr>
            <p:cNvPr id="27" name="TextBox 46">
              <a:extLst>
                <a:ext uri="{FF2B5EF4-FFF2-40B4-BE49-F238E27FC236}">
                  <a16:creationId xmlns:a16="http://schemas.microsoft.com/office/drawing/2014/main" id="{EAD8A70D-EAF2-1C4B-A3CE-FD3B2D92B6CF}"/>
                </a:ext>
              </a:extLst>
            </p:cNvPr>
            <p:cNvSpPr txBox="1"/>
            <p:nvPr/>
          </p:nvSpPr>
          <p:spPr>
            <a:xfrm>
              <a:off x="131250" y="2589147"/>
              <a:ext cx="6684694" cy="461665"/>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4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Long manual process to build an architecture</a:t>
              </a:r>
            </a:p>
          </p:txBody>
        </p:sp>
      </p:grpSp>
    </p:spTree>
    <p:extLst>
      <p:ext uri="{BB962C8B-B14F-4D97-AF65-F5344CB8AC3E}">
        <p14:creationId xmlns:p14="http://schemas.microsoft.com/office/powerpoint/2010/main" val="4155490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1" name="Title 1">
            <a:extLst>
              <a:ext uri="{FF2B5EF4-FFF2-40B4-BE49-F238E27FC236}">
                <a16:creationId xmlns:a16="http://schemas.microsoft.com/office/drawing/2014/main" id="{B5A966F5-8575-D746-9CF2-79F4DFEE77A1}"/>
              </a:ext>
            </a:extLst>
          </p:cNvPr>
          <p:cNvSpPr>
            <a:spLocks noGrp="1"/>
          </p:cNvSpPr>
          <p:nvPr/>
        </p:nvSpPr>
        <p:spPr>
          <a:xfrm>
            <a:off x="1284731" y="1012399"/>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a:solidFill>
                  <a:schemeClr val="tx1"/>
                </a:solidFill>
                <a:latin typeface="Amazon Ember Light"/>
              </a:rPr>
              <a:t>Manual Processes: Risks </a:t>
            </a:r>
          </a:p>
        </p:txBody>
      </p:sp>
      <p:sp>
        <p:nvSpPr>
          <p:cNvPr id="12" name="Rectangle 11">
            <a:extLst>
              <a:ext uri="{FF2B5EF4-FFF2-40B4-BE49-F238E27FC236}">
                <a16:creationId xmlns:a16="http://schemas.microsoft.com/office/drawing/2014/main" id="{7DA05831-EA54-D24F-9AD3-78CBCC1B920A}"/>
              </a:ext>
            </a:extLst>
          </p:cNvPr>
          <p:cNvSpPr/>
          <p:nvPr/>
        </p:nvSpPr>
        <p:spPr>
          <a:xfrm>
            <a:off x="1154084" y="2991250"/>
            <a:ext cx="10475494" cy="3047650"/>
          </a:xfrm>
          <a:prstGeom prst="rect">
            <a:avLst/>
          </a:prstGeom>
          <a:no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dirty="0"/>
          </a:p>
        </p:txBody>
      </p:sp>
      <p:pic>
        <p:nvPicPr>
          <p:cNvPr id="13" name="Picture 12">
            <a:extLst>
              <a:ext uri="{FF2B5EF4-FFF2-40B4-BE49-F238E27FC236}">
                <a16:creationId xmlns:a16="http://schemas.microsoft.com/office/drawing/2014/main" id="{F431C7F1-64C9-8E4E-BA1E-464C02400F2D}"/>
              </a:ext>
            </a:extLst>
          </p:cNvPr>
          <p:cNvPicPr>
            <a:picLocks noChangeAspect="1"/>
          </p:cNvPicPr>
          <p:nvPr/>
        </p:nvPicPr>
        <p:blipFill>
          <a:blip r:embed="rId7">
            <a:alphaModFix/>
          </a:blip>
          <a:stretch>
            <a:fillRect/>
          </a:stretch>
        </p:blipFill>
        <p:spPr>
          <a:xfrm>
            <a:off x="677848" y="2614564"/>
            <a:ext cx="968116" cy="968116"/>
          </a:xfrm>
          <a:prstGeom prst="rect">
            <a:avLst/>
          </a:prstGeom>
          <a:solidFill>
            <a:schemeClr val="bg1"/>
          </a:solidFill>
        </p:spPr>
      </p:pic>
      <p:grpSp>
        <p:nvGrpSpPr>
          <p:cNvPr id="14" name="Group 13">
            <a:extLst>
              <a:ext uri="{FF2B5EF4-FFF2-40B4-BE49-F238E27FC236}">
                <a16:creationId xmlns:a16="http://schemas.microsoft.com/office/drawing/2014/main" id="{355E721B-6BFA-E74B-961C-C04837FF7431}"/>
              </a:ext>
            </a:extLst>
          </p:cNvPr>
          <p:cNvGrpSpPr/>
          <p:nvPr/>
        </p:nvGrpSpPr>
        <p:grpSpPr>
          <a:xfrm>
            <a:off x="1906945" y="3456050"/>
            <a:ext cx="8969772" cy="2295197"/>
            <a:chOff x="1502534" y="3060901"/>
            <a:chExt cx="8969772" cy="2295197"/>
          </a:xfrm>
        </p:grpSpPr>
        <p:grpSp>
          <p:nvGrpSpPr>
            <p:cNvPr id="15" name="Group 14">
              <a:extLst>
                <a:ext uri="{FF2B5EF4-FFF2-40B4-BE49-F238E27FC236}">
                  <a16:creationId xmlns:a16="http://schemas.microsoft.com/office/drawing/2014/main" id="{76A78B15-E554-8D4D-9030-220ADB6466D8}"/>
                </a:ext>
              </a:extLst>
            </p:cNvPr>
            <p:cNvGrpSpPr/>
            <p:nvPr/>
          </p:nvGrpSpPr>
          <p:grpSpPr>
            <a:xfrm>
              <a:off x="1502534" y="4586656"/>
              <a:ext cx="8969772" cy="769442"/>
              <a:chOff x="1716519" y="4586656"/>
              <a:chExt cx="8969772" cy="769442"/>
            </a:xfrm>
          </p:grpSpPr>
          <p:sp>
            <p:nvSpPr>
              <p:cNvPr id="24" name="TextBox 5">
                <a:extLst>
                  <a:ext uri="{FF2B5EF4-FFF2-40B4-BE49-F238E27FC236}">
                    <a16:creationId xmlns:a16="http://schemas.microsoft.com/office/drawing/2014/main" id="{55DA2040-3B03-4640-9CC5-9B5ECB5A6AB6}"/>
                  </a:ext>
                </a:extLst>
              </p:cNvPr>
              <p:cNvSpPr txBox="1"/>
              <p:nvPr/>
            </p:nvSpPr>
            <p:spPr>
              <a:xfrm>
                <a:off x="7938108" y="4586656"/>
                <a:ext cx="2748183" cy="769441"/>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Inconsistent data management</a:t>
                </a:r>
              </a:p>
            </p:txBody>
          </p:sp>
          <p:sp>
            <p:nvSpPr>
              <p:cNvPr id="25" name="TextBox 8">
                <a:extLst>
                  <a:ext uri="{FF2B5EF4-FFF2-40B4-BE49-F238E27FC236}">
                    <a16:creationId xmlns:a16="http://schemas.microsoft.com/office/drawing/2014/main" id="{8F52D3DC-D33D-2645-ABCD-0ADB2007B0F8}"/>
                  </a:ext>
                </a:extLst>
              </p:cNvPr>
              <p:cNvSpPr txBox="1"/>
              <p:nvPr/>
            </p:nvSpPr>
            <p:spPr>
              <a:xfrm>
                <a:off x="5864245" y="4586657"/>
                <a:ext cx="1849120" cy="769441"/>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Lack of audit</a:t>
                </a:r>
              </a:p>
              <a:p>
                <a:pPr algn="ct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trails</a:t>
                </a:r>
              </a:p>
            </p:txBody>
          </p:sp>
          <p:sp>
            <p:nvSpPr>
              <p:cNvPr id="26" name="TextBox 11">
                <a:extLst>
                  <a:ext uri="{FF2B5EF4-FFF2-40B4-BE49-F238E27FC236}">
                    <a16:creationId xmlns:a16="http://schemas.microsoft.com/office/drawing/2014/main" id="{B731E057-A427-2843-8302-F3A1EDF47B1D}"/>
                  </a:ext>
                </a:extLst>
              </p:cNvPr>
              <p:cNvSpPr txBox="1"/>
              <p:nvPr/>
            </p:nvSpPr>
            <p:spPr>
              <a:xfrm>
                <a:off x="3790382" y="4586657"/>
                <a:ext cx="1849120" cy="769441"/>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No version</a:t>
                </a:r>
              </a:p>
              <a:p>
                <a:pPr algn="ct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control</a:t>
                </a:r>
              </a:p>
            </p:txBody>
          </p:sp>
          <p:sp>
            <p:nvSpPr>
              <p:cNvPr id="27" name="TextBox 14">
                <a:extLst>
                  <a:ext uri="{FF2B5EF4-FFF2-40B4-BE49-F238E27FC236}">
                    <a16:creationId xmlns:a16="http://schemas.microsoft.com/office/drawing/2014/main" id="{1354D8F4-4575-C24E-B846-D8B82D9F339F}"/>
                  </a:ext>
                </a:extLst>
              </p:cNvPr>
              <p:cNvSpPr txBox="1"/>
              <p:nvPr/>
            </p:nvSpPr>
            <p:spPr>
              <a:xfrm>
                <a:off x="1716519" y="4586656"/>
                <a:ext cx="1849120" cy="769441"/>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Does not scale</a:t>
                </a:r>
              </a:p>
            </p:txBody>
          </p:sp>
        </p:grpSp>
        <p:pic>
          <p:nvPicPr>
            <p:cNvPr id="20" name="Picture 19">
              <a:extLst>
                <a:ext uri="{FF2B5EF4-FFF2-40B4-BE49-F238E27FC236}">
                  <a16:creationId xmlns:a16="http://schemas.microsoft.com/office/drawing/2014/main" id="{CE7460E8-F14D-964A-BAA2-B718AC28CA8D}"/>
                </a:ext>
              </a:extLst>
            </p:cNvPr>
            <p:cNvPicPr>
              <a:picLocks noChangeAspect="1"/>
            </p:cNvPicPr>
            <p:nvPr/>
          </p:nvPicPr>
          <p:blipFill>
            <a:blip r:embed="rId8"/>
            <a:stretch>
              <a:fillRect/>
            </a:stretch>
          </p:blipFill>
          <p:spPr>
            <a:xfrm>
              <a:off x="1758388" y="3060901"/>
              <a:ext cx="1337412" cy="1337412"/>
            </a:xfrm>
            <a:prstGeom prst="rect">
              <a:avLst/>
            </a:prstGeom>
          </p:spPr>
        </p:pic>
        <p:pic>
          <p:nvPicPr>
            <p:cNvPr id="21" name="Picture 20">
              <a:extLst>
                <a:ext uri="{FF2B5EF4-FFF2-40B4-BE49-F238E27FC236}">
                  <a16:creationId xmlns:a16="http://schemas.microsoft.com/office/drawing/2014/main" id="{BA523FD9-AC1C-0B4E-93A6-A446A041FC46}"/>
                </a:ext>
              </a:extLst>
            </p:cNvPr>
            <p:cNvPicPr>
              <a:picLocks noChangeAspect="1"/>
            </p:cNvPicPr>
            <p:nvPr/>
          </p:nvPicPr>
          <p:blipFill>
            <a:blip r:embed="rId9"/>
            <a:stretch>
              <a:fillRect/>
            </a:stretch>
          </p:blipFill>
          <p:spPr>
            <a:xfrm>
              <a:off x="3808514" y="3174437"/>
              <a:ext cx="1384885" cy="1384885"/>
            </a:xfrm>
            <a:prstGeom prst="rect">
              <a:avLst/>
            </a:prstGeom>
          </p:spPr>
        </p:pic>
        <p:pic>
          <p:nvPicPr>
            <p:cNvPr id="22" name="Picture 21">
              <a:extLst>
                <a:ext uri="{FF2B5EF4-FFF2-40B4-BE49-F238E27FC236}">
                  <a16:creationId xmlns:a16="http://schemas.microsoft.com/office/drawing/2014/main" id="{324E8785-36E7-4347-886B-71CA4E0A86F7}"/>
                </a:ext>
              </a:extLst>
            </p:cNvPr>
            <p:cNvPicPr>
              <a:picLocks noChangeAspect="1"/>
            </p:cNvPicPr>
            <p:nvPr/>
          </p:nvPicPr>
          <p:blipFill>
            <a:blip r:embed="rId10"/>
            <a:stretch>
              <a:fillRect/>
            </a:stretch>
          </p:blipFill>
          <p:spPr>
            <a:xfrm>
              <a:off x="5954145" y="3193970"/>
              <a:ext cx="1241349" cy="1241349"/>
            </a:xfrm>
            <a:prstGeom prst="rect">
              <a:avLst/>
            </a:prstGeom>
          </p:spPr>
        </p:pic>
        <p:pic>
          <p:nvPicPr>
            <p:cNvPr id="23" name="Picture 22">
              <a:extLst>
                <a:ext uri="{FF2B5EF4-FFF2-40B4-BE49-F238E27FC236}">
                  <a16:creationId xmlns:a16="http://schemas.microsoft.com/office/drawing/2014/main" id="{6839209C-B7EE-E040-8627-52B58CE333BD}"/>
                </a:ext>
              </a:extLst>
            </p:cNvPr>
            <p:cNvPicPr>
              <a:picLocks noChangeAspect="1"/>
            </p:cNvPicPr>
            <p:nvPr/>
          </p:nvPicPr>
          <p:blipFill>
            <a:blip r:embed="rId11"/>
            <a:stretch>
              <a:fillRect/>
            </a:stretch>
          </p:blipFill>
          <p:spPr>
            <a:xfrm>
              <a:off x="8471204" y="3205403"/>
              <a:ext cx="1254019" cy="1254019"/>
            </a:xfrm>
            <a:prstGeom prst="rect">
              <a:avLst/>
            </a:prstGeom>
          </p:spPr>
        </p:pic>
      </p:grpSp>
    </p:spTree>
    <p:extLst>
      <p:ext uri="{BB962C8B-B14F-4D97-AF65-F5344CB8AC3E}">
        <p14:creationId xmlns:p14="http://schemas.microsoft.com/office/powerpoint/2010/main" val="898535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2" name="TextBox 4">
            <a:extLst>
              <a:ext uri="{FF2B5EF4-FFF2-40B4-BE49-F238E27FC236}">
                <a16:creationId xmlns:a16="http://schemas.microsoft.com/office/drawing/2014/main" id="{956F755E-E985-3A4E-AE40-30CD130F78E3}"/>
              </a:ext>
            </a:extLst>
          </p:cNvPr>
          <p:cNvSpPr txBox="1"/>
          <p:nvPr/>
        </p:nvSpPr>
        <p:spPr>
          <a:xfrm>
            <a:off x="479213" y="2926738"/>
            <a:ext cx="11248650" cy="2308324"/>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3600" dirty="0">
                <a:solidFill>
                  <a:schemeClr val="tx1"/>
                </a:solidFill>
              </a:rPr>
              <a:t>In </a:t>
            </a:r>
            <a:r>
              <a:rPr lang="en-US" sz="3600" dirty="0"/>
              <a:t>general, m</a:t>
            </a:r>
            <a:r>
              <a:rPr lang="en-US" sz="3600" dirty="0">
                <a:latin typeface="Amazon Ember Light"/>
                <a:ea typeface="Amazon Ember Light" panose="020B0403020204020204" pitchFamily="34" charset="0"/>
                <a:cs typeface="Amazon Ember Light" panose="020B0403020204020204" pitchFamily="34" charset="0"/>
              </a:rPr>
              <a:t>aking manual changes in your production environment involves certain risks</a:t>
            </a:r>
          </a:p>
          <a:p>
            <a:pPr algn="ctr"/>
            <a:endParaRPr lang="en-US" sz="3600" dirty="0">
              <a:latin typeface="Amazon Ember Light" panose="020B0403020204020204" pitchFamily="34" charset="0"/>
              <a:ea typeface="Amazon Ember Light" panose="020B0403020204020204" pitchFamily="34" charset="0"/>
              <a:cs typeface="Amazon Ember Light" panose="020B0403020204020204" pitchFamily="34" charset="0"/>
            </a:endParaRPr>
          </a:p>
          <a:p>
            <a:pPr algn="ctr"/>
            <a:endParaRPr lang="en-US" sz="36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173134049"/>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algn="ctr"/>
            <a:r>
              <a:rPr lang="en-US" sz="3200" dirty="0">
                <a:solidFill>
                  <a:sysClr val="windowText" lastClr="000000"/>
                </a:solidFill>
                <a:latin typeface="Proxima Nova"/>
                <a:ea typeface="Proxima Nova"/>
                <a:cs typeface="Proxima Nova"/>
                <a:sym typeface="Proxima Nova"/>
              </a:rPr>
              <a:t>Automating Your Infrastructure</a:t>
            </a: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1597185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4">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5"/>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6"/>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7"/>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6">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7">
            <a:alphaModFix amt="27000"/>
          </a:blip>
          <a:stretch>
            <a:fillRect/>
          </a:stretch>
        </p:blipFill>
        <p:spPr>
          <a:xfrm rot="10800000">
            <a:off x="8803" y="6369939"/>
            <a:ext cx="370439" cy="468604"/>
          </a:xfrm>
          <a:prstGeom prst="rect">
            <a:avLst/>
          </a:prstGeom>
        </p:spPr>
      </p:pic>
      <p:pic>
        <p:nvPicPr>
          <p:cNvPr id="11" name="Picture 10">
            <a:extLst>
              <a:ext uri="{FF2B5EF4-FFF2-40B4-BE49-F238E27FC236}">
                <a16:creationId xmlns:a16="http://schemas.microsoft.com/office/drawing/2014/main" id="{A3D8CE0F-639E-7C4B-9D64-C6CF49998D2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30002" y="3094573"/>
            <a:ext cx="1193866" cy="1474776"/>
          </a:xfrm>
          <a:prstGeom prst="rect">
            <a:avLst/>
          </a:prstGeom>
        </p:spPr>
      </p:pic>
      <p:sp>
        <p:nvSpPr>
          <p:cNvPr id="12" name="Title 1">
            <a:extLst>
              <a:ext uri="{FF2B5EF4-FFF2-40B4-BE49-F238E27FC236}">
                <a16:creationId xmlns:a16="http://schemas.microsoft.com/office/drawing/2014/main" id="{88F4325D-ED84-574C-B187-90FBD6CA2F15}"/>
              </a:ext>
            </a:extLst>
          </p:cNvPr>
          <p:cNvSpPr>
            <a:spLocks noGrp="1"/>
          </p:cNvSpPr>
          <p:nvPr/>
        </p:nvSpPr>
        <p:spPr>
          <a:xfrm>
            <a:off x="431743" y="579990"/>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a:solidFill>
                  <a:schemeClr val="tx1"/>
                </a:solidFill>
                <a:latin typeface="Amazon Ember Light"/>
              </a:rPr>
              <a:t>Automating Your Infrastructure</a:t>
            </a:r>
          </a:p>
        </p:txBody>
      </p:sp>
      <p:sp>
        <p:nvSpPr>
          <p:cNvPr id="13" name="TextBox 5">
            <a:extLst>
              <a:ext uri="{FF2B5EF4-FFF2-40B4-BE49-F238E27FC236}">
                <a16:creationId xmlns:a16="http://schemas.microsoft.com/office/drawing/2014/main" id="{D8E7DEB1-F1AD-B048-BB35-1C23DDED4B36}"/>
              </a:ext>
            </a:extLst>
          </p:cNvPr>
          <p:cNvSpPr txBox="1"/>
          <p:nvPr/>
        </p:nvSpPr>
        <p:spPr>
          <a:xfrm>
            <a:off x="888322" y="4776322"/>
            <a:ext cx="2477230" cy="830997"/>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4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AWS CloudFormation</a:t>
            </a:r>
          </a:p>
        </p:txBody>
      </p:sp>
      <p:sp>
        <p:nvSpPr>
          <p:cNvPr id="14" name="Rectangle 13">
            <a:extLst>
              <a:ext uri="{FF2B5EF4-FFF2-40B4-BE49-F238E27FC236}">
                <a16:creationId xmlns:a16="http://schemas.microsoft.com/office/drawing/2014/main" id="{36648E16-0195-3241-AE21-4E7368685754}"/>
              </a:ext>
            </a:extLst>
          </p:cNvPr>
          <p:cNvSpPr/>
          <p:nvPr/>
        </p:nvSpPr>
        <p:spPr>
          <a:xfrm>
            <a:off x="688415" y="2232951"/>
            <a:ext cx="2885749" cy="4045058"/>
          </a:xfrm>
          <a:prstGeom prst="rect">
            <a:avLst/>
          </a:prstGeom>
          <a:no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dirty="0"/>
          </a:p>
        </p:txBody>
      </p:sp>
      <p:sp>
        <p:nvSpPr>
          <p:cNvPr id="15" name="TextBox 8">
            <a:extLst>
              <a:ext uri="{FF2B5EF4-FFF2-40B4-BE49-F238E27FC236}">
                <a16:creationId xmlns:a16="http://schemas.microsoft.com/office/drawing/2014/main" id="{F281C94B-3604-A840-A6D9-ED20B625CD74}"/>
              </a:ext>
            </a:extLst>
          </p:cNvPr>
          <p:cNvSpPr txBox="1"/>
          <p:nvPr/>
        </p:nvSpPr>
        <p:spPr>
          <a:xfrm>
            <a:off x="5607266" y="2919396"/>
            <a:ext cx="6152991" cy="707886"/>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000" dirty="0">
                <a:latin typeface="Amazon Ember Light"/>
                <a:ea typeface="Amazon Ember Light" panose="020B0403020204020204" pitchFamily="34" charset="0"/>
                <a:cs typeface="Amazon Ember Light" panose="020B0403020204020204" pitchFamily="34" charset="0"/>
              </a:rPr>
              <a:t>Provides your AWS infrastructure with a standard language to describe itself.</a:t>
            </a:r>
          </a:p>
        </p:txBody>
      </p:sp>
      <p:sp>
        <p:nvSpPr>
          <p:cNvPr id="16" name="TextBox 9">
            <a:extLst>
              <a:ext uri="{FF2B5EF4-FFF2-40B4-BE49-F238E27FC236}">
                <a16:creationId xmlns:a16="http://schemas.microsoft.com/office/drawing/2014/main" id="{7666E399-C8BC-FF4F-B6B9-D091538123C2}"/>
              </a:ext>
            </a:extLst>
          </p:cNvPr>
          <p:cNvSpPr txBox="1"/>
          <p:nvPr/>
        </p:nvSpPr>
        <p:spPr>
          <a:xfrm>
            <a:off x="5607266" y="4899433"/>
            <a:ext cx="6152991" cy="1015663"/>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000" dirty="0">
                <a:latin typeface="Amazon Ember Light"/>
                <a:ea typeface="Amazon Ember Light" panose="020B0403020204020204" pitchFamily="34" charset="0"/>
                <a:cs typeface="Amazon Ember Light" panose="020B0403020204020204" pitchFamily="34" charset="0"/>
              </a:rPr>
              <a:t>Generates and constructs specified resources automatically </a:t>
            </a:r>
          </a:p>
          <a:p>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17" name="Picture 16">
            <a:extLst>
              <a:ext uri="{FF2B5EF4-FFF2-40B4-BE49-F238E27FC236}">
                <a16:creationId xmlns:a16="http://schemas.microsoft.com/office/drawing/2014/main" id="{D5E8B037-C372-B648-93E1-5C25DA697766}"/>
              </a:ext>
            </a:extLst>
          </p:cNvPr>
          <p:cNvPicPr>
            <a:picLocks noChangeAspect="1"/>
          </p:cNvPicPr>
          <p:nvPr/>
        </p:nvPicPr>
        <p:blipFill>
          <a:blip r:embed="rId9"/>
          <a:stretch>
            <a:fillRect/>
          </a:stretch>
        </p:blipFill>
        <p:spPr>
          <a:xfrm>
            <a:off x="4069357" y="4479107"/>
            <a:ext cx="1272591" cy="1272591"/>
          </a:xfrm>
          <a:prstGeom prst="rect">
            <a:avLst/>
          </a:prstGeom>
        </p:spPr>
      </p:pic>
      <p:pic>
        <p:nvPicPr>
          <p:cNvPr id="18" name="Picture 17">
            <a:extLst>
              <a:ext uri="{FF2B5EF4-FFF2-40B4-BE49-F238E27FC236}">
                <a16:creationId xmlns:a16="http://schemas.microsoft.com/office/drawing/2014/main" id="{E8348D78-E2EC-A149-AF3E-82F8DF30E8F3}"/>
              </a:ext>
            </a:extLst>
          </p:cNvPr>
          <p:cNvPicPr>
            <a:picLocks noChangeAspect="1"/>
          </p:cNvPicPr>
          <p:nvPr/>
        </p:nvPicPr>
        <p:blipFill>
          <a:blip r:embed="rId10"/>
          <a:stretch>
            <a:fillRect/>
          </a:stretch>
        </p:blipFill>
        <p:spPr>
          <a:xfrm>
            <a:off x="4069357" y="2559197"/>
            <a:ext cx="1373092" cy="1373092"/>
          </a:xfrm>
          <a:prstGeom prst="rect">
            <a:avLst/>
          </a:prstGeom>
        </p:spPr>
      </p:pic>
    </p:spTree>
    <p:extLst>
      <p:ext uri="{BB962C8B-B14F-4D97-AF65-F5344CB8AC3E}">
        <p14:creationId xmlns:p14="http://schemas.microsoft.com/office/powerpoint/2010/main" val="441121491"/>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4">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5"/>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6"/>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7"/>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6">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7">
            <a:alphaModFix amt="27000"/>
          </a:blip>
          <a:stretch>
            <a:fillRect/>
          </a:stretch>
        </p:blipFill>
        <p:spPr>
          <a:xfrm rot="10800000">
            <a:off x="8803" y="6369939"/>
            <a:ext cx="370439" cy="468604"/>
          </a:xfrm>
          <a:prstGeom prst="rect">
            <a:avLst/>
          </a:prstGeom>
        </p:spPr>
      </p:pic>
      <p:cxnSp>
        <p:nvCxnSpPr>
          <p:cNvPr id="11" name="Elbow Connector 8">
            <a:extLst>
              <a:ext uri="{FF2B5EF4-FFF2-40B4-BE49-F238E27FC236}">
                <a16:creationId xmlns:a16="http://schemas.microsoft.com/office/drawing/2014/main" id="{D10EE5F0-D8FF-2542-96FB-30F519A4F986}"/>
              </a:ext>
            </a:extLst>
          </p:cNvPr>
          <p:cNvCxnSpPr>
            <a:cxnSpLocks/>
            <a:endCxn id="18" idx="1"/>
          </p:cNvCxnSpPr>
          <p:nvPr/>
        </p:nvCxnSpPr>
        <p:spPr>
          <a:xfrm rot="16200000" flipH="1">
            <a:off x="5526555" y="4594344"/>
            <a:ext cx="1344111" cy="691060"/>
          </a:xfrm>
          <a:prstGeom prst="bentConnector2">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9CE0E4C-617C-B444-ACBC-0888FE3F2958}"/>
              </a:ext>
            </a:extLst>
          </p:cNvPr>
          <p:cNvCxnSpPr>
            <a:cxnSpLocks/>
          </p:cNvCxnSpPr>
          <p:nvPr/>
        </p:nvCxnSpPr>
        <p:spPr>
          <a:xfrm flipH="1">
            <a:off x="5985606" y="4147151"/>
            <a:ext cx="1117068" cy="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D42916A5-2123-AA49-BA1F-6E70187B4A66}"/>
              </a:ext>
            </a:extLst>
          </p:cNvPr>
          <p:cNvSpPr>
            <a:spLocks noGrp="1"/>
          </p:cNvSpPr>
          <p:nvPr/>
        </p:nvSpPr>
        <p:spPr>
          <a:xfrm>
            <a:off x="616335" y="382680"/>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a:solidFill>
                  <a:schemeClr val="tx1"/>
                </a:solidFill>
                <a:latin typeface="Amazon Ember Light"/>
              </a:rPr>
              <a:t>How It Works</a:t>
            </a:r>
            <a:endParaRPr lang="en-US" dirty="0">
              <a:solidFill>
                <a:schemeClr val="tx1"/>
              </a:solidFill>
            </a:endParaRPr>
          </a:p>
        </p:txBody>
      </p:sp>
      <p:sp>
        <p:nvSpPr>
          <p:cNvPr id="14" name="TextBox 5">
            <a:extLst>
              <a:ext uri="{FF2B5EF4-FFF2-40B4-BE49-F238E27FC236}">
                <a16:creationId xmlns:a16="http://schemas.microsoft.com/office/drawing/2014/main" id="{EB4017A0-75E9-504F-99CA-94FBE6342DFC}"/>
              </a:ext>
            </a:extLst>
          </p:cNvPr>
          <p:cNvSpPr txBox="1"/>
          <p:nvPr/>
        </p:nvSpPr>
        <p:spPr>
          <a:xfrm>
            <a:off x="69639" y="1950598"/>
            <a:ext cx="5335512" cy="461665"/>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400" dirty="0">
                <a:solidFill>
                  <a:schemeClr val="tx1">
                    <a:lumMod val="85000"/>
                    <a:lumOff val="15000"/>
                  </a:schemeClr>
                </a:solidFill>
                <a:latin typeface="Amazon Ember"/>
                <a:ea typeface="Amazon Ember" panose="020B0603020204020204" pitchFamily="34" charset="0"/>
                <a:cs typeface="Amazon Ember" panose="020B0603020204020204" pitchFamily="34" charset="0"/>
              </a:rPr>
              <a:t>AWS CloudFormation templates</a:t>
            </a:r>
          </a:p>
        </p:txBody>
      </p:sp>
      <p:sp>
        <p:nvSpPr>
          <p:cNvPr id="15" name="Rectangle 14">
            <a:extLst>
              <a:ext uri="{FF2B5EF4-FFF2-40B4-BE49-F238E27FC236}">
                <a16:creationId xmlns:a16="http://schemas.microsoft.com/office/drawing/2014/main" id="{8DD1C775-6F49-A34C-AC2E-1D885791C94A}"/>
              </a:ext>
            </a:extLst>
          </p:cNvPr>
          <p:cNvSpPr/>
          <p:nvPr/>
        </p:nvSpPr>
        <p:spPr>
          <a:xfrm>
            <a:off x="889136" y="2751224"/>
            <a:ext cx="4516015" cy="3447098"/>
          </a:xfrm>
          <a:prstGeom prst="rect">
            <a:avLst/>
          </a:prstGeom>
        </p:spPr>
        <p:txBody>
          <a:bodyPr wrap="square" lIns="91440" tIns="45720" rIns="91440" bIns="4572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marL="407670" lvl="1" indent="-323850" defTabSz="914400">
              <a:lnSpc>
                <a:spcPct val="90000"/>
              </a:lnSpc>
              <a:spcBef>
                <a:spcPts val="1200"/>
              </a:spcBef>
              <a:buClr>
                <a:schemeClr val="tx1">
                  <a:lumMod val="85000"/>
                  <a:lumOff val="15000"/>
                </a:schemeClr>
              </a:buClr>
              <a:buSzPct val="125000"/>
              <a:buFont typeface="Arial" panose="020B0604020202020204" pitchFamily="34" charset="0"/>
              <a:buChar char="•"/>
            </a:pPr>
            <a:r>
              <a:rPr lang="en-US" sz="2000" dirty="0">
                <a:solidFill>
                  <a:srgbClr val="F68536"/>
                </a:solidFill>
                <a:latin typeface="Amazon Ember Light"/>
                <a:ea typeface="Amazon Ember Light" charset="0"/>
                <a:cs typeface="Amazon Ember Light" charset="0"/>
                <a:sym typeface="Wingdings" panose="05000000000000000000" pitchFamily="2" charset="2"/>
              </a:rPr>
              <a:t>JSON/YAML</a:t>
            </a:r>
            <a:r>
              <a:rPr lang="en-US" sz="2000" dirty="0">
                <a:solidFill>
                  <a:srgbClr val="000000"/>
                </a:solidFill>
                <a:ea typeface="+mn-lt"/>
                <a:cs typeface="+mn-lt"/>
                <a:sym typeface="Wingdings" panose="05000000000000000000" pitchFamily="2" charset="2"/>
              </a:rPr>
              <a:t>-</a:t>
            </a:r>
            <a:r>
              <a:rPr lang="en-US" sz="2000" dirty="0">
                <a:solidFill>
                  <a:srgbClr val="000000"/>
                </a:solidFill>
                <a:latin typeface="Amazon Ember Light"/>
                <a:ea typeface="Amazon Ember Light" charset="0"/>
                <a:cs typeface="Amazon Ember Light" charset="0"/>
                <a:sym typeface="Wingdings" panose="05000000000000000000" pitchFamily="2" charset="2"/>
              </a:rPr>
              <a:t>formatted</a:t>
            </a:r>
            <a:r>
              <a:rPr lang="en-US" sz="2000" dirty="0">
                <a:latin typeface="Amazon Ember Light"/>
                <a:ea typeface="Amazon Ember Light" charset="0"/>
                <a:cs typeface="Amazon Ember Light" charset="0"/>
                <a:sym typeface="Wingdings" panose="05000000000000000000" pitchFamily="2" charset="2"/>
              </a:rPr>
              <a:t> </a:t>
            </a:r>
            <a:r>
              <a:rPr lang="en-US" sz="2000" dirty="0">
                <a:latin typeface="Amazon Ember Light"/>
                <a:ea typeface="Amazon Ember Light" charset="0"/>
                <a:cs typeface="Amazon Ember Light" charset="0"/>
              </a:rPr>
              <a:t>file describing the resources to be created</a:t>
            </a:r>
            <a:endParaRPr lang="en-US" dirty="0">
              <a:latin typeface="Amazon Ember Light"/>
            </a:endParaRPr>
          </a:p>
          <a:p>
            <a:pPr marL="407670" lvl="1" indent="-323850" defTabSz="914400">
              <a:lnSpc>
                <a:spcPct val="90000"/>
              </a:lnSpc>
              <a:spcBef>
                <a:spcPts val="1200"/>
              </a:spcBef>
              <a:buClr>
                <a:schemeClr val="tx1">
                  <a:lumMod val="85000"/>
                  <a:lumOff val="15000"/>
                </a:schemeClr>
              </a:buClr>
              <a:buSzPct val="125000"/>
              <a:buFont typeface="Arial" panose="020B0604020202020204" pitchFamily="34" charset="0"/>
              <a:buChar char="•"/>
            </a:pPr>
            <a:endParaRPr lang="en-US" sz="2000" dirty="0">
              <a:latin typeface="Amazon Ember Light" charset="0"/>
              <a:ea typeface="Amazon Ember Light" charset="0"/>
              <a:cs typeface="Amazon Ember Light" charset="0"/>
            </a:endParaRPr>
          </a:p>
          <a:p>
            <a:pPr marL="407670" lvl="1" indent="-323850" defTabSz="914400">
              <a:lnSpc>
                <a:spcPct val="90000"/>
              </a:lnSpc>
              <a:spcBef>
                <a:spcPts val="1200"/>
              </a:spcBef>
              <a:buClr>
                <a:schemeClr val="tx1">
                  <a:lumMod val="85000"/>
                  <a:lumOff val="15000"/>
                </a:schemeClr>
              </a:buClr>
              <a:buSzPct val="125000"/>
              <a:buFont typeface="Arial" panose="020B0604020202020204" pitchFamily="34" charset="0"/>
              <a:buChar char="•"/>
            </a:pPr>
            <a:r>
              <a:rPr lang="en-US" sz="2000" dirty="0">
                <a:solidFill>
                  <a:srgbClr val="F68536"/>
                </a:solidFill>
                <a:latin typeface="Amazon Ember Light"/>
                <a:ea typeface="Amazon Ember Light" charset="0"/>
                <a:cs typeface="Amazon Ember Light" charset="0"/>
              </a:rPr>
              <a:t>Treat it as source code</a:t>
            </a:r>
            <a:r>
              <a:rPr lang="en-US" sz="2000" dirty="0">
                <a:latin typeface="Amazon Ember Light"/>
                <a:ea typeface="Amazon Ember Light" charset="0"/>
                <a:cs typeface="Amazon Ember Light" charset="0"/>
              </a:rPr>
              <a:t>: </a:t>
            </a:r>
            <a:r>
              <a:rPr lang="en-US" sz="2000" dirty="0">
                <a:latin typeface="Amazon Ember Light"/>
                <a:ea typeface="Amazon Ember Light" charset="0"/>
                <a:cs typeface="Amazon Ember Light" charset="0"/>
                <a:sym typeface="Wingdings" panose="05000000000000000000" pitchFamily="2" charset="2"/>
              </a:rPr>
              <a:t>Add it in your repository</a:t>
            </a:r>
            <a:endParaRPr lang="en-US" sz="2000" dirty="0">
              <a:latin typeface="Amazon Ember Light"/>
              <a:ea typeface="Amazon Ember Light" charset="0"/>
              <a:cs typeface="Amazon Ember Light" charset="0"/>
            </a:endParaRPr>
          </a:p>
          <a:p>
            <a:pPr marL="407670" lvl="1" indent="-323850" defTabSz="914400">
              <a:lnSpc>
                <a:spcPct val="90000"/>
              </a:lnSpc>
              <a:spcBef>
                <a:spcPts val="1200"/>
              </a:spcBef>
              <a:buClr>
                <a:schemeClr val="tx1">
                  <a:lumMod val="85000"/>
                  <a:lumOff val="15000"/>
                </a:schemeClr>
              </a:buClr>
              <a:buSzPct val="125000"/>
              <a:buFont typeface="Arial" panose="020B0604020202020204" pitchFamily="34" charset="0"/>
              <a:buChar char="•"/>
            </a:pPr>
            <a:endParaRPr lang="en-US" sz="2000" dirty="0">
              <a:latin typeface="Amazon Ember Light" charset="0"/>
              <a:ea typeface="Amazon Ember Light" charset="0"/>
              <a:cs typeface="Amazon Ember Light" charset="0"/>
            </a:endParaRPr>
          </a:p>
          <a:p>
            <a:pPr marL="407670" lvl="1" indent="-323850" defTabSz="914400">
              <a:lnSpc>
                <a:spcPct val="90000"/>
              </a:lnSpc>
              <a:spcBef>
                <a:spcPts val="1200"/>
              </a:spcBef>
              <a:buClr>
                <a:schemeClr val="tx1">
                  <a:lumMod val="85000"/>
                  <a:lumOff val="15000"/>
                </a:schemeClr>
              </a:buClr>
              <a:buSzPct val="125000"/>
              <a:buFont typeface="Arial" panose="020B0604020202020204" pitchFamily="34" charset="0"/>
              <a:buChar char="•"/>
            </a:pPr>
            <a:r>
              <a:rPr lang="en-US" sz="2000" dirty="0">
                <a:latin typeface="Amazon Ember Light" charset="0"/>
                <a:ea typeface="Amazon Ember Light" charset="0"/>
                <a:cs typeface="Amazon Ember Light" charset="0"/>
                <a:sym typeface="Wingdings" panose="05000000000000000000" pitchFamily="2" charset="2"/>
              </a:rPr>
              <a:t>Import existing resources</a:t>
            </a:r>
            <a:endParaRPr lang="en-US" sz="2000" dirty="0">
              <a:latin typeface="Amazon Ember Light" charset="0"/>
              <a:ea typeface="Amazon Ember Light" charset="0"/>
              <a:cs typeface="Amazon Ember Light" charset="0"/>
            </a:endParaRPr>
          </a:p>
          <a:p>
            <a:pPr marL="456565" lvl="1" indent="-457200" defTabSz="914400">
              <a:lnSpc>
                <a:spcPct val="90000"/>
              </a:lnSpc>
              <a:spcBef>
                <a:spcPts val="1200"/>
              </a:spcBef>
              <a:buClr>
                <a:schemeClr val="tx1">
                  <a:lumMod val="85000"/>
                  <a:lumOff val="15000"/>
                </a:schemeClr>
              </a:buClr>
              <a:buSzPct val="125000"/>
              <a:buFont typeface="Arial" panose="020B0604020202020204" pitchFamily="34" charset="0"/>
              <a:buChar char="•"/>
            </a:pPr>
            <a:endParaRPr lang="en-US" sz="2000" dirty="0">
              <a:latin typeface="Amazon Ember Light" charset="0"/>
              <a:ea typeface="Amazon Ember Light" charset="0"/>
              <a:cs typeface="Amazon Ember Light" charset="0"/>
            </a:endParaRPr>
          </a:p>
          <a:p>
            <a:pPr marL="344170" lvl="1" indent="-340995">
              <a:spcBef>
                <a:spcPct val="20000"/>
              </a:spcBef>
              <a:buClr>
                <a:schemeClr val="accent2"/>
              </a:buClr>
              <a:buSzPct val="125000"/>
              <a:buFont typeface="Arial" panose="020B0604020202020204" pitchFamily="34" charset="0"/>
              <a:buChar char="•"/>
            </a:pPr>
            <a:endParaRPr lang="en-US" sz="2000" dirty="0">
              <a:cs typeface="Arial"/>
            </a:endParaRPr>
          </a:p>
        </p:txBody>
      </p:sp>
      <p:pic>
        <p:nvPicPr>
          <p:cNvPr id="16" name="Picture 15">
            <a:extLst>
              <a:ext uri="{FF2B5EF4-FFF2-40B4-BE49-F238E27FC236}">
                <a16:creationId xmlns:a16="http://schemas.microsoft.com/office/drawing/2014/main" id="{C243F180-6D79-A945-80CE-8F7647CD743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05151" y="3725044"/>
            <a:ext cx="844215" cy="844214"/>
          </a:xfrm>
          <a:prstGeom prst="rect">
            <a:avLst/>
          </a:prstGeom>
        </p:spPr>
      </p:pic>
      <p:sp>
        <p:nvSpPr>
          <p:cNvPr id="17" name="Rectangle 16">
            <a:extLst>
              <a:ext uri="{FF2B5EF4-FFF2-40B4-BE49-F238E27FC236}">
                <a16:creationId xmlns:a16="http://schemas.microsoft.com/office/drawing/2014/main" id="{68414338-FF9A-8F46-973D-7BA32ABABF55}"/>
              </a:ext>
            </a:extLst>
          </p:cNvPr>
          <p:cNvSpPr/>
          <p:nvPr/>
        </p:nvSpPr>
        <p:spPr>
          <a:xfrm>
            <a:off x="6544140" y="1610638"/>
            <a:ext cx="5578221" cy="3016210"/>
          </a:xfrm>
          <a:prstGeom prst="rect">
            <a:avLst/>
          </a:prstGeom>
          <a:solidFill>
            <a:schemeClr val="bg1"/>
          </a:solidFill>
          <a:ln w="25400">
            <a:solidFill>
              <a:schemeClr val="accent6"/>
            </a:solidFill>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800" b="1" dirty="0">
                <a:latin typeface="Courier New" panose="02070309020205020404" pitchFamily="49" charset="0"/>
                <a:ea typeface="Amazon Ember" panose="020B0603020204020204" pitchFamily="34" charset="0"/>
                <a:cs typeface="Courier New" panose="02070309020205020404" pitchFamily="49" charset="0"/>
              </a:rPr>
              <a:t>JSON</a:t>
            </a:r>
          </a:p>
          <a:p>
            <a:endParaRPr lang="en-US" sz="1800" dirty="0">
              <a:latin typeface="Courier New" panose="02070309020205020404" pitchFamily="49" charset="0"/>
              <a:ea typeface="Amazon Ember" panose="020B0603020204020204" pitchFamily="34" charset="0"/>
              <a:cs typeface="Courier New" panose="02070309020205020404" pitchFamily="49" charset="0"/>
            </a:endParaRPr>
          </a:p>
          <a:p>
            <a:r>
              <a:rPr lang="en-US" sz="1800" dirty="0">
                <a:latin typeface="Courier New" panose="02070309020205020404" pitchFamily="49" charset="0"/>
                <a:ea typeface="Amazon Ember" panose="020B0603020204020204" pitchFamily="34" charset="0"/>
                <a:cs typeface="Courier New" panose="02070309020205020404" pitchFamily="49" charset="0"/>
              </a:rPr>
              <a:t>{</a:t>
            </a:r>
          </a:p>
          <a:p>
            <a:r>
              <a:rPr lang="en-US" sz="1800" dirty="0">
                <a:latin typeface="Courier New" panose="02070309020205020404" pitchFamily="49" charset="0"/>
                <a:ea typeface="Amazon Ember" panose="020B0603020204020204" pitchFamily="34" charset="0"/>
                <a:cs typeface="Courier New" panose="02070309020205020404" pitchFamily="49" charset="0"/>
              </a:rPr>
              <a:t>  "Resources" : {</a:t>
            </a:r>
          </a:p>
          <a:p>
            <a:r>
              <a:rPr lang="en-US" sz="1800" dirty="0">
                <a:latin typeface="Courier New" panose="02070309020205020404" pitchFamily="49" charset="0"/>
                <a:ea typeface="Amazon Ember" panose="020B0603020204020204" pitchFamily="34" charset="0"/>
                <a:cs typeface="Courier New" panose="02070309020205020404" pitchFamily="49" charset="0"/>
              </a:rPr>
              <a:t>    "HelloBucket" : {</a:t>
            </a:r>
          </a:p>
          <a:p>
            <a:r>
              <a:rPr lang="en-US" sz="1800" dirty="0">
                <a:latin typeface="Courier New" panose="02070309020205020404" pitchFamily="49" charset="0"/>
                <a:ea typeface="Amazon Ember" panose="020B0603020204020204" pitchFamily="34" charset="0"/>
                <a:cs typeface="Courier New" panose="02070309020205020404" pitchFamily="49" charset="0"/>
              </a:rPr>
              <a:t>      "Type" : "AWS::S3::Bucket"</a:t>
            </a:r>
          </a:p>
          <a:p>
            <a:r>
              <a:rPr lang="en-US" sz="1800" dirty="0">
                <a:latin typeface="Courier New" panose="02070309020205020404" pitchFamily="49" charset="0"/>
                <a:ea typeface="Amazon Ember" panose="020B0603020204020204" pitchFamily="34" charset="0"/>
                <a:cs typeface="Courier New" panose="02070309020205020404" pitchFamily="49" charset="0"/>
              </a:rPr>
              <a:t>    }</a:t>
            </a:r>
          </a:p>
          <a:p>
            <a:r>
              <a:rPr lang="en-US" sz="1800" dirty="0">
                <a:latin typeface="Courier New" panose="02070309020205020404" pitchFamily="49" charset="0"/>
                <a:ea typeface="Amazon Ember" panose="020B0603020204020204" pitchFamily="34" charset="0"/>
                <a:cs typeface="Courier New" panose="02070309020205020404" pitchFamily="49" charset="0"/>
              </a:rPr>
              <a:t>  }</a:t>
            </a:r>
          </a:p>
          <a:p>
            <a:r>
              <a:rPr lang="en-US" sz="1800" dirty="0">
                <a:latin typeface="Courier New" panose="02070309020205020404" pitchFamily="49" charset="0"/>
                <a:ea typeface="Amazon Ember" panose="020B0603020204020204" pitchFamily="34" charset="0"/>
                <a:cs typeface="Courier New" panose="02070309020205020404" pitchFamily="49" charset="0"/>
              </a:rPr>
              <a:t>}</a:t>
            </a:r>
          </a:p>
          <a:p>
            <a:endParaRPr lang="en-US" sz="1400" dirty="0">
              <a:latin typeface="Courier New" panose="02070309020205020404" pitchFamily="49" charset="0"/>
              <a:ea typeface="Amazon Ember" panose="020B0603020204020204" pitchFamily="34" charset="0"/>
              <a:cs typeface="Courier New" panose="02070309020205020404" pitchFamily="49" charset="0"/>
            </a:endParaRPr>
          </a:p>
          <a:p>
            <a:endParaRPr lang="en-US" sz="1400" dirty="0">
              <a:latin typeface="Courier New" panose="02070309020205020404" pitchFamily="49" charset="0"/>
              <a:ea typeface="Amazon Ember" panose="020B0603020204020204" pitchFamily="34" charset="0"/>
              <a:cs typeface="Courier New" panose="02070309020205020404" pitchFamily="49" charset="0"/>
            </a:endParaRPr>
          </a:p>
        </p:txBody>
      </p:sp>
      <p:sp>
        <p:nvSpPr>
          <p:cNvPr id="18" name="Rectangle 17">
            <a:extLst>
              <a:ext uri="{FF2B5EF4-FFF2-40B4-BE49-F238E27FC236}">
                <a16:creationId xmlns:a16="http://schemas.microsoft.com/office/drawing/2014/main" id="{933BE598-3C0D-184F-AC4E-F5E3B4E3D9CD}"/>
              </a:ext>
            </a:extLst>
          </p:cNvPr>
          <p:cNvSpPr/>
          <p:nvPr/>
        </p:nvSpPr>
        <p:spPr>
          <a:xfrm>
            <a:off x="6544140" y="4873266"/>
            <a:ext cx="5578221" cy="1477328"/>
          </a:xfrm>
          <a:prstGeom prst="rect">
            <a:avLst/>
          </a:prstGeom>
          <a:ln w="25400">
            <a:solidFill>
              <a:schemeClr val="accent6"/>
            </a:solidFill>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800" b="1" dirty="0">
                <a:latin typeface="Courier New" panose="02070309020205020404" pitchFamily="49" charset="0"/>
                <a:ea typeface="Amazon Ember" panose="020B0603020204020204" pitchFamily="34" charset="0"/>
                <a:cs typeface="Courier New" panose="02070309020205020404" pitchFamily="49" charset="0"/>
              </a:rPr>
              <a:t>YAML</a:t>
            </a:r>
          </a:p>
          <a:p>
            <a:endParaRPr lang="en-US" sz="1800" b="1" dirty="0">
              <a:latin typeface="Courier New" panose="02070309020205020404" pitchFamily="49" charset="0"/>
              <a:ea typeface="Amazon Ember" panose="020B0603020204020204" pitchFamily="34" charset="0"/>
              <a:cs typeface="Courier New" panose="02070309020205020404" pitchFamily="49" charset="0"/>
            </a:endParaRPr>
          </a:p>
          <a:p>
            <a:r>
              <a:rPr lang="en-US" sz="1800" dirty="0">
                <a:latin typeface="Courier New" panose="02070309020205020404" pitchFamily="49" charset="0"/>
                <a:ea typeface="Amazon Ember" panose="020B0603020204020204" pitchFamily="34" charset="0"/>
                <a:cs typeface="Courier New" panose="02070309020205020404" pitchFamily="49" charset="0"/>
              </a:rPr>
              <a:t>Resources:</a:t>
            </a:r>
          </a:p>
          <a:p>
            <a:r>
              <a:rPr lang="en-US" sz="1800" dirty="0">
                <a:latin typeface="Courier New" panose="02070309020205020404" pitchFamily="49" charset="0"/>
                <a:ea typeface="Amazon Ember" panose="020B0603020204020204" pitchFamily="34" charset="0"/>
                <a:cs typeface="Courier New" panose="02070309020205020404" pitchFamily="49" charset="0"/>
              </a:rPr>
              <a:t> HelloBucket:</a:t>
            </a:r>
          </a:p>
          <a:p>
            <a:r>
              <a:rPr lang="en-US" sz="1800" dirty="0">
                <a:latin typeface="Courier New" panose="02070309020205020404" pitchFamily="49" charset="0"/>
                <a:ea typeface="Amazon Ember" panose="020B0603020204020204" pitchFamily="34" charset="0"/>
                <a:cs typeface="Courier New" panose="02070309020205020404" pitchFamily="49" charset="0"/>
              </a:rPr>
              <a:t>  Type: AWS::S3::Bucket</a:t>
            </a:r>
          </a:p>
        </p:txBody>
      </p:sp>
    </p:spTree>
    <p:extLst>
      <p:ext uri="{BB962C8B-B14F-4D97-AF65-F5344CB8AC3E}">
        <p14:creationId xmlns:p14="http://schemas.microsoft.com/office/powerpoint/2010/main" val="2407666098"/>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12333780-451D-624F-B22F-AC4418A3F4D9}"/>
              </a:ext>
            </a:extLst>
          </p:cNvPr>
          <p:cNvSpPr>
            <a:spLocks noGrp="1"/>
          </p:cNvSpPr>
          <p:nvPr/>
        </p:nvSpPr>
        <p:spPr>
          <a:xfrm>
            <a:off x="582597" y="454788"/>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a:solidFill>
                  <a:schemeClr val="tx1"/>
                </a:solidFill>
              </a:rPr>
              <a:t>Infrastructure as Code (IaC)</a:t>
            </a:r>
          </a:p>
        </p:txBody>
      </p:sp>
      <p:grpSp>
        <p:nvGrpSpPr>
          <p:cNvPr id="10" name="Group 9">
            <a:extLst>
              <a:ext uri="{FF2B5EF4-FFF2-40B4-BE49-F238E27FC236}">
                <a16:creationId xmlns:a16="http://schemas.microsoft.com/office/drawing/2014/main" id="{64A8A17A-E113-F548-AD13-D20B87EF90B9}"/>
              </a:ext>
            </a:extLst>
          </p:cNvPr>
          <p:cNvGrpSpPr/>
          <p:nvPr/>
        </p:nvGrpSpPr>
        <p:grpSpPr>
          <a:xfrm>
            <a:off x="906633" y="1831832"/>
            <a:ext cx="10702770" cy="3576850"/>
            <a:chOff x="654014" y="1543832"/>
            <a:chExt cx="10702770" cy="3576850"/>
          </a:xfrm>
        </p:grpSpPr>
        <p:grpSp>
          <p:nvGrpSpPr>
            <p:cNvPr id="12" name="Group 11">
              <a:extLst>
                <a:ext uri="{FF2B5EF4-FFF2-40B4-BE49-F238E27FC236}">
                  <a16:creationId xmlns:a16="http://schemas.microsoft.com/office/drawing/2014/main" id="{463948D1-6117-D94C-84DC-F7AAE371F9EF}"/>
                </a:ext>
              </a:extLst>
            </p:cNvPr>
            <p:cNvGrpSpPr/>
            <p:nvPr/>
          </p:nvGrpSpPr>
          <p:grpSpPr>
            <a:xfrm>
              <a:off x="654014" y="2562759"/>
              <a:ext cx="6130008" cy="2330229"/>
              <a:chOff x="654014" y="2562759"/>
              <a:chExt cx="6130008" cy="2330229"/>
            </a:xfrm>
          </p:grpSpPr>
          <p:cxnSp>
            <p:nvCxnSpPr>
              <p:cNvPr id="45" name="Straight Arrow Connector 44">
                <a:extLst>
                  <a:ext uri="{FF2B5EF4-FFF2-40B4-BE49-F238E27FC236}">
                    <a16:creationId xmlns:a16="http://schemas.microsoft.com/office/drawing/2014/main" id="{EEE6DD00-5AC5-BC4C-A80F-6659E29B0A52}"/>
                  </a:ext>
                </a:extLst>
              </p:cNvPr>
              <p:cNvCxnSpPr>
                <a:cxnSpLocks/>
                <a:stCxn id="54" idx="3"/>
                <a:endCxn id="51" idx="1"/>
              </p:cNvCxnSpPr>
              <p:nvPr/>
            </p:nvCxnSpPr>
            <p:spPr>
              <a:xfrm>
                <a:off x="1872228" y="3323896"/>
                <a:ext cx="1229123" cy="8361"/>
              </a:xfrm>
              <a:prstGeom prst="straightConnector1">
                <a:avLst/>
              </a:prstGeom>
              <a:ln w="34925">
                <a:solidFill>
                  <a:schemeClr val="tx1">
                    <a:alpha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93C1484E-3C2E-A944-B9F2-2C85BAB20433}"/>
                  </a:ext>
                </a:extLst>
              </p:cNvPr>
              <p:cNvCxnSpPr>
                <a:cxnSpLocks/>
                <a:stCxn id="51" idx="3"/>
              </p:cNvCxnSpPr>
              <p:nvPr/>
            </p:nvCxnSpPr>
            <p:spPr>
              <a:xfrm>
                <a:off x="4347203" y="3332257"/>
                <a:ext cx="1170133" cy="0"/>
              </a:xfrm>
              <a:prstGeom prst="straightConnector1">
                <a:avLst/>
              </a:prstGeom>
              <a:ln w="34925">
                <a:solidFill>
                  <a:schemeClr val="tx1">
                    <a:alpha val="75000"/>
                  </a:schemeClr>
                </a:solidFill>
                <a:tailEnd type="triangle"/>
              </a:ln>
            </p:spPr>
            <p:style>
              <a:lnRef idx="2">
                <a:schemeClr val="accent1"/>
              </a:lnRef>
              <a:fillRef idx="0">
                <a:schemeClr val="accent1"/>
              </a:fillRef>
              <a:effectRef idx="1">
                <a:schemeClr val="accent1"/>
              </a:effectRef>
              <a:fontRef idx="minor">
                <a:schemeClr val="tx1"/>
              </a:fontRef>
            </p:style>
          </p:cxnSp>
          <p:grpSp>
            <p:nvGrpSpPr>
              <p:cNvPr id="47" name="Group 46">
                <a:extLst>
                  <a:ext uri="{FF2B5EF4-FFF2-40B4-BE49-F238E27FC236}">
                    <a16:creationId xmlns:a16="http://schemas.microsoft.com/office/drawing/2014/main" id="{62D4BFCF-6FE5-C94E-8D5C-51DC9E151F2C}"/>
                  </a:ext>
                </a:extLst>
              </p:cNvPr>
              <p:cNvGrpSpPr/>
              <p:nvPr/>
            </p:nvGrpSpPr>
            <p:grpSpPr>
              <a:xfrm>
                <a:off x="654014" y="2939147"/>
                <a:ext cx="1761428" cy="1953841"/>
                <a:chOff x="784622" y="1874917"/>
                <a:chExt cx="1761428" cy="1953841"/>
              </a:xfrm>
            </p:grpSpPr>
            <p:pic>
              <p:nvPicPr>
                <p:cNvPr id="54" name="Picture 53">
                  <a:extLst>
                    <a:ext uri="{FF2B5EF4-FFF2-40B4-BE49-F238E27FC236}">
                      <a16:creationId xmlns:a16="http://schemas.microsoft.com/office/drawing/2014/main" id="{91E6A2CD-FD27-1940-9FE6-ACCD4C68235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27838" y="1874917"/>
                  <a:ext cx="674998" cy="769498"/>
                </a:xfrm>
                <a:prstGeom prst="rect">
                  <a:avLst/>
                </a:prstGeom>
              </p:spPr>
            </p:pic>
            <p:sp>
              <p:nvSpPr>
                <p:cNvPr id="55" name="TextBox 19">
                  <a:extLst>
                    <a:ext uri="{FF2B5EF4-FFF2-40B4-BE49-F238E27FC236}">
                      <a16:creationId xmlns:a16="http://schemas.microsoft.com/office/drawing/2014/main" id="{FF68CA11-967A-744C-83D2-5AC73DA01212}"/>
                    </a:ext>
                  </a:extLst>
                </p:cNvPr>
                <p:cNvSpPr txBox="1"/>
                <p:nvPr/>
              </p:nvSpPr>
              <p:spPr>
                <a:xfrm>
                  <a:off x="784622" y="3182427"/>
                  <a:ext cx="1761428" cy="646331"/>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800" dirty="0">
                      <a:latin typeface="Amazon Ember Light" panose="020B0403020204020204" pitchFamily="34" charset="0"/>
                      <a:ea typeface="Amazon Ember Light" panose="020B0403020204020204" pitchFamily="34" charset="0"/>
                      <a:cs typeface="Amazon Ember Light" panose="020B0403020204020204" pitchFamily="34" charset="0"/>
                    </a:rPr>
                    <a:t>Architecture</a:t>
                  </a:r>
                </a:p>
                <a:p>
                  <a:r>
                    <a:rPr lang="en-US" sz="1800" dirty="0">
                      <a:latin typeface="Amazon Ember Light" panose="020B0403020204020204" pitchFamily="34" charset="0"/>
                      <a:ea typeface="Amazon Ember Light" panose="020B0403020204020204" pitchFamily="34" charset="0"/>
                      <a:cs typeface="Amazon Ember Light" panose="020B0403020204020204" pitchFamily="34" charset="0"/>
                    </a:rPr>
                    <a:t>template</a:t>
                  </a:r>
                </a:p>
              </p:txBody>
            </p:sp>
          </p:grpSp>
          <p:grpSp>
            <p:nvGrpSpPr>
              <p:cNvPr id="48" name="Group 47">
                <a:extLst>
                  <a:ext uri="{FF2B5EF4-FFF2-40B4-BE49-F238E27FC236}">
                    <a16:creationId xmlns:a16="http://schemas.microsoft.com/office/drawing/2014/main" id="{86AC7D9D-D768-A146-8AEB-2B735BF30607}"/>
                  </a:ext>
                </a:extLst>
              </p:cNvPr>
              <p:cNvGrpSpPr/>
              <p:nvPr/>
            </p:nvGrpSpPr>
            <p:grpSpPr>
              <a:xfrm>
                <a:off x="5368250" y="2944348"/>
                <a:ext cx="1415772" cy="1935595"/>
                <a:chOff x="4259231" y="4062823"/>
                <a:chExt cx="1415772" cy="1935595"/>
              </a:xfrm>
            </p:grpSpPr>
            <p:pic>
              <p:nvPicPr>
                <p:cNvPr id="52" name="Picture 51">
                  <a:extLst>
                    <a:ext uri="{FF2B5EF4-FFF2-40B4-BE49-F238E27FC236}">
                      <a16:creationId xmlns:a16="http://schemas.microsoft.com/office/drawing/2014/main" id="{6BE3EA96-728F-8B42-AE6A-ABE90FB7CC3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96868" y="4062823"/>
                  <a:ext cx="940500" cy="769498"/>
                </a:xfrm>
                <a:prstGeom prst="rect">
                  <a:avLst/>
                </a:prstGeom>
              </p:spPr>
            </p:pic>
            <p:sp>
              <p:nvSpPr>
                <p:cNvPr id="53" name="TextBox 20">
                  <a:extLst>
                    <a:ext uri="{FF2B5EF4-FFF2-40B4-BE49-F238E27FC236}">
                      <a16:creationId xmlns:a16="http://schemas.microsoft.com/office/drawing/2014/main" id="{FD2E6A07-3E93-3847-9D54-79B03E8C9BEF}"/>
                    </a:ext>
                  </a:extLst>
                </p:cNvPr>
                <p:cNvSpPr txBox="1"/>
                <p:nvPr/>
              </p:nvSpPr>
              <p:spPr>
                <a:xfrm>
                  <a:off x="4259231" y="5352087"/>
                  <a:ext cx="1415772" cy="646331"/>
                </a:xfrm>
                <a:prstGeom prst="rect">
                  <a:avLst/>
                </a:prstGeom>
                <a:noFill/>
              </p:spPr>
              <p:txBody>
                <a:bodyPr wrap="non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800" dirty="0">
                      <a:latin typeface="Amazon Ember Light" panose="020B0403020204020204" pitchFamily="34" charset="0"/>
                      <a:ea typeface="Amazon Ember Light" panose="020B0403020204020204" pitchFamily="34" charset="0"/>
                      <a:cs typeface="Amazon Ember Light" panose="020B0403020204020204" pitchFamily="34" charset="0"/>
                    </a:rPr>
                    <a:t>Architecture</a:t>
                  </a:r>
                </a:p>
                <a:p>
                  <a:pPr algn="ctr"/>
                  <a:r>
                    <a:rPr lang="en-US" sz="1800" dirty="0">
                      <a:latin typeface="Amazon Ember Light" panose="020B0403020204020204" pitchFamily="34" charset="0"/>
                      <a:ea typeface="Amazon Ember Light" panose="020B0403020204020204" pitchFamily="34" charset="0"/>
                      <a:cs typeface="Amazon Ember Light" panose="020B0403020204020204" pitchFamily="34" charset="0"/>
                    </a:rPr>
                    <a:t>stack</a:t>
                  </a:r>
                </a:p>
              </p:txBody>
            </p:sp>
          </p:grpSp>
          <p:grpSp>
            <p:nvGrpSpPr>
              <p:cNvPr id="49" name="Group 48">
                <a:extLst>
                  <a:ext uri="{FF2B5EF4-FFF2-40B4-BE49-F238E27FC236}">
                    <a16:creationId xmlns:a16="http://schemas.microsoft.com/office/drawing/2014/main" id="{A166E9AD-1FF9-F640-8B5E-95A2D2208F0E}"/>
                  </a:ext>
                </a:extLst>
              </p:cNvPr>
              <p:cNvGrpSpPr/>
              <p:nvPr/>
            </p:nvGrpSpPr>
            <p:grpSpPr>
              <a:xfrm>
                <a:off x="2544310" y="2562759"/>
                <a:ext cx="2359941" cy="2330229"/>
                <a:chOff x="2341075" y="3804143"/>
                <a:chExt cx="2359941" cy="2330229"/>
              </a:xfrm>
            </p:grpSpPr>
            <p:sp>
              <p:nvSpPr>
                <p:cNvPr id="50" name="TextBox 26">
                  <a:extLst>
                    <a:ext uri="{FF2B5EF4-FFF2-40B4-BE49-F238E27FC236}">
                      <a16:creationId xmlns:a16="http://schemas.microsoft.com/office/drawing/2014/main" id="{F57FEEB9-7502-B846-B1ED-B787436F7B54}"/>
                    </a:ext>
                  </a:extLst>
                </p:cNvPr>
                <p:cNvSpPr txBox="1"/>
                <p:nvPr/>
              </p:nvSpPr>
              <p:spPr>
                <a:xfrm>
                  <a:off x="2341075" y="5488041"/>
                  <a:ext cx="2359941" cy="646331"/>
                </a:xfrm>
                <a:prstGeom prst="rect">
                  <a:avLst/>
                </a:prstGeom>
                <a:noFill/>
              </p:spPr>
              <p:txBody>
                <a:bodyPr wrap="non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800" dirty="0">
                      <a:latin typeface="Amazon Ember Light" panose="020B0403020204020204" pitchFamily="34" charset="0"/>
                      <a:ea typeface="Amazon Ember Light" panose="020B0403020204020204" pitchFamily="34" charset="0"/>
                      <a:cs typeface="Amazon Ember Light" panose="020B0403020204020204" pitchFamily="34" charset="0"/>
                    </a:rPr>
                    <a:t>AWS CloudFormation</a:t>
                  </a:r>
                </a:p>
                <a:p>
                  <a:pPr algn="ctr"/>
                  <a:r>
                    <a:rPr lang="en-US" sz="1800" dirty="0">
                      <a:latin typeface="Amazon Ember Light" panose="020B0403020204020204" pitchFamily="34" charset="0"/>
                      <a:ea typeface="Amazon Ember Light" panose="020B0403020204020204" pitchFamily="34" charset="0"/>
                      <a:cs typeface="Amazon Ember Light" panose="020B0403020204020204" pitchFamily="34" charset="0"/>
                    </a:rPr>
                    <a:t>engine</a:t>
                  </a:r>
                </a:p>
              </p:txBody>
            </p:sp>
            <p:pic>
              <p:nvPicPr>
                <p:cNvPr id="51" name="Picture 50">
                  <a:extLst>
                    <a:ext uri="{FF2B5EF4-FFF2-40B4-BE49-F238E27FC236}">
                      <a16:creationId xmlns:a16="http://schemas.microsoft.com/office/drawing/2014/main" id="{81E2FD7B-A392-6744-96A8-A75B72B116F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898116" y="3804143"/>
                  <a:ext cx="1245852" cy="1538996"/>
                </a:xfrm>
                <a:prstGeom prst="rect">
                  <a:avLst/>
                </a:prstGeom>
              </p:spPr>
            </p:pic>
          </p:grpSp>
        </p:grpSp>
        <p:grpSp>
          <p:nvGrpSpPr>
            <p:cNvPr id="13" name="Group 12">
              <a:extLst>
                <a:ext uri="{FF2B5EF4-FFF2-40B4-BE49-F238E27FC236}">
                  <a16:creationId xmlns:a16="http://schemas.microsoft.com/office/drawing/2014/main" id="{279485FD-4926-FC4F-BF3D-49F518B7FAF1}"/>
                </a:ext>
              </a:extLst>
            </p:cNvPr>
            <p:cNvGrpSpPr/>
            <p:nvPr/>
          </p:nvGrpSpPr>
          <p:grpSpPr>
            <a:xfrm>
              <a:off x="8147240" y="1543832"/>
              <a:ext cx="3209544" cy="3576850"/>
              <a:chOff x="4489640" y="1428287"/>
              <a:chExt cx="3209544" cy="3576850"/>
            </a:xfrm>
          </p:grpSpPr>
          <p:grpSp>
            <p:nvGrpSpPr>
              <p:cNvPr id="15" name="Group 14">
                <a:extLst>
                  <a:ext uri="{FF2B5EF4-FFF2-40B4-BE49-F238E27FC236}">
                    <a16:creationId xmlns:a16="http://schemas.microsoft.com/office/drawing/2014/main" id="{AB7EFB33-D144-8942-9EE5-0D32AD9BA386}"/>
                  </a:ext>
                </a:extLst>
              </p:cNvPr>
              <p:cNvGrpSpPr/>
              <p:nvPr/>
            </p:nvGrpSpPr>
            <p:grpSpPr>
              <a:xfrm>
                <a:off x="4832540" y="1938463"/>
                <a:ext cx="2523744" cy="2752409"/>
                <a:chOff x="1408089" y="1829813"/>
                <a:chExt cx="2523744" cy="2752409"/>
              </a:xfrm>
            </p:grpSpPr>
            <p:sp>
              <p:nvSpPr>
                <p:cNvPr id="43" name="Rounded Rectangle 54">
                  <a:extLst>
                    <a:ext uri="{FF2B5EF4-FFF2-40B4-BE49-F238E27FC236}">
                      <a16:creationId xmlns:a16="http://schemas.microsoft.com/office/drawing/2014/main" id="{3E68F601-B37B-D74B-ACBD-D55AC95409C1}"/>
                    </a:ext>
                  </a:extLst>
                </p:cNvPr>
                <p:cNvSpPr/>
                <p:nvPr/>
              </p:nvSpPr>
              <p:spPr>
                <a:xfrm>
                  <a:off x="1408089" y="2058478"/>
                  <a:ext cx="2523744" cy="2523744"/>
                </a:xfrm>
                <a:prstGeom prst="roundRect">
                  <a:avLst>
                    <a:gd name="adj" fmla="val 9818"/>
                  </a:avLst>
                </a:prstGeom>
                <a:noFill/>
                <a:ln w="25400">
                  <a:solidFill>
                    <a:schemeClr val="tx1">
                      <a:alpha val="70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fontAlgn="auto">
                    <a:spcBef>
                      <a:spcPts val="0"/>
                    </a:spcBef>
                    <a:spcAft>
                      <a:spcPts val="0"/>
                    </a:spcAft>
                    <a:defRPr/>
                  </a:pPr>
                  <a:endParaRPr lang="en-US" dirty="0">
                    <a:solidFill>
                      <a:schemeClr val="tx1"/>
                    </a:solidFill>
                    <a:latin typeface="Helvetica Neue"/>
                    <a:cs typeface="Helvetica Neue"/>
                  </a:endParaRPr>
                </a:p>
              </p:txBody>
            </p:sp>
            <p:pic>
              <p:nvPicPr>
                <p:cNvPr id="44" name="Picture 43">
                  <a:extLst>
                    <a:ext uri="{FF2B5EF4-FFF2-40B4-BE49-F238E27FC236}">
                      <a16:creationId xmlns:a16="http://schemas.microsoft.com/office/drawing/2014/main" id="{87793EE0-272A-394B-A05D-FFB81A1425A8}"/>
                    </a:ext>
                  </a:extLst>
                </p:cNvPr>
                <p:cNvPicPr>
                  <a:picLocks noChangeAspect="1"/>
                </p:cNvPicPr>
                <p:nvPr/>
              </p:nvPicPr>
              <p:blipFill>
                <a:blip r:embed="rId10"/>
                <a:stretch>
                  <a:fillRect/>
                </a:stretch>
              </p:blipFill>
              <p:spPr>
                <a:xfrm>
                  <a:off x="1673875" y="1829813"/>
                  <a:ext cx="327807" cy="366373"/>
                </a:xfrm>
                <a:prstGeom prst="rect">
                  <a:avLst/>
                </a:prstGeom>
              </p:spPr>
            </p:pic>
          </p:grpSp>
          <p:sp>
            <p:nvSpPr>
              <p:cNvPr id="16" name="TextBox 41">
                <a:extLst>
                  <a:ext uri="{FF2B5EF4-FFF2-40B4-BE49-F238E27FC236}">
                    <a16:creationId xmlns:a16="http://schemas.microsoft.com/office/drawing/2014/main" id="{0D78E462-1CA6-2B48-B7E1-42D047E70A54}"/>
                  </a:ext>
                </a:extLst>
              </p:cNvPr>
              <p:cNvSpPr txBox="1"/>
              <p:nvPr/>
            </p:nvSpPr>
            <p:spPr>
              <a:xfrm>
                <a:off x="6333447" y="4364288"/>
                <a:ext cx="825867" cy="338554"/>
              </a:xfrm>
              <a:prstGeom prst="rect">
                <a:avLst/>
              </a:prstGeom>
              <a:noFill/>
            </p:spPr>
            <p:txBody>
              <a:bodyPr wrap="non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Subnet</a:t>
                </a:r>
              </a:p>
            </p:txBody>
          </p:sp>
          <p:grpSp>
            <p:nvGrpSpPr>
              <p:cNvPr id="17" name="Group 16">
                <a:extLst>
                  <a:ext uri="{FF2B5EF4-FFF2-40B4-BE49-F238E27FC236}">
                    <a16:creationId xmlns:a16="http://schemas.microsoft.com/office/drawing/2014/main" id="{1B64DE79-2E16-9E45-8F78-73D37FE70D89}"/>
                  </a:ext>
                </a:extLst>
              </p:cNvPr>
              <p:cNvGrpSpPr/>
              <p:nvPr/>
            </p:nvGrpSpPr>
            <p:grpSpPr>
              <a:xfrm>
                <a:off x="4489640" y="1428287"/>
                <a:ext cx="3209544" cy="3576850"/>
                <a:chOff x="8103071" y="1750546"/>
                <a:chExt cx="3209544" cy="3576850"/>
              </a:xfrm>
            </p:grpSpPr>
            <p:sp>
              <p:nvSpPr>
                <p:cNvPr id="27" name="Rounded Rectangle 52">
                  <a:extLst>
                    <a:ext uri="{FF2B5EF4-FFF2-40B4-BE49-F238E27FC236}">
                      <a16:creationId xmlns:a16="http://schemas.microsoft.com/office/drawing/2014/main" id="{8D6079E3-4954-604B-8E80-BFEFB4FA2EE5}"/>
                    </a:ext>
                  </a:extLst>
                </p:cNvPr>
                <p:cNvSpPr/>
                <p:nvPr/>
              </p:nvSpPr>
              <p:spPr>
                <a:xfrm>
                  <a:off x="8103071" y="2114479"/>
                  <a:ext cx="3209544" cy="3212917"/>
                </a:xfrm>
                <a:prstGeom prst="roundRect">
                  <a:avLst>
                    <a:gd name="adj" fmla="val 9818"/>
                  </a:avLst>
                </a:prstGeom>
                <a:noFill/>
                <a:ln w="25400">
                  <a:solidFill>
                    <a:schemeClr val="tx1">
                      <a:alpha val="70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fontAlgn="auto">
                    <a:spcBef>
                      <a:spcPts val="0"/>
                    </a:spcBef>
                    <a:spcAft>
                      <a:spcPts val="0"/>
                    </a:spcAft>
                    <a:defRPr/>
                  </a:pPr>
                  <a:endParaRPr lang="en-US" dirty="0">
                    <a:solidFill>
                      <a:schemeClr val="tx1"/>
                    </a:solidFill>
                    <a:latin typeface="Arial"/>
                    <a:cs typeface="Arial"/>
                  </a:endParaRPr>
                </a:p>
              </p:txBody>
            </p:sp>
            <p:pic>
              <p:nvPicPr>
                <p:cNvPr id="42" name="Picture 41">
                  <a:extLst>
                    <a:ext uri="{FF2B5EF4-FFF2-40B4-BE49-F238E27FC236}">
                      <a16:creationId xmlns:a16="http://schemas.microsoft.com/office/drawing/2014/main" id="{1CFC5587-B6B9-5444-8C40-CA31C15F5D6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397675" y="1750546"/>
                  <a:ext cx="710459" cy="463772"/>
                </a:xfrm>
                <a:prstGeom prst="rect">
                  <a:avLst/>
                </a:prstGeom>
              </p:spPr>
            </p:pic>
          </p:grpSp>
          <p:grpSp>
            <p:nvGrpSpPr>
              <p:cNvPr id="18" name="Group 17">
                <a:extLst>
                  <a:ext uri="{FF2B5EF4-FFF2-40B4-BE49-F238E27FC236}">
                    <a16:creationId xmlns:a16="http://schemas.microsoft.com/office/drawing/2014/main" id="{3F25A8B1-6A2F-EF46-AC31-728DFA8841A6}"/>
                  </a:ext>
                </a:extLst>
              </p:cNvPr>
              <p:cNvGrpSpPr/>
              <p:nvPr/>
            </p:nvGrpSpPr>
            <p:grpSpPr>
              <a:xfrm>
                <a:off x="5180012" y="2514600"/>
                <a:ext cx="1828800" cy="1828800"/>
                <a:chOff x="4827086" y="3804201"/>
                <a:chExt cx="1828800" cy="1828800"/>
              </a:xfrm>
            </p:grpSpPr>
            <p:grpSp>
              <p:nvGrpSpPr>
                <p:cNvPr id="19" name="Group 18">
                  <a:extLst>
                    <a:ext uri="{FF2B5EF4-FFF2-40B4-BE49-F238E27FC236}">
                      <a16:creationId xmlns:a16="http://schemas.microsoft.com/office/drawing/2014/main" id="{8064CC3D-8F3B-264D-B315-3F305DB7663C}"/>
                    </a:ext>
                  </a:extLst>
                </p:cNvPr>
                <p:cNvGrpSpPr/>
                <p:nvPr/>
              </p:nvGrpSpPr>
              <p:grpSpPr>
                <a:xfrm>
                  <a:off x="4827086" y="3804201"/>
                  <a:ext cx="1828800" cy="1828800"/>
                  <a:chOff x="5834262" y="4781712"/>
                  <a:chExt cx="1828800" cy="1828800"/>
                </a:xfrm>
              </p:grpSpPr>
              <p:grpSp>
                <p:nvGrpSpPr>
                  <p:cNvPr id="23" name="Group 22">
                    <a:extLst>
                      <a:ext uri="{FF2B5EF4-FFF2-40B4-BE49-F238E27FC236}">
                        <a16:creationId xmlns:a16="http://schemas.microsoft.com/office/drawing/2014/main" id="{19616721-75AD-3247-BC82-85D0E86C48A0}"/>
                      </a:ext>
                    </a:extLst>
                  </p:cNvPr>
                  <p:cNvGrpSpPr/>
                  <p:nvPr/>
                </p:nvGrpSpPr>
                <p:grpSpPr>
                  <a:xfrm>
                    <a:off x="5834262" y="4781712"/>
                    <a:ext cx="1828800" cy="1828800"/>
                    <a:chOff x="5834262" y="4781712"/>
                    <a:chExt cx="1828800" cy="1828800"/>
                  </a:xfrm>
                </p:grpSpPr>
                <p:sp>
                  <p:nvSpPr>
                    <p:cNvPr id="25" name="Rounded Rectangle 50">
                      <a:extLst>
                        <a:ext uri="{FF2B5EF4-FFF2-40B4-BE49-F238E27FC236}">
                          <a16:creationId xmlns:a16="http://schemas.microsoft.com/office/drawing/2014/main" id="{AE200F26-DD2B-604A-BA3E-B6415FA6A725}"/>
                        </a:ext>
                      </a:extLst>
                    </p:cNvPr>
                    <p:cNvSpPr/>
                    <p:nvPr/>
                  </p:nvSpPr>
                  <p:spPr bwMode="auto">
                    <a:xfrm>
                      <a:off x="5834262" y="4781712"/>
                      <a:ext cx="1828800" cy="1828800"/>
                    </a:xfrm>
                    <a:prstGeom prst="roundRect">
                      <a:avLst>
                        <a:gd name="adj" fmla="val 9818"/>
                      </a:avLst>
                    </a:prstGeom>
                    <a:noFill/>
                    <a:ln w="2540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fontAlgn="auto">
                        <a:spcBef>
                          <a:spcPts val="0"/>
                        </a:spcBef>
                        <a:spcAft>
                          <a:spcPts val="0"/>
                        </a:spcAft>
                        <a:defRPr/>
                      </a:pPr>
                      <a:endParaRPr lang="en-US" dirty="0">
                        <a:solidFill>
                          <a:schemeClr val="tx1"/>
                        </a:solidFill>
                        <a:latin typeface="Helvetica Neue"/>
                        <a:cs typeface="Helvetica Neue"/>
                      </a:endParaRPr>
                    </a:p>
                  </p:txBody>
                </p:sp>
                <p:sp>
                  <p:nvSpPr>
                    <p:cNvPr id="26" name="Rounded Rectangle 51">
                      <a:extLst>
                        <a:ext uri="{FF2B5EF4-FFF2-40B4-BE49-F238E27FC236}">
                          <a16:creationId xmlns:a16="http://schemas.microsoft.com/office/drawing/2014/main" id="{AFF30B98-EE45-1D46-B97D-E0F8A1DC1418}"/>
                        </a:ext>
                      </a:extLst>
                    </p:cNvPr>
                    <p:cNvSpPr/>
                    <p:nvPr/>
                  </p:nvSpPr>
                  <p:spPr bwMode="auto">
                    <a:xfrm>
                      <a:off x="5834262" y="4781712"/>
                      <a:ext cx="1828800" cy="1828800"/>
                    </a:xfrm>
                    <a:prstGeom prst="roundRect">
                      <a:avLst>
                        <a:gd name="adj" fmla="val 9818"/>
                      </a:avLst>
                    </a:prstGeom>
                    <a:noFill/>
                    <a:ln w="25400">
                      <a:solidFill>
                        <a:srgbClr val="FF000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fontAlgn="auto">
                        <a:spcBef>
                          <a:spcPts val="0"/>
                        </a:spcBef>
                        <a:spcAft>
                          <a:spcPts val="0"/>
                        </a:spcAft>
                        <a:defRPr/>
                      </a:pPr>
                      <a:endParaRPr lang="en-US" dirty="0">
                        <a:solidFill>
                          <a:schemeClr val="tx1"/>
                        </a:solidFill>
                        <a:latin typeface="Helvetica Neue"/>
                        <a:cs typeface="Helvetica Neue"/>
                      </a:endParaRPr>
                    </a:p>
                  </p:txBody>
                </p:sp>
              </p:grpSp>
              <p:sp>
                <p:nvSpPr>
                  <p:cNvPr id="24" name="TextBox 49">
                    <a:extLst>
                      <a:ext uri="{FF2B5EF4-FFF2-40B4-BE49-F238E27FC236}">
                        <a16:creationId xmlns:a16="http://schemas.microsoft.com/office/drawing/2014/main" id="{3556EA51-E3CE-1740-A483-22555E777FDF}"/>
                      </a:ext>
                    </a:extLst>
                  </p:cNvPr>
                  <p:cNvSpPr txBox="1"/>
                  <p:nvPr/>
                </p:nvSpPr>
                <p:spPr>
                  <a:xfrm>
                    <a:off x="6091604" y="6254861"/>
                    <a:ext cx="1489510" cy="338554"/>
                  </a:xfrm>
                  <a:prstGeom prst="rect">
                    <a:avLst/>
                  </a:prstGeom>
                  <a:noFill/>
                </p:spPr>
                <p:txBody>
                  <a:bodyPr wrap="non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600" dirty="0">
                        <a:latin typeface="Amazon Ember Light" panose="020B0403020204020204" pitchFamily="34" charset="0"/>
                        <a:ea typeface="Amazon Ember Light" panose="020B0403020204020204" pitchFamily="34" charset="0"/>
                        <a:cs typeface="Amazon Ember Light" panose="020B0403020204020204" pitchFamily="34" charset="0"/>
                      </a:rPr>
                      <a:t>Security group</a:t>
                    </a:r>
                  </a:p>
                </p:txBody>
              </p:sp>
            </p:grpSp>
            <p:grpSp>
              <p:nvGrpSpPr>
                <p:cNvPr id="20" name="Group 19">
                  <a:extLst>
                    <a:ext uri="{FF2B5EF4-FFF2-40B4-BE49-F238E27FC236}">
                      <a16:creationId xmlns:a16="http://schemas.microsoft.com/office/drawing/2014/main" id="{B829A397-1996-5249-A38D-012A81AED513}"/>
                    </a:ext>
                  </a:extLst>
                </p:cNvPr>
                <p:cNvGrpSpPr/>
                <p:nvPr/>
              </p:nvGrpSpPr>
              <p:grpSpPr>
                <a:xfrm>
                  <a:off x="5217067" y="4064933"/>
                  <a:ext cx="1048839" cy="1004162"/>
                  <a:chOff x="8932847" y="3217738"/>
                  <a:chExt cx="1048839" cy="1004162"/>
                </a:xfrm>
              </p:grpSpPr>
              <p:pic>
                <p:nvPicPr>
                  <p:cNvPr id="21" name="Picture 20">
                    <a:extLst>
                      <a:ext uri="{FF2B5EF4-FFF2-40B4-BE49-F238E27FC236}">
                        <a16:creationId xmlns:a16="http://schemas.microsoft.com/office/drawing/2014/main" id="{14B0C72D-F1C2-3445-B8DC-D6F3B590C75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979572" y="3217738"/>
                    <a:ext cx="968301" cy="1004162"/>
                  </a:xfrm>
                  <a:prstGeom prst="rect">
                    <a:avLst/>
                  </a:prstGeom>
                </p:spPr>
              </p:pic>
              <p:sp>
                <p:nvSpPr>
                  <p:cNvPr id="22" name="TextBox 47">
                    <a:extLst>
                      <a:ext uri="{FF2B5EF4-FFF2-40B4-BE49-F238E27FC236}">
                        <a16:creationId xmlns:a16="http://schemas.microsoft.com/office/drawing/2014/main" id="{0DCFC914-8250-604E-86DE-EE3A954BEED2}"/>
                      </a:ext>
                    </a:extLst>
                  </p:cNvPr>
                  <p:cNvSpPr txBox="1"/>
                  <p:nvPr/>
                </p:nvSpPr>
                <p:spPr>
                  <a:xfrm>
                    <a:off x="8932847" y="3271209"/>
                    <a:ext cx="1048839" cy="646331"/>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3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EC2</a:t>
                    </a:r>
                  </a:p>
                </p:txBody>
              </p:sp>
            </p:grpSp>
          </p:grpSp>
        </p:grpSp>
        <p:cxnSp>
          <p:nvCxnSpPr>
            <p:cNvPr id="14" name="Straight Arrow Connector 13">
              <a:extLst>
                <a:ext uri="{FF2B5EF4-FFF2-40B4-BE49-F238E27FC236}">
                  <a16:creationId xmlns:a16="http://schemas.microsoft.com/office/drawing/2014/main" id="{B9C1746D-9308-8449-B179-C18683A6589E}"/>
                </a:ext>
              </a:extLst>
            </p:cNvPr>
            <p:cNvCxnSpPr>
              <a:cxnSpLocks/>
            </p:cNvCxnSpPr>
            <p:nvPr/>
          </p:nvCxnSpPr>
          <p:spPr>
            <a:xfrm flipV="1">
              <a:off x="6630365" y="3323896"/>
              <a:ext cx="1512303" cy="5200"/>
            </a:xfrm>
            <a:prstGeom prst="straightConnector1">
              <a:avLst/>
            </a:prstGeom>
            <a:ln w="34925">
              <a:solidFill>
                <a:schemeClr val="tx1">
                  <a:alpha val="75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11" name="TextBox 34">
            <a:extLst>
              <a:ext uri="{FF2B5EF4-FFF2-40B4-BE49-F238E27FC236}">
                <a16:creationId xmlns:a16="http://schemas.microsoft.com/office/drawing/2014/main" id="{FB76FF05-E19C-3547-8E72-68E33ABDDA34}"/>
              </a:ext>
            </a:extLst>
          </p:cNvPr>
          <p:cNvSpPr txBox="1"/>
          <p:nvPr/>
        </p:nvSpPr>
        <p:spPr>
          <a:xfrm>
            <a:off x="2202485" y="6003102"/>
            <a:ext cx="8111066" cy="400110"/>
          </a:xfrm>
          <a:prstGeom prst="rect">
            <a:avLst/>
          </a:prstGeom>
          <a:noFill/>
          <a:ln>
            <a:noFill/>
          </a:ln>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000" b="1" dirty="0">
                <a:solidFill>
                  <a:schemeClr val="accent1"/>
                </a:solidFill>
                <a:latin typeface="Amazon Ember"/>
                <a:ea typeface="Amazon Ember" panose="020B0603020204020204" pitchFamily="34" charset="0"/>
                <a:cs typeface="Amazon Ember" panose="020B0603020204020204" pitchFamily="34" charset="0"/>
              </a:rPr>
              <a:t>AWS CloudFormation supports drift detection</a:t>
            </a:r>
          </a:p>
        </p:txBody>
      </p:sp>
    </p:spTree>
    <p:extLst>
      <p:ext uri="{BB962C8B-B14F-4D97-AF65-F5344CB8AC3E}">
        <p14:creationId xmlns:p14="http://schemas.microsoft.com/office/powerpoint/2010/main" val="176345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4">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5"/>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6"/>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7"/>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6">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7">
            <a:alphaModFix amt="27000"/>
          </a:blip>
          <a:stretch>
            <a:fillRect/>
          </a:stretch>
        </p:blipFill>
        <p:spPr>
          <a:xfrm rot="10800000">
            <a:off x="8803" y="6369939"/>
            <a:ext cx="370439" cy="468604"/>
          </a:xfrm>
          <a:prstGeom prst="rect">
            <a:avLst/>
          </a:prstGeom>
        </p:spPr>
      </p:pic>
      <p:sp>
        <p:nvSpPr>
          <p:cNvPr id="10" name="Google Shape;718;p53">
            <a:extLst>
              <a:ext uri="{FF2B5EF4-FFF2-40B4-BE49-F238E27FC236}">
                <a16:creationId xmlns:a16="http://schemas.microsoft.com/office/drawing/2014/main" id="{E46F9D3F-2B0B-F84B-1239-1E6E39C76A86}"/>
              </a:ext>
            </a:extLst>
          </p:cNvPr>
          <p:cNvSpPr txBox="1">
            <a:spLocks noGrp="1"/>
          </p:cNvSpPr>
          <p:nvPr>
            <p:ph type="ftr" idx="11"/>
          </p:nvPr>
        </p:nvSpPr>
        <p:spPr>
          <a:xfrm>
            <a:off x="3732600" y="6467291"/>
            <a:ext cx="4726800" cy="273900"/>
          </a:xfrm>
          <a:prstGeom prst="rect">
            <a:avLst/>
          </a:prstGeom>
        </p:spPr>
        <p:txBody>
          <a:bodyPr spcFirstLastPara="1" wrap="square" lIns="91425" tIns="45700" rIns="91425" bIns="45700" anchor="t" anchorCtr="0">
            <a:noAutofit/>
          </a:bodyPr>
          <a:lstStyle/>
          <a:p>
            <a:pPr marL="0" lvl="0" indent="0" rtl="0">
              <a:lnSpc>
                <a:spcPct val="90000"/>
              </a:lnSpc>
              <a:spcBef>
                <a:spcPts val="0"/>
              </a:spcBef>
              <a:spcAft>
                <a:spcPts val="0"/>
              </a:spcAft>
              <a:buClr>
                <a:schemeClr val="dk1"/>
              </a:buClr>
              <a:buSzPts val="1100"/>
              <a:buFont typeface="Arial"/>
              <a:buNone/>
            </a:pPr>
            <a:endParaRPr sz="1800" dirty="0">
              <a:solidFill>
                <a:sysClr val="windowText" lastClr="000000"/>
              </a:solidFill>
            </a:endParaRPr>
          </a:p>
          <a:p>
            <a:pPr marL="0" lvl="0" indent="0" rtl="0">
              <a:lnSpc>
                <a:spcPct val="90000"/>
              </a:lnSpc>
              <a:spcBef>
                <a:spcPts val="0"/>
              </a:spcBef>
              <a:spcAft>
                <a:spcPts val="0"/>
              </a:spcAft>
              <a:buClr>
                <a:schemeClr val="dk1"/>
              </a:buClr>
              <a:buSzPts val="1100"/>
              <a:buFont typeface="Arial"/>
              <a:buNone/>
            </a:pPr>
            <a:endParaRPr sz="1800" dirty="0">
              <a:solidFill>
                <a:sysClr val="windowText" lastClr="000000"/>
              </a:solidFill>
            </a:endParaRPr>
          </a:p>
          <a:p>
            <a:pPr marL="0" lvl="0" indent="0" rtl="0">
              <a:lnSpc>
                <a:spcPct val="90000"/>
              </a:lnSpc>
              <a:spcBef>
                <a:spcPts val="0"/>
              </a:spcBef>
              <a:spcAft>
                <a:spcPts val="0"/>
              </a:spcAft>
              <a:buSzPts val="1800"/>
              <a:buNone/>
            </a:pPr>
            <a:endParaRPr sz="1800" dirty="0">
              <a:solidFill>
                <a:sysClr val="windowText" lastClr="000000"/>
              </a:solidFill>
            </a:endParaRPr>
          </a:p>
          <a:p>
            <a:pPr marL="0" lvl="0" indent="0" rtl="0">
              <a:spcBef>
                <a:spcPts val="0"/>
              </a:spcBef>
              <a:spcAft>
                <a:spcPts val="0"/>
              </a:spcAft>
              <a:buNone/>
            </a:pPr>
            <a:endParaRPr sz="1800" dirty="0">
              <a:solidFill>
                <a:sysClr val="windowText" lastClr="000000"/>
              </a:solidFill>
            </a:endParaRPr>
          </a:p>
        </p:txBody>
      </p:sp>
      <p:sp>
        <p:nvSpPr>
          <p:cNvPr id="11" name="Title 1">
            <a:extLst>
              <a:ext uri="{FF2B5EF4-FFF2-40B4-BE49-F238E27FC236}">
                <a16:creationId xmlns:a16="http://schemas.microsoft.com/office/drawing/2014/main" id="{8E2428AD-4718-3444-A7EC-0247B05D24B3}"/>
              </a:ext>
            </a:extLst>
          </p:cNvPr>
          <p:cNvSpPr>
            <a:spLocks noGrp="1"/>
          </p:cNvSpPr>
          <p:nvPr/>
        </p:nvSpPr>
        <p:spPr>
          <a:xfrm>
            <a:off x="1547870" y="810310"/>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err="1">
                <a:solidFill>
                  <a:schemeClr val="tx1"/>
                </a:solidFill>
                <a:latin typeface="Amazon Ember Light"/>
              </a:rPr>
              <a:t>IaC</a:t>
            </a:r>
            <a:r>
              <a:rPr lang="en-US" sz="3400" dirty="0">
                <a:solidFill>
                  <a:schemeClr val="tx1"/>
                </a:solidFill>
                <a:latin typeface="Amazon Ember Light"/>
              </a:rPr>
              <a:t>: Benefits</a:t>
            </a:r>
            <a:endParaRPr lang="en-US" dirty="0">
              <a:solidFill>
                <a:schemeClr val="tx1"/>
              </a:solidFill>
            </a:endParaRPr>
          </a:p>
        </p:txBody>
      </p:sp>
      <p:sp>
        <p:nvSpPr>
          <p:cNvPr id="12" name="Rounded Rectangle 5">
            <a:extLst>
              <a:ext uri="{FF2B5EF4-FFF2-40B4-BE49-F238E27FC236}">
                <a16:creationId xmlns:a16="http://schemas.microsoft.com/office/drawing/2014/main" id="{388D809C-0D9E-9541-8D99-86CE638AFE68}"/>
              </a:ext>
            </a:extLst>
          </p:cNvPr>
          <p:cNvSpPr/>
          <p:nvPr/>
        </p:nvSpPr>
        <p:spPr>
          <a:xfrm>
            <a:off x="1152843" y="2362067"/>
            <a:ext cx="4506383" cy="2324101"/>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3" name="TextBox 35">
            <a:extLst>
              <a:ext uri="{FF2B5EF4-FFF2-40B4-BE49-F238E27FC236}">
                <a16:creationId xmlns:a16="http://schemas.microsoft.com/office/drawing/2014/main" id="{DFEF6297-641F-3F46-9542-947B98AAE14E}"/>
              </a:ext>
            </a:extLst>
          </p:cNvPr>
          <p:cNvSpPr txBox="1">
            <a:spLocks noChangeArrowheads="1"/>
          </p:cNvSpPr>
          <p:nvPr/>
        </p:nvSpPr>
        <p:spPr bwMode="auto">
          <a:xfrm>
            <a:off x="2637794" y="2343222"/>
            <a:ext cx="1460491" cy="307777"/>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400" b="1" dirty="0">
                <a:solidFill>
                  <a:schemeClr val="accent1"/>
                </a:solidFill>
                <a:latin typeface="Amazon Ember Light" panose="020B0403020204020204" pitchFamily="34" charset="0"/>
                <a:ea typeface="Amazon Ember Light" panose="020B0403020204020204" pitchFamily="34" charset="0"/>
                <a:cs typeface="Amazon Ember Light" panose="020B0403020204020204" pitchFamily="34" charset="0"/>
              </a:rPr>
              <a:t>Development</a:t>
            </a:r>
            <a:endParaRPr lang="en-US" sz="14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4" name="TextBox 35">
            <a:extLst>
              <a:ext uri="{FF2B5EF4-FFF2-40B4-BE49-F238E27FC236}">
                <a16:creationId xmlns:a16="http://schemas.microsoft.com/office/drawing/2014/main" id="{1BA3A6DE-6294-3C49-BFF8-5B02E1C6B057}"/>
              </a:ext>
            </a:extLst>
          </p:cNvPr>
          <p:cNvSpPr txBox="1">
            <a:spLocks noChangeArrowheads="1"/>
          </p:cNvSpPr>
          <p:nvPr/>
        </p:nvSpPr>
        <p:spPr bwMode="auto">
          <a:xfrm>
            <a:off x="2182177" y="1795604"/>
            <a:ext cx="2447712" cy="502766"/>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667"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Repeatability</a:t>
            </a:r>
          </a:p>
        </p:txBody>
      </p:sp>
      <p:sp>
        <p:nvSpPr>
          <p:cNvPr id="15" name="Rounded Rectangle 8">
            <a:extLst>
              <a:ext uri="{FF2B5EF4-FFF2-40B4-BE49-F238E27FC236}">
                <a16:creationId xmlns:a16="http://schemas.microsoft.com/office/drawing/2014/main" id="{D1B30595-095B-114B-B784-B3A2AA758CAA}"/>
              </a:ext>
            </a:extLst>
          </p:cNvPr>
          <p:cNvSpPr/>
          <p:nvPr/>
        </p:nvSpPr>
        <p:spPr>
          <a:xfrm>
            <a:off x="6958505" y="2382693"/>
            <a:ext cx="4506383" cy="2324101"/>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6" name="TextBox 35">
            <a:extLst>
              <a:ext uri="{FF2B5EF4-FFF2-40B4-BE49-F238E27FC236}">
                <a16:creationId xmlns:a16="http://schemas.microsoft.com/office/drawing/2014/main" id="{3FEE354F-A38F-4343-A90A-965C4465F995}"/>
              </a:ext>
            </a:extLst>
          </p:cNvPr>
          <p:cNvSpPr txBox="1">
            <a:spLocks noChangeArrowheads="1"/>
          </p:cNvSpPr>
          <p:nvPr/>
        </p:nvSpPr>
        <p:spPr bwMode="auto">
          <a:xfrm>
            <a:off x="7985313" y="2350776"/>
            <a:ext cx="2447712" cy="307777"/>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400" b="1" dirty="0">
                <a:solidFill>
                  <a:schemeClr val="accent1"/>
                </a:solidFill>
                <a:latin typeface="Amazon Ember Light" panose="020B0403020204020204" pitchFamily="34" charset="0"/>
                <a:ea typeface="Amazon Ember Light" panose="020B0403020204020204" pitchFamily="34" charset="0"/>
                <a:cs typeface="Amazon Ember Light" panose="020B0403020204020204" pitchFamily="34" charset="0"/>
              </a:rPr>
              <a:t>Production</a:t>
            </a:r>
            <a:endParaRPr lang="en-US" sz="14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7" name="TextBox 35">
            <a:extLst>
              <a:ext uri="{FF2B5EF4-FFF2-40B4-BE49-F238E27FC236}">
                <a16:creationId xmlns:a16="http://schemas.microsoft.com/office/drawing/2014/main" id="{9AE7DD7E-D10A-284A-8B26-76BB5391F8C6}"/>
              </a:ext>
            </a:extLst>
          </p:cNvPr>
          <p:cNvSpPr txBox="1">
            <a:spLocks noChangeArrowheads="1"/>
          </p:cNvSpPr>
          <p:nvPr/>
        </p:nvSpPr>
        <p:spPr bwMode="auto">
          <a:xfrm>
            <a:off x="7987839" y="1810384"/>
            <a:ext cx="2447712" cy="502766"/>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667"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Reusability</a:t>
            </a:r>
          </a:p>
        </p:txBody>
      </p:sp>
      <p:cxnSp>
        <p:nvCxnSpPr>
          <p:cNvPr id="18" name="Straight Arrow Connector 17">
            <a:extLst>
              <a:ext uri="{FF2B5EF4-FFF2-40B4-BE49-F238E27FC236}">
                <a16:creationId xmlns:a16="http://schemas.microsoft.com/office/drawing/2014/main" id="{999CE0CA-9C7F-A149-BE54-4A311733014E}"/>
              </a:ext>
            </a:extLst>
          </p:cNvPr>
          <p:cNvCxnSpPr>
            <a:cxnSpLocks/>
          </p:cNvCxnSpPr>
          <p:nvPr/>
        </p:nvCxnSpPr>
        <p:spPr>
          <a:xfrm flipH="1" flipV="1">
            <a:off x="2129340" y="4359478"/>
            <a:ext cx="1247156" cy="1065679"/>
          </a:xfrm>
          <a:prstGeom prst="straightConnector1">
            <a:avLst/>
          </a:prstGeom>
          <a:ln w="28575">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302F591D-EAE7-0747-9A42-9CD69B20DBA2}"/>
              </a:ext>
            </a:extLst>
          </p:cNvPr>
          <p:cNvCxnSpPr>
            <a:cxnSpLocks/>
          </p:cNvCxnSpPr>
          <p:nvPr/>
        </p:nvCxnSpPr>
        <p:spPr>
          <a:xfrm flipV="1">
            <a:off x="3376495" y="4361468"/>
            <a:ext cx="1317555" cy="1063688"/>
          </a:xfrm>
          <a:prstGeom prst="straightConnector1">
            <a:avLst/>
          </a:prstGeom>
          <a:ln w="28575">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B8BAB0D-A690-2240-913F-DA35C985B9C5}"/>
              </a:ext>
            </a:extLst>
          </p:cNvPr>
          <p:cNvCxnSpPr>
            <a:cxnSpLocks/>
          </p:cNvCxnSpPr>
          <p:nvPr/>
        </p:nvCxnSpPr>
        <p:spPr>
          <a:xfrm flipV="1">
            <a:off x="3376496" y="4336905"/>
            <a:ext cx="4520407" cy="1088252"/>
          </a:xfrm>
          <a:prstGeom prst="straightConnector1">
            <a:avLst/>
          </a:prstGeom>
          <a:ln w="28575">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A2BE0389-6201-764F-93EE-B67FD37A29C8}"/>
              </a:ext>
            </a:extLst>
          </p:cNvPr>
          <p:cNvCxnSpPr>
            <a:cxnSpLocks/>
          </p:cNvCxnSpPr>
          <p:nvPr/>
        </p:nvCxnSpPr>
        <p:spPr>
          <a:xfrm flipV="1">
            <a:off x="3376496" y="4351116"/>
            <a:ext cx="6989625" cy="1074040"/>
          </a:xfrm>
          <a:prstGeom prst="straightConnector1">
            <a:avLst/>
          </a:prstGeom>
          <a:ln w="28575">
            <a:solidFill>
              <a:srgbClr val="0070C0"/>
            </a:solidFill>
            <a:tailEnd type="triangle"/>
          </a:ln>
        </p:spPr>
        <p:style>
          <a:lnRef idx="2">
            <a:schemeClr val="accent1"/>
          </a:lnRef>
          <a:fillRef idx="0">
            <a:schemeClr val="accent1"/>
          </a:fillRef>
          <a:effectRef idx="1">
            <a:schemeClr val="accent1"/>
          </a:effectRef>
          <a:fontRef idx="minor">
            <a:schemeClr val="tx1"/>
          </a:fontRef>
        </p:style>
      </p:cxnSp>
      <p:grpSp>
        <p:nvGrpSpPr>
          <p:cNvPr id="22" name="Group 21">
            <a:extLst>
              <a:ext uri="{FF2B5EF4-FFF2-40B4-BE49-F238E27FC236}">
                <a16:creationId xmlns:a16="http://schemas.microsoft.com/office/drawing/2014/main" id="{9E01EC01-449B-CE4C-BB77-A4036EB437CB}"/>
              </a:ext>
            </a:extLst>
          </p:cNvPr>
          <p:cNvGrpSpPr/>
          <p:nvPr/>
        </p:nvGrpSpPr>
        <p:grpSpPr>
          <a:xfrm>
            <a:off x="1303334" y="2593545"/>
            <a:ext cx="1914816" cy="1590524"/>
            <a:chOff x="581181" y="1611884"/>
            <a:chExt cx="1436112" cy="1192894"/>
          </a:xfrm>
        </p:grpSpPr>
        <p:grpSp>
          <p:nvGrpSpPr>
            <p:cNvPr id="54" name="Group 53">
              <a:extLst>
                <a:ext uri="{FF2B5EF4-FFF2-40B4-BE49-F238E27FC236}">
                  <a16:creationId xmlns:a16="http://schemas.microsoft.com/office/drawing/2014/main" id="{921DBFE7-2E8A-044A-A40E-FEBECC58DE50}"/>
                </a:ext>
              </a:extLst>
            </p:cNvPr>
            <p:cNvGrpSpPr/>
            <p:nvPr/>
          </p:nvGrpSpPr>
          <p:grpSpPr>
            <a:xfrm>
              <a:off x="581181" y="2098818"/>
              <a:ext cx="1197987" cy="705960"/>
              <a:chOff x="463550" y="760413"/>
              <a:chExt cx="1190386" cy="2218684"/>
            </a:xfrm>
          </p:grpSpPr>
          <p:sp>
            <p:nvSpPr>
              <p:cNvPr id="61" name="Rounded Rectangle 24">
                <a:extLst>
                  <a:ext uri="{FF2B5EF4-FFF2-40B4-BE49-F238E27FC236}">
                    <a16:creationId xmlns:a16="http://schemas.microsoft.com/office/drawing/2014/main" id="{68A5C870-14AF-0D42-8587-27D99044A7E9}"/>
                  </a:ext>
                </a:extLst>
              </p:cNvPr>
              <p:cNvSpPr/>
              <p:nvPr/>
            </p:nvSpPr>
            <p:spPr>
              <a:xfrm>
                <a:off x="463550" y="760413"/>
                <a:ext cx="1190386" cy="2218684"/>
              </a:xfrm>
              <a:prstGeom prst="roundRect">
                <a:avLst>
                  <a:gd name="adj" fmla="val 9818"/>
                </a:avLst>
              </a:prstGeom>
              <a:noFill/>
              <a:ln w="19050">
                <a:solidFill>
                  <a:schemeClr val="tx1"/>
                </a:solidFill>
                <a:prstDash val="lgDashDot"/>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2" name="TextBox 31">
                <a:extLst>
                  <a:ext uri="{FF2B5EF4-FFF2-40B4-BE49-F238E27FC236}">
                    <a16:creationId xmlns:a16="http://schemas.microsoft.com/office/drawing/2014/main" id="{8417C1FC-F1D4-3047-93A2-5E55720C0DB4}"/>
                  </a:ext>
                </a:extLst>
              </p:cNvPr>
              <p:cNvSpPr txBox="1">
                <a:spLocks noChangeArrowheads="1"/>
              </p:cNvSpPr>
              <p:nvPr/>
            </p:nvSpPr>
            <p:spPr bwMode="auto">
              <a:xfrm>
                <a:off x="556282" y="1869755"/>
                <a:ext cx="1004189" cy="1088187"/>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Auto Scaling group</a:t>
                </a:r>
              </a:p>
            </p:txBody>
          </p:sp>
        </p:grpSp>
        <p:pic>
          <p:nvPicPr>
            <p:cNvPr id="55" name="Picture 54">
              <a:extLst>
                <a:ext uri="{FF2B5EF4-FFF2-40B4-BE49-F238E27FC236}">
                  <a16:creationId xmlns:a16="http://schemas.microsoft.com/office/drawing/2014/main" id="{3D15F3AA-C603-2C4A-83A9-811D0AEF83A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0977" y="2151941"/>
              <a:ext cx="355546" cy="355546"/>
            </a:xfrm>
            <a:prstGeom prst="rect">
              <a:avLst/>
            </a:prstGeom>
          </p:spPr>
        </p:pic>
        <p:pic>
          <p:nvPicPr>
            <p:cNvPr id="56" name="Picture 55">
              <a:extLst>
                <a:ext uri="{FF2B5EF4-FFF2-40B4-BE49-F238E27FC236}">
                  <a16:creationId xmlns:a16="http://schemas.microsoft.com/office/drawing/2014/main" id="{195D4B56-7EF6-314E-B146-14AA66E1438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16561" y="2139590"/>
              <a:ext cx="355546" cy="355546"/>
            </a:xfrm>
            <a:prstGeom prst="rect">
              <a:avLst/>
            </a:prstGeom>
          </p:spPr>
        </p:pic>
        <p:cxnSp>
          <p:nvCxnSpPr>
            <p:cNvPr id="57" name="Straight Arrow Connector 56">
              <a:extLst>
                <a:ext uri="{FF2B5EF4-FFF2-40B4-BE49-F238E27FC236}">
                  <a16:creationId xmlns:a16="http://schemas.microsoft.com/office/drawing/2014/main" id="{3A81F5A9-5CF8-2742-AEFC-5488D7185F3E}"/>
                </a:ext>
              </a:extLst>
            </p:cNvPr>
            <p:cNvCxnSpPr>
              <a:endCxn id="55" idx="0"/>
            </p:cNvCxnSpPr>
            <p:nvPr/>
          </p:nvCxnSpPr>
          <p:spPr>
            <a:xfrm flipH="1">
              <a:off x="878750" y="1886852"/>
              <a:ext cx="310325" cy="265089"/>
            </a:xfrm>
            <a:prstGeom prst="straightConnector1">
              <a:avLst/>
            </a:prstGeom>
            <a:ln w="19050">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F6C39096-0FAC-B244-A307-2B6E642A0B94}"/>
                </a:ext>
              </a:extLst>
            </p:cNvPr>
            <p:cNvCxnSpPr>
              <a:endCxn id="56" idx="0"/>
            </p:cNvCxnSpPr>
            <p:nvPr/>
          </p:nvCxnSpPr>
          <p:spPr>
            <a:xfrm>
              <a:off x="1172110" y="1885507"/>
              <a:ext cx="322222" cy="254083"/>
            </a:xfrm>
            <a:prstGeom prst="straightConnector1">
              <a:avLst/>
            </a:prstGeom>
            <a:ln w="19050">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59" name="TextBox 22">
              <a:extLst>
                <a:ext uri="{FF2B5EF4-FFF2-40B4-BE49-F238E27FC236}">
                  <a16:creationId xmlns:a16="http://schemas.microsoft.com/office/drawing/2014/main" id="{8EE75F5B-5121-6B4A-96D3-67D0990B1791}"/>
                </a:ext>
              </a:extLst>
            </p:cNvPr>
            <p:cNvSpPr txBox="1"/>
            <p:nvPr/>
          </p:nvSpPr>
          <p:spPr>
            <a:xfrm>
              <a:off x="1333221" y="1621229"/>
              <a:ext cx="684072" cy="376930"/>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Load balancer</a:t>
              </a:r>
            </a:p>
          </p:txBody>
        </p:sp>
        <p:pic>
          <p:nvPicPr>
            <p:cNvPr id="60" name="Picture 59">
              <a:extLst>
                <a:ext uri="{FF2B5EF4-FFF2-40B4-BE49-F238E27FC236}">
                  <a16:creationId xmlns:a16="http://schemas.microsoft.com/office/drawing/2014/main" id="{F3F337C1-CFEB-1749-8605-A22928B17B8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27964" y="1611884"/>
              <a:ext cx="311695" cy="389729"/>
            </a:xfrm>
            <a:prstGeom prst="rect">
              <a:avLst/>
            </a:prstGeom>
          </p:spPr>
        </p:pic>
      </p:grpSp>
      <p:grpSp>
        <p:nvGrpSpPr>
          <p:cNvPr id="23" name="Group 22">
            <a:extLst>
              <a:ext uri="{FF2B5EF4-FFF2-40B4-BE49-F238E27FC236}">
                <a16:creationId xmlns:a16="http://schemas.microsoft.com/office/drawing/2014/main" id="{F898D6A7-E6D1-3348-AA5C-243529B849C7}"/>
              </a:ext>
            </a:extLst>
          </p:cNvPr>
          <p:cNvGrpSpPr/>
          <p:nvPr/>
        </p:nvGrpSpPr>
        <p:grpSpPr>
          <a:xfrm>
            <a:off x="3773426" y="2610303"/>
            <a:ext cx="1914816" cy="1590524"/>
            <a:chOff x="581181" y="1611884"/>
            <a:chExt cx="1436112" cy="1192894"/>
          </a:xfrm>
        </p:grpSpPr>
        <p:grpSp>
          <p:nvGrpSpPr>
            <p:cNvPr id="45" name="Group 44">
              <a:extLst>
                <a:ext uri="{FF2B5EF4-FFF2-40B4-BE49-F238E27FC236}">
                  <a16:creationId xmlns:a16="http://schemas.microsoft.com/office/drawing/2014/main" id="{876319AF-69CE-724E-8B5C-1095C1EC5A89}"/>
                </a:ext>
              </a:extLst>
            </p:cNvPr>
            <p:cNvGrpSpPr/>
            <p:nvPr/>
          </p:nvGrpSpPr>
          <p:grpSpPr>
            <a:xfrm>
              <a:off x="581181" y="2098818"/>
              <a:ext cx="1197987" cy="705960"/>
              <a:chOff x="463550" y="760413"/>
              <a:chExt cx="1190386" cy="2218684"/>
            </a:xfrm>
          </p:grpSpPr>
          <p:sp>
            <p:nvSpPr>
              <p:cNvPr id="52" name="Rounded Rectangle 34">
                <a:extLst>
                  <a:ext uri="{FF2B5EF4-FFF2-40B4-BE49-F238E27FC236}">
                    <a16:creationId xmlns:a16="http://schemas.microsoft.com/office/drawing/2014/main" id="{754A4DC0-F3CD-3543-9ACB-840738ECE1AD}"/>
                  </a:ext>
                </a:extLst>
              </p:cNvPr>
              <p:cNvSpPr/>
              <p:nvPr/>
            </p:nvSpPr>
            <p:spPr>
              <a:xfrm>
                <a:off x="463550" y="760413"/>
                <a:ext cx="1190386" cy="2218684"/>
              </a:xfrm>
              <a:prstGeom prst="roundRect">
                <a:avLst>
                  <a:gd name="adj" fmla="val 9818"/>
                </a:avLst>
              </a:prstGeom>
              <a:noFill/>
              <a:ln w="19050">
                <a:solidFill>
                  <a:schemeClr val="tx1"/>
                </a:solidFill>
                <a:prstDash val="lgDashDot"/>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53" name="TextBox 31">
                <a:extLst>
                  <a:ext uri="{FF2B5EF4-FFF2-40B4-BE49-F238E27FC236}">
                    <a16:creationId xmlns:a16="http://schemas.microsoft.com/office/drawing/2014/main" id="{96B0AE79-F52F-5C49-BEF5-79CD72D5962C}"/>
                  </a:ext>
                </a:extLst>
              </p:cNvPr>
              <p:cNvSpPr txBox="1">
                <a:spLocks noChangeArrowheads="1"/>
              </p:cNvSpPr>
              <p:nvPr/>
            </p:nvSpPr>
            <p:spPr bwMode="auto">
              <a:xfrm>
                <a:off x="556282" y="1869755"/>
                <a:ext cx="1004189" cy="1088187"/>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Auto Scaling group</a:t>
                </a:r>
              </a:p>
            </p:txBody>
          </p:sp>
        </p:grpSp>
        <p:pic>
          <p:nvPicPr>
            <p:cNvPr id="46" name="Picture 45">
              <a:extLst>
                <a:ext uri="{FF2B5EF4-FFF2-40B4-BE49-F238E27FC236}">
                  <a16:creationId xmlns:a16="http://schemas.microsoft.com/office/drawing/2014/main" id="{F819C486-0665-2840-8FCA-A16093DE88F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0977" y="2151941"/>
              <a:ext cx="355546" cy="355546"/>
            </a:xfrm>
            <a:prstGeom prst="rect">
              <a:avLst/>
            </a:prstGeom>
          </p:spPr>
        </p:pic>
        <p:pic>
          <p:nvPicPr>
            <p:cNvPr id="47" name="Picture 46">
              <a:extLst>
                <a:ext uri="{FF2B5EF4-FFF2-40B4-BE49-F238E27FC236}">
                  <a16:creationId xmlns:a16="http://schemas.microsoft.com/office/drawing/2014/main" id="{BC53CE0D-3559-BF46-9BD6-53F3DB4AEC1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16561" y="2139590"/>
              <a:ext cx="355546" cy="355546"/>
            </a:xfrm>
            <a:prstGeom prst="rect">
              <a:avLst/>
            </a:prstGeom>
          </p:spPr>
        </p:pic>
        <p:cxnSp>
          <p:nvCxnSpPr>
            <p:cNvPr id="48" name="Straight Arrow Connector 47">
              <a:extLst>
                <a:ext uri="{FF2B5EF4-FFF2-40B4-BE49-F238E27FC236}">
                  <a16:creationId xmlns:a16="http://schemas.microsoft.com/office/drawing/2014/main" id="{909FA67C-1638-5A4B-8322-182B2E180348}"/>
                </a:ext>
              </a:extLst>
            </p:cNvPr>
            <p:cNvCxnSpPr>
              <a:endCxn id="46" idx="0"/>
            </p:cNvCxnSpPr>
            <p:nvPr/>
          </p:nvCxnSpPr>
          <p:spPr>
            <a:xfrm flipH="1">
              <a:off x="878750" y="1886852"/>
              <a:ext cx="310325" cy="265089"/>
            </a:xfrm>
            <a:prstGeom prst="straightConnector1">
              <a:avLst/>
            </a:prstGeom>
            <a:ln w="19050">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EF652E6D-3AB6-D64A-A038-991EC9811C72}"/>
                </a:ext>
              </a:extLst>
            </p:cNvPr>
            <p:cNvCxnSpPr>
              <a:endCxn id="47" idx="0"/>
            </p:cNvCxnSpPr>
            <p:nvPr/>
          </p:nvCxnSpPr>
          <p:spPr>
            <a:xfrm>
              <a:off x="1172110" y="1885507"/>
              <a:ext cx="322222" cy="254083"/>
            </a:xfrm>
            <a:prstGeom prst="straightConnector1">
              <a:avLst/>
            </a:prstGeom>
            <a:ln w="19050">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50" name="TextBox 32">
              <a:extLst>
                <a:ext uri="{FF2B5EF4-FFF2-40B4-BE49-F238E27FC236}">
                  <a16:creationId xmlns:a16="http://schemas.microsoft.com/office/drawing/2014/main" id="{E525438A-D40C-CD49-8A1A-B9259ACADAC5}"/>
                </a:ext>
              </a:extLst>
            </p:cNvPr>
            <p:cNvSpPr txBox="1"/>
            <p:nvPr/>
          </p:nvSpPr>
          <p:spPr>
            <a:xfrm>
              <a:off x="1333221" y="1621229"/>
              <a:ext cx="684072" cy="376930"/>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Load balancer</a:t>
              </a:r>
            </a:p>
          </p:txBody>
        </p:sp>
        <p:pic>
          <p:nvPicPr>
            <p:cNvPr id="51" name="Picture 50">
              <a:extLst>
                <a:ext uri="{FF2B5EF4-FFF2-40B4-BE49-F238E27FC236}">
                  <a16:creationId xmlns:a16="http://schemas.microsoft.com/office/drawing/2014/main" id="{8D452063-17E6-D64D-9098-E315DF5E53B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27964" y="1611884"/>
              <a:ext cx="311695" cy="389729"/>
            </a:xfrm>
            <a:prstGeom prst="rect">
              <a:avLst/>
            </a:prstGeom>
          </p:spPr>
        </p:pic>
      </p:grpSp>
      <p:grpSp>
        <p:nvGrpSpPr>
          <p:cNvPr id="24" name="Group 23">
            <a:extLst>
              <a:ext uri="{FF2B5EF4-FFF2-40B4-BE49-F238E27FC236}">
                <a16:creationId xmlns:a16="http://schemas.microsoft.com/office/drawing/2014/main" id="{9E588FF0-7FA9-B742-9786-177ED1285586}"/>
              </a:ext>
            </a:extLst>
          </p:cNvPr>
          <p:cNvGrpSpPr/>
          <p:nvPr/>
        </p:nvGrpSpPr>
        <p:grpSpPr>
          <a:xfrm>
            <a:off x="7194295" y="2606005"/>
            <a:ext cx="1914816" cy="1590524"/>
            <a:chOff x="581181" y="1611884"/>
            <a:chExt cx="1436112" cy="1192894"/>
          </a:xfrm>
        </p:grpSpPr>
        <p:grpSp>
          <p:nvGrpSpPr>
            <p:cNvPr id="36" name="Group 35">
              <a:extLst>
                <a:ext uri="{FF2B5EF4-FFF2-40B4-BE49-F238E27FC236}">
                  <a16:creationId xmlns:a16="http://schemas.microsoft.com/office/drawing/2014/main" id="{2736F7A5-4AA8-7943-B488-3F93F49C0311}"/>
                </a:ext>
              </a:extLst>
            </p:cNvPr>
            <p:cNvGrpSpPr/>
            <p:nvPr/>
          </p:nvGrpSpPr>
          <p:grpSpPr>
            <a:xfrm>
              <a:off x="581181" y="2098818"/>
              <a:ext cx="1197987" cy="705960"/>
              <a:chOff x="463550" y="760413"/>
              <a:chExt cx="1190386" cy="2218684"/>
            </a:xfrm>
          </p:grpSpPr>
          <p:sp>
            <p:nvSpPr>
              <p:cNvPr id="43" name="Rounded Rectangle 44">
                <a:extLst>
                  <a:ext uri="{FF2B5EF4-FFF2-40B4-BE49-F238E27FC236}">
                    <a16:creationId xmlns:a16="http://schemas.microsoft.com/office/drawing/2014/main" id="{77A18BB2-DD66-DC4E-8777-78FA8FEC4D02}"/>
                  </a:ext>
                </a:extLst>
              </p:cNvPr>
              <p:cNvSpPr/>
              <p:nvPr/>
            </p:nvSpPr>
            <p:spPr>
              <a:xfrm>
                <a:off x="463550" y="760413"/>
                <a:ext cx="1190386" cy="2218684"/>
              </a:xfrm>
              <a:prstGeom prst="roundRect">
                <a:avLst>
                  <a:gd name="adj" fmla="val 9818"/>
                </a:avLst>
              </a:prstGeom>
              <a:noFill/>
              <a:ln w="19050">
                <a:solidFill>
                  <a:schemeClr val="tx1"/>
                </a:solidFill>
                <a:prstDash val="lgDashDot"/>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44" name="TextBox 31">
                <a:extLst>
                  <a:ext uri="{FF2B5EF4-FFF2-40B4-BE49-F238E27FC236}">
                    <a16:creationId xmlns:a16="http://schemas.microsoft.com/office/drawing/2014/main" id="{77A7B19F-D262-814A-B7F6-191282A82324}"/>
                  </a:ext>
                </a:extLst>
              </p:cNvPr>
              <p:cNvSpPr txBox="1">
                <a:spLocks noChangeArrowheads="1"/>
              </p:cNvSpPr>
              <p:nvPr/>
            </p:nvSpPr>
            <p:spPr bwMode="auto">
              <a:xfrm>
                <a:off x="556282" y="1869755"/>
                <a:ext cx="1004189" cy="1088187"/>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Auto Scaling group</a:t>
                </a:r>
              </a:p>
            </p:txBody>
          </p:sp>
        </p:grpSp>
        <p:pic>
          <p:nvPicPr>
            <p:cNvPr id="37" name="Picture 36">
              <a:extLst>
                <a:ext uri="{FF2B5EF4-FFF2-40B4-BE49-F238E27FC236}">
                  <a16:creationId xmlns:a16="http://schemas.microsoft.com/office/drawing/2014/main" id="{5D8B64BA-B2E7-8545-B290-67178256F0C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0977" y="2151941"/>
              <a:ext cx="355546" cy="355546"/>
            </a:xfrm>
            <a:prstGeom prst="rect">
              <a:avLst/>
            </a:prstGeom>
          </p:spPr>
        </p:pic>
        <p:pic>
          <p:nvPicPr>
            <p:cNvPr id="38" name="Picture 37">
              <a:extLst>
                <a:ext uri="{FF2B5EF4-FFF2-40B4-BE49-F238E27FC236}">
                  <a16:creationId xmlns:a16="http://schemas.microsoft.com/office/drawing/2014/main" id="{902A8408-4840-A343-A6A9-5664518AAEC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16561" y="2139590"/>
              <a:ext cx="355546" cy="355546"/>
            </a:xfrm>
            <a:prstGeom prst="rect">
              <a:avLst/>
            </a:prstGeom>
          </p:spPr>
        </p:pic>
        <p:cxnSp>
          <p:nvCxnSpPr>
            <p:cNvPr id="39" name="Straight Arrow Connector 38">
              <a:extLst>
                <a:ext uri="{FF2B5EF4-FFF2-40B4-BE49-F238E27FC236}">
                  <a16:creationId xmlns:a16="http://schemas.microsoft.com/office/drawing/2014/main" id="{A9414903-E399-0D4F-8109-AC6C69F0528D}"/>
                </a:ext>
              </a:extLst>
            </p:cNvPr>
            <p:cNvCxnSpPr>
              <a:endCxn id="37" idx="0"/>
            </p:cNvCxnSpPr>
            <p:nvPr/>
          </p:nvCxnSpPr>
          <p:spPr>
            <a:xfrm flipH="1">
              <a:off x="878750" y="1886852"/>
              <a:ext cx="310325" cy="265089"/>
            </a:xfrm>
            <a:prstGeom prst="straightConnector1">
              <a:avLst/>
            </a:prstGeom>
            <a:ln w="19050">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B9ADDAA1-7B02-A64A-A4B2-2AE81F808C8B}"/>
                </a:ext>
              </a:extLst>
            </p:cNvPr>
            <p:cNvCxnSpPr>
              <a:endCxn id="38" idx="0"/>
            </p:cNvCxnSpPr>
            <p:nvPr/>
          </p:nvCxnSpPr>
          <p:spPr>
            <a:xfrm>
              <a:off x="1172110" y="1885507"/>
              <a:ext cx="322222" cy="254083"/>
            </a:xfrm>
            <a:prstGeom prst="straightConnector1">
              <a:avLst/>
            </a:prstGeom>
            <a:ln w="19050">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41" name="TextBox 42">
              <a:extLst>
                <a:ext uri="{FF2B5EF4-FFF2-40B4-BE49-F238E27FC236}">
                  <a16:creationId xmlns:a16="http://schemas.microsoft.com/office/drawing/2014/main" id="{E5A3FCA3-3958-5C4B-A149-5F67F55AC4B8}"/>
                </a:ext>
              </a:extLst>
            </p:cNvPr>
            <p:cNvSpPr txBox="1"/>
            <p:nvPr/>
          </p:nvSpPr>
          <p:spPr>
            <a:xfrm>
              <a:off x="1333221" y="1621229"/>
              <a:ext cx="684072" cy="376930"/>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Load balancer</a:t>
              </a:r>
            </a:p>
          </p:txBody>
        </p:sp>
        <p:pic>
          <p:nvPicPr>
            <p:cNvPr id="42" name="Picture 41">
              <a:extLst>
                <a:ext uri="{FF2B5EF4-FFF2-40B4-BE49-F238E27FC236}">
                  <a16:creationId xmlns:a16="http://schemas.microsoft.com/office/drawing/2014/main" id="{A4082A29-EC7B-654A-8056-EB0A69B499B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27964" y="1611884"/>
              <a:ext cx="311695" cy="389729"/>
            </a:xfrm>
            <a:prstGeom prst="rect">
              <a:avLst/>
            </a:prstGeom>
          </p:spPr>
        </p:pic>
      </p:grpSp>
      <p:grpSp>
        <p:nvGrpSpPr>
          <p:cNvPr id="25" name="Group 24">
            <a:extLst>
              <a:ext uri="{FF2B5EF4-FFF2-40B4-BE49-F238E27FC236}">
                <a16:creationId xmlns:a16="http://schemas.microsoft.com/office/drawing/2014/main" id="{0AE8476F-03F0-5242-A3F9-2AB95E3FA772}"/>
              </a:ext>
            </a:extLst>
          </p:cNvPr>
          <p:cNvGrpSpPr/>
          <p:nvPr/>
        </p:nvGrpSpPr>
        <p:grpSpPr>
          <a:xfrm>
            <a:off x="9657757" y="2607337"/>
            <a:ext cx="1914816" cy="1590524"/>
            <a:chOff x="581181" y="1611884"/>
            <a:chExt cx="1436112" cy="1192894"/>
          </a:xfrm>
        </p:grpSpPr>
        <p:grpSp>
          <p:nvGrpSpPr>
            <p:cNvPr id="27" name="Group 26">
              <a:extLst>
                <a:ext uri="{FF2B5EF4-FFF2-40B4-BE49-F238E27FC236}">
                  <a16:creationId xmlns:a16="http://schemas.microsoft.com/office/drawing/2014/main" id="{8B9A0CDC-B517-FA4F-B60B-21D8F91D3AC9}"/>
                </a:ext>
              </a:extLst>
            </p:cNvPr>
            <p:cNvGrpSpPr/>
            <p:nvPr/>
          </p:nvGrpSpPr>
          <p:grpSpPr>
            <a:xfrm>
              <a:off x="581181" y="2098818"/>
              <a:ext cx="1197987" cy="705960"/>
              <a:chOff x="463550" y="760413"/>
              <a:chExt cx="1190386" cy="2218684"/>
            </a:xfrm>
          </p:grpSpPr>
          <p:sp>
            <p:nvSpPr>
              <p:cNvPr id="34" name="Rounded Rectangle 54">
                <a:extLst>
                  <a:ext uri="{FF2B5EF4-FFF2-40B4-BE49-F238E27FC236}">
                    <a16:creationId xmlns:a16="http://schemas.microsoft.com/office/drawing/2014/main" id="{0CDDD4F4-FAA8-8E42-A677-2C2C9D1E449B}"/>
                  </a:ext>
                </a:extLst>
              </p:cNvPr>
              <p:cNvSpPr/>
              <p:nvPr/>
            </p:nvSpPr>
            <p:spPr>
              <a:xfrm>
                <a:off x="463550" y="760413"/>
                <a:ext cx="1190386" cy="2218684"/>
              </a:xfrm>
              <a:prstGeom prst="roundRect">
                <a:avLst>
                  <a:gd name="adj" fmla="val 9818"/>
                </a:avLst>
              </a:prstGeom>
              <a:noFill/>
              <a:ln w="19050">
                <a:solidFill>
                  <a:schemeClr val="tx1"/>
                </a:solidFill>
                <a:prstDash val="lgDashDot"/>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5" name="TextBox 31">
                <a:extLst>
                  <a:ext uri="{FF2B5EF4-FFF2-40B4-BE49-F238E27FC236}">
                    <a16:creationId xmlns:a16="http://schemas.microsoft.com/office/drawing/2014/main" id="{2AB8D939-E941-9D49-9FBC-90FE2AC574A6}"/>
                  </a:ext>
                </a:extLst>
              </p:cNvPr>
              <p:cNvSpPr txBox="1">
                <a:spLocks noChangeArrowheads="1"/>
              </p:cNvSpPr>
              <p:nvPr/>
            </p:nvSpPr>
            <p:spPr bwMode="auto">
              <a:xfrm>
                <a:off x="556282" y="1869755"/>
                <a:ext cx="1004189" cy="1088187"/>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Auto Scaling group</a:t>
                </a:r>
              </a:p>
            </p:txBody>
          </p:sp>
        </p:grpSp>
        <p:pic>
          <p:nvPicPr>
            <p:cNvPr id="28" name="Picture 27">
              <a:extLst>
                <a:ext uri="{FF2B5EF4-FFF2-40B4-BE49-F238E27FC236}">
                  <a16:creationId xmlns:a16="http://schemas.microsoft.com/office/drawing/2014/main" id="{3F49C10C-E5EC-F94A-9A2F-2559FC73EC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0977" y="2151941"/>
              <a:ext cx="355546" cy="355546"/>
            </a:xfrm>
            <a:prstGeom prst="rect">
              <a:avLst/>
            </a:prstGeom>
          </p:spPr>
        </p:pic>
        <p:pic>
          <p:nvPicPr>
            <p:cNvPr id="29" name="Picture 28">
              <a:extLst>
                <a:ext uri="{FF2B5EF4-FFF2-40B4-BE49-F238E27FC236}">
                  <a16:creationId xmlns:a16="http://schemas.microsoft.com/office/drawing/2014/main" id="{60A44470-18FC-EF4F-A130-6B5FFF98374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16561" y="2139590"/>
              <a:ext cx="355546" cy="355546"/>
            </a:xfrm>
            <a:prstGeom prst="rect">
              <a:avLst/>
            </a:prstGeom>
          </p:spPr>
        </p:pic>
        <p:cxnSp>
          <p:nvCxnSpPr>
            <p:cNvPr id="30" name="Straight Arrow Connector 29">
              <a:extLst>
                <a:ext uri="{FF2B5EF4-FFF2-40B4-BE49-F238E27FC236}">
                  <a16:creationId xmlns:a16="http://schemas.microsoft.com/office/drawing/2014/main" id="{B36229AF-FF16-FA42-8E9D-CA9724BF08A6}"/>
                </a:ext>
              </a:extLst>
            </p:cNvPr>
            <p:cNvCxnSpPr>
              <a:endCxn id="28" idx="0"/>
            </p:cNvCxnSpPr>
            <p:nvPr/>
          </p:nvCxnSpPr>
          <p:spPr>
            <a:xfrm flipH="1">
              <a:off x="878750" y="1886852"/>
              <a:ext cx="310325" cy="265089"/>
            </a:xfrm>
            <a:prstGeom prst="straightConnector1">
              <a:avLst/>
            </a:prstGeom>
            <a:ln w="19050">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0DDACFDF-8AFB-F947-8859-D2B1C2D9BB06}"/>
                </a:ext>
              </a:extLst>
            </p:cNvPr>
            <p:cNvCxnSpPr>
              <a:endCxn id="29" idx="0"/>
            </p:cNvCxnSpPr>
            <p:nvPr/>
          </p:nvCxnSpPr>
          <p:spPr>
            <a:xfrm>
              <a:off x="1172110" y="1885507"/>
              <a:ext cx="322222" cy="254083"/>
            </a:xfrm>
            <a:prstGeom prst="straightConnector1">
              <a:avLst/>
            </a:prstGeom>
            <a:ln w="19050">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52">
              <a:extLst>
                <a:ext uri="{FF2B5EF4-FFF2-40B4-BE49-F238E27FC236}">
                  <a16:creationId xmlns:a16="http://schemas.microsoft.com/office/drawing/2014/main" id="{74E75CB1-8340-DE4B-9743-1D2DE5C23CB4}"/>
                </a:ext>
              </a:extLst>
            </p:cNvPr>
            <p:cNvSpPr txBox="1"/>
            <p:nvPr/>
          </p:nvSpPr>
          <p:spPr>
            <a:xfrm>
              <a:off x="1333221" y="1621229"/>
              <a:ext cx="684072" cy="376930"/>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Load balancer</a:t>
              </a:r>
            </a:p>
          </p:txBody>
        </p:sp>
        <p:pic>
          <p:nvPicPr>
            <p:cNvPr id="33" name="Picture 32">
              <a:extLst>
                <a:ext uri="{FF2B5EF4-FFF2-40B4-BE49-F238E27FC236}">
                  <a16:creationId xmlns:a16="http://schemas.microsoft.com/office/drawing/2014/main" id="{96D18426-6592-C640-A7A0-F2C43BC6E56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27964" y="1611884"/>
              <a:ext cx="311695" cy="389729"/>
            </a:xfrm>
            <a:prstGeom prst="rect">
              <a:avLst/>
            </a:prstGeom>
          </p:spPr>
        </p:pic>
      </p:grpSp>
      <p:pic>
        <p:nvPicPr>
          <p:cNvPr id="26" name="Picture 25">
            <a:extLst>
              <a:ext uri="{FF2B5EF4-FFF2-40B4-BE49-F238E27FC236}">
                <a16:creationId xmlns:a16="http://schemas.microsoft.com/office/drawing/2014/main" id="{A0FDB465-DFAE-7F48-B6ED-B3C1A16DB4D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983925" y="5425156"/>
            <a:ext cx="844215" cy="844214"/>
          </a:xfrm>
          <a:prstGeom prst="rect">
            <a:avLst/>
          </a:prstGeom>
        </p:spPr>
      </p:pic>
    </p:spTree>
    <p:extLst>
      <p:ext uri="{BB962C8B-B14F-4D97-AF65-F5344CB8AC3E}">
        <p14:creationId xmlns:p14="http://schemas.microsoft.com/office/powerpoint/2010/main" val="833544315"/>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8E2428AD-4718-3444-A7EC-0247B05D24B3}"/>
              </a:ext>
            </a:extLst>
          </p:cNvPr>
          <p:cNvSpPr>
            <a:spLocks noGrp="1"/>
          </p:cNvSpPr>
          <p:nvPr/>
        </p:nvSpPr>
        <p:spPr>
          <a:xfrm>
            <a:off x="619427" y="588630"/>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err="1">
                <a:solidFill>
                  <a:schemeClr val="tx1"/>
                </a:solidFill>
                <a:latin typeface="Amazon Ember Light"/>
              </a:rPr>
              <a:t>IaC</a:t>
            </a:r>
            <a:r>
              <a:rPr lang="en-US" sz="3400" dirty="0">
                <a:solidFill>
                  <a:schemeClr val="tx1"/>
                </a:solidFill>
                <a:latin typeface="Amazon Ember Light"/>
              </a:rPr>
              <a:t>: Benefits </a:t>
            </a:r>
          </a:p>
        </p:txBody>
      </p:sp>
      <p:sp>
        <p:nvSpPr>
          <p:cNvPr id="10" name="Rounded Rectangle 5">
            <a:extLst>
              <a:ext uri="{FF2B5EF4-FFF2-40B4-BE49-F238E27FC236}">
                <a16:creationId xmlns:a16="http://schemas.microsoft.com/office/drawing/2014/main" id="{388D809C-0D9E-9541-8D99-86CE638AFE68}"/>
              </a:ext>
            </a:extLst>
          </p:cNvPr>
          <p:cNvSpPr/>
          <p:nvPr/>
        </p:nvSpPr>
        <p:spPr>
          <a:xfrm>
            <a:off x="1152843" y="2362067"/>
            <a:ext cx="4506383" cy="2324101"/>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 name="TextBox 35">
            <a:extLst>
              <a:ext uri="{FF2B5EF4-FFF2-40B4-BE49-F238E27FC236}">
                <a16:creationId xmlns:a16="http://schemas.microsoft.com/office/drawing/2014/main" id="{DFEF6297-641F-3F46-9542-947B98AAE14E}"/>
              </a:ext>
            </a:extLst>
          </p:cNvPr>
          <p:cNvSpPr txBox="1">
            <a:spLocks noChangeArrowheads="1"/>
          </p:cNvSpPr>
          <p:nvPr/>
        </p:nvSpPr>
        <p:spPr bwMode="auto">
          <a:xfrm>
            <a:off x="2637794" y="2343222"/>
            <a:ext cx="1460491" cy="307777"/>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400" b="1" dirty="0">
                <a:solidFill>
                  <a:schemeClr val="accent1"/>
                </a:solidFill>
                <a:latin typeface="Amazon Ember Light" panose="020B0403020204020204" pitchFamily="34" charset="0"/>
                <a:ea typeface="Amazon Ember Light" panose="020B0403020204020204" pitchFamily="34" charset="0"/>
                <a:cs typeface="Amazon Ember Light" panose="020B0403020204020204" pitchFamily="34" charset="0"/>
              </a:rPr>
              <a:t>Development</a:t>
            </a:r>
            <a:endParaRPr lang="en-US" sz="14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2" name="TextBox 35">
            <a:extLst>
              <a:ext uri="{FF2B5EF4-FFF2-40B4-BE49-F238E27FC236}">
                <a16:creationId xmlns:a16="http://schemas.microsoft.com/office/drawing/2014/main" id="{1BA3A6DE-6294-3C49-BFF8-5B02E1C6B057}"/>
              </a:ext>
            </a:extLst>
          </p:cNvPr>
          <p:cNvSpPr txBox="1">
            <a:spLocks noChangeArrowheads="1"/>
          </p:cNvSpPr>
          <p:nvPr/>
        </p:nvSpPr>
        <p:spPr bwMode="auto">
          <a:xfrm>
            <a:off x="2182177" y="1795604"/>
            <a:ext cx="2447712" cy="502766"/>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667"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Repeatability</a:t>
            </a:r>
          </a:p>
        </p:txBody>
      </p:sp>
      <p:sp>
        <p:nvSpPr>
          <p:cNvPr id="22" name="Rounded Rectangle 8">
            <a:extLst>
              <a:ext uri="{FF2B5EF4-FFF2-40B4-BE49-F238E27FC236}">
                <a16:creationId xmlns:a16="http://schemas.microsoft.com/office/drawing/2014/main" id="{D1B30595-095B-114B-B784-B3A2AA758CAA}"/>
              </a:ext>
            </a:extLst>
          </p:cNvPr>
          <p:cNvSpPr/>
          <p:nvPr/>
        </p:nvSpPr>
        <p:spPr>
          <a:xfrm>
            <a:off x="6958505" y="2382693"/>
            <a:ext cx="4506383" cy="2324101"/>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3" name="TextBox 35">
            <a:extLst>
              <a:ext uri="{FF2B5EF4-FFF2-40B4-BE49-F238E27FC236}">
                <a16:creationId xmlns:a16="http://schemas.microsoft.com/office/drawing/2014/main" id="{3FEE354F-A38F-4343-A90A-965C4465F995}"/>
              </a:ext>
            </a:extLst>
          </p:cNvPr>
          <p:cNvSpPr txBox="1">
            <a:spLocks noChangeArrowheads="1"/>
          </p:cNvSpPr>
          <p:nvPr/>
        </p:nvSpPr>
        <p:spPr bwMode="auto">
          <a:xfrm>
            <a:off x="7985313" y="2350776"/>
            <a:ext cx="2447712" cy="307777"/>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400" b="1" dirty="0">
                <a:solidFill>
                  <a:schemeClr val="accent1"/>
                </a:solidFill>
                <a:latin typeface="Amazon Ember Light" panose="020B0403020204020204" pitchFamily="34" charset="0"/>
                <a:ea typeface="Amazon Ember Light" panose="020B0403020204020204" pitchFamily="34" charset="0"/>
                <a:cs typeface="Amazon Ember Light" panose="020B0403020204020204" pitchFamily="34" charset="0"/>
              </a:rPr>
              <a:t>Production</a:t>
            </a:r>
            <a:endParaRPr lang="en-US" sz="14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4" name="TextBox 35">
            <a:extLst>
              <a:ext uri="{FF2B5EF4-FFF2-40B4-BE49-F238E27FC236}">
                <a16:creationId xmlns:a16="http://schemas.microsoft.com/office/drawing/2014/main" id="{9AE7DD7E-D10A-284A-8B26-76BB5391F8C6}"/>
              </a:ext>
            </a:extLst>
          </p:cNvPr>
          <p:cNvSpPr txBox="1">
            <a:spLocks noChangeArrowheads="1"/>
          </p:cNvSpPr>
          <p:nvPr/>
        </p:nvSpPr>
        <p:spPr bwMode="auto">
          <a:xfrm>
            <a:off x="7987839" y="1810384"/>
            <a:ext cx="2447712" cy="502766"/>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667" dirty="0">
                <a:solidFill>
                  <a:schemeClr val="bg2">
                    <a:lumMod val="10000"/>
                  </a:schemeClr>
                </a:solidFill>
                <a:latin typeface="Amazon Ember Light" panose="020B0403020204020204" pitchFamily="34" charset="0"/>
                <a:ea typeface="Amazon Ember Light" panose="020B0403020204020204" pitchFamily="34" charset="0"/>
                <a:cs typeface="Amazon Ember Light" panose="020B0403020204020204" pitchFamily="34" charset="0"/>
              </a:rPr>
              <a:t>Reusability</a:t>
            </a:r>
          </a:p>
        </p:txBody>
      </p:sp>
      <p:cxnSp>
        <p:nvCxnSpPr>
          <p:cNvPr id="25" name="Straight Arrow Connector 24">
            <a:extLst>
              <a:ext uri="{FF2B5EF4-FFF2-40B4-BE49-F238E27FC236}">
                <a16:creationId xmlns:a16="http://schemas.microsoft.com/office/drawing/2014/main" id="{999CE0CA-9C7F-A149-BE54-4A311733014E}"/>
              </a:ext>
            </a:extLst>
          </p:cNvPr>
          <p:cNvCxnSpPr>
            <a:cxnSpLocks/>
          </p:cNvCxnSpPr>
          <p:nvPr/>
        </p:nvCxnSpPr>
        <p:spPr>
          <a:xfrm flipH="1" flipV="1">
            <a:off x="2129340" y="4359478"/>
            <a:ext cx="1247156" cy="1065679"/>
          </a:xfrm>
          <a:prstGeom prst="straightConnector1">
            <a:avLst/>
          </a:prstGeom>
          <a:ln w="28575">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302F591D-EAE7-0747-9A42-9CD69B20DBA2}"/>
              </a:ext>
            </a:extLst>
          </p:cNvPr>
          <p:cNvCxnSpPr>
            <a:cxnSpLocks/>
          </p:cNvCxnSpPr>
          <p:nvPr/>
        </p:nvCxnSpPr>
        <p:spPr>
          <a:xfrm flipV="1">
            <a:off x="3376495" y="4361468"/>
            <a:ext cx="1317555" cy="1063688"/>
          </a:xfrm>
          <a:prstGeom prst="straightConnector1">
            <a:avLst/>
          </a:prstGeom>
          <a:ln w="28575">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B8BAB0D-A690-2240-913F-DA35C985B9C5}"/>
              </a:ext>
            </a:extLst>
          </p:cNvPr>
          <p:cNvCxnSpPr>
            <a:cxnSpLocks/>
          </p:cNvCxnSpPr>
          <p:nvPr/>
        </p:nvCxnSpPr>
        <p:spPr>
          <a:xfrm flipV="1">
            <a:off x="3376496" y="4336905"/>
            <a:ext cx="4520407" cy="1088252"/>
          </a:xfrm>
          <a:prstGeom prst="straightConnector1">
            <a:avLst/>
          </a:prstGeom>
          <a:ln w="28575">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2BE0389-6201-764F-93EE-B67FD37A29C8}"/>
              </a:ext>
            </a:extLst>
          </p:cNvPr>
          <p:cNvCxnSpPr>
            <a:cxnSpLocks/>
          </p:cNvCxnSpPr>
          <p:nvPr/>
        </p:nvCxnSpPr>
        <p:spPr>
          <a:xfrm flipV="1">
            <a:off x="3376496" y="4351116"/>
            <a:ext cx="6989625" cy="1074040"/>
          </a:xfrm>
          <a:prstGeom prst="straightConnector1">
            <a:avLst/>
          </a:prstGeom>
          <a:ln w="28575">
            <a:solidFill>
              <a:srgbClr val="0070C0"/>
            </a:solidFill>
            <a:tailEnd type="triangle"/>
          </a:ln>
        </p:spPr>
        <p:style>
          <a:lnRef idx="2">
            <a:schemeClr val="accent1"/>
          </a:lnRef>
          <a:fillRef idx="0">
            <a:schemeClr val="accent1"/>
          </a:fillRef>
          <a:effectRef idx="1">
            <a:schemeClr val="accent1"/>
          </a:effectRef>
          <a:fontRef idx="minor">
            <a:schemeClr val="tx1"/>
          </a:fontRef>
        </p:style>
      </p:cxnSp>
      <p:grpSp>
        <p:nvGrpSpPr>
          <p:cNvPr id="29" name="Group 28">
            <a:extLst>
              <a:ext uri="{FF2B5EF4-FFF2-40B4-BE49-F238E27FC236}">
                <a16:creationId xmlns:a16="http://schemas.microsoft.com/office/drawing/2014/main" id="{9E01EC01-449B-CE4C-BB77-A4036EB437CB}"/>
              </a:ext>
            </a:extLst>
          </p:cNvPr>
          <p:cNvGrpSpPr/>
          <p:nvPr/>
        </p:nvGrpSpPr>
        <p:grpSpPr>
          <a:xfrm>
            <a:off x="1303334" y="2593545"/>
            <a:ext cx="1914816" cy="1590524"/>
            <a:chOff x="581181" y="1611884"/>
            <a:chExt cx="1436112" cy="1192894"/>
          </a:xfrm>
        </p:grpSpPr>
        <p:grpSp>
          <p:nvGrpSpPr>
            <p:cNvPr id="70" name="Group 69">
              <a:extLst>
                <a:ext uri="{FF2B5EF4-FFF2-40B4-BE49-F238E27FC236}">
                  <a16:creationId xmlns:a16="http://schemas.microsoft.com/office/drawing/2014/main" id="{921DBFE7-2E8A-044A-A40E-FEBECC58DE50}"/>
                </a:ext>
              </a:extLst>
            </p:cNvPr>
            <p:cNvGrpSpPr/>
            <p:nvPr/>
          </p:nvGrpSpPr>
          <p:grpSpPr>
            <a:xfrm>
              <a:off x="581181" y="2098818"/>
              <a:ext cx="1197987" cy="705960"/>
              <a:chOff x="463550" y="760413"/>
              <a:chExt cx="1190386" cy="2218684"/>
            </a:xfrm>
          </p:grpSpPr>
          <p:sp>
            <p:nvSpPr>
              <p:cNvPr id="77" name="Rounded Rectangle 24">
                <a:extLst>
                  <a:ext uri="{FF2B5EF4-FFF2-40B4-BE49-F238E27FC236}">
                    <a16:creationId xmlns:a16="http://schemas.microsoft.com/office/drawing/2014/main" id="{68A5C870-14AF-0D42-8587-27D99044A7E9}"/>
                  </a:ext>
                </a:extLst>
              </p:cNvPr>
              <p:cNvSpPr/>
              <p:nvPr/>
            </p:nvSpPr>
            <p:spPr>
              <a:xfrm>
                <a:off x="463550" y="760413"/>
                <a:ext cx="1190386" cy="2218684"/>
              </a:xfrm>
              <a:prstGeom prst="roundRect">
                <a:avLst>
                  <a:gd name="adj" fmla="val 9818"/>
                </a:avLst>
              </a:prstGeom>
              <a:noFill/>
              <a:ln w="19050">
                <a:solidFill>
                  <a:schemeClr val="tx1"/>
                </a:solidFill>
                <a:prstDash val="lgDashDot"/>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8" name="TextBox 31">
                <a:extLst>
                  <a:ext uri="{FF2B5EF4-FFF2-40B4-BE49-F238E27FC236}">
                    <a16:creationId xmlns:a16="http://schemas.microsoft.com/office/drawing/2014/main" id="{8417C1FC-F1D4-3047-93A2-5E55720C0DB4}"/>
                  </a:ext>
                </a:extLst>
              </p:cNvPr>
              <p:cNvSpPr txBox="1">
                <a:spLocks noChangeArrowheads="1"/>
              </p:cNvSpPr>
              <p:nvPr/>
            </p:nvSpPr>
            <p:spPr bwMode="auto">
              <a:xfrm>
                <a:off x="556282" y="1869755"/>
                <a:ext cx="1004189" cy="1088187"/>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Auto Scaling group</a:t>
                </a:r>
              </a:p>
            </p:txBody>
          </p:sp>
        </p:grpSp>
        <p:pic>
          <p:nvPicPr>
            <p:cNvPr id="71" name="Picture 70">
              <a:extLst>
                <a:ext uri="{FF2B5EF4-FFF2-40B4-BE49-F238E27FC236}">
                  <a16:creationId xmlns:a16="http://schemas.microsoft.com/office/drawing/2014/main" id="{3D15F3AA-C603-2C4A-83A9-811D0AEF83A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0977" y="2151941"/>
              <a:ext cx="355546" cy="355546"/>
            </a:xfrm>
            <a:prstGeom prst="rect">
              <a:avLst/>
            </a:prstGeom>
          </p:spPr>
        </p:pic>
        <p:pic>
          <p:nvPicPr>
            <p:cNvPr id="72" name="Picture 71">
              <a:extLst>
                <a:ext uri="{FF2B5EF4-FFF2-40B4-BE49-F238E27FC236}">
                  <a16:creationId xmlns:a16="http://schemas.microsoft.com/office/drawing/2014/main" id="{195D4B56-7EF6-314E-B146-14AA66E1438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16561" y="2139590"/>
              <a:ext cx="355546" cy="355546"/>
            </a:xfrm>
            <a:prstGeom prst="rect">
              <a:avLst/>
            </a:prstGeom>
          </p:spPr>
        </p:pic>
        <p:cxnSp>
          <p:nvCxnSpPr>
            <p:cNvPr id="73" name="Straight Arrow Connector 72">
              <a:extLst>
                <a:ext uri="{FF2B5EF4-FFF2-40B4-BE49-F238E27FC236}">
                  <a16:creationId xmlns:a16="http://schemas.microsoft.com/office/drawing/2014/main" id="{3A81F5A9-5CF8-2742-AEFC-5488D7185F3E}"/>
                </a:ext>
              </a:extLst>
            </p:cNvPr>
            <p:cNvCxnSpPr>
              <a:endCxn id="71" idx="0"/>
            </p:cNvCxnSpPr>
            <p:nvPr/>
          </p:nvCxnSpPr>
          <p:spPr>
            <a:xfrm flipH="1">
              <a:off x="878750" y="1886852"/>
              <a:ext cx="310325" cy="265089"/>
            </a:xfrm>
            <a:prstGeom prst="straightConnector1">
              <a:avLst/>
            </a:prstGeom>
            <a:ln w="19050">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F6C39096-0FAC-B244-A307-2B6E642A0B94}"/>
                </a:ext>
              </a:extLst>
            </p:cNvPr>
            <p:cNvCxnSpPr>
              <a:endCxn id="72" idx="0"/>
            </p:cNvCxnSpPr>
            <p:nvPr/>
          </p:nvCxnSpPr>
          <p:spPr>
            <a:xfrm>
              <a:off x="1172110" y="1885507"/>
              <a:ext cx="322222" cy="254083"/>
            </a:xfrm>
            <a:prstGeom prst="straightConnector1">
              <a:avLst/>
            </a:prstGeom>
            <a:ln w="19050">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75" name="TextBox 22">
              <a:extLst>
                <a:ext uri="{FF2B5EF4-FFF2-40B4-BE49-F238E27FC236}">
                  <a16:creationId xmlns:a16="http://schemas.microsoft.com/office/drawing/2014/main" id="{8EE75F5B-5121-6B4A-96D3-67D0990B1791}"/>
                </a:ext>
              </a:extLst>
            </p:cNvPr>
            <p:cNvSpPr txBox="1"/>
            <p:nvPr/>
          </p:nvSpPr>
          <p:spPr>
            <a:xfrm>
              <a:off x="1333221" y="1621229"/>
              <a:ext cx="684072" cy="376930"/>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Load balancer</a:t>
              </a:r>
            </a:p>
          </p:txBody>
        </p:sp>
        <p:pic>
          <p:nvPicPr>
            <p:cNvPr id="76" name="Picture 75">
              <a:extLst>
                <a:ext uri="{FF2B5EF4-FFF2-40B4-BE49-F238E27FC236}">
                  <a16:creationId xmlns:a16="http://schemas.microsoft.com/office/drawing/2014/main" id="{F3F337C1-CFEB-1749-8605-A22928B17B8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7964" y="1611884"/>
              <a:ext cx="311695" cy="389729"/>
            </a:xfrm>
            <a:prstGeom prst="rect">
              <a:avLst/>
            </a:prstGeom>
          </p:spPr>
        </p:pic>
      </p:grpSp>
      <p:grpSp>
        <p:nvGrpSpPr>
          <p:cNvPr id="30" name="Group 29">
            <a:extLst>
              <a:ext uri="{FF2B5EF4-FFF2-40B4-BE49-F238E27FC236}">
                <a16:creationId xmlns:a16="http://schemas.microsoft.com/office/drawing/2014/main" id="{F898D6A7-E6D1-3348-AA5C-243529B849C7}"/>
              </a:ext>
            </a:extLst>
          </p:cNvPr>
          <p:cNvGrpSpPr/>
          <p:nvPr/>
        </p:nvGrpSpPr>
        <p:grpSpPr>
          <a:xfrm>
            <a:off x="3773426" y="2610303"/>
            <a:ext cx="1914816" cy="1590524"/>
            <a:chOff x="581181" y="1611884"/>
            <a:chExt cx="1436112" cy="1192894"/>
          </a:xfrm>
        </p:grpSpPr>
        <p:grpSp>
          <p:nvGrpSpPr>
            <p:cNvPr id="61" name="Group 60">
              <a:extLst>
                <a:ext uri="{FF2B5EF4-FFF2-40B4-BE49-F238E27FC236}">
                  <a16:creationId xmlns:a16="http://schemas.microsoft.com/office/drawing/2014/main" id="{876319AF-69CE-724E-8B5C-1095C1EC5A89}"/>
                </a:ext>
              </a:extLst>
            </p:cNvPr>
            <p:cNvGrpSpPr/>
            <p:nvPr/>
          </p:nvGrpSpPr>
          <p:grpSpPr>
            <a:xfrm>
              <a:off x="581181" y="2098818"/>
              <a:ext cx="1197987" cy="705960"/>
              <a:chOff x="463550" y="760413"/>
              <a:chExt cx="1190386" cy="2218684"/>
            </a:xfrm>
          </p:grpSpPr>
          <p:sp>
            <p:nvSpPr>
              <p:cNvPr id="68" name="Rounded Rectangle 34">
                <a:extLst>
                  <a:ext uri="{FF2B5EF4-FFF2-40B4-BE49-F238E27FC236}">
                    <a16:creationId xmlns:a16="http://schemas.microsoft.com/office/drawing/2014/main" id="{754A4DC0-F3CD-3543-9ACB-840738ECE1AD}"/>
                  </a:ext>
                </a:extLst>
              </p:cNvPr>
              <p:cNvSpPr/>
              <p:nvPr/>
            </p:nvSpPr>
            <p:spPr>
              <a:xfrm>
                <a:off x="463550" y="760413"/>
                <a:ext cx="1190386" cy="2218684"/>
              </a:xfrm>
              <a:prstGeom prst="roundRect">
                <a:avLst>
                  <a:gd name="adj" fmla="val 9818"/>
                </a:avLst>
              </a:prstGeom>
              <a:noFill/>
              <a:ln w="19050">
                <a:solidFill>
                  <a:schemeClr val="tx1"/>
                </a:solidFill>
                <a:prstDash val="lgDashDot"/>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9" name="TextBox 31">
                <a:extLst>
                  <a:ext uri="{FF2B5EF4-FFF2-40B4-BE49-F238E27FC236}">
                    <a16:creationId xmlns:a16="http://schemas.microsoft.com/office/drawing/2014/main" id="{96B0AE79-F52F-5C49-BEF5-79CD72D5962C}"/>
                  </a:ext>
                </a:extLst>
              </p:cNvPr>
              <p:cNvSpPr txBox="1">
                <a:spLocks noChangeArrowheads="1"/>
              </p:cNvSpPr>
              <p:nvPr/>
            </p:nvSpPr>
            <p:spPr bwMode="auto">
              <a:xfrm>
                <a:off x="556282" y="1869755"/>
                <a:ext cx="1004189" cy="1088187"/>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Auto Scaling group</a:t>
                </a:r>
              </a:p>
            </p:txBody>
          </p:sp>
        </p:grpSp>
        <p:pic>
          <p:nvPicPr>
            <p:cNvPr id="62" name="Picture 61">
              <a:extLst>
                <a:ext uri="{FF2B5EF4-FFF2-40B4-BE49-F238E27FC236}">
                  <a16:creationId xmlns:a16="http://schemas.microsoft.com/office/drawing/2014/main" id="{F819C486-0665-2840-8FCA-A16093DE88F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0977" y="2151941"/>
              <a:ext cx="355546" cy="355546"/>
            </a:xfrm>
            <a:prstGeom prst="rect">
              <a:avLst/>
            </a:prstGeom>
          </p:spPr>
        </p:pic>
        <p:pic>
          <p:nvPicPr>
            <p:cNvPr id="63" name="Picture 62">
              <a:extLst>
                <a:ext uri="{FF2B5EF4-FFF2-40B4-BE49-F238E27FC236}">
                  <a16:creationId xmlns:a16="http://schemas.microsoft.com/office/drawing/2014/main" id="{BC53CE0D-3559-BF46-9BD6-53F3DB4AEC1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16561" y="2139590"/>
              <a:ext cx="355546" cy="355546"/>
            </a:xfrm>
            <a:prstGeom prst="rect">
              <a:avLst/>
            </a:prstGeom>
          </p:spPr>
        </p:pic>
        <p:cxnSp>
          <p:nvCxnSpPr>
            <p:cNvPr id="64" name="Straight Arrow Connector 63">
              <a:extLst>
                <a:ext uri="{FF2B5EF4-FFF2-40B4-BE49-F238E27FC236}">
                  <a16:creationId xmlns:a16="http://schemas.microsoft.com/office/drawing/2014/main" id="{909FA67C-1638-5A4B-8322-182B2E180348}"/>
                </a:ext>
              </a:extLst>
            </p:cNvPr>
            <p:cNvCxnSpPr>
              <a:endCxn id="62" idx="0"/>
            </p:cNvCxnSpPr>
            <p:nvPr/>
          </p:nvCxnSpPr>
          <p:spPr>
            <a:xfrm flipH="1">
              <a:off x="878750" y="1886852"/>
              <a:ext cx="310325" cy="265089"/>
            </a:xfrm>
            <a:prstGeom prst="straightConnector1">
              <a:avLst/>
            </a:prstGeom>
            <a:ln w="19050">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EF652E6D-3AB6-D64A-A038-991EC9811C72}"/>
                </a:ext>
              </a:extLst>
            </p:cNvPr>
            <p:cNvCxnSpPr>
              <a:endCxn id="63" idx="0"/>
            </p:cNvCxnSpPr>
            <p:nvPr/>
          </p:nvCxnSpPr>
          <p:spPr>
            <a:xfrm>
              <a:off x="1172110" y="1885507"/>
              <a:ext cx="322222" cy="254083"/>
            </a:xfrm>
            <a:prstGeom prst="straightConnector1">
              <a:avLst/>
            </a:prstGeom>
            <a:ln w="19050">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66" name="TextBox 32">
              <a:extLst>
                <a:ext uri="{FF2B5EF4-FFF2-40B4-BE49-F238E27FC236}">
                  <a16:creationId xmlns:a16="http://schemas.microsoft.com/office/drawing/2014/main" id="{E525438A-D40C-CD49-8A1A-B9259ACADAC5}"/>
                </a:ext>
              </a:extLst>
            </p:cNvPr>
            <p:cNvSpPr txBox="1"/>
            <p:nvPr/>
          </p:nvSpPr>
          <p:spPr>
            <a:xfrm>
              <a:off x="1333221" y="1621229"/>
              <a:ext cx="684072" cy="376930"/>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Load balancer</a:t>
              </a:r>
            </a:p>
          </p:txBody>
        </p:sp>
        <p:pic>
          <p:nvPicPr>
            <p:cNvPr id="67" name="Picture 66">
              <a:extLst>
                <a:ext uri="{FF2B5EF4-FFF2-40B4-BE49-F238E27FC236}">
                  <a16:creationId xmlns:a16="http://schemas.microsoft.com/office/drawing/2014/main" id="{8D452063-17E6-D64D-9098-E315DF5E53B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7964" y="1611884"/>
              <a:ext cx="311695" cy="389729"/>
            </a:xfrm>
            <a:prstGeom prst="rect">
              <a:avLst/>
            </a:prstGeom>
          </p:spPr>
        </p:pic>
      </p:grpSp>
      <p:grpSp>
        <p:nvGrpSpPr>
          <p:cNvPr id="31" name="Group 30">
            <a:extLst>
              <a:ext uri="{FF2B5EF4-FFF2-40B4-BE49-F238E27FC236}">
                <a16:creationId xmlns:a16="http://schemas.microsoft.com/office/drawing/2014/main" id="{9E588FF0-7FA9-B742-9786-177ED1285586}"/>
              </a:ext>
            </a:extLst>
          </p:cNvPr>
          <p:cNvGrpSpPr/>
          <p:nvPr/>
        </p:nvGrpSpPr>
        <p:grpSpPr>
          <a:xfrm>
            <a:off x="7194295" y="2606005"/>
            <a:ext cx="1914816" cy="1590524"/>
            <a:chOff x="581181" y="1611884"/>
            <a:chExt cx="1436112" cy="1192894"/>
          </a:xfrm>
        </p:grpSpPr>
        <p:grpSp>
          <p:nvGrpSpPr>
            <p:cNvPr id="52" name="Group 51">
              <a:extLst>
                <a:ext uri="{FF2B5EF4-FFF2-40B4-BE49-F238E27FC236}">
                  <a16:creationId xmlns:a16="http://schemas.microsoft.com/office/drawing/2014/main" id="{2736F7A5-4AA8-7943-B488-3F93F49C0311}"/>
                </a:ext>
              </a:extLst>
            </p:cNvPr>
            <p:cNvGrpSpPr/>
            <p:nvPr/>
          </p:nvGrpSpPr>
          <p:grpSpPr>
            <a:xfrm>
              <a:off x="581181" y="2098818"/>
              <a:ext cx="1197987" cy="705960"/>
              <a:chOff x="463550" y="760413"/>
              <a:chExt cx="1190386" cy="2218684"/>
            </a:xfrm>
          </p:grpSpPr>
          <p:sp>
            <p:nvSpPr>
              <p:cNvPr id="59" name="Rounded Rectangle 44">
                <a:extLst>
                  <a:ext uri="{FF2B5EF4-FFF2-40B4-BE49-F238E27FC236}">
                    <a16:creationId xmlns:a16="http://schemas.microsoft.com/office/drawing/2014/main" id="{77A18BB2-DD66-DC4E-8777-78FA8FEC4D02}"/>
                  </a:ext>
                </a:extLst>
              </p:cNvPr>
              <p:cNvSpPr/>
              <p:nvPr/>
            </p:nvSpPr>
            <p:spPr>
              <a:xfrm>
                <a:off x="463550" y="760413"/>
                <a:ext cx="1190386" cy="2218684"/>
              </a:xfrm>
              <a:prstGeom prst="roundRect">
                <a:avLst>
                  <a:gd name="adj" fmla="val 9818"/>
                </a:avLst>
              </a:prstGeom>
              <a:noFill/>
              <a:ln w="19050">
                <a:solidFill>
                  <a:schemeClr val="tx1"/>
                </a:solidFill>
                <a:prstDash val="lgDashDot"/>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0" name="TextBox 31">
                <a:extLst>
                  <a:ext uri="{FF2B5EF4-FFF2-40B4-BE49-F238E27FC236}">
                    <a16:creationId xmlns:a16="http://schemas.microsoft.com/office/drawing/2014/main" id="{77A7B19F-D262-814A-B7F6-191282A82324}"/>
                  </a:ext>
                </a:extLst>
              </p:cNvPr>
              <p:cNvSpPr txBox="1">
                <a:spLocks noChangeArrowheads="1"/>
              </p:cNvSpPr>
              <p:nvPr/>
            </p:nvSpPr>
            <p:spPr bwMode="auto">
              <a:xfrm>
                <a:off x="556282" y="1869755"/>
                <a:ext cx="1004189" cy="1088187"/>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Auto Scaling group</a:t>
                </a:r>
              </a:p>
            </p:txBody>
          </p:sp>
        </p:grpSp>
        <p:pic>
          <p:nvPicPr>
            <p:cNvPr id="53" name="Picture 52">
              <a:extLst>
                <a:ext uri="{FF2B5EF4-FFF2-40B4-BE49-F238E27FC236}">
                  <a16:creationId xmlns:a16="http://schemas.microsoft.com/office/drawing/2014/main" id="{5D8B64BA-B2E7-8545-B290-67178256F0C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0977" y="2151941"/>
              <a:ext cx="355546" cy="355546"/>
            </a:xfrm>
            <a:prstGeom prst="rect">
              <a:avLst/>
            </a:prstGeom>
          </p:spPr>
        </p:pic>
        <p:pic>
          <p:nvPicPr>
            <p:cNvPr id="54" name="Picture 53">
              <a:extLst>
                <a:ext uri="{FF2B5EF4-FFF2-40B4-BE49-F238E27FC236}">
                  <a16:creationId xmlns:a16="http://schemas.microsoft.com/office/drawing/2014/main" id="{902A8408-4840-A343-A6A9-5664518AAEC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16561" y="2139590"/>
              <a:ext cx="355546" cy="355546"/>
            </a:xfrm>
            <a:prstGeom prst="rect">
              <a:avLst/>
            </a:prstGeom>
          </p:spPr>
        </p:pic>
        <p:cxnSp>
          <p:nvCxnSpPr>
            <p:cNvPr id="55" name="Straight Arrow Connector 54">
              <a:extLst>
                <a:ext uri="{FF2B5EF4-FFF2-40B4-BE49-F238E27FC236}">
                  <a16:creationId xmlns:a16="http://schemas.microsoft.com/office/drawing/2014/main" id="{A9414903-E399-0D4F-8109-AC6C69F0528D}"/>
                </a:ext>
              </a:extLst>
            </p:cNvPr>
            <p:cNvCxnSpPr>
              <a:endCxn id="53" idx="0"/>
            </p:cNvCxnSpPr>
            <p:nvPr/>
          </p:nvCxnSpPr>
          <p:spPr>
            <a:xfrm flipH="1">
              <a:off x="878750" y="1886852"/>
              <a:ext cx="310325" cy="265089"/>
            </a:xfrm>
            <a:prstGeom prst="straightConnector1">
              <a:avLst/>
            </a:prstGeom>
            <a:ln w="19050">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B9ADDAA1-7B02-A64A-A4B2-2AE81F808C8B}"/>
                </a:ext>
              </a:extLst>
            </p:cNvPr>
            <p:cNvCxnSpPr>
              <a:endCxn id="54" idx="0"/>
            </p:cNvCxnSpPr>
            <p:nvPr/>
          </p:nvCxnSpPr>
          <p:spPr>
            <a:xfrm>
              <a:off x="1172110" y="1885507"/>
              <a:ext cx="322222" cy="254083"/>
            </a:xfrm>
            <a:prstGeom prst="straightConnector1">
              <a:avLst/>
            </a:prstGeom>
            <a:ln w="19050">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57" name="TextBox 42">
              <a:extLst>
                <a:ext uri="{FF2B5EF4-FFF2-40B4-BE49-F238E27FC236}">
                  <a16:creationId xmlns:a16="http://schemas.microsoft.com/office/drawing/2014/main" id="{E5A3FCA3-3958-5C4B-A149-5F67F55AC4B8}"/>
                </a:ext>
              </a:extLst>
            </p:cNvPr>
            <p:cNvSpPr txBox="1"/>
            <p:nvPr/>
          </p:nvSpPr>
          <p:spPr>
            <a:xfrm>
              <a:off x="1333221" y="1621229"/>
              <a:ext cx="684072" cy="376930"/>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Load balancer</a:t>
              </a:r>
            </a:p>
          </p:txBody>
        </p:sp>
        <p:pic>
          <p:nvPicPr>
            <p:cNvPr id="58" name="Picture 57">
              <a:extLst>
                <a:ext uri="{FF2B5EF4-FFF2-40B4-BE49-F238E27FC236}">
                  <a16:creationId xmlns:a16="http://schemas.microsoft.com/office/drawing/2014/main" id="{A4082A29-EC7B-654A-8056-EB0A69B499B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7964" y="1611884"/>
              <a:ext cx="311695" cy="389729"/>
            </a:xfrm>
            <a:prstGeom prst="rect">
              <a:avLst/>
            </a:prstGeom>
          </p:spPr>
        </p:pic>
      </p:grpSp>
      <p:grpSp>
        <p:nvGrpSpPr>
          <p:cNvPr id="32" name="Group 31">
            <a:extLst>
              <a:ext uri="{FF2B5EF4-FFF2-40B4-BE49-F238E27FC236}">
                <a16:creationId xmlns:a16="http://schemas.microsoft.com/office/drawing/2014/main" id="{0AE8476F-03F0-5242-A3F9-2AB95E3FA772}"/>
              </a:ext>
            </a:extLst>
          </p:cNvPr>
          <p:cNvGrpSpPr/>
          <p:nvPr/>
        </p:nvGrpSpPr>
        <p:grpSpPr>
          <a:xfrm>
            <a:off x="9657757" y="2607337"/>
            <a:ext cx="1914816" cy="1590524"/>
            <a:chOff x="581181" y="1611884"/>
            <a:chExt cx="1436112" cy="1192894"/>
          </a:xfrm>
        </p:grpSpPr>
        <p:grpSp>
          <p:nvGrpSpPr>
            <p:cNvPr id="43" name="Group 42">
              <a:extLst>
                <a:ext uri="{FF2B5EF4-FFF2-40B4-BE49-F238E27FC236}">
                  <a16:creationId xmlns:a16="http://schemas.microsoft.com/office/drawing/2014/main" id="{8B9A0CDC-B517-FA4F-B60B-21D8F91D3AC9}"/>
                </a:ext>
              </a:extLst>
            </p:cNvPr>
            <p:cNvGrpSpPr/>
            <p:nvPr/>
          </p:nvGrpSpPr>
          <p:grpSpPr>
            <a:xfrm>
              <a:off x="581181" y="2098818"/>
              <a:ext cx="1197987" cy="705960"/>
              <a:chOff x="463550" y="760413"/>
              <a:chExt cx="1190386" cy="2218684"/>
            </a:xfrm>
          </p:grpSpPr>
          <p:sp>
            <p:nvSpPr>
              <p:cNvPr id="50" name="Rounded Rectangle 54">
                <a:extLst>
                  <a:ext uri="{FF2B5EF4-FFF2-40B4-BE49-F238E27FC236}">
                    <a16:creationId xmlns:a16="http://schemas.microsoft.com/office/drawing/2014/main" id="{0CDDD4F4-FAA8-8E42-A677-2C2C9D1E449B}"/>
                  </a:ext>
                </a:extLst>
              </p:cNvPr>
              <p:cNvSpPr/>
              <p:nvPr/>
            </p:nvSpPr>
            <p:spPr>
              <a:xfrm>
                <a:off x="463550" y="760413"/>
                <a:ext cx="1190386" cy="2218684"/>
              </a:xfrm>
              <a:prstGeom prst="roundRect">
                <a:avLst>
                  <a:gd name="adj" fmla="val 9818"/>
                </a:avLst>
              </a:prstGeom>
              <a:noFill/>
              <a:ln w="19050">
                <a:solidFill>
                  <a:schemeClr val="tx1"/>
                </a:solidFill>
                <a:prstDash val="lgDashDot"/>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51" name="TextBox 31">
                <a:extLst>
                  <a:ext uri="{FF2B5EF4-FFF2-40B4-BE49-F238E27FC236}">
                    <a16:creationId xmlns:a16="http://schemas.microsoft.com/office/drawing/2014/main" id="{2AB8D939-E941-9D49-9FBC-90FE2AC574A6}"/>
                  </a:ext>
                </a:extLst>
              </p:cNvPr>
              <p:cNvSpPr txBox="1">
                <a:spLocks noChangeArrowheads="1"/>
              </p:cNvSpPr>
              <p:nvPr/>
            </p:nvSpPr>
            <p:spPr bwMode="auto">
              <a:xfrm>
                <a:off x="556282" y="1869755"/>
                <a:ext cx="1004189" cy="1088187"/>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Auto Scaling group</a:t>
                </a:r>
              </a:p>
            </p:txBody>
          </p:sp>
        </p:grpSp>
        <p:pic>
          <p:nvPicPr>
            <p:cNvPr id="44" name="Picture 43">
              <a:extLst>
                <a:ext uri="{FF2B5EF4-FFF2-40B4-BE49-F238E27FC236}">
                  <a16:creationId xmlns:a16="http://schemas.microsoft.com/office/drawing/2014/main" id="{3F49C10C-E5EC-F94A-9A2F-2559FC73EC3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0977" y="2151941"/>
              <a:ext cx="355546" cy="355546"/>
            </a:xfrm>
            <a:prstGeom prst="rect">
              <a:avLst/>
            </a:prstGeom>
          </p:spPr>
        </p:pic>
        <p:pic>
          <p:nvPicPr>
            <p:cNvPr id="45" name="Picture 44">
              <a:extLst>
                <a:ext uri="{FF2B5EF4-FFF2-40B4-BE49-F238E27FC236}">
                  <a16:creationId xmlns:a16="http://schemas.microsoft.com/office/drawing/2014/main" id="{60A44470-18FC-EF4F-A130-6B5FFF98374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16561" y="2139590"/>
              <a:ext cx="355546" cy="355546"/>
            </a:xfrm>
            <a:prstGeom prst="rect">
              <a:avLst/>
            </a:prstGeom>
          </p:spPr>
        </p:pic>
        <p:cxnSp>
          <p:nvCxnSpPr>
            <p:cNvPr id="46" name="Straight Arrow Connector 45">
              <a:extLst>
                <a:ext uri="{FF2B5EF4-FFF2-40B4-BE49-F238E27FC236}">
                  <a16:creationId xmlns:a16="http://schemas.microsoft.com/office/drawing/2014/main" id="{B36229AF-FF16-FA42-8E9D-CA9724BF08A6}"/>
                </a:ext>
              </a:extLst>
            </p:cNvPr>
            <p:cNvCxnSpPr>
              <a:endCxn id="44" idx="0"/>
            </p:cNvCxnSpPr>
            <p:nvPr/>
          </p:nvCxnSpPr>
          <p:spPr>
            <a:xfrm flipH="1">
              <a:off x="878750" y="1886852"/>
              <a:ext cx="310325" cy="265089"/>
            </a:xfrm>
            <a:prstGeom prst="straightConnector1">
              <a:avLst/>
            </a:prstGeom>
            <a:ln w="19050">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0DDACFDF-8AFB-F947-8859-D2B1C2D9BB06}"/>
                </a:ext>
              </a:extLst>
            </p:cNvPr>
            <p:cNvCxnSpPr>
              <a:endCxn id="45" idx="0"/>
            </p:cNvCxnSpPr>
            <p:nvPr/>
          </p:nvCxnSpPr>
          <p:spPr>
            <a:xfrm>
              <a:off x="1172110" y="1885507"/>
              <a:ext cx="322222" cy="254083"/>
            </a:xfrm>
            <a:prstGeom prst="straightConnector1">
              <a:avLst/>
            </a:prstGeom>
            <a:ln w="19050">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52">
              <a:extLst>
                <a:ext uri="{FF2B5EF4-FFF2-40B4-BE49-F238E27FC236}">
                  <a16:creationId xmlns:a16="http://schemas.microsoft.com/office/drawing/2014/main" id="{74E75CB1-8340-DE4B-9743-1D2DE5C23CB4}"/>
                </a:ext>
              </a:extLst>
            </p:cNvPr>
            <p:cNvSpPr txBox="1"/>
            <p:nvPr/>
          </p:nvSpPr>
          <p:spPr>
            <a:xfrm>
              <a:off x="1333221" y="1621229"/>
              <a:ext cx="684072" cy="376930"/>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333" dirty="0">
                  <a:latin typeface="Amazon Ember Light" panose="020B0403020204020204" pitchFamily="34" charset="0"/>
                  <a:ea typeface="Amazon Ember Light" panose="020B0403020204020204" pitchFamily="34" charset="0"/>
                  <a:cs typeface="Amazon Ember Light" panose="020B0403020204020204" pitchFamily="34" charset="0"/>
                </a:rPr>
                <a:t>Load balancer</a:t>
              </a:r>
            </a:p>
          </p:txBody>
        </p:sp>
        <p:pic>
          <p:nvPicPr>
            <p:cNvPr id="49" name="Picture 48">
              <a:extLst>
                <a:ext uri="{FF2B5EF4-FFF2-40B4-BE49-F238E27FC236}">
                  <a16:creationId xmlns:a16="http://schemas.microsoft.com/office/drawing/2014/main" id="{96D18426-6592-C640-A7A0-F2C43BC6E56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7964" y="1611884"/>
              <a:ext cx="311695" cy="389729"/>
            </a:xfrm>
            <a:prstGeom prst="rect">
              <a:avLst/>
            </a:prstGeom>
          </p:spPr>
        </p:pic>
      </p:grpSp>
      <p:pic>
        <p:nvPicPr>
          <p:cNvPr id="33" name="Picture 32">
            <a:extLst>
              <a:ext uri="{FF2B5EF4-FFF2-40B4-BE49-F238E27FC236}">
                <a16:creationId xmlns:a16="http://schemas.microsoft.com/office/drawing/2014/main" id="{A0FDB465-DFAE-7F48-B6ED-B3C1A16DB4D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983925" y="5425156"/>
            <a:ext cx="844215" cy="844214"/>
          </a:xfrm>
          <a:prstGeom prst="rect">
            <a:avLst/>
          </a:prstGeom>
        </p:spPr>
      </p:pic>
      <p:grpSp>
        <p:nvGrpSpPr>
          <p:cNvPr id="34" name="Group 33">
            <a:extLst>
              <a:ext uri="{FF2B5EF4-FFF2-40B4-BE49-F238E27FC236}">
                <a16:creationId xmlns:a16="http://schemas.microsoft.com/office/drawing/2014/main" id="{86C056C8-450E-194C-92BE-11E52FB536DE}"/>
              </a:ext>
            </a:extLst>
          </p:cNvPr>
          <p:cNvGrpSpPr/>
          <p:nvPr/>
        </p:nvGrpSpPr>
        <p:grpSpPr>
          <a:xfrm>
            <a:off x="4561331" y="5408099"/>
            <a:ext cx="2984886" cy="641696"/>
            <a:chOff x="4360895" y="5083000"/>
            <a:chExt cx="2984886" cy="641696"/>
          </a:xfrm>
        </p:grpSpPr>
        <p:sp>
          <p:nvSpPr>
            <p:cNvPr id="40" name="Rounded Rectangle 58">
              <a:extLst>
                <a:ext uri="{FF2B5EF4-FFF2-40B4-BE49-F238E27FC236}">
                  <a16:creationId xmlns:a16="http://schemas.microsoft.com/office/drawing/2014/main" id="{686EC07A-AE3F-524E-89A3-3BC65B205551}"/>
                </a:ext>
              </a:extLst>
            </p:cNvPr>
            <p:cNvSpPr/>
            <p:nvPr/>
          </p:nvSpPr>
          <p:spPr bwMode="auto">
            <a:xfrm>
              <a:off x="4360895" y="5083000"/>
              <a:ext cx="2976693" cy="641696"/>
            </a:xfrm>
            <a:prstGeom prst="roundRect">
              <a:avLst>
                <a:gd name="adj" fmla="val 9818"/>
              </a:avLst>
            </a:prstGeom>
            <a:noFill/>
            <a:ln w="34925">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41" name="Rounded Rectangle 59">
              <a:extLst>
                <a:ext uri="{FF2B5EF4-FFF2-40B4-BE49-F238E27FC236}">
                  <a16:creationId xmlns:a16="http://schemas.microsoft.com/office/drawing/2014/main" id="{9D839BCF-35B7-494E-B264-87E22408DD28}"/>
                </a:ext>
              </a:extLst>
            </p:cNvPr>
            <p:cNvSpPr/>
            <p:nvPr/>
          </p:nvSpPr>
          <p:spPr bwMode="auto">
            <a:xfrm>
              <a:off x="4360895" y="5085726"/>
              <a:ext cx="2976694" cy="638970"/>
            </a:xfrm>
            <a:prstGeom prst="roundRect">
              <a:avLst>
                <a:gd name="adj" fmla="val 9818"/>
              </a:avLst>
            </a:prstGeom>
            <a:noFill/>
            <a:ln w="34925">
              <a:solidFill>
                <a:srgbClr val="FF000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42" name="TextBox 60">
              <a:extLst>
                <a:ext uri="{FF2B5EF4-FFF2-40B4-BE49-F238E27FC236}">
                  <a16:creationId xmlns:a16="http://schemas.microsoft.com/office/drawing/2014/main" id="{F5791371-B745-E040-9641-0546C1DE8FAC}"/>
                </a:ext>
              </a:extLst>
            </p:cNvPr>
            <p:cNvSpPr txBox="1"/>
            <p:nvPr/>
          </p:nvSpPr>
          <p:spPr>
            <a:xfrm>
              <a:off x="4383516" y="5279177"/>
              <a:ext cx="2962265" cy="256742"/>
            </a:xfrm>
            <a:prstGeom prst="rect">
              <a:avLst/>
            </a:prstGeom>
            <a:noFill/>
          </p:spPr>
          <p:txBody>
            <a:bodyPr wrap="square" lIns="0" tIns="0" rIns="0" bIns="0" rtlCol="0" anchor="t">
              <a:no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400" dirty="0">
                  <a:latin typeface="Amazon Ember Light" panose="020B0403020204020204" pitchFamily="34" charset="0"/>
                  <a:ea typeface="Amazon Ember Light" panose="020B0403020204020204" pitchFamily="34" charset="0"/>
                  <a:cs typeface="Amazon Ember Light" panose="020B0403020204020204" pitchFamily="34" charset="0"/>
                </a:rPr>
                <a:t>Updated with new security groups</a:t>
              </a:r>
              <a:endParaRPr lang="en-US" sz="2667"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35" name="Left Arrow 61">
            <a:extLst>
              <a:ext uri="{FF2B5EF4-FFF2-40B4-BE49-F238E27FC236}">
                <a16:creationId xmlns:a16="http://schemas.microsoft.com/office/drawing/2014/main" id="{8465DF93-5C54-7A4E-9698-779DED2E0269}"/>
              </a:ext>
            </a:extLst>
          </p:cNvPr>
          <p:cNvSpPr/>
          <p:nvPr/>
        </p:nvSpPr>
        <p:spPr>
          <a:xfrm>
            <a:off x="3855223" y="5479662"/>
            <a:ext cx="613553" cy="542743"/>
          </a:xfrm>
          <a:prstGeom prst="leftArrow">
            <a:avLst/>
          </a:prstGeom>
          <a:solidFill>
            <a:srgbClr val="4F81BD"/>
          </a:solidFill>
          <a:ln>
            <a:solidFill>
              <a:schemeClr val="accent3">
                <a:lumMod val="75000"/>
              </a:schemeClr>
            </a:solidFill>
          </a:ln>
        </p:spPr>
        <p:style>
          <a:lnRef idx="1">
            <a:schemeClr val="accent2"/>
          </a:lnRef>
          <a:fillRef idx="3">
            <a:schemeClr val="accent2"/>
          </a:fillRef>
          <a:effectRef idx="2">
            <a:schemeClr val="accent2"/>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sz="2400" dirty="0">
              <a:solidFill>
                <a:schemeClr val="accent2"/>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6" name="Rounded Rectangle 62">
            <a:extLst>
              <a:ext uri="{FF2B5EF4-FFF2-40B4-BE49-F238E27FC236}">
                <a16:creationId xmlns:a16="http://schemas.microsoft.com/office/drawing/2014/main" id="{4D4F8A0E-07E6-CD4D-B232-893251BEAB51}"/>
              </a:ext>
            </a:extLst>
          </p:cNvPr>
          <p:cNvSpPr/>
          <p:nvPr/>
        </p:nvSpPr>
        <p:spPr bwMode="auto">
          <a:xfrm>
            <a:off x="1427766" y="3304841"/>
            <a:ext cx="1351957" cy="641696"/>
          </a:xfrm>
          <a:prstGeom prst="roundRect">
            <a:avLst>
              <a:gd name="adj" fmla="val 9818"/>
            </a:avLst>
          </a:prstGeom>
          <a:noFill/>
          <a:ln w="19050">
            <a:solidFill>
              <a:srgbClr val="FF000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7" name="Rounded Rectangle 63">
            <a:extLst>
              <a:ext uri="{FF2B5EF4-FFF2-40B4-BE49-F238E27FC236}">
                <a16:creationId xmlns:a16="http://schemas.microsoft.com/office/drawing/2014/main" id="{037DC409-3EA8-6C44-9FB2-A9ECB20D0546}"/>
              </a:ext>
            </a:extLst>
          </p:cNvPr>
          <p:cNvSpPr/>
          <p:nvPr/>
        </p:nvSpPr>
        <p:spPr bwMode="auto">
          <a:xfrm>
            <a:off x="3902035" y="3324125"/>
            <a:ext cx="1351957" cy="641696"/>
          </a:xfrm>
          <a:prstGeom prst="roundRect">
            <a:avLst>
              <a:gd name="adj" fmla="val 9818"/>
            </a:avLst>
          </a:prstGeom>
          <a:noFill/>
          <a:ln w="19050">
            <a:solidFill>
              <a:srgbClr val="FF000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8" name="Rounded Rectangle 64">
            <a:extLst>
              <a:ext uri="{FF2B5EF4-FFF2-40B4-BE49-F238E27FC236}">
                <a16:creationId xmlns:a16="http://schemas.microsoft.com/office/drawing/2014/main" id="{D2668B26-4C60-BB48-B9B4-521EA875A8D4}"/>
              </a:ext>
            </a:extLst>
          </p:cNvPr>
          <p:cNvSpPr/>
          <p:nvPr/>
        </p:nvSpPr>
        <p:spPr bwMode="auto">
          <a:xfrm>
            <a:off x="7314238" y="3324104"/>
            <a:ext cx="1351957" cy="641696"/>
          </a:xfrm>
          <a:prstGeom prst="roundRect">
            <a:avLst>
              <a:gd name="adj" fmla="val 9818"/>
            </a:avLst>
          </a:prstGeom>
          <a:noFill/>
          <a:ln w="19050">
            <a:solidFill>
              <a:srgbClr val="FF000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9" name="Rounded Rectangle 65">
            <a:extLst>
              <a:ext uri="{FF2B5EF4-FFF2-40B4-BE49-F238E27FC236}">
                <a16:creationId xmlns:a16="http://schemas.microsoft.com/office/drawing/2014/main" id="{C8107EEC-60DF-EC41-BF44-50A623C7AD6A}"/>
              </a:ext>
            </a:extLst>
          </p:cNvPr>
          <p:cNvSpPr/>
          <p:nvPr/>
        </p:nvSpPr>
        <p:spPr bwMode="auto">
          <a:xfrm>
            <a:off x="9785259" y="3333974"/>
            <a:ext cx="1351957" cy="641696"/>
          </a:xfrm>
          <a:prstGeom prst="roundRect">
            <a:avLst>
              <a:gd name="adj" fmla="val 9818"/>
            </a:avLst>
          </a:prstGeom>
          <a:noFill/>
          <a:ln w="19050">
            <a:solidFill>
              <a:srgbClr val="FF0000"/>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1584696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82055850-43BC-2442-89C1-945CC0F55F4A}"/>
              </a:ext>
            </a:extLst>
          </p:cNvPr>
          <p:cNvSpPr>
            <a:spLocks noGrp="1"/>
          </p:cNvSpPr>
          <p:nvPr/>
        </p:nvSpPr>
        <p:spPr>
          <a:xfrm>
            <a:off x="473347" y="338610"/>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a:solidFill>
                  <a:schemeClr val="tx1"/>
                </a:solidFill>
              </a:rPr>
              <a:t>AWS CloudFormation Conditions</a:t>
            </a:r>
          </a:p>
        </p:txBody>
      </p:sp>
      <p:grpSp>
        <p:nvGrpSpPr>
          <p:cNvPr id="10" name="Group 9">
            <a:extLst>
              <a:ext uri="{FF2B5EF4-FFF2-40B4-BE49-F238E27FC236}">
                <a16:creationId xmlns:a16="http://schemas.microsoft.com/office/drawing/2014/main" id="{3E927A86-37C2-0843-882C-ABFC0C091C29}"/>
              </a:ext>
            </a:extLst>
          </p:cNvPr>
          <p:cNvGrpSpPr/>
          <p:nvPr/>
        </p:nvGrpSpPr>
        <p:grpSpPr>
          <a:xfrm>
            <a:off x="8436674" y="2304751"/>
            <a:ext cx="3221645" cy="4154239"/>
            <a:chOff x="2549525" y="717916"/>
            <a:chExt cx="1689100" cy="1776047"/>
          </a:xfrm>
          <a:solidFill>
            <a:schemeClr val="bg1"/>
          </a:solidFill>
        </p:grpSpPr>
        <p:sp>
          <p:nvSpPr>
            <p:cNvPr id="102" name="Rounded Rectangle 50">
              <a:extLst>
                <a:ext uri="{FF2B5EF4-FFF2-40B4-BE49-F238E27FC236}">
                  <a16:creationId xmlns:a16="http://schemas.microsoft.com/office/drawing/2014/main" id="{FC132E1B-A4DD-0943-9A28-DB8581C5DB04}"/>
                </a:ext>
              </a:extLst>
            </p:cNvPr>
            <p:cNvSpPr/>
            <p:nvPr/>
          </p:nvSpPr>
          <p:spPr>
            <a:xfrm>
              <a:off x="2549525" y="717916"/>
              <a:ext cx="1689100" cy="1776047"/>
            </a:xfrm>
            <a:prstGeom prst="roundRect">
              <a:avLst>
                <a:gd name="adj" fmla="val 9818"/>
              </a:avLst>
            </a:prstGeom>
            <a:grp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3" name="TextBox 32">
              <a:extLst>
                <a:ext uri="{FF2B5EF4-FFF2-40B4-BE49-F238E27FC236}">
                  <a16:creationId xmlns:a16="http://schemas.microsoft.com/office/drawing/2014/main" id="{E1EF3F14-B349-F947-AB80-02DA93E7D694}"/>
                </a:ext>
              </a:extLst>
            </p:cNvPr>
            <p:cNvSpPr txBox="1">
              <a:spLocks noChangeArrowheads="1"/>
            </p:cNvSpPr>
            <p:nvPr/>
          </p:nvSpPr>
          <p:spPr bwMode="auto">
            <a:xfrm>
              <a:off x="2864755" y="2357572"/>
              <a:ext cx="1105532" cy="126977"/>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330" dirty="0">
                  <a:solidFill>
                    <a:srgbClr val="F7981F"/>
                  </a:solidFill>
                  <a:latin typeface="Amazon Ember Medium" panose="020B0603020204020204" pitchFamily="34" charset="0"/>
                  <a:ea typeface="Amazon Ember Medium" panose="020B0603020204020204" pitchFamily="34" charset="0"/>
                  <a:cs typeface="Amazon Ember Medium" panose="020B0603020204020204" pitchFamily="34" charset="0"/>
                </a:rPr>
                <a:t>Availability Zone a </a:t>
              </a:r>
            </a:p>
          </p:txBody>
        </p:sp>
      </p:grpSp>
      <p:sp>
        <p:nvSpPr>
          <p:cNvPr id="11" name="Rounded Rectangle 19">
            <a:extLst>
              <a:ext uri="{FF2B5EF4-FFF2-40B4-BE49-F238E27FC236}">
                <a16:creationId xmlns:a16="http://schemas.microsoft.com/office/drawing/2014/main" id="{5582EC42-7438-2142-8F9C-4F549C2F2C74}"/>
              </a:ext>
            </a:extLst>
          </p:cNvPr>
          <p:cNvSpPr/>
          <p:nvPr/>
        </p:nvSpPr>
        <p:spPr>
          <a:xfrm>
            <a:off x="8145450" y="2101159"/>
            <a:ext cx="3724959" cy="4418231"/>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3" name="TextBox 37">
            <a:extLst>
              <a:ext uri="{FF2B5EF4-FFF2-40B4-BE49-F238E27FC236}">
                <a16:creationId xmlns:a16="http://schemas.microsoft.com/office/drawing/2014/main" id="{1B81A2E6-DC60-8244-B426-8318C4672BBF}"/>
              </a:ext>
            </a:extLst>
          </p:cNvPr>
          <p:cNvSpPr txBox="1">
            <a:spLocks noChangeArrowheads="1"/>
          </p:cNvSpPr>
          <p:nvPr/>
        </p:nvSpPr>
        <p:spPr bwMode="auto">
          <a:xfrm>
            <a:off x="9958166" y="5386542"/>
            <a:ext cx="1416873" cy="461665"/>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RDS (Primary)</a:t>
            </a:r>
          </a:p>
        </p:txBody>
      </p:sp>
      <p:cxnSp>
        <p:nvCxnSpPr>
          <p:cNvPr id="17" name="Straight Connector 16">
            <a:extLst>
              <a:ext uri="{FF2B5EF4-FFF2-40B4-BE49-F238E27FC236}">
                <a16:creationId xmlns:a16="http://schemas.microsoft.com/office/drawing/2014/main" id="{D9D33137-AA1D-3248-AEBF-FD7CBDE35CD7}"/>
              </a:ext>
            </a:extLst>
          </p:cNvPr>
          <p:cNvCxnSpPr/>
          <p:nvPr/>
        </p:nvCxnSpPr>
        <p:spPr>
          <a:xfrm>
            <a:off x="9978026" y="1620262"/>
            <a:ext cx="9604" cy="560495"/>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CAF0918F-96FF-7740-8E6D-4317A6152D4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716049" y="1279162"/>
            <a:ext cx="578665" cy="578665"/>
          </a:xfrm>
          <a:prstGeom prst="rect">
            <a:avLst/>
          </a:prstGeom>
        </p:spPr>
      </p:pic>
      <p:cxnSp>
        <p:nvCxnSpPr>
          <p:cNvPr id="19" name="Straight Connector 18">
            <a:extLst>
              <a:ext uri="{FF2B5EF4-FFF2-40B4-BE49-F238E27FC236}">
                <a16:creationId xmlns:a16="http://schemas.microsoft.com/office/drawing/2014/main" id="{051B451A-4B8A-8C49-B62D-E93A3F180619}"/>
              </a:ext>
            </a:extLst>
          </p:cNvPr>
          <p:cNvCxnSpPr>
            <a:cxnSpLocks/>
          </p:cNvCxnSpPr>
          <p:nvPr/>
        </p:nvCxnSpPr>
        <p:spPr>
          <a:xfrm>
            <a:off x="9177719" y="4459629"/>
            <a:ext cx="790532" cy="1078105"/>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211CABFD-6C43-B442-ADB1-7E5EBE86059D}"/>
              </a:ext>
            </a:extLst>
          </p:cNvPr>
          <p:cNvCxnSpPr>
            <a:cxnSpLocks/>
          </p:cNvCxnSpPr>
          <p:nvPr/>
        </p:nvCxnSpPr>
        <p:spPr>
          <a:xfrm>
            <a:off x="10015439" y="4757008"/>
            <a:ext cx="0" cy="780726"/>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CAE0FA10-5DBB-F247-AB6C-5EB8711FA048}"/>
              </a:ext>
            </a:extLst>
          </p:cNvPr>
          <p:cNvCxnSpPr>
            <a:cxnSpLocks/>
          </p:cNvCxnSpPr>
          <p:nvPr/>
        </p:nvCxnSpPr>
        <p:spPr>
          <a:xfrm flipH="1">
            <a:off x="10030018" y="4493131"/>
            <a:ext cx="767523" cy="1027340"/>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sp>
        <p:nvSpPr>
          <p:cNvPr id="22" name="Rounded Rectangle 27">
            <a:extLst>
              <a:ext uri="{FF2B5EF4-FFF2-40B4-BE49-F238E27FC236}">
                <a16:creationId xmlns:a16="http://schemas.microsoft.com/office/drawing/2014/main" id="{8CF0CD1B-4D0C-B94B-A845-599E9E7F264F}"/>
              </a:ext>
            </a:extLst>
          </p:cNvPr>
          <p:cNvSpPr/>
          <p:nvPr/>
        </p:nvSpPr>
        <p:spPr>
          <a:xfrm>
            <a:off x="8693013" y="2597287"/>
            <a:ext cx="2611792" cy="845173"/>
          </a:xfrm>
          <a:prstGeom prst="roundRect">
            <a:avLst>
              <a:gd name="adj" fmla="val 9818"/>
            </a:avLst>
          </a:prstGeom>
          <a:noFill/>
          <a:ln w="19050">
            <a:solidFill>
              <a:schemeClr val="tx1"/>
            </a:solidFill>
            <a:prstDash val="lgDashDot"/>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3" name="Rounded Rectangle 28">
            <a:extLst>
              <a:ext uri="{FF2B5EF4-FFF2-40B4-BE49-F238E27FC236}">
                <a16:creationId xmlns:a16="http://schemas.microsoft.com/office/drawing/2014/main" id="{02B780FA-3D22-F642-B292-C1098E94CAFB}"/>
              </a:ext>
            </a:extLst>
          </p:cNvPr>
          <p:cNvSpPr/>
          <p:nvPr/>
        </p:nvSpPr>
        <p:spPr>
          <a:xfrm>
            <a:off x="8693013" y="4058150"/>
            <a:ext cx="2611792" cy="846631"/>
          </a:xfrm>
          <a:prstGeom prst="roundRect">
            <a:avLst>
              <a:gd name="adj" fmla="val 9818"/>
            </a:avLst>
          </a:prstGeom>
          <a:noFill/>
          <a:ln w="19050">
            <a:solidFill>
              <a:schemeClr val="tx1"/>
            </a:solidFill>
            <a:prstDash val="lgDashDot"/>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cxnSp>
        <p:nvCxnSpPr>
          <p:cNvPr id="24" name="Straight Connector 23">
            <a:extLst>
              <a:ext uri="{FF2B5EF4-FFF2-40B4-BE49-F238E27FC236}">
                <a16:creationId xmlns:a16="http://schemas.microsoft.com/office/drawing/2014/main" id="{83A45CE7-6226-3F47-B265-AB90C4C4E46B}"/>
              </a:ext>
            </a:extLst>
          </p:cNvPr>
          <p:cNvCxnSpPr>
            <a:cxnSpLocks/>
          </p:cNvCxnSpPr>
          <p:nvPr/>
        </p:nvCxnSpPr>
        <p:spPr>
          <a:xfrm flipH="1">
            <a:off x="9394227" y="2202246"/>
            <a:ext cx="593404" cy="858543"/>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588436E5-D7E5-9A4F-AA78-631DA8F6AE01}"/>
              </a:ext>
            </a:extLst>
          </p:cNvPr>
          <p:cNvCxnSpPr>
            <a:cxnSpLocks/>
          </p:cNvCxnSpPr>
          <p:nvPr/>
        </p:nvCxnSpPr>
        <p:spPr>
          <a:xfrm>
            <a:off x="10022727" y="2225152"/>
            <a:ext cx="571865" cy="835637"/>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D574707D-0F0D-9840-BBF5-D5235D66DDEF}"/>
              </a:ext>
            </a:extLst>
          </p:cNvPr>
          <p:cNvCxnSpPr>
            <a:cxnSpLocks/>
          </p:cNvCxnSpPr>
          <p:nvPr/>
        </p:nvCxnSpPr>
        <p:spPr>
          <a:xfrm>
            <a:off x="9394227" y="3274365"/>
            <a:ext cx="503521" cy="469064"/>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52D2A593-3CCF-5A48-A339-C53279BCFB41}"/>
              </a:ext>
            </a:extLst>
          </p:cNvPr>
          <p:cNvCxnSpPr>
            <a:cxnSpLocks/>
          </p:cNvCxnSpPr>
          <p:nvPr/>
        </p:nvCxnSpPr>
        <p:spPr>
          <a:xfrm flipH="1">
            <a:off x="10020816" y="3262350"/>
            <a:ext cx="526088" cy="483104"/>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B2FA24B1-7914-4A4E-AE10-7C31655901C9}"/>
              </a:ext>
            </a:extLst>
          </p:cNvPr>
          <p:cNvCxnSpPr/>
          <p:nvPr/>
        </p:nvCxnSpPr>
        <p:spPr>
          <a:xfrm flipH="1">
            <a:off x="9017459" y="3731413"/>
            <a:ext cx="1015873" cy="629731"/>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61454510-2358-3B49-9FEF-E700553D7645}"/>
              </a:ext>
            </a:extLst>
          </p:cNvPr>
          <p:cNvCxnSpPr>
            <a:cxnSpLocks/>
          </p:cNvCxnSpPr>
          <p:nvPr/>
        </p:nvCxnSpPr>
        <p:spPr>
          <a:xfrm flipH="1">
            <a:off x="10013710" y="3803413"/>
            <a:ext cx="1751" cy="478187"/>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8E3CD561-5C9E-5544-BDEF-ED92DDF42F66}"/>
              </a:ext>
            </a:extLst>
          </p:cNvPr>
          <p:cNvCxnSpPr>
            <a:cxnSpLocks/>
          </p:cNvCxnSpPr>
          <p:nvPr/>
        </p:nvCxnSpPr>
        <p:spPr>
          <a:xfrm>
            <a:off x="10030017" y="3731413"/>
            <a:ext cx="826177" cy="506183"/>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grpSp>
        <p:nvGrpSpPr>
          <p:cNvPr id="31" name="Group 30">
            <a:extLst>
              <a:ext uri="{FF2B5EF4-FFF2-40B4-BE49-F238E27FC236}">
                <a16:creationId xmlns:a16="http://schemas.microsoft.com/office/drawing/2014/main" id="{4CEE36CE-4131-374C-8209-F2D837A10B47}"/>
              </a:ext>
            </a:extLst>
          </p:cNvPr>
          <p:cNvGrpSpPr/>
          <p:nvPr/>
        </p:nvGrpSpPr>
        <p:grpSpPr>
          <a:xfrm>
            <a:off x="578654" y="2343753"/>
            <a:ext cx="2423136" cy="4068613"/>
            <a:chOff x="2549525" y="760413"/>
            <a:chExt cx="1689100" cy="1739440"/>
          </a:xfrm>
        </p:grpSpPr>
        <p:sp>
          <p:nvSpPr>
            <p:cNvPr id="100" name="Rounded Rectangle 180">
              <a:extLst>
                <a:ext uri="{FF2B5EF4-FFF2-40B4-BE49-F238E27FC236}">
                  <a16:creationId xmlns:a16="http://schemas.microsoft.com/office/drawing/2014/main" id="{4F209AF8-522F-5C48-82BB-760CC00E19B4}"/>
                </a:ext>
              </a:extLst>
            </p:cNvPr>
            <p:cNvSpPr/>
            <p:nvPr/>
          </p:nvSpPr>
          <p:spPr>
            <a:xfrm>
              <a:off x="2549525" y="760413"/>
              <a:ext cx="1689100" cy="1733550"/>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1" name="TextBox 32">
              <a:extLst>
                <a:ext uri="{FF2B5EF4-FFF2-40B4-BE49-F238E27FC236}">
                  <a16:creationId xmlns:a16="http://schemas.microsoft.com/office/drawing/2014/main" id="{BFC9A20B-3602-F648-8343-A56E9263DA19}"/>
                </a:ext>
              </a:extLst>
            </p:cNvPr>
            <p:cNvSpPr txBox="1">
              <a:spLocks noChangeArrowheads="1"/>
            </p:cNvSpPr>
            <p:nvPr/>
          </p:nvSpPr>
          <p:spPr bwMode="auto">
            <a:xfrm>
              <a:off x="2748800" y="2372684"/>
              <a:ext cx="1272655" cy="127169"/>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333" dirty="0">
                  <a:solidFill>
                    <a:srgbClr val="F7981F"/>
                  </a:solidFill>
                  <a:latin typeface="Amazon Ember Medium" panose="020B0603020204020204" pitchFamily="34" charset="0"/>
                  <a:ea typeface="Amazon Ember Medium" panose="020B0603020204020204" pitchFamily="34" charset="0"/>
                  <a:cs typeface="Amazon Ember Medium" panose="020B0603020204020204" pitchFamily="34" charset="0"/>
                </a:rPr>
                <a:t>Availability Zone a</a:t>
              </a:r>
            </a:p>
          </p:txBody>
        </p:sp>
      </p:grpSp>
      <p:sp>
        <p:nvSpPr>
          <p:cNvPr id="32" name="Rounded Rectangle 16">
            <a:extLst>
              <a:ext uri="{FF2B5EF4-FFF2-40B4-BE49-F238E27FC236}">
                <a16:creationId xmlns:a16="http://schemas.microsoft.com/office/drawing/2014/main" id="{9A6AF264-7BBA-EF46-A67A-D08D2F1C4101}"/>
              </a:ext>
            </a:extLst>
          </p:cNvPr>
          <p:cNvSpPr/>
          <p:nvPr/>
        </p:nvSpPr>
        <p:spPr>
          <a:xfrm>
            <a:off x="321591" y="2040759"/>
            <a:ext cx="5582891" cy="4418231"/>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3" name="Rounded Rectangle 17">
            <a:extLst>
              <a:ext uri="{FF2B5EF4-FFF2-40B4-BE49-F238E27FC236}">
                <a16:creationId xmlns:a16="http://schemas.microsoft.com/office/drawing/2014/main" id="{511DFE9B-82EC-4842-9B8A-EC1F4FF23A6A}"/>
              </a:ext>
            </a:extLst>
          </p:cNvPr>
          <p:cNvSpPr/>
          <p:nvPr/>
        </p:nvSpPr>
        <p:spPr>
          <a:xfrm>
            <a:off x="771072" y="2577017"/>
            <a:ext cx="4525970" cy="967544"/>
          </a:xfrm>
          <a:prstGeom prst="roundRect">
            <a:avLst>
              <a:gd name="adj" fmla="val 9818"/>
            </a:avLst>
          </a:prstGeom>
          <a:noFill/>
          <a:ln w="19050">
            <a:solidFill>
              <a:schemeClr val="tx1"/>
            </a:solidFill>
            <a:prstDash val="lgDashDot"/>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4" name="Rounded Rectangle 53">
            <a:extLst>
              <a:ext uri="{FF2B5EF4-FFF2-40B4-BE49-F238E27FC236}">
                <a16:creationId xmlns:a16="http://schemas.microsoft.com/office/drawing/2014/main" id="{01085C0C-9CDC-1744-AD45-9D58F523839A}"/>
              </a:ext>
            </a:extLst>
          </p:cNvPr>
          <p:cNvSpPr/>
          <p:nvPr/>
        </p:nvSpPr>
        <p:spPr>
          <a:xfrm>
            <a:off x="771072" y="4129115"/>
            <a:ext cx="4811662" cy="962164"/>
          </a:xfrm>
          <a:prstGeom prst="roundRect">
            <a:avLst>
              <a:gd name="adj" fmla="val 9818"/>
            </a:avLst>
          </a:prstGeom>
          <a:noFill/>
          <a:ln w="19050">
            <a:solidFill>
              <a:schemeClr val="tx1"/>
            </a:solidFill>
            <a:prstDash val="lgDashDot"/>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5" name="TextBox 37">
            <a:extLst>
              <a:ext uri="{FF2B5EF4-FFF2-40B4-BE49-F238E27FC236}">
                <a16:creationId xmlns:a16="http://schemas.microsoft.com/office/drawing/2014/main" id="{8DA32280-2F77-494B-AF40-2C7EF7E46608}"/>
              </a:ext>
            </a:extLst>
          </p:cNvPr>
          <p:cNvSpPr txBox="1">
            <a:spLocks noChangeArrowheads="1"/>
          </p:cNvSpPr>
          <p:nvPr/>
        </p:nvSpPr>
        <p:spPr bwMode="auto">
          <a:xfrm>
            <a:off x="718011" y="2350417"/>
            <a:ext cx="990989" cy="276999"/>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200" b="1" dirty="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Web Tier</a:t>
            </a:r>
          </a:p>
        </p:txBody>
      </p:sp>
      <p:sp>
        <p:nvSpPr>
          <p:cNvPr id="36" name="TextBox 37">
            <a:extLst>
              <a:ext uri="{FF2B5EF4-FFF2-40B4-BE49-F238E27FC236}">
                <a16:creationId xmlns:a16="http://schemas.microsoft.com/office/drawing/2014/main" id="{BF257E5B-5D61-964F-93CA-41DD4A06010D}"/>
              </a:ext>
            </a:extLst>
          </p:cNvPr>
          <p:cNvSpPr txBox="1">
            <a:spLocks noChangeArrowheads="1"/>
          </p:cNvSpPr>
          <p:nvPr/>
        </p:nvSpPr>
        <p:spPr bwMode="auto">
          <a:xfrm>
            <a:off x="770364" y="3875030"/>
            <a:ext cx="880927" cy="276999"/>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200" b="1" dirty="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App Tier</a:t>
            </a:r>
          </a:p>
        </p:txBody>
      </p:sp>
      <p:sp>
        <p:nvSpPr>
          <p:cNvPr id="37" name="TextBox 37">
            <a:extLst>
              <a:ext uri="{FF2B5EF4-FFF2-40B4-BE49-F238E27FC236}">
                <a16:creationId xmlns:a16="http://schemas.microsoft.com/office/drawing/2014/main" id="{08E0C40D-942D-EF40-8DD3-EF671F389DFC}"/>
              </a:ext>
            </a:extLst>
          </p:cNvPr>
          <p:cNvSpPr txBox="1">
            <a:spLocks noChangeArrowheads="1"/>
          </p:cNvSpPr>
          <p:nvPr/>
        </p:nvSpPr>
        <p:spPr bwMode="auto">
          <a:xfrm>
            <a:off x="1427929" y="5500031"/>
            <a:ext cx="845047" cy="461665"/>
          </a:xfrm>
          <a:prstGeom prst="rect">
            <a:avLst/>
          </a:prstGeom>
          <a:solidFill>
            <a:schemeClr val="bg1"/>
          </a:solid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RDS</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(Primary)</a:t>
            </a:r>
          </a:p>
        </p:txBody>
      </p:sp>
      <p:grpSp>
        <p:nvGrpSpPr>
          <p:cNvPr id="38" name="Group 37">
            <a:extLst>
              <a:ext uri="{FF2B5EF4-FFF2-40B4-BE49-F238E27FC236}">
                <a16:creationId xmlns:a16="http://schemas.microsoft.com/office/drawing/2014/main" id="{BB78C8E5-8085-DE42-BA29-FF6FC8FCE2A0}"/>
              </a:ext>
            </a:extLst>
          </p:cNvPr>
          <p:cNvGrpSpPr/>
          <p:nvPr/>
        </p:nvGrpSpPr>
        <p:grpSpPr>
          <a:xfrm>
            <a:off x="3355438" y="2343753"/>
            <a:ext cx="2417808" cy="4077093"/>
            <a:chOff x="2549525" y="760413"/>
            <a:chExt cx="1689100" cy="1743065"/>
          </a:xfrm>
        </p:grpSpPr>
        <p:sp>
          <p:nvSpPr>
            <p:cNvPr id="98" name="Rounded Rectangle 178">
              <a:extLst>
                <a:ext uri="{FF2B5EF4-FFF2-40B4-BE49-F238E27FC236}">
                  <a16:creationId xmlns:a16="http://schemas.microsoft.com/office/drawing/2014/main" id="{8BEAEDAE-EEF4-8049-9B52-F8526D26E703}"/>
                </a:ext>
              </a:extLst>
            </p:cNvPr>
            <p:cNvSpPr/>
            <p:nvPr/>
          </p:nvSpPr>
          <p:spPr>
            <a:xfrm>
              <a:off x="2549525" y="760413"/>
              <a:ext cx="1689100" cy="1733550"/>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9" name="TextBox 32">
              <a:extLst>
                <a:ext uri="{FF2B5EF4-FFF2-40B4-BE49-F238E27FC236}">
                  <a16:creationId xmlns:a16="http://schemas.microsoft.com/office/drawing/2014/main" id="{019C50A5-1BF5-0A47-8002-96B10CD0748A}"/>
                </a:ext>
              </a:extLst>
            </p:cNvPr>
            <p:cNvSpPr txBox="1">
              <a:spLocks noChangeArrowheads="1"/>
            </p:cNvSpPr>
            <p:nvPr/>
          </p:nvSpPr>
          <p:spPr bwMode="auto">
            <a:xfrm>
              <a:off x="2751289" y="2376309"/>
              <a:ext cx="1307786" cy="127169"/>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333" dirty="0">
                  <a:solidFill>
                    <a:srgbClr val="F7981F"/>
                  </a:solidFill>
                  <a:latin typeface="Amazon Ember Medium" panose="020B0603020204020204" pitchFamily="34" charset="0"/>
                  <a:ea typeface="Amazon Ember Medium" panose="020B0603020204020204" pitchFamily="34" charset="0"/>
                  <a:cs typeface="Amazon Ember Medium" panose="020B0603020204020204" pitchFamily="34" charset="0"/>
                </a:rPr>
                <a:t>Availability Zone b</a:t>
              </a:r>
            </a:p>
          </p:txBody>
        </p:sp>
      </p:grpSp>
      <p:cxnSp>
        <p:nvCxnSpPr>
          <p:cNvPr id="39" name="Straight Connector 38">
            <a:extLst>
              <a:ext uri="{FF2B5EF4-FFF2-40B4-BE49-F238E27FC236}">
                <a16:creationId xmlns:a16="http://schemas.microsoft.com/office/drawing/2014/main" id="{4E644A6B-272D-6842-A87C-7F6A81858038}"/>
              </a:ext>
            </a:extLst>
          </p:cNvPr>
          <p:cNvCxnSpPr/>
          <p:nvPr/>
        </p:nvCxnSpPr>
        <p:spPr>
          <a:xfrm>
            <a:off x="3214598" y="1546474"/>
            <a:ext cx="9604" cy="560495"/>
          </a:xfrm>
          <a:prstGeom prst="line">
            <a:avLst/>
          </a:prstGeom>
          <a:ln>
            <a:solidFill>
              <a:schemeClr val="accent2">
                <a:lumMod val="75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D1833BA-FDC1-604B-9E75-9728C9F920E5}"/>
              </a:ext>
            </a:extLst>
          </p:cNvPr>
          <p:cNvCxnSpPr/>
          <p:nvPr/>
        </p:nvCxnSpPr>
        <p:spPr>
          <a:xfrm flipH="1">
            <a:off x="1277045" y="2118687"/>
            <a:ext cx="1937553" cy="742029"/>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38A65A6E-23FC-984B-9DDC-E20A6EDA25F9}"/>
              </a:ext>
            </a:extLst>
          </p:cNvPr>
          <p:cNvCxnSpPr/>
          <p:nvPr/>
        </p:nvCxnSpPr>
        <p:spPr>
          <a:xfrm flipH="1">
            <a:off x="2101181" y="2098515"/>
            <a:ext cx="1133404" cy="720816"/>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A6B4AA28-17C7-A846-9E22-73B099AC4901}"/>
              </a:ext>
            </a:extLst>
          </p:cNvPr>
          <p:cNvCxnSpPr/>
          <p:nvPr/>
        </p:nvCxnSpPr>
        <p:spPr>
          <a:xfrm>
            <a:off x="3214598" y="2129709"/>
            <a:ext cx="886083" cy="751180"/>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9C21CF31-A67E-A645-9788-33B4891AE1DD}"/>
              </a:ext>
            </a:extLst>
          </p:cNvPr>
          <p:cNvCxnSpPr/>
          <p:nvPr/>
        </p:nvCxnSpPr>
        <p:spPr>
          <a:xfrm>
            <a:off x="3187510" y="2116841"/>
            <a:ext cx="1682084" cy="702491"/>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pic>
        <p:nvPicPr>
          <p:cNvPr id="44" name="Picture 43">
            <a:extLst>
              <a:ext uri="{FF2B5EF4-FFF2-40B4-BE49-F238E27FC236}">
                <a16:creationId xmlns:a16="http://schemas.microsoft.com/office/drawing/2014/main" id="{93B9A0E2-277A-D644-BBC4-DAEBA8F3A7F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16623" y="1204302"/>
            <a:ext cx="578665" cy="578665"/>
          </a:xfrm>
          <a:prstGeom prst="rect">
            <a:avLst/>
          </a:prstGeom>
        </p:spPr>
      </p:pic>
      <p:cxnSp>
        <p:nvCxnSpPr>
          <p:cNvPr id="45" name="Straight Connector 44">
            <a:extLst>
              <a:ext uri="{FF2B5EF4-FFF2-40B4-BE49-F238E27FC236}">
                <a16:creationId xmlns:a16="http://schemas.microsoft.com/office/drawing/2014/main" id="{E67ED8FE-83A4-9145-AABB-B5D017404B86}"/>
              </a:ext>
            </a:extLst>
          </p:cNvPr>
          <p:cNvCxnSpPr/>
          <p:nvPr/>
        </p:nvCxnSpPr>
        <p:spPr>
          <a:xfrm>
            <a:off x="2117329" y="3071554"/>
            <a:ext cx="1046496" cy="602332"/>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EF79579A-E814-CC4B-B82A-BC8759F71DFD}"/>
              </a:ext>
            </a:extLst>
          </p:cNvPr>
          <p:cNvCxnSpPr/>
          <p:nvPr/>
        </p:nvCxnSpPr>
        <p:spPr>
          <a:xfrm>
            <a:off x="1313869" y="3093981"/>
            <a:ext cx="1849956" cy="579905"/>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B2F441D6-C177-6446-B99D-53F6CA553539}"/>
              </a:ext>
            </a:extLst>
          </p:cNvPr>
          <p:cNvCxnSpPr/>
          <p:nvPr/>
        </p:nvCxnSpPr>
        <p:spPr>
          <a:xfrm flipH="1">
            <a:off x="3224784" y="3044397"/>
            <a:ext cx="875899" cy="629489"/>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429B984F-1477-7842-84A2-C4A524574A22}"/>
              </a:ext>
            </a:extLst>
          </p:cNvPr>
          <p:cNvCxnSpPr/>
          <p:nvPr/>
        </p:nvCxnSpPr>
        <p:spPr>
          <a:xfrm flipH="1">
            <a:off x="3194305" y="3077123"/>
            <a:ext cx="1668268" cy="627241"/>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392A817F-D69B-E544-93D7-5856E5FCEDD1}"/>
              </a:ext>
            </a:extLst>
          </p:cNvPr>
          <p:cNvCxnSpPr/>
          <p:nvPr/>
        </p:nvCxnSpPr>
        <p:spPr>
          <a:xfrm flipH="1">
            <a:off x="1133462" y="3969483"/>
            <a:ext cx="2059941" cy="453395"/>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6012C8D2-8A5B-3441-A609-5F51769F9B2B}"/>
              </a:ext>
            </a:extLst>
          </p:cNvPr>
          <p:cNvCxnSpPr/>
          <p:nvPr/>
        </p:nvCxnSpPr>
        <p:spPr>
          <a:xfrm flipH="1">
            <a:off x="1790224" y="3969483"/>
            <a:ext cx="1403178" cy="453395"/>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29DF7450-23CE-2E46-A190-870066F3D72C}"/>
              </a:ext>
            </a:extLst>
          </p:cNvPr>
          <p:cNvCxnSpPr/>
          <p:nvPr/>
        </p:nvCxnSpPr>
        <p:spPr>
          <a:xfrm flipH="1">
            <a:off x="2480771" y="3969483"/>
            <a:ext cx="712632" cy="401523"/>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2829FEFB-649F-7D40-A3D6-1819916D8692}"/>
              </a:ext>
            </a:extLst>
          </p:cNvPr>
          <p:cNvCxnSpPr/>
          <p:nvPr/>
        </p:nvCxnSpPr>
        <p:spPr>
          <a:xfrm>
            <a:off x="3193402" y="3969483"/>
            <a:ext cx="789695" cy="509737"/>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3EF321CB-335F-554B-809E-FC719024DD98}"/>
              </a:ext>
            </a:extLst>
          </p:cNvPr>
          <p:cNvCxnSpPr/>
          <p:nvPr/>
        </p:nvCxnSpPr>
        <p:spPr>
          <a:xfrm>
            <a:off x="3193402" y="3969483"/>
            <a:ext cx="1253572" cy="398460"/>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E4477338-A49A-224B-A736-CF38FBDBAD5F}"/>
              </a:ext>
            </a:extLst>
          </p:cNvPr>
          <p:cNvCxnSpPr/>
          <p:nvPr/>
        </p:nvCxnSpPr>
        <p:spPr>
          <a:xfrm>
            <a:off x="3193402" y="3969483"/>
            <a:ext cx="1879897" cy="408193"/>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pic>
        <p:nvPicPr>
          <p:cNvPr id="55" name="Picture 54">
            <a:extLst>
              <a:ext uri="{FF2B5EF4-FFF2-40B4-BE49-F238E27FC236}">
                <a16:creationId xmlns:a16="http://schemas.microsoft.com/office/drawing/2014/main" id="{27EAD400-339A-884A-A0C9-A7D561F447F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95921" y="2660667"/>
            <a:ext cx="604887" cy="604887"/>
          </a:xfrm>
          <a:prstGeom prst="rect">
            <a:avLst/>
          </a:prstGeom>
        </p:spPr>
      </p:pic>
      <p:pic>
        <p:nvPicPr>
          <p:cNvPr id="56" name="Picture 55">
            <a:extLst>
              <a:ext uri="{FF2B5EF4-FFF2-40B4-BE49-F238E27FC236}">
                <a16:creationId xmlns:a16="http://schemas.microsoft.com/office/drawing/2014/main" id="{26A05EAA-7CA7-424D-A7F9-7A844DFE749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14887" y="2660669"/>
            <a:ext cx="604887" cy="604887"/>
          </a:xfrm>
          <a:prstGeom prst="rect">
            <a:avLst/>
          </a:prstGeom>
        </p:spPr>
      </p:pic>
      <p:pic>
        <p:nvPicPr>
          <p:cNvPr id="57" name="Picture 56">
            <a:extLst>
              <a:ext uri="{FF2B5EF4-FFF2-40B4-BE49-F238E27FC236}">
                <a16:creationId xmlns:a16="http://schemas.microsoft.com/office/drawing/2014/main" id="{8E69DC4F-3D93-0240-900A-FA9258113E6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3656" y="2660667"/>
            <a:ext cx="604887" cy="604887"/>
          </a:xfrm>
          <a:prstGeom prst="rect">
            <a:avLst/>
          </a:prstGeom>
        </p:spPr>
      </p:pic>
      <p:pic>
        <p:nvPicPr>
          <p:cNvPr id="58" name="Picture 57">
            <a:extLst>
              <a:ext uri="{FF2B5EF4-FFF2-40B4-BE49-F238E27FC236}">
                <a16:creationId xmlns:a16="http://schemas.microsoft.com/office/drawing/2014/main" id="{15D94F87-EF89-A24F-A7B9-784132622AE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67152" y="2660669"/>
            <a:ext cx="604887" cy="604887"/>
          </a:xfrm>
          <a:prstGeom prst="rect">
            <a:avLst/>
          </a:prstGeom>
        </p:spPr>
      </p:pic>
      <p:cxnSp>
        <p:nvCxnSpPr>
          <p:cNvPr id="59" name="Straight Connector 58">
            <a:extLst>
              <a:ext uri="{FF2B5EF4-FFF2-40B4-BE49-F238E27FC236}">
                <a16:creationId xmlns:a16="http://schemas.microsoft.com/office/drawing/2014/main" id="{9FD456DA-5A78-7844-BBDC-67A8D3CC98C1}"/>
              </a:ext>
            </a:extLst>
          </p:cNvPr>
          <p:cNvCxnSpPr/>
          <p:nvPr/>
        </p:nvCxnSpPr>
        <p:spPr>
          <a:xfrm>
            <a:off x="1210828" y="4666603"/>
            <a:ext cx="1316656" cy="792645"/>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6B55943E-9E64-4142-8107-5702D72845CB}"/>
              </a:ext>
            </a:extLst>
          </p:cNvPr>
          <p:cNvCxnSpPr/>
          <p:nvPr/>
        </p:nvCxnSpPr>
        <p:spPr>
          <a:xfrm>
            <a:off x="1814887" y="4646079"/>
            <a:ext cx="712597" cy="813169"/>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2B8A3BC9-110C-8747-8E4C-5885B2983D26}"/>
              </a:ext>
            </a:extLst>
          </p:cNvPr>
          <p:cNvCxnSpPr/>
          <p:nvPr/>
        </p:nvCxnSpPr>
        <p:spPr>
          <a:xfrm>
            <a:off x="2457465" y="4627087"/>
            <a:ext cx="70019" cy="832161"/>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25B27084-EC5F-4343-8189-C02EF27E352B}"/>
              </a:ext>
            </a:extLst>
          </p:cNvPr>
          <p:cNvCxnSpPr/>
          <p:nvPr/>
        </p:nvCxnSpPr>
        <p:spPr>
          <a:xfrm flipH="1">
            <a:off x="2527484" y="4686997"/>
            <a:ext cx="1491320" cy="772252"/>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63" name="Straight Connector 62">
            <a:extLst>
              <a:ext uri="{FF2B5EF4-FFF2-40B4-BE49-F238E27FC236}">
                <a16:creationId xmlns:a16="http://schemas.microsoft.com/office/drawing/2014/main" id="{40134C48-5A8E-E44C-99F2-908C1F3E98D9}"/>
              </a:ext>
            </a:extLst>
          </p:cNvPr>
          <p:cNvCxnSpPr/>
          <p:nvPr/>
        </p:nvCxnSpPr>
        <p:spPr>
          <a:xfrm flipH="1">
            <a:off x="2527484" y="4668735"/>
            <a:ext cx="2020493" cy="790513"/>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FD5944D2-7C11-074A-8736-BACF8CFEA194}"/>
              </a:ext>
            </a:extLst>
          </p:cNvPr>
          <p:cNvCxnSpPr/>
          <p:nvPr/>
        </p:nvCxnSpPr>
        <p:spPr>
          <a:xfrm flipH="1">
            <a:off x="2527484" y="4652749"/>
            <a:ext cx="2625380" cy="806500"/>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pic>
        <p:nvPicPr>
          <p:cNvPr id="65" name="Picture 64">
            <a:extLst>
              <a:ext uri="{FF2B5EF4-FFF2-40B4-BE49-F238E27FC236}">
                <a16:creationId xmlns:a16="http://schemas.microsoft.com/office/drawing/2014/main" id="{7961CBAC-F50D-2E43-9B99-6B6CD25E258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08386" y="4243401"/>
            <a:ext cx="604887" cy="604887"/>
          </a:xfrm>
          <a:prstGeom prst="rect">
            <a:avLst/>
          </a:prstGeom>
        </p:spPr>
      </p:pic>
      <p:pic>
        <p:nvPicPr>
          <p:cNvPr id="66" name="Picture 65">
            <a:extLst>
              <a:ext uri="{FF2B5EF4-FFF2-40B4-BE49-F238E27FC236}">
                <a16:creationId xmlns:a16="http://schemas.microsoft.com/office/drawing/2014/main" id="{4CD654E0-EAFC-5344-B3AF-A76F0549BB2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13272" y="4243401"/>
            <a:ext cx="604887" cy="604887"/>
          </a:xfrm>
          <a:prstGeom prst="rect">
            <a:avLst/>
          </a:prstGeom>
        </p:spPr>
      </p:pic>
      <p:pic>
        <p:nvPicPr>
          <p:cNvPr id="67" name="Picture 66">
            <a:extLst>
              <a:ext uri="{FF2B5EF4-FFF2-40B4-BE49-F238E27FC236}">
                <a16:creationId xmlns:a16="http://schemas.microsoft.com/office/drawing/2014/main" id="{1C79FEC0-04F0-FD42-A073-E0C94DC24BC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118159" y="4243401"/>
            <a:ext cx="604887" cy="604887"/>
          </a:xfrm>
          <a:prstGeom prst="rect">
            <a:avLst/>
          </a:prstGeom>
        </p:spPr>
      </p:pic>
      <p:pic>
        <p:nvPicPr>
          <p:cNvPr id="68" name="Picture 67">
            <a:extLst>
              <a:ext uri="{FF2B5EF4-FFF2-40B4-BE49-F238E27FC236}">
                <a16:creationId xmlns:a16="http://schemas.microsoft.com/office/drawing/2014/main" id="{480A0C3B-9136-6642-8F6E-FE6C38A2C01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660650" y="4243401"/>
            <a:ext cx="604887" cy="604887"/>
          </a:xfrm>
          <a:prstGeom prst="rect">
            <a:avLst/>
          </a:prstGeom>
        </p:spPr>
      </p:pic>
      <p:pic>
        <p:nvPicPr>
          <p:cNvPr id="69" name="Picture 68">
            <a:extLst>
              <a:ext uri="{FF2B5EF4-FFF2-40B4-BE49-F238E27FC236}">
                <a16:creationId xmlns:a16="http://schemas.microsoft.com/office/drawing/2014/main" id="{37ACCBEB-14B3-6247-850D-7E439D6D20B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65537" y="4243401"/>
            <a:ext cx="604887" cy="604887"/>
          </a:xfrm>
          <a:prstGeom prst="rect">
            <a:avLst/>
          </a:prstGeom>
        </p:spPr>
      </p:pic>
      <p:pic>
        <p:nvPicPr>
          <p:cNvPr id="70" name="Picture 69">
            <a:extLst>
              <a:ext uri="{FF2B5EF4-FFF2-40B4-BE49-F238E27FC236}">
                <a16:creationId xmlns:a16="http://schemas.microsoft.com/office/drawing/2014/main" id="{73699A5A-A85A-FF4F-9696-863CC58E890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870424" y="4243401"/>
            <a:ext cx="604887" cy="604887"/>
          </a:xfrm>
          <a:prstGeom prst="rect">
            <a:avLst/>
          </a:prstGeom>
        </p:spPr>
      </p:pic>
      <p:cxnSp>
        <p:nvCxnSpPr>
          <p:cNvPr id="71" name="Straight Connector 70">
            <a:extLst>
              <a:ext uri="{FF2B5EF4-FFF2-40B4-BE49-F238E27FC236}">
                <a16:creationId xmlns:a16="http://schemas.microsoft.com/office/drawing/2014/main" id="{DA0EDEDF-5010-EB43-86E7-0EE1F4B0548F}"/>
              </a:ext>
            </a:extLst>
          </p:cNvPr>
          <p:cNvCxnSpPr>
            <a:endCxn id="89" idx="1"/>
          </p:cNvCxnSpPr>
          <p:nvPr/>
        </p:nvCxnSpPr>
        <p:spPr>
          <a:xfrm flipV="1">
            <a:off x="2667883" y="5622873"/>
            <a:ext cx="2465929" cy="10298"/>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sp>
        <p:nvSpPr>
          <p:cNvPr id="72" name="TextBox 37">
            <a:extLst>
              <a:ext uri="{FF2B5EF4-FFF2-40B4-BE49-F238E27FC236}">
                <a16:creationId xmlns:a16="http://schemas.microsoft.com/office/drawing/2014/main" id="{0D35C5D0-B879-584A-A2AF-C45B5C2070D8}"/>
              </a:ext>
            </a:extLst>
          </p:cNvPr>
          <p:cNvSpPr txBox="1">
            <a:spLocks noChangeArrowheads="1"/>
          </p:cNvSpPr>
          <p:nvPr/>
        </p:nvSpPr>
        <p:spPr bwMode="auto">
          <a:xfrm>
            <a:off x="3973054" y="5463745"/>
            <a:ext cx="943902" cy="461665"/>
          </a:xfrm>
          <a:prstGeom prst="rect">
            <a:avLst/>
          </a:prstGeom>
          <a:solidFill>
            <a:schemeClr val="bg1"/>
          </a:solid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RDS</a:t>
            </a:r>
          </a:p>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(Standby)</a:t>
            </a:r>
          </a:p>
        </p:txBody>
      </p:sp>
      <p:grpSp>
        <p:nvGrpSpPr>
          <p:cNvPr id="73" name="Group 72">
            <a:extLst>
              <a:ext uri="{FF2B5EF4-FFF2-40B4-BE49-F238E27FC236}">
                <a16:creationId xmlns:a16="http://schemas.microsoft.com/office/drawing/2014/main" id="{22D78793-1883-7942-8B8E-B1C78A7FCF2D}"/>
              </a:ext>
            </a:extLst>
          </p:cNvPr>
          <p:cNvGrpSpPr/>
          <p:nvPr/>
        </p:nvGrpSpPr>
        <p:grpSpPr>
          <a:xfrm>
            <a:off x="6262068" y="3101525"/>
            <a:ext cx="1514403" cy="2049127"/>
            <a:chOff x="1487051" y="1637968"/>
            <a:chExt cx="1135802" cy="1536846"/>
          </a:xfrm>
        </p:grpSpPr>
        <p:sp>
          <p:nvSpPr>
            <p:cNvPr id="96" name="TextBox 104">
              <a:extLst>
                <a:ext uri="{FF2B5EF4-FFF2-40B4-BE49-F238E27FC236}">
                  <a16:creationId xmlns:a16="http://schemas.microsoft.com/office/drawing/2014/main" id="{6A5707A4-FA02-524D-96D7-B0DAAFACAE6B}"/>
                </a:ext>
              </a:extLst>
            </p:cNvPr>
            <p:cNvSpPr txBox="1"/>
            <p:nvPr/>
          </p:nvSpPr>
          <p:spPr>
            <a:xfrm>
              <a:off x="1598717" y="1637968"/>
              <a:ext cx="948103" cy="500233"/>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867" dirty="0">
                  <a:latin typeface="Amazon Ember Light" panose="020B0403020204020204" pitchFamily="34" charset="0"/>
                  <a:ea typeface="Amazon Ember Light" panose="020B0403020204020204" pitchFamily="34" charset="0"/>
                  <a:cs typeface="Amazon Ember Light" panose="020B0403020204020204" pitchFamily="34" charset="0"/>
                </a:rPr>
                <a:t>One template</a:t>
              </a:r>
            </a:p>
          </p:txBody>
        </p:sp>
        <p:pic>
          <p:nvPicPr>
            <p:cNvPr id="97" name="Picture 96">
              <a:extLst>
                <a:ext uri="{FF2B5EF4-FFF2-40B4-BE49-F238E27FC236}">
                  <a16:creationId xmlns:a16="http://schemas.microsoft.com/office/drawing/2014/main" id="{2AE89EE0-1EC3-2648-86C0-21D8E178113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87051" y="2039012"/>
              <a:ext cx="1135802" cy="1135802"/>
            </a:xfrm>
            <a:prstGeom prst="rect">
              <a:avLst/>
            </a:prstGeom>
          </p:spPr>
        </p:pic>
      </p:grpSp>
      <p:sp>
        <p:nvSpPr>
          <p:cNvPr id="74" name="Right Arrow 106">
            <a:extLst>
              <a:ext uri="{FF2B5EF4-FFF2-40B4-BE49-F238E27FC236}">
                <a16:creationId xmlns:a16="http://schemas.microsoft.com/office/drawing/2014/main" id="{BAF583C6-2946-E049-8F88-8A61D5330A0E}"/>
              </a:ext>
            </a:extLst>
          </p:cNvPr>
          <p:cNvSpPr/>
          <p:nvPr/>
        </p:nvSpPr>
        <p:spPr>
          <a:xfrm>
            <a:off x="7601310" y="4079695"/>
            <a:ext cx="470356" cy="627515"/>
          </a:xfrm>
          <a:prstGeom prst="rightArrow">
            <a:avLst/>
          </a:prstGeom>
          <a:solidFill>
            <a:srgbClr val="4F81BD"/>
          </a:solidFill>
          <a:ln>
            <a:solidFill>
              <a:srgbClr val="0070C0"/>
            </a:solidFill>
          </a:ln>
        </p:spPr>
        <p:style>
          <a:lnRef idx="1">
            <a:schemeClr val="accent2"/>
          </a:lnRef>
          <a:fillRef idx="3">
            <a:schemeClr val="accent2"/>
          </a:fillRef>
          <a:effectRef idx="2">
            <a:schemeClr val="accent2"/>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5" name="Right Arrow 107">
            <a:extLst>
              <a:ext uri="{FF2B5EF4-FFF2-40B4-BE49-F238E27FC236}">
                <a16:creationId xmlns:a16="http://schemas.microsoft.com/office/drawing/2014/main" id="{85F4C203-A1E1-9A47-A102-500533BB72B5}"/>
              </a:ext>
            </a:extLst>
          </p:cNvPr>
          <p:cNvSpPr/>
          <p:nvPr/>
        </p:nvSpPr>
        <p:spPr>
          <a:xfrm flipH="1">
            <a:off x="5968721" y="4079695"/>
            <a:ext cx="470356" cy="627515"/>
          </a:xfrm>
          <a:prstGeom prst="rightArrow">
            <a:avLst/>
          </a:prstGeom>
          <a:solidFill>
            <a:srgbClr val="4F81BD"/>
          </a:solidFill>
          <a:ln>
            <a:solidFill>
              <a:srgbClr val="0070C0"/>
            </a:solidFill>
          </a:ln>
        </p:spPr>
        <p:style>
          <a:lnRef idx="1">
            <a:schemeClr val="accent2"/>
          </a:lnRef>
          <a:fillRef idx="3">
            <a:schemeClr val="accent2"/>
          </a:fillRef>
          <a:effectRef idx="2">
            <a:schemeClr val="accent2"/>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76" name="Picture 75">
            <a:extLst>
              <a:ext uri="{FF2B5EF4-FFF2-40B4-BE49-F238E27FC236}">
                <a16:creationId xmlns:a16="http://schemas.microsoft.com/office/drawing/2014/main" id="{A61F09C0-2D3B-244F-BCE2-076725AD4FC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03409" y="1743980"/>
            <a:ext cx="725471" cy="473571"/>
          </a:xfrm>
          <a:prstGeom prst="rect">
            <a:avLst/>
          </a:prstGeom>
        </p:spPr>
      </p:pic>
      <p:pic>
        <p:nvPicPr>
          <p:cNvPr id="77" name="Picture 76">
            <a:extLst>
              <a:ext uri="{FF2B5EF4-FFF2-40B4-BE49-F238E27FC236}">
                <a16:creationId xmlns:a16="http://schemas.microsoft.com/office/drawing/2014/main" id="{0C00A4DA-2E33-5F4A-B6BB-8B50C7344A6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965128" y="1811452"/>
            <a:ext cx="491137" cy="589364"/>
          </a:xfrm>
          <a:prstGeom prst="rect">
            <a:avLst/>
          </a:prstGeom>
        </p:spPr>
      </p:pic>
      <p:pic>
        <p:nvPicPr>
          <p:cNvPr id="78" name="Picture 77">
            <a:extLst>
              <a:ext uri="{FF2B5EF4-FFF2-40B4-BE49-F238E27FC236}">
                <a16:creationId xmlns:a16="http://schemas.microsoft.com/office/drawing/2014/main" id="{35EE8564-FA61-A241-8E85-5228A783F50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345193" y="1790966"/>
            <a:ext cx="725471" cy="473571"/>
          </a:xfrm>
          <a:prstGeom prst="rect">
            <a:avLst/>
          </a:prstGeom>
        </p:spPr>
      </p:pic>
      <p:pic>
        <p:nvPicPr>
          <p:cNvPr id="79" name="Picture 78">
            <a:extLst>
              <a:ext uri="{FF2B5EF4-FFF2-40B4-BE49-F238E27FC236}">
                <a16:creationId xmlns:a16="http://schemas.microsoft.com/office/drawing/2014/main" id="{678A5EB6-6B0F-2A41-90B0-5DBDC4ECCC7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942037" y="3531546"/>
            <a:ext cx="491137" cy="589364"/>
          </a:xfrm>
          <a:prstGeom prst="rect">
            <a:avLst/>
          </a:prstGeom>
        </p:spPr>
      </p:pic>
      <p:pic>
        <p:nvPicPr>
          <p:cNvPr id="80" name="Picture 79">
            <a:extLst>
              <a:ext uri="{FF2B5EF4-FFF2-40B4-BE49-F238E27FC236}">
                <a16:creationId xmlns:a16="http://schemas.microsoft.com/office/drawing/2014/main" id="{287B99EC-4C5A-C64D-A85C-DE1C076E98E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793393" y="1934361"/>
            <a:ext cx="369264" cy="443116"/>
          </a:xfrm>
          <a:prstGeom prst="rect">
            <a:avLst/>
          </a:prstGeom>
        </p:spPr>
      </p:pic>
      <p:pic>
        <p:nvPicPr>
          <p:cNvPr id="81" name="Picture 80">
            <a:extLst>
              <a:ext uri="{FF2B5EF4-FFF2-40B4-BE49-F238E27FC236}">
                <a16:creationId xmlns:a16="http://schemas.microsoft.com/office/drawing/2014/main" id="{610D7DEE-638C-9B44-A7F2-8D8659F1D32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787671" y="3511928"/>
            <a:ext cx="369264" cy="443116"/>
          </a:xfrm>
          <a:prstGeom prst="rect">
            <a:avLst/>
          </a:prstGeom>
        </p:spPr>
      </p:pic>
      <p:sp>
        <p:nvSpPr>
          <p:cNvPr id="82" name="TextBox 115">
            <a:extLst>
              <a:ext uri="{FF2B5EF4-FFF2-40B4-BE49-F238E27FC236}">
                <a16:creationId xmlns:a16="http://schemas.microsoft.com/office/drawing/2014/main" id="{37E0F4A3-EF84-6F43-A656-BB7CFD71E9B1}"/>
              </a:ext>
            </a:extLst>
          </p:cNvPr>
          <p:cNvSpPr txBox="1"/>
          <p:nvPr/>
        </p:nvSpPr>
        <p:spPr>
          <a:xfrm>
            <a:off x="4367016" y="1734325"/>
            <a:ext cx="1308821" cy="369012"/>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b="1" dirty="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Production</a:t>
            </a:r>
          </a:p>
        </p:txBody>
      </p:sp>
      <p:sp>
        <p:nvSpPr>
          <p:cNvPr id="83" name="TextBox 116">
            <a:extLst>
              <a:ext uri="{FF2B5EF4-FFF2-40B4-BE49-F238E27FC236}">
                <a16:creationId xmlns:a16="http://schemas.microsoft.com/office/drawing/2014/main" id="{40A1B5D7-A883-FD4D-B6DE-C533D135EABF}"/>
              </a:ext>
            </a:extLst>
          </p:cNvPr>
          <p:cNvSpPr txBox="1"/>
          <p:nvPr/>
        </p:nvSpPr>
        <p:spPr>
          <a:xfrm>
            <a:off x="10133298" y="1779606"/>
            <a:ext cx="1615232" cy="369012"/>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b="1" dirty="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Development</a:t>
            </a:r>
          </a:p>
        </p:txBody>
      </p:sp>
      <p:grpSp>
        <p:nvGrpSpPr>
          <p:cNvPr id="84" name="Group 83">
            <a:extLst>
              <a:ext uri="{FF2B5EF4-FFF2-40B4-BE49-F238E27FC236}">
                <a16:creationId xmlns:a16="http://schemas.microsoft.com/office/drawing/2014/main" id="{6080BE24-4538-4F48-A36F-B1F662BF906A}"/>
              </a:ext>
            </a:extLst>
          </p:cNvPr>
          <p:cNvGrpSpPr/>
          <p:nvPr/>
        </p:nvGrpSpPr>
        <p:grpSpPr>
          <a:xfrm>
            <a:off x="8985677" y="2690855"/>
            <a:ext cx="1983819" cy="747312"/>
            <a:chOff x="8931321" y="2615776"/>
            <a:chExt cx="1983819" cy="747312"/>
          </a:xfrm>
        </p:grpSpPr>
        <p:pic>
          <p:nvPicPr>
            <p:cNvPr id="94" name="Picture 93">
              <a:extLst>
                <a:ext uri="{FF2B5EF4-FFF2-40B4-BE49-F238E27FC236}">
                  <a16:creationId xmlns:a16="http://schemas.microsoft.com/office/drawing/2014/main" id="{26B24205-4BFC-F94C-BD79-26F9C1BEEA7E}"/>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10165332" y="2615776"/>
              <a:ext cx="749808" cy="747312"/>
            </a:xfrm>
            <a:prstGeom prst="rect">
              <a:avLst/>
            </a:prstGeom>
          </p:spPr>
        </p:pic>
        <p:pic>
          <p:nvPicPr>
            <p:cNvPr id="95" name="Picture 94">
              <a:extLst>
                <a:ext uri="{FF2B5EF4-FFF2-40B4-BE49-F238E27FC236}">
                  <a16:creationId xmlns:a16="http://schemas.microsoft.com/office/drawing/2014/main" id="{14D121E7-CD25-B745-9FD4-1EE81DC4297A}"/>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8931321" y="2615776"/>
              <a:ext cx="749808" cy="747312"/>
            </a:xfrm>
            <a:prstGeom prst="rect">
              <a:avLst/>
            </a:prstGeom>
          </p:spPr>
        </p:pic>
      </p:grpSp>
      <p:grpSp>
        <p:nvGrpSpPr>
          <p:cNvPr id="85" name="Group 84">
            <a:extLst>
              <a:ext uri="{FF2B5EF4-FFF2-40B4-BE49-F238E27FC236}">
                <a16:creationId xmlns:a16="http://schemas.microsoft.com/office/drawing/2014/main" id="{3D2785E8-1E29-1044-B541-2C9526BE3576}"/>
              </a:ext>
            </a:extLst>
          </p:cNvPr>
          <p:cNvGrpSpPr/>
          <p:nvPr/>
        </p:nvGrpSpPr>
        <p:grpSpPr>
          <a:xfrm>
            <a:off x="8803608" y="4115017"/>
            <a:ext cx="2368185" cy="747312"/>
            <a:chOff x="8749252" y="4039938"/>
            <a:chExt cx="2368185" cy="747312"/>
          </a:xfrm>
        </p:grpSpPr>
        <p:pic>
          <p:nvPicPr>
            <p:cNvPr id="91" name="Picture 90">
              <a:extLst>
                <a:ext uri="{FF2B5EF4-FFF2-40B4-BE49-F238E27FC236}">
                  <a16:creationId xmlns:a16="http://schemas.microsoft.com/office/drawing/2014/main" id="{EB45B81E-F1AE-1B42-A1EC-8FC17FD8042A}"/>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10367629" y="4039938"/>
              <a:ext cx="749808" cy="747312"/>
            </a:xfrm>
            <a:prstGeom prst="rect">
              <a:avLst/>
            </a:prstGeom>
          </p:spPr>
        </p:pic>
        <p:pic>
          <p:nvPicPr>
            <p:cNvPr id="92" name="Picture 91">
              <a:extLst>
                <a:ext uri="{FF2B5EF4-FFF2-40B4-BE49-F238E27FC236}">
                  <a16:creationId xmlns:a16="http://schemas.microsoft.com/office/drawing/2014/main" id="{ABE4191D-8C7D-5F44-858D-FA21F8BAC9EA}"/>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9558441" y="4039938"/>
              <a:ext cx="749808" cy="747312"/>
            </a:xfrm>
            <a:prstGeom prst="rect">
              <a:avLst/>
            </a:prstGeom>
          </p:spPr>
        </p:pic>
        <p:pic>
          <p:nvPicPr>
            <p:cNvPr id="93" name="Picture 92">
              <a:extLst>
                <a:ext uri="{FF2B5EF4-FFF2-40B4-BE49-F238E27FC236}">
                  <a16:creationId xmlns:a16="http://schemas.microsoft.com/office/drawing/2014/main" id="{B24601B8-6680-D24F-9B20-3D77367E295F}"/>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8749252" y="4039938"/>
              <a:ext cx="749808" cy="747312"/>
            </a:xfrm>
            <a:prstGeom prst="rect">
              <a:avLst/>
            </a:prstGeom>
          </p:spPr>
        </p:pic>
      </p:grpSp>
      <p:sp>
        <p:nvSpPr>
          <p:cNvPr id="86" name="TextBox 37">
            <a:extLst>
              <a:ext uri="{FF2B5EF4-FFF2-40B4-BE49-F238E27FC236}">
                <a16:creationId xmlns:a16="http://schemas.microsoft.com/office/drawing/2014/main" id="{A7E17399-E9EC-8045-B54D-EF2C85F81217}"/>
              </a:ext>
            </a:extLst>
          </p:cNvPr>
          <p:cNvSpPr txBox="1">
            <a:spLocks noChangeArrowheads="1"/>
          </p:cNvSpPr>
          <p:nvPr/>
        </p:nvSpPr>
        <p:spPr bwMode="auto">
          <a:xfrm>
            <a:off x="8609256" y="2350261"/>
            <a:ext cx="990989" cy="276999"/>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200" b="1" dirty="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Web Tier</a:t>
            </a:r>
          </a:p>
        </p:txBody>
      </p:sp>
      <p:sp>
        <p:nvSpPr>
          <p:cNvPr id="87" name="TextBox 37">
            <a:extLst>
              <a:ext uri="{FF2B5EF4-FFF2-40B4-BE49-F238E27FC236}">
                <a16:creationId xmlns:a16="http://schemas.microsoft.com/office/drawing/2014/main" id="{4374419A-0AE3-A144-B49A-7ED44BB48DBB}"/>
              </a:ext>
            </a:extLst>
          </p:cNvPr>
          <p:cNvSpPr txBox="1">
            <a:spLocks noChangeArrowheads="1"/>
          </p:cNvSpPr>
          <p:nvPr/>
        </p:nvSpPr>
        <p:spPr bwMode="auto">
          <a:xfrm>
            <a:off x="8597454" y="3761454"/>
            <a:ext cx="880927" cy="276999"/>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200" b="1" dirty="0">
                <a:solidFill>
                  <a:schemeClr val="tx1">
                    <a:lumMod val="65000"/>
                    <a:lumOff val="3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App Tier</a:t>
            </a:r>
          </a:p>
        </p:txBody>
      </p:sp>
      <p:pic>
        <p:nvPicPr>
          <p:cNvPr id="88" name="Picture 87">
            <a:extLst>
              <a:ext uri="{FF2B5EF4-FFF2-40B4-BE49-F238E27FC236}">
                <a16:creationId xmlns:a16="http://schemas.microsoft.com/office/drawing/2014/main" id="{90A70ACA-A1DF-CB9C-E193-26E4D15350F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354063" y="5394273"/>
            <a:ext cx="346841" cy="457200"/>
          </a:xfrm>
          <a:prstGeom prst="rect">
            <a:avLst/>
          </a:prstGeom>
        </p:spPr>
      </p:pic>
      <p:pic>
        <p:nvPicPr>
          <p:cNvPr id="89" name="Picture 88">
            <a:extLst>
              <a:ext uri="{FF2B5EF4-FFF2-40B4-BE49-F238E27FC236}">
                <a16:creationId xmlns:a16="http://schemas.microsoft.com/office/drawing/2014/main" id="{E0024E70-E83E-69D4-183E-70007CCF95E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133812" y="5394273"/>
            <a:ext cx="346841" cy="457200"/>
          </a:xfrm>
          <a:prstGeom prst="rect">
            <a:avLst/>
          </a:prstGeom>
        </p:spPr>
      </p:pic>
      <p:pic>
        <p:nvPicPr>
          <p:cNvPr id="90" name="Picture 89">
            <a:extLst>
              <a:ext uri="{FF2B5EF4-FFF2-40B4-BE49-F238E27FC236}">
                <a16:creationId xmlns:a16="http://schemas.microsoft.com/office/drawing/2014/main" id="{3B8335CE-4624-1BF8-1E88-D88B7D27550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842040" y="5394273"/>
            <a:ext cx="346841" cy="457200"/>
          </a:xfrm>
          <a:prstGeom prst="rect">
            <a:avLst/>
          </a:prstGeom>
        </p:spPr>
      </p:pic>
    </p:spTree>
    <p:extLst>
      <p:ext uri="{BB962C8B-B14F-4D97-AF65-F5344CB8AC3E}">
        <p14:creationId xmlns:p14="http://schemas.microsoft.com/office/powerpoint/2010/main" val="3969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12333780-451D-624F-B22F-AC4418A3F4D9}"/>
              </a:ext>
            </a:extLst>
          </p:cNvPr>
          <p:cNvSpPr>
            <a:spLocks noGrp="1"/>
          </p:cNvSpPr>
          <p:nvPr/>
        </p:nvSpPr>
        <p:spPr>
          <a:xfrm>
            <a:off x="1270489" y="713928"/>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a:solidFill>
                  <a:schemeClr val="tx1"/>
                </a:solidFill>
                <a:latin typeface="Amazon Ember Light"/>
              </a:rPr>
              <a:t>How to Update Stacks</a:t>
            </a:r>
          </a:p>
        </p:txBody>
      </p:sp>
      <p:grpSp>
        <p:nvGrpSpPr>
          <p:cNvPr id="10" name="Group 9">
            <a:extLst>
              <a:ext uri="{FF2B5EF4-FFF2-40B4-BE49-F238E27FC236}">
                <a16:creationId xmlns:a16="http://schemas.microsoft.com/office/drawing/2014/main" id="{B30A5847-4F9F-4D4E-AAFE-2E0F19AF345B}"/>
              </a:ext>
            </a:extLst>
          </p:cNvPr>
          <p:cNvGrpSpPr/>
          <p:nvPr/>
        </p:nvGrpSpPr>
        <p:grpSpPr>
          <a:xfrm>
            <a:off x="503770" y="2805870"/>
            <a:ext cx="11061494" cy="1740460"/>
            <a:chOff x="607337" y="3108855"/>
            <a:chExt cx="11061494" cy="1740460"/>
          </a:xfrm>
        </p:grpSpPr>
        <p:sp>
          <p:nvSpPr>
            <p:cNvPr id="14" name="TextBox 22">
              <a:extLst>
                <a:ext uri="{FF2B5EF4-FFF2-40B4-BE49-F238E27FC236}">
                  <a16:creationId xmlns:a16="http://schemas.microsoft.com/office/drawing/2014/main" id="{7E6424ED-C335-2D41-9AD1-9F49F512C9BC}"/>
                </a:ext>
              </a:extLst>
            </p:cNvPr>
            <p:cNvSpPr txBox="1"/>
            <p:nvPr/>
          </p:nvSpPr>
          <p:spPr>
            <a:xfrm>
              <a:off x="7909975" y="3137209"/>
              <a:ext cx="1899391" cy="646331"/>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dirty="0">
                  <a:latin typeface="Amazon Ember Light" charset="0"/>
                  <a:ea typeface="Amazon Ember Light" charset="0"/>
                  <a:cs typeface="Amazon Ember Light" charset="0"/>
                </a:rPr>
                <a:t>Run</a:t>
              </a:r>
            </a:p>
            <a:p>
              <a:pPr algn="ctr"/>
              <a:r>
                <a:rPr lang="en-US" sz="1750" dirty="0">
                  <a:latin typeface="Amazon Ember Light"/>
                  <a:ea typeface="Amazon Ember Light" charset="0"/>
                  <a:cs typeface="Amazon Ember Light" charset="0"/>
                </a:rPr>
                <a:t>the change set</a:t>
              </a:r>
            </a:p>
          </p:txBody>
        </p:sp>
        <p:pic>
          <p:nvPicPr>
            <p:cNvPr id="15" name="Picture 14">
              <a:extLst>
                <a:ext uri="{FF2B5EF4-FFF2-40B4-BE49-F238E27FC236}">
                  <a16:creationId xmlns:a16="http://schemas.microsoft.com/office/drawing/2014/main" id="{A5AD3B99-8171-7D44-8712-CFF70CCE8F8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3850" y="3349338"/>
              <a:ext cx="1271380" cy="1040219"/>
            </a:xfrm>
            <a:prstGeom prst="rect">
              <a:avLst/>
            </a:prstGeom>
          </p:spPr>
        </p:pic>
        <p:pic>
          <p:nvPicPr>
            <p:cNvPr id="16" name="Picture 15">
              <a:extLst>
                <a:ext uri="{FF2B5EF4-FFF2-40B4-BE49-F238E27FC236}">
                  <a16:creationId xmlns:a16="http://schemas.microsoft.com/office/drawing/2014/main" id="{1C2650DC-AD68-584D-9D9C-9CC58A1E284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935353" y="3108855"/>
              <a:ext cx="1110220" cy="1371448"/>
            </a:xfrm>
            <a:prstGeom prst="rect">
              <a:avLst/>
            </a:prstGeom>
          </p:spPr>
        </p:pic>
        <p:pic>
          <p:nvPicPr>
            <p:cNvPr id="17" name="Picture 16">
              <a:extLst>
                <a:ext uri="{FF2B5EF4-FFF2-40B4-BE49-F238E27FC236}">
                  <a16:creationId xmlns:a16="http://schemas.microsoft.com/office/drawing/2014/main" id="{FCCAE8A5-85EA-7A46-87C8-345B696239A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052207" y="3389586"/>
              <a:ext cx="912473" cy="1040219"/>
            </a:xfrm>
            <a:prstGeom prst="rect">
              <a:avLst/>
            </a:prstGeom>
          </p:spPr>
        </p:pic>
        <p:cxnSp>
          <p:nvCxnSpPr>
            <p:cNvPr id="18" name="Straight Arrow Connector 17">
              <a:extLst>
                <a:ext uri="{FF2B5EF4-FFF2-40B4-BE49-F238E27FC236}">
                  <a16:creationId xmlns:a16="http://schemas.microsoft.com/office/drawing/2014/main" id="{69E8E733-D29C-3C43-87AF-D81E5DF65829}"/>
                </a:ext>
              </a:extLst>
            </p:cNvPr>
            <p:cNvCxnSpPr/>
            <p:nvPr/>
          </p:nvCxnSpPr>
          <p:spPr>
            <a:xfrm>
              <a:off x="2388358" y="3869447"/>
              <a:ext cx="144666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8EA8C7A9-5213-4948-988D-575E175304F6}"/>
                </a:ext>
              </a:extLst>
            </p:cNvPr>
            <p:cNvCxnSpPr/>
            <p:nvPr/>
          </p:nvCxnSpPr>
          <p:spPr>
            <a:xfrm>
              <a:off x="5195922" y="3875538"/>
              <a:ext cx="144666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1AD62AB4-1B53-C94C-BE33-C29918C7C2DB}"/>
                </a:ext>
              </a:extLst>
            </p:cNvPr>
            <p:cNvCxnSpPr/>
            <p:nvPr/>
          </p:nvCxnSpPr>
          <p:spPr>
            <a:xfrm>
              <a:off x="8136340" y="3889881"/>
              <a:ext cx="1446663"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50">
              <a:extLst>
                <a:ext uri="{FF2B5EF4-FFF2-40B4-BE49-F238E27FC236}">
                  <a16:creationId xmlns:a16="http://schemas.microsoft.com/office/drawing/2014/main" id="{C36451D1-7145-2542-8529-114B95169B4B}"/>
                </a:ext>
              </a:extLst>
            </p:cNvPr>
            <p:cNvSpPr txBox="1"/>
            <p:nvPr/>
          </p:nvSpPr>
          <p:spPr>
            <a:xfrm>
              <a:off x="607337" y="4480303"/>
              <a:ext cx="1555234" cy="369012"/>
            </a:xfrm>
            <a:prstGeom prst="rect">
              <a:avLst/>
            </a:prstGeom>
            <a:noFill/>
          </p:spPr>
          <p:txBody>
            <a:bodyPr wrap="non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dirty="0">
                  <a:latin typeface="Amazon Ember Light" charset="0"/>
                  <a:ea typeface="Amazon Ember Light" charset="0"/>
                  <a:cs typeface="Amazon Ember Light" charset="0"/>
                </a:rPr>
                <a:t>Original stack</a:t>
              </a:r>
            </a:p>
          </p:txBody>
        </p:sp>
        <p:sp>
          <p:nvSpPr>
            <p:cNvPr id="22" name="TextBox 51">
              <a:extLst>
                <a:ext uri="{FF2B5EF4-FFF2-40B4-BE49-F238E27FC236}">
                  <a16:creationId xmlns:a16="http://schemas.microsoft.com/office/drawing/2014/main" id="{DF803B6B-0930-CF4C-A5AF-13980E1AE9AD}"/>
                </a:ext>
              </a:extLst>
            </p:cNvPr>
            <p:cNvSpPr txBox="1"/>
            <p:nvPr/>
          </p:nvSpPr>
          <p:spPr>
            <a:xfrm>
              <a:off x="3850249" y="4480303"/>
              <a:ext cx="1316387" cy="369012"/>
            </a:xfrm>
            <a:prstGeom prst="rect">
              <a:avLst/>
            </a:prstGeom>
            <a:noFill/>
          </p:spPr>
          <p:txBody>
            <a:bodyPr wrap="non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dirty="0">
                  <a:latin typeface="Amazon Ember Light" charset="0"/>
                  <a:ea typeface="Amazon Ember Light" charset="0"/>
                  <a:cs typeface="Amazon Ember Light" charset="0"/>
                </a:rPr>
                <a:t>Change set</a:t>
              </a:r>
            </a:p>
          </p:txBody>
        </p:sp>
        <p:sp>
          <p:nvSpPr>
            <p:cNvPr id="23" name="TextBox 52">
              <a:extLst>
                <a:ext uri="{FF2B5EF4-FFF2-40B4-BE49-F238E27FC236}">
                  <a16:creationId xmlns:a16="http://schemas.microsoft.com/office/drawing/2014/main" id="{CAD761D4-4194-254E-9072-EEE838217EBD}"/>
                </a:ext>
              </a:extLst>
            </p:cNvPr>
            <p:cNvSpPr txBox="1"/>
            <p:nvPr/>
          </p:nvSpPr>
          <p:spPr>
            <a:xfrm>
              <a:off x="6404668" y="4480303"/>
              <a:ext cx="1837362" cy="369012"/>
            </a:xfrm>
            <a:prstGeom prst="rect">
              <a:avLst/>
            </a:prstGeom>
            <a:noFill/>
          </p:spPr>
          <p:txBody>
            <a:bodyPr wrap="non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dirty="0">
                  <a:latin typeface="Amazon Ember Light" charset="0"/>
                  <a:ea typeface="Amazon Ember Light" charset="0"/>
                  <a:cs typeface="Amazon Ember Light" charset="0"/>
                </a:rPr>
                <a:t>Inspect changes</a:t>
              </a:r>
            </a:p>
          </p:txBody>
        </p:sp>
        <p:sp>
          <p:nvSpPr>
            <p:cNvPr id="24" name="TextBox 53">
              <a:extLst>
                <a:ext uri="{FF2B5EF4-FFF2-40B4-BE49-F238E27FC236}">
                  <a16:creationId xmlns:a16="http://schemas.microsoft.com/office/drawing/2014/main" id="{412A8368-B221-F449-9D48-3ACCE747D5C5}"/>
                </a:ext>
              </a:extLst>
            </p:cNvPr>
            <p:cNvSpPr txBox="1"/>
            <p:nvPr/>
          </p:nvSpPr>
          <p:spPr>
            <a:xfrm>
              <a:off x="2222225" y="3137209"/>
              <a:ext cx="1780066" cy="646331"/>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dirty="0">
                  <a:latin typeface="Amazon Ember Light" charset="0"/>
                  <a:ea typeface="Amazon Ember Light" charset="0"/>
                  <a:cs typeface="Amazon Ember Light" charset="0"/>
                </a:rPr>
                <a:t>Create</a:t>
              </a:r>
            </a:p>
            <a:p>
              <a:pPr algn="ctr"/>
              <a:r>
                <a:rPr lang="en-US" sz="1750" dirty="0">
                  <a:latin typeface="Amazon Ember Light"/>
                  <a:ea typeface="Amazon Ember Light" charset="0"/>
                  <a:cs typeface="Amazon Ember Light" charset="0"/>
                </a:rPr>
                <a:t>a change set</a:t>
              </a:r>
            </a:p>
          </p:txBody>
        </p:sp>
        <p:sp>
          <p:nvSpPr>
            <p:cNvPr id="25" name="TextBox 54">
              <a:extLst>
                <a:ext uri="{FF2B5EF4-FFF2-40B4-BE49-F238E27FC236}">
                  <a16:creationId xmlns:a16="http://schemas.microsoft.com/office/drawing/2014/main" id="{5F47E86E-A6F1-E04C-A852-8A9E9D07F796}"/>
                </a:ext>
              </a:extLst>
            </p:cNvPr>
            <p:cNvSpPr txBox="1"/>
            <p:nvPr/>
          </p:nvSpPr>
          <p:spPr>
            <a:xfrm>
              <a:off x="5035807" y="3142908"/>
              <a:ext cx="1768420" cy="646331"/>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dirty="0">
                  <a:latin typeface="Amazon Ember Light" charset="0"/>
                  <a:ea typeface="Amazon Ember Light" charset="0"/>
                  <a:cs typeface="Amazon Ember Light" charset="0"/>
                </a:rPr>
                <a:t>View</a:t>
              </a:r>
            </a:p>
            <a:p>
              <a:pPr algn="ctr"/>
              <a:r>
                <a:rPr lang="en-US" sz="1750">
                  <a:latin typeface="Amazon Ember Light"/>
                  <a:ea typeface="Amazon Ember Light" charset="0"/>
                  <a:cs typeface="Amazon Ember Light" charset="0"/>
                </a:rPr>
                <a:t>the change set</a:t>
              </a:r>
            </a:p>
          </p:txBody>
        </p:sp>
        <p:sp>
          <p:nvSpPr>
            <p:cNvPr id="26" name="TextBox 57">
              <a:extLst>
                <a:ext uri="{FF2B5EF4-FFF2-40B4-BE49-F238E27FC236}">
                  <a16:creationId xmlns:a16="http://schemas.microsoft.com/office/drawing/2014/main" id="{F899EB81-5562-7042-9E9B-825A85D373DB}"/>
                </a:ext>
              </a:extLst>
            </p:cNvPr>
            <p:cNvSpPr txBox="1"/>
            <p:nvPr/>
          </p:nvSpPr>
          <p:spPr>
            <a:xfrm>
              <a:off x="9312096" y="4458225"/>
              <a:ext cx="2356735" cy="369012"/>
            </a:xfrm>
            <a:prstGeom prst="rect">
              <a:avLst/>
            </a:prstGeom>
            <a:noFill/>
          </p:spPr>
          <p:txBody>
            <a:bodyPr wrap="non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dirty="0">
                  <a:latin typeface="Amazon Ember Light" charset="0"/>
                  <a:ea typeface="Amazon Ember Light" charset="0"/>
                  <a:cs typeface="Amazon Ember Light" charset="0"/>
                </a:rPr>
                <a:t>AWS CloudFormation</a:t>
              </a:r>
            </a:p>
          </p:txBody>
        </p:sp>
        <p:pic>
          <p:nvPicPr>
            <p:cNvPr id="27" name="Picture 26">
              <a:extLst>
                <a:ext uri="{FF2B5EF4-FFF2-40B4-BE49-F238E27FC236}">
                  <a16:creationId xmlns:a16="http://schemas.microsoft.com/office/drawing/2014/main" id="{8793EBBE-CF80-604F-BAC0-8DBEEC3991D6}"/>
                </a:ext>
              </a:extLst>
            </p:cNvPr>
            <p:cNvPicPr>
              <a:picLocks noChangeAspect="1"/>
            </p:cNvPicPr>
            <p:nvPr/>
          </p:nvPicPr>
          <p:blipFill>
            <a:blip r:embed="rId10"/>
            <a:stretch>
              <a:fillRect/>
            </a:stretch>
          </p:blipFill>
          <p:spPr>
            <a:xfrm>
              <a:off x="6633095" y="3117440"/>
              <a:ext cx="1266145" cy="1266145"/>
            </a:xfrm>
            <a:prstGeom prst="rect">
              <a:avLst/>
            </a:prstGeom>
          </p:spPr>
        </p:pic>
      </p:grpSp>
      <p:sp>
        <p:nvSpPr>
          <p:cNvPr id="13" name="TextBox 17">
            <a:extLst>
              <a:ext uri="{FF2B5EF4-FFF2-40B4-BE49-F238E27FC236}">
                <a16:creationId xmlns:a16="http://schemas.microsoft.com/office/drawing/2014/main" id="{2D6148A0-3634-D948-85B4-2B14C774C98A}"/>
              </a:ext>
            </a:extLst>
          </p:cNvPr>
          <p:cNvSpPr txBox="1"/>
          <p:nvPr/>
        </p:nvSpPr>
        <p:spPr>
          <a:xfrm>
            <a:off x="6700660" y="5913097"/>
            <a:ext cx="5175917" cy="922368"/>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750" dirty="0">
                <a:latin typeface="Amazon Ember Light"/>
                <a:ea typeface="Amazon Ember Light" panose="020B0403020204020204" pitchFamily="34" charset="0"/>
                <a:cs typeface="Amazon Ember Light" panose="020B0403020204020204" pitchFamily="34" charset="0"/>
              </a:rPr>
              <a:t>When a resource's stack is updated or deleted, use a </a:t>
            </a:r>
            <a:r>
              <a:rPr lang="en-US" sz="1750" dirty="0" err="1">
                <a:latin typeface="Amazon Ember Light"/>
                <a:ea typeface="Amazon Ember Light" panose="020B0403020204020204" pitchFamily="34" charset="0"/>
                <a:cs typeface="Amazon Ember Light" panose="020B0403020204020204" pitchFamily="34" charset="0"/>
              </a:rPr>
              <a:t>DeletionPolicy</a:t>
            </a:r>
            <a:r>
              <a:rPr lang="en-US" sz="1750" dirty="0">
                <a:latin typeface="Amazon Ember Light"/>
                <a:ea typeface="Amazon Ember Light" panose="020B0403020204020204" pitchFamily="34" charset="0"/>
                <a:cs typeface="Amazon Ember Light" panose="020B0403020204020204" pitchFamily="34" charset="0"/>
              </a:rPr>
              <a:t> to protect it or create its backup</a:t>
            </a:r>
          </a:p>
          <a:p>
            <a:endParaRPr lang="en-US"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338038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1" name="Title 1">
            <a:extLst>
              <a:ext uri="{FF2B5EF4-FFF2-40B4-BE49-F238E27FC236}">
                <a16:creationId xmlns:a16="http://schemas.microsoft.com/office/drawing/2014/main" id="{12333780-451D-624F-B22F-AC4418A3F4D9}"/>
              </a:ext>
            </a:extLst>
          </p:cNvPr>
          <p:cNvSpPr>
            <a:spLocks noGrp="1"/>
          </p:cNvSpPr>
          <p:nvPr/>
        </p:nvSpPr>
        <p:spPr>
          <a:xfrm>
            <a:off x="1550803" y="711093"/>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a:solidFill>
                  <a:schemeClr val="tx1"/>
                </a:solidFill>
              </a:rPr>
              <a:t>Design Example</a:t>
            </a:r>
          </a:p>
        </p:txBody>
      </p:sp>
      <p:sp>
        <p:nvSpPr>
          <p:cNvPr id="12" name="Content Placeholder 2">
            <a:extLst>
              <a:ext uri="{FF2B5EF4-FFF2-40B4-BE49-F238E27FC236}">
                <a16:creationId xmlns:a16="http://schemas.microsoft.com/office/drawing/2014/main" id="{8ADC53FD-64F1-E149-8F7C-1679ADD61134}"/>
              </a:ext>
            </a:extLst>
          </p:cNvPr>
          <p:cNvSpPr>
            <a:spLocks noGrp="1"/>
          </p:cNvSpPr>
          <p:nvPr/>
        </p:nvSpPr>
        <p:spPr>
          <a:xfrm>
            <a:off x="643363" y="2069771"/>
            <a:ext cx="10940405" cy="672020"/>
          </a:xfrm>
          <a:prstGeom prst="rect">
            <a:avLst/>
          </a:prstGeom>
        </p:spPr>
        <p:txBody>
          <a:bodyPr vert="horz" lIns="91440" tIns="45720" rIns="91440" bIns="45720" rtlCol="0">
            <a:normAutofit/>
          </a:bodyPr>
          <a:lstStyle>
            <a:lvl1pPr marL="228562" indent="-319990" algn="l" defTabSz="914199" rtl="0" eaLnBrk="1" latinLnBrk="0" hangingPunct="1">
              <a:lnSpc>
                <a:spcPct val="90000"/>
              </a:lnSpc>
              <a:spcBef>
                <a:spcPts val="1000"/>
              </a:spcBef>
              <a:buClr>
                <a:srgbClr val="FF9900"/>
              </a:buClr>
              <a:buFont typeface="Arial" panose="020B0604020202020204" pitchFamily="34" charset="0"/>
              <a:buChar char="•"/>
              <a:defRPr sz="2799" b="0" i="0" kern="1200">
                <a:solidFill>
                  <a:schemeClr val="tx1"/>
                </a:solidFill>
                <a:latin typeface="Amazon Ember Light" charset="0"/>
                <a:ea typeface="Amazon Ember Light" charset="0"/>
                <a:cs typeface="Amazon Ember Light" charset="0"/>
              </a:defRPr>
            </a:lvl1pPr>
            <a:lvl2pPr marL="685690" indent="-319990" algn="l" defTabSz="914199" rtl="0" eaLnBrk="1" latinLnBrk="0" hangingPunct="1">
              <a:lnSpc>
                <a:spcPct val="90000"/>
              </a:lnSpc>
              <a:spcBef>
                <a:spcPts val="500"/>
              </a:spcBef>
              <a:buClr>
                <a:srgbClr val="FF9900"/>
              </a:buClr>
              <a:buFont typeface="Arial" panose="020B0604020202020204" pitchFamily="34" charset="0"/>
              <a:buChar char="•"/>
              <a:defRPr sz="2399" b="0" i="0" kern="1200">
                <a:solidFill>
                  <a:schemeClr val="tx1"/>
                </a:solidFill>
                <a:latin typeface="Amazon Ember Light" charset="0"/>
                <a:ea typeface="Amazon Ember Light" charset="0"/>
                <a:cs typeface="Amazon Ember Light" charset="0"/>
              </a:defRPr>
            </a:lvl2pPr>
            <a:lvl3pPr marL="1142817" indent="-319990" algn="l" defTabSz="914199" rtl="0" eaLnBrk="1" latinLnBrk="0" hangingPunct="1">
              <a:lnSpc>
                <a:spcPct val="90000"/>
              </a:lnSpc>
              <a:spcBef>
                <a:spcPts val="500"/>
              </a:spcBef>
              <a:buClr>
                <a:srgbClr val="FF9900"/>
              </a:buClr>
              <a:buFont typeface="Arial" panose="020B0604020202020204" pitchFamily="34" charset="0"/>
              <a:buChar char="•"/>
              <a:defRPr sz="1999" b="0" i="0" kern="1200">
                <a:solidFill>
                  <a:schemeClr val="tx1"/>
                </a:solidFill>
                <a:latin typeface="Amazon Ember Light" charset="0"/>
                <a:ea typeface="Amazon Ember Light" charset="0"/>
                <a:cs typeface="Amazon Ember Light" charset="0"/>
              </a:defRPr>
            </a:lvl3pPr>
            <a:lvl4pPr marL="1599944" indent="-228562" algn="l" defTabSz="914199" rtl="0" eaLnBrk="1" latinLnBrk="0" hangingPunct="1">
              <a:lnSpc>
                <a:spcPct val="90000"/>
              </a:lnSpc>
              <a:spcBef>
                <a:spcPts val="500"/>
              </a:spcBef>
              <a:buFontTx/>
              <a:buBlip>
                <a:blip r:embed="rId7"/>
              </a:buBlip>
              <a:defRPr sz="1799" b="0" i="0" kern="1200">
                <a:solidFill>
                  <a:schemeClr val="tx1"/>
                </a:solidFill>
                <a:latin typeface="Amazon Ember Light" charset="0"/>
                <a:ea typeface="Amazon Ember Light" charset="0"/>
                <a:cs typeface="Amazon Ember Light" charset="0"/>
              </a:defRPr>
            </a:lvl4pPr>
            <a:lvl5pPr marL="2057072" indent="-228562" algn="l" defTabSz="914199" rtl="0" eaLnBrk="1" latinLnBrk="0" hangingPunct="1">
              <a:lnSpc>
                <a:spcPct val="90000"/>
              </a:lnSpc>
              <a:spcBef>
                <a:spcPts val="500"/>
              </a:spcBef>
              <a:buFontTx/>
              <a:buBlip>
                <a:blip r:embed="rId7"/>
              </a:buBlip>
              <a:defRPr sz="1799" b="0" i="0" kern="1200">
                <a:solidFill>
                  <a:schemeClr val="tx1"/>
                </a:solidFill>
                <a:latin typeface="Amazon Ember Light" charset="0"/>
                <a:ea typeface="Amazon Ember Light" charset="0"/>
                <a:cs typeface="Amazon Ember Light" charset="0"/>
              </a:defRPr>
            </a:lvl5pPr>
            <a:lvl6pPr marL="2514047"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1146"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82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3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 layered architecture</a:t>
            </a:r>
          </a:p>
        </p:txBody>
      </p:sp>
      <p:sp>
        <p:nvSpPr>
          <p:cNvPr id="13" name="TextBox 40">
            <a:extLst>
              <a:ext uri="{FF2B5EF4-FFF2-40B4-BE49-F238E27FC236}">
                <a16:creationId xmlns:a16="http://schemas.microsoft.com/office/drawing/2014/main" id="{8E32E27D-684A-B045-8852-91E25E1E54F5}"/>
              </a:ext>
            </a:extLst>
          </p:cNvPr>
          <p:cNvSpPr txBox="1"/>
          <p:nvPr/>
        </p:nvSpPr>
        <p:spPr>
          <a:xfrm>
            <a:off x="1756766" y="3137505"/>
            <a:ext cx="2012451" cy="369332"/>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r"/>
            <a:r>
              <a:rPr lang="en-US" sz="1750" dirty="0">
                <a:latin typeface="Amazon Ember Light"/>
                <a:ea typeface="Amazon Ember Light" charset="0"/>
                <a:cs typeface="Amazon Ember Light" charset="0"/>
              </a:rPr>
              <a:t>Frontend</a:t>
            </a:r>
            <a:endParaRPr lang="en-US" dirty="0">
              <a:latin typeface="Amazon Ember Light" charset="0"/>
              <a:ea typeface="Amazon Ember Light" charset="0"/>
              <a:cs typeface="Amazon Ember Light" charset="0"/>
            </a:endParaRPr>
          </a:p>
        </p:txBody>
      </p:sp>
      <p:sp>
        <p:nvSpPr>
          <p:cNvPr id="14" name="TextBox 41">
            <a:extLst>
              <a:ext uri="{FF2B5EF4-FFF2-40B4-BE49-F238E27FC236}">
                <a16:creationId xmlns:a16="http://schemas.microsoft.com/office/drawing/2014/main" id="{37B7125A-C2BF-CA43-A521-B7FB74AB83A1}"/>
              </a:ext>
            </a:extLst>
          </p:cNvPr>
          <p:cNvSpPr txBox="1"/>
          <p:nvPr/>
        </p:nvSpPr>
        <p:spPr>
          <a:xfrm>
            <a:off x="1756764" y="3824327"/>
            <a:ext cx="2012451" cy="379656"/>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r"/>
            <a:r>
              <a:rPr lang="en-US" dirty="0">
                <a:latin typeface="Amazon Ember Light" charset="0"/>
                <a:ea typeface="Amazon Ember Light" charset="0"/>
                <a:cs typeface="Amazon Ember Light" charset="0"/>
              </a:rPr>
              <a:t>Backend</a:t>
            </a:r>
          </a:p>
        </p:txBody>
      </p:sp>
      <p:sp>
        <p:nvSpPr>
          <p:cNvPr id="15" name="TextBox 42">
            <a:extLst>
              <a:ext uri="{FF2B5EF4-FFF2-40B4-BE49-F238E27FC236}">
                <a16:creationId xmlns:a16="http://schemas.microsoft.com/office/drawing/2014/main" id="{16A6B2C3-9A8E-3C4D-B89F-475F2EF653B2}"/>
              </a:ext>
            </a:extLst>
          </p:cNvPr>
          <p:cNvSpPr txBox="1"/>
          <p:nvPr/>
        </p:nvSpPr>
        <p:spPr>
          <a:xfrm>
            <a:off x="1756765" y="4474695"/>
            <a:ext cx="2012451" cy="379656"/>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r"/>
            <a:r>
              <a:rPr lang="en-US" dirty="0">
                <a:latin typeface="Amazon Ember Light" charset="0"/>
                <a:ea typeface="Amazon Ember Light" charset="0"/>
                <a:cs typeface="Amazon Ember Light" charset="0"/>
              </a:rPr>
              <a:t>Shared</a:t>
            </a:r>
          </a:p>
        </p:txBody>
      </p:sp>
      <p:sp>
        <p:nvSpPr>
          <p:cNvPr id="16" name="TextBox 43">
            <a:extLst>
              <a:ext uri="{FF2B5EF4-FFF2-40B4-BE49-F238E27FC236}">
                <a16:creationId xmlns:a16="http://schemas.microsoft.com/office/drawing/2014/main" id="{2D4609F0-C6D5-254C-A148-70C16FEE6476}"/>
              </a:ext>
            </a:extLst>
          </p:cNvPr>
          <p:cNvSpPr txBox="1"/>
          <p:nvPr/>
        </p:nvSpPr>
        <p:spPr>
          <a:xfrm>
            <a:off x="2361449" y="5141397"/>
            <a:ext cx="2012451" cy="369332"/>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b="0" dirty="0"/>
              <a:t>Base network</a:t>
            </a:r>
          </a:p>
        </p:txBody>
      </p:sp>
      <p:sp>
        <p:nvSpPr>
          <p:cNvPr id="17" name="TextBox 44">
            <a:extLst>
              <a:ext uri="{FF2B5EF4-FFF2-40B4-BE49-F238E27FC236}">
                <a16:creationId xmlns:a16="http://schemas.microsoft.com/office/drawing/2014/main" id="{02679E1C-C446-7849-B71B-B49D70D603DD}"/>
              </a:ext>
            </a:extLst>
          </p:cNvPr>
          <p:cNvSpPr txBox="1"/>
          <p:nvPr/>
        </p:nvSpPr>
        <p:spPr>
          <a:xfrm>
            <a:off x="1756765" y="5797775"/>
            <a:ext cx="2012451" cy="379656"/>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r"/>
            <a:r>
              <a:rPr lang="en-US" dirty="0">
                <a:latin typeface="Amazon Ember Light" panose="020B0403020204020204" pitchFamily="34" charset="0"/>
                <a:ea typeface="Amazon Ember Light" panose="020B0403020204020204" pitchFamily="34" charset="0"/>
                <a:cs typeface="Amazon Ember Light" panose="020B0403020204020204" pitchFamily="34" charset="0"/>
              </a:rPr>
              <a:t>Identity</a:t>
            </a:r>
          </a:p>
        </p:txBody>
      </p:sp>
      <p:grpSp>
        <p:nvGrpSpPr>
          <p:cNvPr id="18" name="Group 17">
            <a:extLst>
              <a:ext uri="{FF2B5EF4-FFF2-40B4-BE49-F238E27FC236}">
                <a16:creationId xmlns:a16="http://schemas.microsoft.com/office/drawing/2014/main" id="{C25F0FDF-98BD-F04D-865E-0A17E6084608}"/>
              </a:ext>
            </a:extLst>
          </p:cNvPr>
          <p:cNvGrpSpPr/>
          <p:nvPr/>
        </p:nvGrpSpPr>
        <p:grpSpPr>
          <a:xfrm>
            <a:off x="3848730" y="3062299"/>
            <a:ext cx="6961809" cy="3204447"/>
            <a:chOff x="10621299" y="2719916"/>
            <a:chExt cx="6961809" cy="3204447"/>
          </a:xfrm>
        </p:grpSpPr>
        <p:sp>
          <p:nvSpPr>
            <p:cNvPr id="19" name="Rounded Rectangle 2">
              <a:extLst>
                <a:ext uri="{FF2B5EF4-FFF2-40B4-BE49-F238E27FC236}">
                  <a16:creationId xmlns:a16="http://schemas.microsoft.com/office/drawing/2014/main" id="{EE19F13B-B20F-014C-A7B5-1C6BE1C046CA}"/>
                </a:ext>
              </a:extLst>
            </p:cNvPr>
            <p:cNvSpPr/>
            <p:nvPr/>
          </p:nvSpPr>
          <p:spPr>
            <a:xfrm>
              <a:off x="10621299" y="2719916"/>
              <a:ext cx="6961809" cy="586829"/>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CRM web interface, admin interface, analytics dashboard</a:t>
              </a:r>
            </a:p>
          </p:txBody>
        </p:sp>
        <p:sp>
          <p:nvSpPr>
            <p:cNvPr id="20" name="Rounded Rectangle 11">
              <a:extLst>
                <a:ext uri="{FF2B5EF4-FFF2-40B4-BE49-F238E27FC236}">
                  <a16:creationId xmlns:a16="http://schemas.microsoft.com/office/drawing/2014/main" id="{2D190D5E-17D0-E44A-8D11-74F88A6AC1E2}"/>
                </a:ext>
              </a:extLst>
            </p:cNvPr>
            <p:cNvSpPr/>
            <p:nvPr/>
          </p:nvSpPr>
          <p:spPr>
            <a:xfrm>
              <a:off x="10621299" y="3384726"/>
              <a:ext cx="6961809" cy="58682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defPPr>
                <a:defRPr lang="en-US"/>
              </a:defPPr>
              <a:lvl1pPr marL="0" algn="l" defTabSz="913395" rtl="0" eaLnBrk="1" latinLnBrk="0" hangingPunct="1">
                <a:defRPr sz="1798" kern="1200">
                  <a:solidFill>
                    <a:schemeClr val="dk1"/>
                  </a:solidFill>
                  <a:latin typeface="+mn-lt"/>
                  <a:ea typeface="+mn-ea"/>
                  <a:cs typeface="+mn-cs"/>
                </a:defRPr>
              </a:lvl1pPr>
              <a:lvl2pPr marL="456696" algn="l" defTabSz="913395" rtl="0" eaLnBrk="1" latinLnBrk="0" hangingPunct="1">
                <a:defRPr sz="1798" kern="1200">
                  <a:solidFill>
                    <a:schemeClr val="dk1"/>
                  </a:solidFill>
                  <a:latin typeface="+mn-lt"/>
                  <a:ea typeface="+mn-ea"/>
                  <a:cs typeface="+mn-cs"/>
                </a:defRPr>
              </a:lvl2pPr>
              <a:lvl3pPr marL="913395" algn="l" defTabSz="913395" rtl="0" eaLnBrk="1" latinLnBrk="0" hangingPunct="1">
                <a:defRPr sz="1798" kern="1200">
                  <a:solidFill>
                    <a:schemeClr val="dk1"/>
                  </a:solidFill>
                  <a:latin typeface="+mn-lt"/>
                  <a:ea typeface="+mn-ea"/>
                  <a:cs typeface="+mn-cs"/>
                </a:defRPr>
              </a:lvl3pPr>
              <a:lvl4pPr marL="1370091" algn="l" defTabSz="913395" rtl="0" eaLnBrk="1" latinLnBrk="0" hangingPunct="1">
                <a:defRPr sz="1798" kern="1200">
                  <a:solidFill>
                    <a:schemeClr val="dk1"/>
                  </a:solidFill>
                  <a:latin typeface="+mn-lt"/>
                  <a:ea typeface="+mn-ea"/>
                  <a:cs typeface="+mn-cs"/>
                </a:defRPr>
              </a:lvl4pPr>
              <a:lvl5pPr marL="1826787" algn="l" defTabSz="913395" rtl="0" eaLnBrk="1" latinLnBrk="0" hangingPunct="1">
                <a:defRPr sz="1798" kern="1200">
                  <a:solidFill>
                    <a:schemeClr val="dk1"/>
                  </a:solidFill>
                  <a:latin typeface="+mn-lt"/>
                  <a:ea typeface="+mn-ea"/>
                  <a:cs typeface="+mn-cs"/>
                </a:defRPr>
              </a:lvl5pPr>
              <a:lvl6pPr marL="2283486" algn="l" defTabSz="913395" rtl="0" eaLnBrk="1" latinLnBrk="0" hangingPunct="1">
                <a:defRPr sz="1798" kern="1200">
                  <a:solidFill>
                    <a:schemeClr val="dk1"/>
                  </a:solidFill>
                  <a:latin typeface="+mn-lt"/>
                  <a:ea typeface="+mn-ea"/>
                  <a:cs typeface="+mn-cs"/>
                </a:defRPr>
              </a:lvl6pPr>
              <a:lvl7pPr marL="2740183" algn="l" defTabSz="913395" rtl="0" eaLnBrk="1" latinLnBrk="0" hangingPunct="1">
                <a:defRPr sz="1798" kern="1200">
                  <a:solidFill>
                    <a:schemeClr val="dk1"/>
                  </a:solidFill>
                  <a:latin typeface="+mn-lt"/>
                  <a:ea typeface="+mn-ea"/>
                  <a:cs typeface="+mn-cs"/>
                </a:defRPr>
              </a:lvl7pPr>
              <a:lvl8pPr marL="3196881" algn="l" defTabSz="913395" rtl="0" eaLnBrk="1" latinLnBrk="0" hangingPunct="1">
                <a:defRPr sz="1798" kern="1200">
                  <a:solidFill>
                    <a:schemeClr val="dk1"/>
                  </a:solidFill>
                  <a:latin typeface="+mn-lt"/>
                  <a:ea typeface="+mn-ea"/>
                  <a:cs typeface="+mn-cs"/>
                </a:defRPr>
              </a:lvl8pPr>
              <a:lvl9pPr marL="3653578" algn="l" defTabSz="913395" rtl="0" eaLnBrk="1" latinLnBrk="0" hangingPunct="1">
                <a:defRPr sz="1798" kern="1200">
                  <a:solidFill>
                    <a:schemeClr val="dk1"/>
                  </a:solidFill>
                  <a:latin typeface="+mn-lt"/>
                  <a:ea typeface="+mn-ea"/>
                  <a:cs typeface="+mn-cs"/>
                </a:defRPr>
              </a:lvl9pPr>
            </a:lstStyle>
            <a:p>
              <a:pPr algn="ct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Customers, campaigns, products, marketing collateral, analytics</a:t>
              </a:r>
            </a:p>
          </p:txBody>
        </p:sp>
        <p:sp>
          <p:nvSpPr>
            <p:cNvPr id="21" name="Rounded Rectangle 12">
              <a:extLst>
                <a:ext uri="{FF2B5EF4-FFF2-40B4-BE49-F238E27FC236}">
                  <a16:creationId xmlns:a16="http://schemas.microsoft.com/office/drawing/2014/main" id="{CC6518B4-AB05-894C-A124-A42DBF0E5F53}"/>
                </a:ext>
              </a:extLst>
            </p:cNvPr>
            <p:cNvSpPr/>
            <p:nvPr/>
          </p:nvSpPr>
          <p:spPr>
            <a:xfrm>
              <a:off x="10621299" y="4030746"/>
              <a:ext cx="6961809" cy="586829"/>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r>
                <a:rPr lang="en-US" sz="2000" dirty="0">
                  <a:solidFill>
                    <a:schemeClr val="bg1"/>
                  </a:solidFill>
                  <a:latin typeface="Amazon Ember" panose="020B0603020204020204" pitchFamily="34" charset="0"/>
                  <a:ea typeface="Amazon Ember" panose="020B0603020204020204" pitchFamily="34" charset="0"/>
                  <a:cs typeface="Amazon Ember" panose="020B0603020204020204" pitchFamily="34" charset="0"/>
                </a:rPr>
                <a:t>CRM DBs, common monitoring/alarms, subnets, security groups</a:t>
              </a:r>
            </a:p>
          </p:txBody>
        </p:sp>
        <p:sp>
          <p:nvSpPr>
            <p:cNvPr id="22" name="Rounded Rectangle 13">
              <a:extLst>
                <a:ext uri="{FF2B5EF4-FFF2-40B4-BE49-F238E27FC236}">
                  <a16:creationId xmlns:a16="http://schemas.microsoft.com/office/drawing/2014/main" id="{A219175D-8A6C-D946-8CC3-6ED8BD9CC0D3}"/>
                </a:ext>
              </a:extLst>
            </p:cNvPr>
            <p:cNvSpPr/>
            <p:nvPr/>
          </p:nvSpPr>
          <p:spPr>
            <a:xfrm>
              <a:off x="10621299" y="4684140"/>
              <a:ext cx="6961809" cy="586829"/>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VPCs, internet gateways, VPNs, NATs</a:t>
              </a:r>
            </a:p>
          </p:txBody>
        </p:sp>
        <p:sp>
          <p:nvSpPr>
            <p:cNvPr id="23" name="Rounded Rectangle 14">
              <a:extLst>
                <a:ext uri="{FF2B5EF4-FFF2-40B4-BE49-F238E27FC236}">
                  <a16:creationId xmlns:a16="http://schemas.microsoft.com/office/drawing/2014/main" id="{3D8A8CFE-E1F3-0E4E-B072-D2BC629B28AF}"/>
                </a:ext>
              </a:extLst>
            </p:cNvPr>
            <p:cNvSpPr/>
            <p:nvPr/>
          </p:nvSpPr>
          <p:spPr>
            <a:xfrm>
              <a:off x="10621299" y="5337534"/>
              <a:ext cx="6961809" cy="586829"/>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defPPr>
                <a:defRPr lang="en-US"/>
              </a:defPPr>
              <a:lvl1pPr marL="0" algn="l" defTabSz="913395" rtl="0" eaLnBrk="1" latinLnBrk="0" hangingPunct="1">
                <a:defRPr sz="1798" kern="1200">
                  <a:solidFill>
                    <a:schemeClr val="dk1"/>
                  </a:solidFill>
                  <a:latin typeface="+mn-lt"/>
                  <a:ea typeface="+mn-ea"/>
                  <a:cs typeface="+mn-cs"/>
                </a:defRPr>
              </a:lvl1pPr>
              <a:lvl2pPr marL="456696" algn="l" defTabSz="913395" rtl="0" eaLnBrk="1" latinLnBrk="0" hangingPunct="1">
                <a:defRPr sz="1798" kern="1200">
                  <a:solidFill>
                    <a:schemeClr val="dk1"/>
                  </a:solidFill>
                  <a:latin typeface="+mn-lt"/>
                  <a:ea typeface="+mn-ea"/>
                  <a:cs typeface="+mn-cs"/>
                </a:defRPr>
              </a:lvl2pPr>
              <a:lvl3pPr marL="913395" algn="l" defTabSz="913395" rtl="0" eaLnBrk="1" latinLnBrk="0" hangingPunct="1">
                <a:defRPr sz="1798" kern="1200">
                  <a:solidFill>
                    <a:schemeClr val="dk1"/>
                  </a:solidFill>
                  <a:latin typeface="+mn-lt"/>
                  <a:ea typeface="+mn-ea"/>
                  <a:cs typeface="+mn-cs"/>
                </a:defRPr>
              </a:lvl3pPr>
              <a:lvl4pPr marL="1370091" algn="l" defTabSz="913395" rtl="0" eaLnBrk="1" latinLnBrk="0" hangingPunct="1">
                <a:defRPr sz="1798" kern="1200">
                  <a:solidFill>
                    <a:schemeClr val="dk1"/>
                  </a:solidFill>
                  <a:latin typeface="+mn-lt"/>
                  <a:ea typeface="+mn-ea"/>
                  <a:cs typeface="+mn-cs"/>
                </a:defRPr>
              </a:lvl4pPr>
              <a:lvl5pPr marL="1826787" algn="l" defTabSz="913395" rtl="0" eaLnBrk="1" latinLnBrk="0" hangingPunct="1">
                <a:defRPr sz="1798" kern="1200">
                  <a:solidFill>
                    <a:schemeClr val="dk1"/>
                  </a:solidFill>
                  <a:latin typeface="+mn-lt"/>
                  <a:ea typeface="+mn-ea"/>
                  <a:cs typeface="+mn-cs"/>
                </a:defRPr>
              </a:lvl5pPr>
              <a:lvl6pPr marL="2283486" algn="l" defTabSz="913395" rtl="0" eaLnBrk="1" latinLnBrk="0" hangingPunct="1">
                <a:defRPr sz="1798" kern="1200">
                  <a:solidFill>
                    <a:schemeClr val="dk1"/>
                  </a:solidFill>
                  <a:latin typeface="+mn-lt"/>
                  <a:ea typeface="+mn-ea"/>
                  <a:cs typeface="+mn-cs"/>
                </a:defRPr>
              </a:lvl6pPr>
              <a:lvl7pPr marL="2740183" algn="l" defTabSz="913395" rtl="0" eaLnBrk="1" latinLnBrk="0" hangingPunct="1">
                <a:defRPr sz="1798" kern="1200">
                  <a:solidFill>
                    <a:schemeClr val="dk1"/>
                  </a:solidFill>
                  <a:latin typeface="+mn-lt"/>
                  <a:ea typeface="+mn-ea"/>
                  <a:cs typeface="+mn-cs"/>
                </a:defRPr>
              </a:lvl7pPr>
              <a:lvl8pPr marL="3196881" algn="l" defTabSz="913395" rtl="0" eaLnBrk="1" latinLnBrk="0" hangingPunct="1">
                <a:defRPr sz="1798" kern="1200">
                  <a:solidFill>
                    <a:schemeClr val="dk1"/>
                  </a:solidFill>
                  <a:latin typeface="+mn-lt"/>
                  <a:ea typeface="+mn-ea"/>
                  <a:cs typeface="+mn-cs"/>
                </a:defRPr>
              </a:lvl8pPr>
              <a:lvl9pPr marL="3653578" algn="l" defTabSz="913395" rtl="0" eaLnBrk="1" latinLnBrk="0" hangingPunct="1">
                <a:defRPr sz="1798" kern="1200">
                  <a:solidFill>
                    <a:schemeClr val="dk1"/>
                  </a:solidFill>
                  <a:latin typeface="+mn-lt"/>
                  <a:ea typeface="+mn-ea"/>
                  <a:cs typeface="+mn-cs"/>
                </a:defRPr>
              </a:lvl9p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IAM users, groups, roles</a:t>
              </a:r>
            </a:p>
          </p:txBody>
        </p:sp>
      </p:grpSp>
    </p:spTree>
    <p:extLst>
      <p:ext uri="{BB962C8B-B14F-4D97-AF65-F5344CB8AC3E}">
        <p14:creationId xmlns:p14="http://schemas.microsoft.com/office/powerpoint/2010/main" val="4085047542"/>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4">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5"/>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6"/>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7"/>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6">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7">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940731D7-DC58-9543-9DE8-16EF2246BF6F}"/>
              </a:ext>
            </a:extLst>
          </p:cNvPr>
          <p:cNvSpPr>
            <a:spLocks noGrp="1"/>
          </p:cNvSpPr>
          <p:nvPr/>
        </p:nvSpPr>
        <p:spPr>
          <a:xfrm>
            <a:off x="1550803" y="784648"/>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a:solidFill>
                  <a:schemeClr val="tx1"/>
                </a:solidFill>
              </a:rPr>
              <a:t>AWS Quick Starts</a:t>
            </a:r>
          </a:p>
        </p:txBody>
      </p:sp>
      <p:sp>
        <p:nvSpPr>
          <p:cNvPr id="10" name="Rectangle 9">
            <a:extLst>
              <a:ext uri="{FF2B5EF4-FFF2-40B4-BE49-F238E27FC236}">
                <a16:creationId xmlns:a16="http://schemas.microsoft.com/office/drawing/2014/main" id="{4FDF35DE-6BA6-DE4D-BF46-B9311B95AF64}"/>
              </a:ext>
            </a:extLst>
          </p:cNvPr>
          <p:cNvSpPr/>
          <p:nvPr/>
        </p:nvSpPr>
        <p:spPr>
          <a:xfrm>
            <a:off x="912693" y="2361746"/>
            <a:ext cx="3127331" cy="461665"/>
          </a:xfrm>
          <a:prstGeom prst="rect">
            <a:avLst/>
          </a:prstGeom>
        </p:spPr>
        <p:txBody>
          <a:bodyPr wrap="none" lIns="91440" tIns="45720" rIns="91440" bIns="4572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400" dirty="0" err="1">
                <a:solidFill>
                  <a:schemeClr val="tx1">
                    <a:lumMod val="85000"/>
                    <a:lumOff val="15000"/>
                  </a:schemeClr>
                </a:solidFill>
                <a:latin typeface="Amazon Ember"/>
                <a:ea typeface="Amazon Ember" panose="020B0603020204020204" pitchFamily="34" charset="0"/>
                <a:cs typeface="Amazon Ember" panose="020B0603020204020204" pitchFamily="34" charset="0"/>
              </a:rPr>
              <a:t>Standardised</a:t>
            </a:r>
            <a:r>
              <a:rPr lang="en-US" sz="2400" dirty="0">
                <a:solidFill>
                  <a:schemeClr val="tx1">
                    <a:lumMod val="85000"/>
                    <a:lumOff val="15000"/>
                  </a:schemeClr>
                </a:solidFill>
                <a:latin typeface="Amazon Ember"/>
                <a:ea typeface="Amazon Ember" panose="020B0603020204020204" pitchFamily="34" charset="0"/>
                <a:cs typeface="Amazon Ember" panose="020B0603020204020204" pitchFamily="34" charset="0"/>
              </a:rPr>
              <a:t> templates</a:t>
            </a:r>
            <a:endParaRPr lang="en-US" sz="2200" dirty="0">
              <a:solidFill>
                <a:schemeClr val="tx1">
                  <a:lumMod val="85000"/>
                  <a:lumOff val="15000"/>
                </a:schemeClr>
              </a:solidFill>
              <a:latin typeface="Amazon Ember"/>
              <a:ea typeface="Amazon Ember" panose="020B0603020204020204" pitchFamily="34" charset="0"/>
              <a:cs typeface="Amazon Ember" panose="020B0603020204020204" pitchFamily="34" charset="0"/>
            </a:endParaRPr>
          </a:p>
        </p:txBody>
      </p:sp>
      <p:grpSp>
        <p:nvGrpSpPr>
          <p:cNvPr id="13" name="Group 12">
            <a:extLst>
              <a:ext uri="{FF2B5EF4-FFF2-40B4-BE49-F238E27FC236}">
                <a16:creationId xmlns:a16="http://schemas.microsoft.com/office/drawing/2014/main" id="{676F5DA7-68CE-424D-B98E-B385DC46BB65}"/>
              </a:ext>
            </a:extLst>
          </p:cNvPr>
          <p:cNvGrpSpPr/>
          <p:nvPr/>
        </p:nvGrpSpPr>
        <p:grpSpPr>
          <a:xfrm>
            <a:off x="1350205" y="3246109"/>
            <a:ext cx="2696788" cy="1746381"/>
            <a:chOff x="1529328" y="2504734"/>
            <a:chExt cx="2696788" cy="1746381"/>
          </a:xfrm>
        </p:grpSpPr>
        <p:pic>
          <p:nvPicPr>
            <p:cNvPr id="16" name="Picture 15">
              <a:extLst>
                <a:ext uri="{FF2B5EF4-FFF2-40B4-BE49-F238E27FC236}">
                  <a16:creationId xmlns:a16="http://schemas.microsoft.com/office/drawing/2014/main" id="{1686D5B6-C4B5-8E47-9E24-E1612D6829C0}"/>
                </a:ext>
              </a:extLst>
            </p:cNvPr>
            <p:cNvPicPr>
              <a:picLocks noChangeAspect="1"/>
            </p:cNvPicPr>
            <p:nvPr/>
          </p:nvPicPr>
          <p:blipFill>
            <a:blip r:embed="rId8"/>
            <a:stretch>
              <a:fillRect/>
            </a:stretch>
          </p:blipFill>
          <p:spPr>
            <a:xfrm>
              <a:off x="1607722" y="2565124"/>
              <a:ext cx="2540000" cy="1625600"/>
            </a:xfrm>
            <a:prstGeom prst="rect">
              <a:avLst/>
            </a:prstGeom>
          </p:spPr>
        </p:pic>
        <p:sp>
          <p:nvSpPr>
            <p:cNvPr id="17" name="Rectangle 16">
              <a:extLst>
                <a:ext uri="{FF2B5EF4-FFF2-40B4-BE49-F238E27FC236}">
                  <a16:creationId xmlns:a16="http://schemas.microsoft.com/office/drawing/2014/main" id="{C24560D4-6442-6049-9C33-8C8005A7EB65}"/>
                </a:ext>
              </a:extLst>
            </p:cNvPr>
            <p:cNvSpPr/>
            <p:nvPr/>
          </p:nvSpPr>
          <p:spPr>
            <a:xfrm>
              <a:off x="1529328" y="2504734"/>
              <a:ext cx="2696788" cy="1746381"/>
            </a:xfrm>
            <a:prstGeom prst="rect">
              <a:avLst/>
            </a:prstGeom>
            <a:no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dirty="0"/>
            </a:p>
          </p:txBody>
        </p:sp>
      </p:grpSp>
      <p:sp>
        <p:nvSpPr>
          <p:cNvPr id="14" name="TextBox 7">
            <a:extLst>
              <a:ext uri="{FF2B5EF4-FFF2-40B4-BE49-F238E27FC236}">
                <a16:creationId xmlns:a16="http://schemas.microsoft.com/office/drawing/2014/main" id="{6F6B77E8-74A3-CD4E-8979-6DEF0FF110F9}"/>
              </a:ext>
            </a:extLst>
          </p:cNvPr>
          <p:cNvSpPr txBox="1"/>
          <p:nvPr/>
        </p:nvSpPr>
        <p:spPr>
          <a:xfrm>
            <a:off x="431743" y="5376221"/>
            <a:ext cx="4607667" cy="769441"/>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200" dirty="0">
                <a:solidFill>
                  <a:schemeClr val="accent2"/>
                </a:solidFill>
                <a:latin typeface="Amazon Ember" panose="020B0603020204020204" pitchFamily="34" charset="0"/>
                <a:ea typeface="Amazon Ember" panose="020B0603020204020204" pitchFamily="34" charset="0"/>
                <a:cs typeface="Amazon Ember" panose="020B0603020204020204" pitchFamily="34" charset="0"/>
              </a:rPr>
              <a:t>AWS CloudFormation templates </a:t>
            </a:r>
            <a:r>
              <a:rPr lang="en-US" sz="22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built by AWS Solutions Architects</a:t>
            </a:r>
          </a:p>
        </p:txBody>
      </p:sp>
      <p:sp>
        <p:nvSpPr>
          <p:cNvPr id="15" name="TextBox 13">
            <a:extLst>
              <a:ext uri="{FF2B5EF4-FFF2-40B4-BE49-F238E27FC236}">
                <a16:creationId xmlns:a16="http://schemas.microsoft.com/office/drawing/2014/main" id="{C1609D68-4A8F-0742-8390-4518CC431A54}"/>
              </a:ext>
            </a:extLst>
          </p:cNvPr>
          <p:cNvSpPr txBox="1"/>
          <p:nvPr/>
        </p:nvSpPr>
        <p:spPr>
          <a:xfrm>
            <a:off x="5426800" y="2980151"/>
            <a:ext cx="6333457" cy="3477875"/>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marL="342900" indent="-342900">
              <a:buClr>
                <a:schemeClr val="accent2"/>
              </a:buClr>
              <a:buFont typeface="Arial" panose="020B0604020202020204" pitchFamily="34" charset="0"/>
              <a:buChar char="•"/>
            </a:pPr>
            <a:r>
              <a:rPr lang="en-US" sz="2200" dirty="0">
                <a:latin typeface="Amazon Ember Light" panose="020B0403020204020204" pitchFamily="34" charset="0"/>
                <a:ea typeface="Amazon Ember Light" panose="020B0403020204020204" pitchFamily="34" charset="0"/>
                <a:cs typeface="Amazon Ember Light" panose="020B0403020204020204" pitchFamily="34" charset="0"/>
              </a:rPr>
              <a:t>Based on AWS best practices for security and high availability</a:t>
            </a:r>
          </a:p>
          <a:p>
            <a:pPr marL="342900" indent="-342900">
              <a:buClr>
                <a:schemeClr val="accent2"/>
              </a:buClr>
              <a:buFont typeface="Arial" panose="020B0604020202020204" pitchFamily="34" charset="0"/>
              <a:buChar char="•"/>
            </a:pPr>
            <a:endParaRPr lang="en-US" sz="22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342900" indent="-342900">
              <a:buClr>
                <a:schemeClr val="accent2"/>
              </a:buClr>
              <a:buFont typeface="Arial" panose="020B0604020202020204" pitchFamily="34" charset="0"/>
              <a:buChar char="•"/>
            </a:pPr>
            <a:r>
              <a:rPr lang="en-US" sz="2200" dirty="0">
                <a:solidFill>
                  <a:schemeClr val="tx1">
                    <a:lumMod val="85000"/>
                    <a:lumOff val="15000"/>
                  </a:schemeClr>
                </a:solidFill>
                <a:latin typeface="Amazon Ember Light"/>
                <a:ea typeface="Amazon Ember Light" panose="020B0403020204020204" pitchFamily="34" charset="0"/>
                <a:cs typeface="Amazon Ember Light" panose="020B0403020204020204" pitchFamily="34" charset="0"/>
              </a:rPr>
              <a:t>Gold-standard deployments in AWS Cloud</a:t>
            </a:r>
          </a:p>
          <a:p>
            <a:pPr marL="342900" indent="-342900">
              <a:buClr>
                <a:schemeClr val="accent2"/>
              </a:buClr>
              <a:buFont typeface="Arial" panose="020B0604020202020204" pitchFamily="34" charset="0"/>
              <a:buChar char="•"/>
            </a:pPr>
            <a:endParaRPr lang="en-US" sz="2200"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342900" indent="-342900">
              <a:buClr>
                <a:schemeClr val="accent2"/>
              </a:buClr>
              <a:buFont typeface="Arial" panose="020B0604020202020204" pitchFamily="34" charset="0"/>
              <a:buChar char="•"/>
            </a:pPr>
            <a:r>
              <a:rPr lang="en-US" sz="2200" dirty="0">
                <a:latin typeface="Amazon Ember Light"/>
                <a:ea typeface="Amazon Ember Light" panose="020B0403020204020204" pitchFamily="34" charset="0"/>
                <a:cs typeface="Amazon Ember Light" panose="020B0403020204020204" pitchFamily="34" charset="0"/>
              </a:rPr>
              <a:t>Great for experimentation.</a:t>
            </a:r>
          </a:p>
          <a:p>
            <a:pPr marL="342900" indent="-342900">
              <a:buClr>
                <a:schemeClr val="accent2"/>
              </a:buClr>
              <a:buFont typeface="Arial" panose="020B0604020202020204" pitchFamily="34" charset="0"/>
              <a:buChar char="•"/>
            </a:pPr>
            <a:endParaRPr lang="en-US" sz="2200"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342900" indent="-342900">
              <a:buClr>
                <a:schemeClr val="accent2"/>
              </a:buClr>
              <a:buFont typeface="Arial" panose="020B0604020202020204" pitchFamily="34" charset="0"/>
              <a:buChar char="•"/>
            </a:pPr>
            <a:r>
              <a:rPr lang="en-US" sz="2200" dirty="0">
                <a:latin typeface="Amazon Ember Light"/>
                <a:ea typeface="Amazon Ember Light" panose="020B0403020204020204" pitchFamily="34" charset="0"/>
                <a:cs typeface="Amazon Ember Light" panose="020B0403020204020204" pitchFamily="34" charset="0"/>
              </a:rPr>
              <a:t>Can create entire architectures with one click and within an hour</a:t>
            </a:r>
          </a:p>
          <a:p>
            <a:pPr marL="342900" indent="-342900">
              <a:buClr>
                <a:schemeClr val="accent2"/>
              </a:buClr>
              <a:buFont typeface="Arial" panose="020B0604020202020204" pitchFamily="34" charset="0"/>
              <a:buChar char="•"/>
            </a:pPr>
            <a:endParaRPr lang="en-US" sz="22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3274777208"/>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667B8FD3-F36F-B74F-9AB2-94BF81A429B9}"/>
              </a:ext>
            </a:extLst>
          </p:cNvPr>
          <p:cNvSpPr>
            <a:spLocks noGrp="1"/>
          </p:cNvSpPr>
          <p:nvPr/>
        </p:nvSpPr>
        <p:spPr>
          <a:xfrm>
            <a:off x="1355832" y="478325"/>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a:solidFill>
                  <a:schemeClr val="tx1"/>
                </a:solidFill>
              </a:rPr>
              <a:t>What Is a Quick Start?</a:t>
            </a:r>
          </a:p>
        </p:txBody>
      </p:sp>
      <p:grpSp>
        <p:nvGrpSpPr>
          <p:cNvPr id="10" name="Group 9">
            <a:extLst>
              <a:ext uri="{FF2B5EF4-FFF2-40B4-BE49-F238E27FC236}">
                <a16:creationId xmlns:a16="http://schemas.microsoft.com/office/drawing/2014/main" id="{4E507FCE-5307-174D-BFBA-F5C9446BFA65}"/>
              </a:ext>
            </a:extLst>
          </p:cNvPr>
          <p:cNvGrpSpPr/>
          <p:nvPr/>
        </p:nvGrpSpPr>
        <p:grpSpPr>
          <a:xfrm>
            <a:off x="2017492" y="1899485"/>
            <a:ext cx="7751032" cy="4602585"/>
            <a:chOff x="1763284" y="1812758"/>
            <a:chExt cx="7751032" cy="4602585"/>
          </a:xfrm>
        </p:grpSpPr>
        <p:grpSp>
          <p:nvGrpSpPr>
            <p:cNvPr id="14" name="Group 13">
              <a:extLst>
                <a:ext uri="{FF2B5EF4-FFF2-40B4-BE49-F238E27FC236}">
                  <a16:creationId xmlns:a16="http://schemas.microsoft.com/office/drawing/2014/main" id="{141578CD-6B9B-4346-B543-39AE1DE607E2}"/>
                </a:ext>
              </a:extLst>
            </p:cNvPr>
            <p:cNvGrpSpPr/>
            <p:nvPr/>
          </p:nvGrpSpPr>
          <p:grpSpPr>
            <a:xfrm>
              <a:off x="1763284" y="1812758"/>
              <a:ext cx="7751032" cy="2085474"/>
              <a:chOff x="1763284" y="1812758"/>
              <a:chExt cx="7751032" cy="2085474"/>
            </a:xfrm>
          </p:grpSpPr>
          <p:pic>
            <p:nvPicPr>
              <p:cNvPr id="20" name="Picture 19">
                <a:extLst>
                  <a:ext uri="{FF2B5EF4-FFF2-40B4-BE49-F238E27FC236}">
                    <a16:creationId xmlns:a16="http://schemas.microsoft.com/office/drawing/2014/main" id="{555BEE6C-3E51-734F-8B29-24221FE1BF98}"/>
                  </a:ext>
                </a:extLst>
              </p:cNvPr>
              <p:cNvPicPr>
                <a:picLocks noChangeAspect="1"/>
              </p:cNvPicPr>
              <p:nvPr/>
            </p:nvPicPr>
            <p:blipFill>
              <a:blip r:embed="rId7"/>
              <a:stretch>
                <a:fillRect/>
              </a:stretch>
            </p:blipFill>
            <p:spPr>
              <a:xfrm>
                <a:off x="8373642" y="2265077"/>
                <a:ext cx="820654" cy="820654"/>
              </a:xfrm>
              <a:prstGeom prst="rect">
                <a:avLst/>
              </a:prstGeom>
            </p:spPr>
          </p:pic>
          <p:grpSp>
            <p:nvGrpSpPr>
              <p:cNvPr id="21" name="Group 20">
                <a:extLst>
                  <a:ext uri="{FF2B5EF4-FFF2-40B4-BE49-F238E27FC236}">
                    <a16:creationId xmlns:a16="http://schemas.microsoft.com/office/drawing/2014/main" id="{681B5026-B650-C145-A74A-BEF3B47F4EE1}"/>
                  </a:ext>
                </a:extLst>
              </p:cNvPr>
              <p:cNvGrpSpPr/>
              <p:nvPr/>
            </p:nvGrpSpPr>
            <p:grpSpPr>
              <a:xfrm>
                <a:off x="4376821" y="1812758"/>
                <a:ext cx="2540000" cy="2085474"/>
                <a:chOff x="4376821" y="1812758"/>
                <a:chExt cx="2540000" cy="2085474"/>
              </a:xfrm>
            </p:grpSpPr>
            <p:pic>
              <p:nvPicPr>
                <p:cNvPr id="32" name="Picture 31">
                  <a:extLst>
                    <a:ext uri="{FF2B5EF4-FFF2-40B4-BE49-F238E27FC236}">
                      <a16:creationId xmlns:a16="http://schemas.microsoft.com/office/drawing/2014/main" id="{7B5388FB-FAF6-594A-81E5-068ADEF10BF9}"/>
                    </a:ext>
                  </a:extLst>
                </p:cNvPr>
                <p:cNvPicPr>
                  <a:picLocks noChangeAspect="1"/>
                </p:cNvPicPr>
                <p:nvPr/>
              </p:nvPicPr>
              <p:blipFill>
                <a:blip r:embed="rId8"/>
                <a:stretch>
                  <a:fillRect/>
                </a:stretch>
              </p:blipFill>
              <p:spPr>
                <a:xfrm>
                  <a:off x="4376821" y="2042695"/>
                  <a:ext cx="2540000" cy="1625600"/>
                </a:xfrm>
                <a:prstGeom prst="rect">
                  <a:avLst/>
                </a:prstGeom>
              </p:spPr>
            </p:pic>
            <p:sp>
              <p:nvSpPr>
                <p:cNvPr id="33" name="Oval 32">
                  <a:extLst>
                    <a:ext uri="{FF2B5EF4-FFF2-40B4-BE49-F238E27FC236}">
                      <a16:creationId xmlns:a16="http://schemas.microsoft.com/office/drawing/2014/main" id="{6FFB7D8C-1EE3-004F-9F2F-E99233F1F418}"/>
                    </a:ext>
                  </a:extLst>
                </p:cNvPr>
                <p:cNvSpPr/>
                <p:nvPr/>
              </p:nvSpPr>
              <p:spPr>
                <a:xfrm>
                  <a:off x="4572000" y="1812758"/>
                  <a:ext cx="2149642" cy="2085474"/>
                </a:xfrm>
                <a:prstGeom prst="ellipse">
                  <a:avLst/>
                </a:prstGeom>
                <a:noFill/>
                <a:ln w="635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dirty="0"/>
                </a:p>
              </p:txBody>
            </p:sp>
          </p:grpSp>
          <p:grpSp>
            <p:nvGrpSpPr>
              <p:cNvPr id="22" name="Group 21">
                <a:extLst>
                  <a:ext uri="{FF2B5EF4-FFF2-40B4-BE49-F238E27FC236}">
                    <a16:creationId xmlns:a16="http://schemas.microsoft.com/office/drawing/2014/main" id="{C52C9333-FC41-B945-9E6D-7FD4AF862F23}"/>
                  </a:ext>
                </a:extLst>
              </p:cNvPr>
              <p:cNvGrpSpPr/>
              <p:nvPr/>
            </p:nvGrpSpPr>
            <p:grpSpPr>
              <a:xfrm>
                <a:off x="1763284" y="2097817"/>
                <a:ext cx="2773957" cy="1515357"/>
                <a:chOff x="1667032" y="2097817"/>
                <a:chExt cx="2773957" cy="1515357"/>
              </a:xfrm>
            </p:grpSpPr>
            <p:cxnSp>
              <p:nvCxnSpPr>
                <p:cNvPr id="27" name="Straight Arrow Connector 26">
                  <a:extLst>
                    <a:ext uri="{FF2B5EF4-FFF2-40B4-BE49-F238E27FC236}">
                      <a16:creationId xmlns:a16="http://schemas.microsoft.com/office/drawing/2014/main" id="{905221DC-F970-8B4F-A8A4-61E37A58E511}"/>
                    </a:ext>
                  </a:extLst>
                </p:cNvPr>
                <p:cNvCxnSpPr/>
                <p:nvPr/>
              </p:nvCxnSpPr>
              <p:spPr>
                <a:xfrm>
                  <a:off x="3127726" y="2855495"/>
                  <a:ext cx="1313263" cy="0"/>
                </a:xfrm>
                <a:prstGeom prst="straightConnector1">
                  <a:avLst/>
                </a:prstGeom>
                <a:ln w="508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F3BF11CB-B9A8-8B4A-A2A9-6CD83CB7EBB2}"/>
                    </a:ext>
                  </a:extLst>
                </p:cNvPr>
                <p:cNvGrpSpPr/>
                <p:nvPr/>
              </p:nvGrpSpPr>
              <p:grpSpPr>
                <a:xfrm>
                  <a:off x="1667032" y="2097817"/>
                  <a:ext cx="1460694" cy="1515357"/>
                  <a:chOff x="1667032" y="1976058"/>
                  <a:chExt cx="1460694" cy="1515357"/>
                </a:xfrm>
              </p:grpSpPr>
              <p:sp>
                <p:nvSpPr>
                  <p:cNvPr id="29" name="TextBox 4">
                    <a:extLst>
                      <a:ext uri="{FF2B5EF4-FFF2-40B4-BE49-F238E27FC236}">
                        <a16:creationId xmlns:a16="http://schemas.microsoft.com/office/drawing/2014/main" id="{352784A9-BBAC-F04A-9C52-DEB779709D83}"/>
                      </a:ext>
                    </a:extLst>
                  </p:cNvPr>
                  <p:cNvSpPr txBox="1"/>
                  <p:nvPr/>
                </p:nvSpPr>
                <p:spPr>
                  <a:xfrm>
                    <a:off x="1667032" y="2963971"/>
                    <a:ext cx="1460694" cy="527444"/>
                  </a:xfrm>
                  <a:prstGeom prst="rect">
                    <a:avLst/>
                  </a:prstGeom>
                  <a:noFill/>
                </p:spPr>
                <p:txBody>
                  <a:bodyPr wrap="square" lIns="0" tIns="0" rIns="0" bIns="0" rtlCol="0" anchor="t">
                    <a:no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Template</a:t>
                    </a:r>
                  </a:p>
                </p:txBody>
              </p:sp>
              <p:pic>
                <p:nvPicPr>
                  <p:cNvPr id="30" name="Picture 29">
                    <a:extLst>
                      <a:ext uri="{FF2B5EF4-FFF2-40B4-BE49-F238E27FC236}">
                        <a16:creationId xmlns:a16="http://schemas.microsoft.com/office/drawing/2014/main" id="{F3EE14F3-21A3-5F45-9B33-7A203073296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975272" y="2143318"/>
                    <a:ext cx="844215" cy="844214"/>
                  </a:xfrm>
                  <a:prstGeom prst="rect">
                    <a:avLst/>
                  </a:prstGeom>
                </p:spPr>
              </p:pic>
              <p:sp>
                <p:nvSpPr>
                  <p:cNvPr id="31" name="Oval 30">
                    <a:extLst>
                      <a:ext uri="{FF2B5EF4-FFF2-40B4-BE49-F238E27FC236}">
                        <a16:creationId xmlns:a16="http://schemas.microsoft.com/office/drawing/2014/main" id="{918CBFA1-19B9-3847-8AEF-901E49C98BB4}"/>
                      </a:ext>
                    </a:extLst>
                  </p:cNvPr>
                  <p:cNvSpPr/>
                  <p:nvPr/>
                </p:nvSpPr>
                <p:spPr>
                  <a:xfrm>
                    <a:off x="1667032" y="1976058"/>
                    <a:ext cx="1460694" cy="1460694"/>
                  </a:xfrm>
                  <a:prstGeom prst="ellipse">
                    <a:avLst/>
                  </a:prstGeom>
                  <a:no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dirty="0"/>
                  </a:p>
                </p:txBody>
              </p:sp>
            </p:grpSp>
          </p:grpSp>
          <p:cxnSp>
            <p:nvCxnSpPr>
              <p:cNvPr id="23" name="Straight Arrow Connector 22">
                <a:extLst>
                  <a:ext uri="{FF2B5EF4-FFF2-40B4-BE49-F238E27FC236}">
                    <a16:creationId xmlns:a16="http://schemas.microsoft.com/office/drawing/2014/main" id="{B7FBFA6B-F6EF-4B46-8969-4BC49F486D7F}"/>
                  </a:ext>
                </a:extLst>
              </p:cNvPr>
              <p:cNvCxnSpPr>
                <a:cxnSpLocks/>
              </p:cNvCxnSpPr>
              <p:nvPr/>
            </p:nvCxnSpPr>
            <p:spPr>
              <a:xfrm flipH="1">
                <a:off x="6721642" y="2855495"/>
                <a:ext cx="1313263" cy="0"/>
              </a:xfrm>
              <a:prstGeom prst="straightConnector1">
                <a:avLst/>
              </a:prstGeom>
              <a:ln w="508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36FB0D4D-D761-F842-BB86-0E19D98D982D}"/>
                  </a:ext>
                </a:extLst>
              </p:cNvPr>
              <p:cNvGrpSpPr/>
              <p:nvPr/>
            </p:nvGrpSpPr>
            <p:grpSpPr>
              <a:xfrm>
                <a:off x="8053622" y="2097817"/>
                <a:ext cx="1460694" cy="1515357"/>
                <a:chOff x="1667032" y="1976058"/>
                <a:chExt cx="1460694" cy="1515357"/>
              </a:xfrm>
            </p:grpSpPr>
            <p:sp>
              <p:nvSpPr>
                <p:cNvPr id="25" name="TextBox 28">
                  <a:extLst>
                    <a:ext uri="{FF2B5EF4-FFF2-40B4-BE49-F238E27FC236}">
                      <a16:creationId xmlns:a16="http://schemas.microsoft.com/office/drawing/2014/main" id="{2D8DB514-DBCC-774E-8DF6-C29FA7205350}"/>
                    </a:ext>
                  </a:extLst>
                </p:cNvPr>
                <p:cNvSpPr txBox="1"/>
                <p:nvPr/>
              </p:nvSpPr>
              <p:spPr>
                <a:xfrm>
                  <a:off x="1667032" y="2963971"/>
                  <a:ext cx="1460694" cy="527444"/>
                </a:xfrm>
                <a:prstGeom prst="rect">
                  <a:avLst/>
                </a:prstGeom>
                <a:noFill/>
              </p:spPr>
              <p:txBody>
                <a:bodyPr wrap="square" lIns="0" tIns="0" rIns="0" bIns="0" rtlCol="0" anchor="t">
                  <a:no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Scripts</a:t>
                  </a:r>
                </a:p>
              </p:txBody>
            </p:sp>
            <p:sp>
              <p:nvSpPr>
                <p:cNvPr id="26" name="Oval 25">
                  <a:extLst>
                    <a:ext uri="{FF2B5EF4-FFF2-40B4-BE49-F238E27FC236}">
                      <a16:creationId xmlns:a16="http://schemas.microsoft.com/office/drawing/2014/main" id="{BC86059B-F174-0B4B-B38B-B152B65B7362}"/>
                    </a:ext>
                  </a:extLst>
                </p:cNvPr>
                <p:cNvSpPr/>
                <p:nvPr/>
              </p:nvSpPr>
              <p:spPr>
                <a:xfrm>
                  <a:off x="1667032" y="1976058"/>
                  <a:ext cx="1460694" cy="1460694"/>
                </a:xfrm>
                <a:prstGeom prst="ellipse">
                  <a:avLst/>
                </a:prstGeom>
                <a:no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dirty="0"/>
                </a:p>
              </p:txBody>
            </p:sp>
          </p:grpSp>
        </p:grpSp>
        <p:pic>
          <p:nvPicPr>
            <p:cNvPr id="15" name="Picture 14">
              <a:extLst>
                <a:ext uri="{FF2B5EF4-FFF2-40B4-BE49-F238E27FC236}">
                  <a16:creationId xmlns:a16="http://schemas.microsoft.com/office/drawing/2014/main" id="{17E41388-B4F0-CE45-9106-3882FA081DA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273040" y="5171341"/>
              <a:ext cx="731520" cy="731520"/>
            </a:xfrm>
            <a:prstGeom prst="rect">
              <a:avLst/>
            </a:prstGeom>
          </p:spPr>
        </p:pic>
        <p:sp>
          <p:nvSpPr>
            <p:cNvPr id="16" name="TextBox 38">
              <a:extLst>
                <a:ext uri="{FF2B5EF4-FFF2-40B4-BE49-F238E27FC236}">
                  <a16:creationId xmlns:a16="http://schemas.microsoft.com/office/drawing/2014/main" id="{F7909422-D5CC-F540-92B7-BEB9878D692C}"/>
                </a:ext>
              </a:extLst>
            </p:cNvPr>
            <p:cNvSpPr txBox="1"/>
            <p:nvPr/>
          </p:nvSpPr>
          <p:spPr>
            <a:xfrm>
              <a:off x="4824242" y="6046331"/>
              <a:ext cx="1629117" cy="369012"/>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Your account</a:t>
              </a:r>
            </a:p>
          </p:txBody>
        </p:sp>
        <p:cxnSp>
          <p:nvCxnSpPr>
            <p:cNvPr id="17" name="Straight Arrow Connector 16">
              <a:extLst>
                <a:ext uri="{FF2B5EF4-FFF2-40B4-BE49-F238E27FC236}">
                  <a16:creationId xmlns:a16="http://schemas.microsoft.com/office/drawing/2014/main" id="{29F87FF5-A76B-EB40-AC4C-B6658C8D9DBD}"/>
                </a:ext>
              </a:extLst>
            </p:cNvPr>
            <p:cNvCxnSpPr>
              <a:stCxn id="33" idx="4"/>
            </p:cNvCxnSpPr>
            <p:nvPr/>
          </p:nvCxnSpPr>
          <p:spPr>
            <a:xfrm flipH="1">
              <a:off x="5638800" y="3898232"/>
              <a:ext cx="8021" cy="1273109"/>
            </a:xfrm>
            <a:prstGeom prst="straightConnector1">
              <a:avLst/>
            </a:prstGeom>
            <a:ln w="508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36">
              <a:extLst>
                <a:ext uri="{FF2B5EF4-FFF2-40B4-BE49-F238E27FC236}">
                  <a16:creationId xmlns:a16="http://schemas.microsoft.com/office/drawing/2014/main" id="{85F1617D-23D4-3949-B51B-28BE9AE41EE6}"/>
                </a:ext>
              </a:extLst>
            </p:cNvPr>
            <p:cNvSpPr txBox="1"/>
            <p:nvPr/>
          </p:nvSpPr>
          <p:spPr>
            <a:xfrm>
              <a:off x="4466390" y="4097292"/>
              <a:ext cx="2344821" cy="369012"/>
            </a:xfrm>
            <a:prstGeom prst="rect">
              <a:avLst/>
            </a:prstGeom>
            <a:solidFill>
              <a:schemeClr val="bg1"/>
            </a:solidFill>
            <a:ln w="50800">
              <a:noFill/>
            </a:ln>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Bootstrapping</a:t>
              </a:r>
            </a:p>
          </p:txBody>
        </p:sp>
        <p:sp>
          <p:nvSpPr>
            <p:cNvPr id="19" name="Rectangle 18">
              <a:extLst>
                <a:ext uri="{FF2B5EF4-FFF2-40B4-BE49-F238E27FC236}">
                  <a16:creationId xmlns:a16="http://schemas.microsoft.com/office/drawing/2014/main" id="{1B615097-2961-9247-9B72-C34147997ED0}"/>
                </a:ext>
              </a:extLst>
            </p:cNvPr>
            <p:cNvSpPr/>
            <p:nvPr/>
          </p:nvSpPr>
          <p:spPr>
            <a:xfrm>
              <a:off x="4568241" y="4603269"/>
              <a:ext cx="2141118" cy="369012"/>
            </a:xfrm>
            <a:prstGeom prst="rect">
              <a:avLst/>
            </a:prstGeom>
            <a:solidFill>
              <a:schemeClr val="bg1"/>
            </a:solidFill>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Deployment</a:t>
              </a:r>
            </a:p>
          </p:txBody>
        </p:sp>
      </p:grpSp>
    </p:spTree>
    <p:extLst>
      <p:ext uri="{BB962C8B-B14F-4D97-AF65-F5344CB8AC3E}">
        <p14:creationId xmlns:p14="http://schemas.microsoft.com/office/powerpoint/2010/main" val="3172333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dirty="0">
                <a:solidFill>
                  <a:sysClr val="windowText" lastClr="000000"/>
                </a:solidFill>
                <a:latin typeface="Proxima Nova"/>
                <a:ea typeface="Proxima Nova"/>
                <a:cs typeface="Proxima Nova"/>
                <a:sym typeface="Proxima Nova"/>
              </a:rPr>
              <a:t>Automating Deployments</a:t>
            </a: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25883563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58D9DC68-F0D0-6B49-A189-7861ECE38FAC}"/>
              </a:ext>
            </a:extLst>
          </p:cNvPr>
          <p:cNvSpPr>
            <a:spLocks noGrp="1"/>
          </p:cNvSpPr>
          <p:nvPr/>
        </p:nvSpPr>
        <p:spPr>
          <a:xfrm>
            <a:off x="1153368" y="557828"/>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a:solidFill>
                  <a:schemeClr val="tx1"/>
                </a:solidFill>
                <a:latin typeface="Amazon Ember Light"/>
              </a:rPr>
              <a:t>How to Modify Your Fleet</a:t>
            </a:r>
          </a:p>
        </p:txBody>
      </p:sp>
      <p:grpSp>
        <p:nvGrpSpPr>
          <p:cNvPr id="10" name="Group 9">
            <a:extLst>
              <a:ext uri="{FF2B5EF4-FFF2-40B4-BE49-F238E27FC236}">
                <a16:creationId xmlns:a16="http://schemas.microsoft.com/office/drawing/2014/main" id="{5F75121C-4A9A-5C4C-9F0C-301366DCD0A5}"/>
              </a:ext>
            </a:extLst>
          </p:cNvPr>
          <p:cNvGrpSpPr/>
          <p:nvPr/>
        </p:nvGrpSpPr>
        <p:grpSpPr>
          <a:xfrm>
            <a:off x="2316865" y="2953918"/>
            <a:ext cx="1645686" cy="2358189"/>
            <a:chOff x="1880755" y="2792854"/>
            <a:chExt cx="1645686" cy="2358189"/>
          </a:xfrm>
        </p:grpSpPr>
        <p:pic>
          <p:nvPicPr>
            <p:cNvPr id="48" name="Picture 47">
              <a:extLst>
                <a:ext uri="{FF2B5EF4-FFF2-40B4-BE49-F238E27FC236}">
                  <a16:creationId xmlns:a16="http://schemas.microsoft.com/office/drawing/2014/main" id="{3D279264-BCCC-1040-9040-ED698ECBB7EB}"/>
                </a:ext>
              </a:extLst>
            </p:cNvPr>
            <p:cNvPicPr>
              <a:picLocks noChangeAspect="1"/>
            </p:cNvPicPr>
            <p:nvPr/>
          </p:nvPicPr>
          <p:blipFill>
            <a:blip r:embed="rId7"/>
            <a:stretch>
              <a:fillRect/>
            </a:stretch>
          </p:blipFill>
          <p:spPr>
            <a:xfrm>
              <a:off x="2099762" y="3604048"/>
              <a:ext cx="1217063" cy="1217063"/>
            </a:xfrm>
            <a:prstGeom prst="rect">
              <a:avLst/>
            </a:prstGeom>
          </p:spPr>
        </p:pic>
        <p:sp>
          <p:nvSpPr>
            <p:cNvPr id="49" name="Rectangle 48">
              <a:extLst>
                <a:ext uri="{FF2B5EF4-FFF2-40B4-BE49-F238E27FC236}">
                  <a16:creationId xmlns:a16="http://schemas.microsoft.com/office/drawing/2014/main" id="{A56ED71B-2FCA-984B-A97D-219AC641B8DC}"/>
                </a:ext>
              </a:extLst>
            </p:cNvPr>
            <p:cNvSpPr/>
            <p:nvPr/>
          </p:nvSpPr>
          <p:spPr>
            <a:xfrm>
              <a:off x="1890146" y="3274117"/>
              <a:ext cx="1636295" cy="1876926"/>
            </a:xfrm>
            <a:prstGeom prst="rect">
              <a:avLst/>
            </a:pr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dirty="0"/>
            </a:p>
          </p:txBody>
        </p:sp>
        <p:sp>
          <p:nvSpPr>
            <p:cNvPr id="50" name="TextBox 7">
              <a:extLst>
                <a:ext uri="{FF2B5EF4-FFF2-40B4-BE49-F238E27FC236}">
                  <a16:creationId xmlns:a16="http://schemas.microsoft.com/office/drawing/2014/main" id="{98812BF2-C05B-B244-A5A7-43F5BC1C3DBE}"/>
                </a:ext>
              </a:extLst>
            </p:cNvPr>
            <p:cNvSpPr txBox="1"/>
            <p:nvPr/>
          </p:nvSpPr>
          <p:spPr>
            <a:xfrm>
              <a:off x="1880755" y="2792854"/>
              <a:ext cx="1636295" cy="369012"/>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Web app</a:t>
              </a:r>
            </a:p>
          </p:txBody>
        </p:sp>
      </p:grpSp>
      <p:grpSp>
        <p:nvGrpSpPr>
          <p:cNvPr id="14" name="Group 13">
            <a:extLst>
              <a:ext uri="{FF2B5EF4-FFF2-40B4-BE49-F238E27FC236}">
                <a16:creationId xmlns:a16="http://schemas.microsoft.com/office/drawing/2014/main" id="{22400FFC-862C-F344-94AA-29E386534D54}"/>
              </a:ext>
            </a:extLst>
          </p:cNvPr>
          <p:cNvGrpSpPr/>
          <p:nvPr/>
        </p:nvGrpSpPr>
        <p:grpSpPr>
          <a:xfrm>
            <a:off x="5064575" y="2288863"/>
            <a:ext cx="3221645" cy="4054837"/>
            <a:chOff x="2549525" y="760413"/>
            <a:chExt cx="1689100" cy="1733550"/>
          </a:xfrm>
          <a:solidFill>
            <a:schemeClr val="bg1"/>
          </a:solidFill>
        </p:grpSpPr>
        <p:sp>
          <p:nvSpPr>
            <p:cNvPr id="46" name="Rounded Rectangle 9">
              <a:extLst>
                <a:ext uri="{FF2B5EF4-FFF2-40B4-BE49-F238E27FC236}">
                  <a16:creationId xmlns:a16="http://schemas.microsoft.com/office/drawing/2014/main" id="{56D9E0F4-A74C-D94B-8687-97D018653141}"/>
                </a:ext>
              </a:extLst>
            </p:cNvPr>
            <p:cNvSpPr/>
            <p:nvPr/>
          </p:nvSpPr>
          <p:spPr>
            <a:xfrm>
              <a:off x="2549525" y="760413"/>
              <a:ext cx="1689100" cy="1733550"/>
            </a:xfrm>
            <a:prstGeom prst="roundRect">
              <a:avLst>
                <a:gd name="adj" fmla="val 9818"/>
              </a:avLst>
            </a:prstGeom>
            <a:grp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47" name="TextBox 32">
              <a:extLst>
                <a:ext uri="{FF2B5EF4-FFF2-40B4-BE49-F238E27FC236}">
                  <a16:creationId xmlns:a16="http://schemas.microsoft.com/office/drawing/2014/main" id="{D9DD4F5A-897A-2143-8BF4-65784349C4FF}"/>
                </a:ext>
              </a:extLst>
            </p:cNvPr>
            <p:cNvSpPr txBox="1">
              <a:spLocks noChangeArrowheads="1"/>
            </p:cNvSpPr>
            <p:nvPr/>
          </p:nvSpPr>
          <p:spPr bwMode="auto">
            <a:xfrm>
              <a:off x="2829455" y="2357572"/>
              <a:ext cx="1105532" cy="126977"/>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330" dirty="0">
                  <a:solidFill>
                    <a:srgbClr val="F7981F"/>
                  </a:solidFill>
                  <a:latin typeface="Amazon Ember Medium" panose="020B0603020204020204" pitchFamily="34" charset="0"/>
                  <a:ea typeface="Amazon Ember Medium" panose="020B0603020204020204" pitchFamily="34" charset="0"/>
                  <a:cs typeface="Amazon Ember Medium" panose="020B0603020204020204" pitchFamily="34" charset="0"/>
                </a:rPr>
                <a:t>Availability Zone </a:t>
              </a:r>
            </a:p>
          </p:txBody>
        </p:sp>
      </p:grpSp>
      <p:sp>
        <p:nvSpPr>
          <p:cNvPr id="15" name="Rounded Rectangle 11">
            <a:extLst>
              <a:ext uri="{FF2B5EF4-FFF2-40B4-BE49-F238E27FC236}">
                <a16:creationId xmlns:a16="http://schemas.microsoft.com/office/drawing/2014/main" id="{ED2DB9EC-A90E-9F42-AA19-38E23CD1D121}"/>
              </a:ext>
            </a:extLst>
          </p:cNvPr>
          <p:cNvSpPr/>
          <p:nvPr/>
        </p:nvSpPr>
        <p:spPr>
          <a:xfrm>
            <a:off x="4773351" y="1985869"/>
            <a:ext cx="3724959" cy="4418231"/>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6" name="TextBox 37">
            <a:extLst>
              <a:ext uri="{FF2B5EF4-FFF2-40B4-BE49-F238E27FC236}">
                <a16:creationId xmlns:a16="http://schemas.microsoft.com/office/drawing/2014/main" id="{B2D009A4-D013-9041-B647-6A1F9F120677}"/>
              </a:ext>
            </a:extLst>
          </p:cNvPr>
          <p:cNvSpPr txBox="1">
            <a:spLocks noChangeArrowheads="1"/>
          </p:cNvSpPr>
          <p:nvPr/>
        </p:nvSpPr>
        <p:spPr bwMode="auto">
          <a:xfrm>
            <a:off x="6762236" y="5158908"/>
            <a:ext cx="1416873" cy="461665"/>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200" dirty="0">
                <a:latin typeface="Amazon Ember Light" panose="020B0403020204020204" pitchFamily="34" charset="0"/>
                <a:ea typeface="Amazon Ember Light" panose="020B0403020204020204" pitchFamily="34" charset="0"/>
                <a:cs typeface="Amazon Ember Light" panose="020B0403020204020204" pitchFamily="34" charset="0"/>
              </a:rPr>
              <a:t>Amazon RDS (primary)</a:t>
            </a:r>
          </a:p>
        </p:txBody>
      </p:sp>
      <p:cxnSp>
        <p:nvCxnSpPr>
          <p:cNvPr id="17" name="Straight Connector 16">
            <a:extLst>
              <a:ext uri="{FF2B5EF4-FFF2-40B4-BE49-F238E27FC236}">
                <a16:creationId xmlns:a16="http://schemas.microsoft.com/office/drawing/2014/main" id="{310F670C-E3F8-9945-B4E9-55E4FB4661C8}"/>
              </a:ext>
            </a:extLst>
          </p:cNvPr>
          <p:cNvCxnSpPr>
            <a:cxnSpLocks/>
          </p:cNvCxnSpPr>
          <p:nvPr/>
        </p:nvCxnSpPr>
        <p:spPr>
          <a:xfrm>
            <a:off x="5805620" y="4344339"/>
            <a:ext cx="790532" cy="1078105"/>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89419F5-63C7-2047-8C0D-30727D624006}"/>
              </a:ext>
            </a:extLst>
          </p:cNvPr>
          <p:cNvCxnSpPr>
            <a:cxnSpLocks/>
          </p:cNvCxnSpPr>
          <p:nvPr/>
        </p:nvCxnSpPr>
        <p:spPr>
          <a:xfrm>
            <a:off x="6643340" y="4641718"/>
            <a:ext cx="0" cy="543873"/>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55A67B99-4F38-544A-8A08-7B8100973CC8}"/>
              </a:ext>
            </a:extLst>
          </p:cNvPr>
          <p:cNvCxnSpPr>
            <a:cxnSpLocks/>
          </p:cNvCxnSpPr>
          <p:nvPr/>
        </p:nvCxnSpPr>
        <p:spPr>
          <a:xfrm flipH="1">
            <a:off x="6657919" y="4377841"/>
            <a:ext cx="767523" cy="1027340"/>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sp>
        <p:nvSpPr>
          <p:cNvPr id="20" name="Rounded Rectangle 18">
            <a:extLst>
              <a:ext uri="{FF2B5EF4-FFF2-40B4-BE49-F238E27FC236}">
                <a16:creationId xmlns:a16="http://schemas.microsoft.com/office/drawing/2014/main" id="{B21848EE-4ECE-F140-B906-20A5592F136C}"/>
              </a:ext>
            </a:extLst>
          </p:cNvPr>
          <p:cNvSpPr/>
          <p:nvPr/>
        </p:nvSpPr>
        <p:spPr>
          <a:xfrm>
            <a:off x="5320914" y="2481997"/>
            <a:ext cx="2611792" cy="845173"/>
          </a:xfrm>
          <a:prstGeom prst="roundRect">
            <a:avLst>
              <a:gd name="adj" fmla="val 9818"/>
            </a:avLst>
          </a:prstGeom>
          <a:noFill/>
          <a:ln w="19050">
            <a:solidFill>
              <a:schemeClr val="tx1"/>
            </a:solidFill>
            <a:prstDash val="lgDashDot"/>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1" name="Rounded Rectangle 19">
            <a:extLst>
              <a:ext uri="{FF2B5EF4-FFF2-40B4-BE49-F238E27FC236}">
                <a16:creationId xmlns:a16="http://schemas.microsoft.com/office/drawing/2014/main" id="{72A830C7-AD87-404A-B15C-51E67EE56827}"/>
              </a:ext>
            </a:extLst>
          </p:cNvPr>
          <p:cNvSpPr/>
          <p:nvPr/>
        </p:nvSpPr>
        <p:spPr>
          <a:xfrm>
            <a:off x="5320914" y="3942860"/>
            <a:ext cx="2611792" cy="846631"/>
          </a:xfrm>
          <a:prstGeom prst="roundRect">
            <a:avLst>
              <a:gd name="adj" fmla="val 9818"/>
            </a:avLst>
          </a:prstGeom>
          <a:noFill/>
          <a:ln w="28575">
            <a:solidFill>
              <a:schemeClr val="tx1"/>
            </a:solidFill>
            <a:prstDash val="lgDashDot"/>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40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cxnSp>
        <p:nvCxnSpPr>
          <p:cNvPr id="22" name="Straight Connector 21">
            <a:extLst>
              <a:ext uri="{FF2B5EF4-FFF2-40B4-BE49-F238E27FC236}">
                <a16:creationId xmlns:a16="http://schemas.microsoft.com/office/drawing/2014/main" id="{CCE1D318-ED3A-0342-92DA-36A484547018}"/>
              </a:ext>
            </a:extLst>
          </p:cNvPr>
          <p:cNvCxnSpPr>
            <a:cxnSpLocks/>
          </p:cNvCxnSpPr>
          <p:nvPr/>
        </p:nvCxnSpPr>
        <p:spPr>
          <a:xfrm flipH="1">
            <a:off x="6022128" y="2086956"/>
            <a:ext cx="593404" cy="858543"/>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09EB27FA-3E6E-5142-9A10-8182B0A4719F}"/>
              </a:ext>
            </a:extLst>
          </p:cNvPr>
          <p:cNvCxnSpPr>
            <a:cxnSpLocks/>
          </p:cNvCxnSpPr>
          <p:nvPr/>
        </p:nvCxnSpPr>
        <p:spPr>
          <a:xfrm>
            <a:off x="6650628" y="2109862"/>
            <a:ext cx="571865" cy="835637"/>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B9DFF9B-134E-B144-97ED-71053B8D1B83}"/>
              </a:ext>
            </a:extLst>
          </p:cNvPr>
          <p:cNvCxnSpPr>
            <a:cxnSpLocks/>
          </p:cNvCxnSpPr>
          <p:nvPr/>
        </p:nvCxnSpPr>
        <p:spPr>
          <a:xfrm>
            <a:off x="6022128" y="3159075"/>
            <a:ext cx="503521" cy="469064"/>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9DDB7C3F-68D4-4C44-855A-D781F7C008CE}"/>
              </a:ext>
            </a:extLst>
          </p:cNvPr>
          <p:cNvCxnSpPr>
            <a:cxnSpLocks/>
          </p:cNvCxnSpPr>
          <p:nvPr/>
        </p:nvCxnSpPr>
        <p:spPr>
          <a:xfrm flipH="1">
            <a:off x="6648717" y="3147060"/>
            <a:ext cx="526088" cy="483104"/>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A1FE8D13-5CC3-D247-BA16-4D9B356E7576}"/>
              </a:ext>
            </a:extLst>
          </p:cNvPr>
          <p:cNvCxnSpPr/>
          <p:nvPr/>
        </p:nvCxnSpPr>
        <p:spPr>
          <a:xfrm flipH="1">
            <a:off x="5645360" y="3616123"/>
            <a:ext cx="1015873" cy="629731"/>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011A4BFB-89D6-B142-8571-874B42CC1EC9}"/>
              </a:ext>
            </a:extLst>
          </p:cNvPr>
          <p:cNvCxnSpPr>
            <a:cxnSpLocks/>
          </p:cNvCxnSpPr>
          <p:nvPr/>
        </p:nvCxnSpPr>
        <p:spPr>
          <a:xfrm flipH="1">
            <a:off x="6641611" y="3688123"/>
            <a:ext cx="1751" cy="478187"/>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1D69B133-C78E-0D4C-A9AE-295BED67BCE8}"/>
              </a:ext>
            </a:extLst>
          </p:cNvPr>
          <p:cNvCxnSpPr>
            <a:cxnSpLocks/>
          </p:cNvCxnSpPr>
          <p:nvPr/>
        </p:nvCxnSpPr>
        <p:spPr>
          <a:xfrm>
            <a:off x="6657918" y="3616123"/>
            <a:ext cx="826177" cy="506183"/>
          </a:xfrm>
          <a:prstGeom prst="line">
            <a:avLst/>
          </a:prstGeom>
          <a:ln w="19050">
            <a:solidFill>
              <a:srgbClr val="0070C0"/>
            </a:solidFill>
          </a:ln>
        </p:spPr>
        <p:style>
          <a:lnRef idx="2">
            <a:schemeClr val="accent1"/>
          </a:lnRef>
          <a:fillRef idx="0">
            <a:schemeClr val="accent1"/>
          </a:fillRef>
          <a:effectRef idx="1">
            <a:schemeClr val="accent1"/>
          </a:effectRef>
          <a:fontRef idx="minor">
            <a:schemeClr val="tx1"/>
          </a:fontRef>
        </p:style>
      </p:cxnSp>
      <p:sp>
        <p:nvSpPr>
          <p:cNvPr id="29" name="Right Arrow 28">
            <a:extLst>
              <a:ext uri="{FF2B5EF4-FFF2-40B4-BE49-F238E27FC236}">
                <a16:creationId xmlns:a16="http://schemas.microsoft.com/office/drawing/2014/main" id="{5627C69B-1327-B740-8D91-2C19FE4512FF}"/>
              </a:ext>
            </a:extLst>
          </p:cNvPr>
          <p:cNvSpPr/>
          <p:nvPr/>
        </p:nvSpPr>
        <p:spPr>
          <a:xfrm>
            <a:off x="4165043" y="4029163"/>
            <a:ext cx="470356" cy="627515"/>
          </a:xfrm>
          <a:prstGeom prst="rightArrow">
            <a:avLst/>
          </a:prstGeom>
          <a:solidFill>
            <a:srgbClr val="4F81BD"/>
          </a:solidFill>
          <a:ln>
            <a:solidFill>
              <a:srgbClr val="0070C0"/>
            </a:solidFill>
          </a:ln>
        </p:spPr>
        <p:style>
          <a:lnRef idx="1">
            <a:schemeClr val="accent2"/>
          </a:lnRef>
          <a:fillRef idx="3">
            <a:schemeClr val="accent2"/>
          </a:fillRef>
          <a:effectRef idx="2">
            <a:schemeClr val="accent2"/>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30" name="Picture 29">
            <a:extLst>
              <a:ext uri="{FF2B5EF4-FFF2-40B4-BE49-F238E27FC236}">
                <a16:creationId xmlns:a16="http://schemas.microsoft.com/office/drawing/2014/main" id="{14E6A0FE-AFA1-0F40-8CB9-631404B9894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73094" y="1675676"/>
            <a:ext cx="725471" cy="473571"/>
          </a:xfrm>
          <a:prstGeom prst="rect">
            <a:avLst/>
          </a:prstGeom>
        </p:spPr>
      </p:pic>
      <p:pic>
        <p:nvPicPr>
          <p:cNvPr id="31" name="Picture 30">
            <a:extLst>
              <a:ext uri="{FF2B5EF4-FFF2-40B4-BE49-F238E27FC236}">
                <a16:creationId xmlns:a16="http://schemas.microsoft.com/office/drawing/2014/main" id="{3F616AE3-0832-5D49-9703-FBCABBFDFBC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421294" y="1819071"/>
            <a:ext cx="369264" cy="443116"/>
          </a:xfrm>
          <a:prstGeom prst="rect">
            <a:avLst/>
          </a:prstGeom>
        </p:spPr>
      </p:pic>
      <p:pic>
        <p:nvPicPr>
          <p:cNvPr id="32" name="Picture 31">
            <a:extLst>
              <a:ext uri="{FF2B5EF4-FFF2-40B4-BE49-F238E27FC236}">
                <a16:creationId xmlns:a16="http://schemas.microsoft.com/office/drawing/2014/main" id="{3F6E8D28-6AB0-C843-9BD5-161AB477C3F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415572" y="3396638"/>
            <a:ext cx="369264" cy="443116"/>
          </a:xfrm>
          <a:prstGeom prst="rect">
            <a:avLst/>
          </a:prstGeom>
        </p:spPr>
      </p:pic>
      <p:grpSp>
        <p:nvGrpSpPr>
          <p:cNvPr id="33" name="Group 32">
            <a:extLst>
              <a:ext uri="{FF2B5EF4-FFF2-40B4-BE49-F238E27FC236}">
                <a16:creationId xmlns:a16="http://schemas.microsoft.com/office/drawing/2014/main" id="{96385186-F752-8D45-A4E7-0D6C780DAC66}"/>
              </a:ext>
            </a:extLst>
          </p:cNvPr>
          <p:cNvGrpSpPr/>
          <p:nvPr/>
        </p:nvGrpSpPr>
        <p:grpSpPr>
          <a:xfrm>
            <a:off x="5613578" y="2575565"/>
            <a:ext cx="1983819" cy="747312"/>
            <a:chOff x="8931321" y="2615776"/>
            <a:chExt cx="1983819" cy="747312"/>
          </a:xfrm>
        </p:grpSpPr>
        <p:pic>
          <p:nvPicPr>
            <p:cNvPr id="44" name="Picture 43">
              <a:extLst>
                <a:ext uri="{FF2B5EF4-FFF2-40B4-BE49-F238E27FC236}">
                  <a16:creationId xmlns:a16="http://schemas.microsoft.com/office/drawing/2014/main" id="{AD3A9937-D238-F94D-B0A3-BDEF71152C6D}"/>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10165332" y="2615776"/>
              <a:ext cx="749808" cy="747312"/>
            </a:xfrm>
            <a:prstGeom prst="rect">
              <a:avLst/>
            </a:prstGeom>
          </p:spPr>
        </p:pic>
        <p:pic>
          <p:nvPicPr>
            <p:cNvPr id="45" name="Picture 44">
              <a:extLst>
                <a:ext uri="{FF2B5EF4-FFF2-40B4-BE49-F238E27FC236}">
                  <a16:creationId xmlns:a16="http://schemas.microsoft.com/office/drawing/2014/main" id="{48091010-6086-F644-ACD3-C8C762CF313D}"/>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8931321" y="2615776"/>
              <a:ext cx="749808" cy="747312"/>
            </a:xfrm>
            <a:prstGeom prst="rect">
              <a:avLst/>
            </a:prstGeom>
          </p:spPr>
        </p:pic>
      </p:grpSp>
      <p:grpSp>
        <p:nvGrpSpPr>
          <p:cNvPr id="34" name="Group 33">
            <a:extLst>
              <a:ext uri="{FF2B5EF4-FFF2-40B4-BE49-F238E27FC236}">
                <a16:creationId xmlns:a16="http://schemas.microsoft.com/office/drawing/2014/main" id="{392DA70D-FB46-3F4E-98E9-720945206351}"/>
              </a:ext>
            </a:extLst>
          </p:cNvPr>
          <p:cNvGrpSpPr/>
          <p:nvPr/>
        </p:nvGrpSpPr>
        <p:grpSpPr>
          <a:xfrm>
            <a:off x="5431509" y="3999727"/>
            <a:ext cx="2368185" cy="747312"/>
            <a:chOff x="8749252" y="4039938"/>
            <a:chExt cx="2368185" cy="747312"/>
          </a:xfrm>
        </p:grpSpPr>
        <p:pic>
          <p:nvPicPr>
            <p:cNvPr id="41" name="Picture 40">
              <a:extLst>
                <a:ext uri="{FF2B5EF4-FFF2-40B4-BE49-F238E27FC236}">
                  <a16:creationId xmlns:a16="http://schemas.microsoft.com/office/drawing/2014/main" id="{20B3DE0E-F6F2-744C-A984-1971F9AFAEB0}"/>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10367629" y="4039938"/>
              <a:ext cx="749808" cy="747312"/>
            </a:xfrm>
            <a:prstGeom prst="rect">
              <a:avLst/>
            </a:prstGeom>
          </p:spPr>
        </p:pic>
        <p:pic>
          <p:nvPicPr>
            <p:cNvPr id="42" name="Picture 41">
              <a:extLst>
                <a:ext uri="{FF2B5EF4-FFF2-40B4-BE49-F238E27FC236}">
                  <a16:creationId xmlns:a16="http://schemas.microsoft.com/office/drawing/2014/main" id="{C6E82905-A1F6-6C49-A6EE-6EC746759961}"/>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9558441" y="4039938"/>
              <a:ext cx="749808" cy="747312"/>
            </a:xfrm>
            <a:prstGeom prst="rect">
              <a:avLst/>
            </a:prstGeom>
          </p:spPr>
        </p:pic>
        <p:pic>
          <p:nvPicPr>
            <p:cNvPr id="43" name="Picture 42">
              <a:extLst>
                <a:ext uri="{FF2B5EF4-FFF2-40B4-BE49-F238E27FC236}">
                  <a16:creationId xmlns:a16="http://schemas.microsoft.com/office/drawing/2014/main" id="{12BAC5C8-1C9C-844D-986E-02A423214760}"/>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8749252" y="4039938"/>
              <a:ext cx="749808" cy="747312"/>
            </a:xfrm>
            <a:prstGeom prst="rect">
              <a:avLst/>
            </a:prstGeom>
          </p:spPr>
        </p:pic>
      </p:grpSp>
      <p:grpSp>
        <p:nvGrpSpPr>
          <p:cNvPr id="35" name="Group 34">
            <a:extLst>
              <a:ext uri="{FF2B5EF4-FFF2-40B4-BE49-F238E27FC236}">
                <a16:creationId xmlns:a16="http://schemas.microsoft.com/office/drawing/2014/main" id="{6C343D5D-34F6-F646-ACDE-B606D92902FB}"/>
              </a:ext>
            </a:extLst>
          </p:cNvPr>
          <p:cNvGrpSpPr/>
          <p:nvPr/>
        </p:nvGrpSpPr>
        <p:grpSpPr>
          <a:xfrm>
            <a:off x="9024461" y="2953918"/>
            <a:ext cx="2111734" cy="2358189"/>
            <a:chOff x="8524183" y="2734244"/>
            <a:chExt cx="2111734" cy="2358189"/>
          </a:xfrm>
        </p:grpSpPr>
        <p:pic>
          <p:nvPicPr>
            <p:cNvPr id="38" name="Picture 37">
              <a:extLst>
                <a:ext uri="{FF2B5EF4-FFF2-40B4-BE49-F238E27FC236}">
                  <a16:creationId xmlns:a16="http://schemas.microsoft.com/office/drawing/2014/main" id="{A89FD545-6534-1643-9B60-8C088CFA82B8}"/>
                </a:ext>
              </a:extLst>
            </p:cNvPr>
            <p:cNvPicPr>
              <a:picLocks noChangeAspect="1"/>
            </p:cNvPicPr>
            <p:nvPr/>
          </p:nvPicPr>
          <p:blipFill>
            <a:blip r:embed="rId11"/>
            <a:stretch>
              <a:fillRect/>
            </a:stretch>
          </p:blipFill>
          <p:spPr>
            <a:xfrm>
              <a:off x="8890315" y="3447232"/>
              <a:ext cx="1379468" cy="1379468"/>
            </a:xfrm>
            <a:prstGeom prst="rect">
              <a:avLst/>
            </a:prstGeom>
          </p:spPr>
        </p:pic>
        <p:sp>
          <p:nvSpPr>
            <p:cNvPr id="39" name="Rectangle 38">
              <a:extLst>
                <a:ext uri="{FF2B5EF4-FFF2-40B4-BE49-F238E27FC236}">
                  <a16:creationId xmlns:a16="http://schemas.microsoft.com/office/drawing/2014/main" id="{BCEE19AD-571B-324B-9A44-372A0D88186B}"/>
                </a:ext>
              </a:extLst>
            </p:cNvPr>
            <p:cNvSpPr/>
            <p:nvPr/>
          </p:nvSpPr>
          <p:spPr>
            <a:xfrm>
              <a:off x="8761902" y="3215507"/>
              <a:ext cx="1636295" cy="1876926"/>
            </a:xfrm>
            <a:prstGeom prst="rect">
              <a:avLst/>
            </a:pr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dirty="0"/>
            </a:p>
          </p:txBody>
        </p:sp>
        <p:sp>
          <p:nvSpPr>
            <p:cNvPr id="40" name="TextBox 44">
              <a:extLst>
                <a:ext uri="{FF2B5EF4-FFF2-40B4-BE49-F238E27FC236}">
                  <a16:creationId xmlns:a16="http://schemas.microsoft.com/office/drawing/2014/main" id="{13AF4CF3-6137-294F-B0DE-6386E37FE96D}"/>
                </a:ext>
              </a:extLst>
            </p:cNvPr>
            <p:cNvSpPr txBox="1"/>
            <p:nvPr/>
          </p:nvSpPr>
          <p:spPr>
            <a:xfrm>
              <a:off x="8524183" y="2734244"/>
              <a:ext cx="2111734" cy="369012"/>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dirty="0">
                  <a:latin typeface="Amazon Ember" panose="020B0603020204020204" pitchFamily="34" charset="0"/>
                  <a:ea typeface="Amazon Ember" panose="020B0603020204020204" pitchFamily="34" charset="0"/>
                  <a:cs typeface="Amazon Ember" panose="020B0603020204020204" pitchFamily="34" charset="0"/>
                </a:rPr>
                <a:t>System updates</a:t>
              </a:r>
            </a:p>
          </p:txBody>
        </p:sp>
      </p:grpSp>
      <p:sp>
        <p:nvSpPr>
          <p:cNvPr id="36" name="Right Arrow 45">
            <a:extLst>
              <a:ext uri="{FF2B5EF4-FFF2-40B4-BE49-F238E27FC236}">
                <a16:creationId xmlns:a16="http://schemas.microsoft.com/office/drawing/2014/main" id="{E09ABDD7-DD2D-B447-A6E5-2EA8E0F0D75D}"/>
              </a:ext>
            </a:extLst>
          </p:cNvPr>
          <p:cNvSpPr/>
          <p:nvPr/>
        </p:nvSpPr>
        <p:spPr>
          <a:xfrm flipH="1">
            <a:off x="8618001" y="4029163"/>
            <a:ext cx="478095" cy="627515"/>
          </a:xfrm>
          <a:prstGeom prst="rightArrow">
            <a:avLst/>
          </a:prstGeom>
          <a:solidFill>
            <a:srgbClr val="4F81BD"/>
          </a:solidFill>
          <a:ln>
            <a:solidFill>
              <a:srgbClr val="0070C0"/>
            </a:solidFill>
          </a:ln>
        </p:spPr>
        <p:style>
          <a:lnRef idx="1">
            <a:schemeClr val="accent2"/>
          </a:lnRef>
          <a:fillRef idx="3">
            <a:schemeClr val="accent2"/>
          </a:fillRef>
          <a:effectRef idx="2">
            <a:schemeClr val="accent2"/>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sz="24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37" name="Picture 36">
            <a:extLst>
              <a:ext uri="{FF2B5EF4-FFF2-40B4-BE49-F238E27FC236}">
                <a16:creationId xmlns:a16="http://schemas.microsoft.com/office/drawing/2014/main" id="{12D96CCA-B1D0-8FE8-ECEE-0B702333069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462409" y="5104860"/>
            <a:ext cx="346841" cy="457200"/>
          </a:xfrm>
          <a:prstGeom prst="rect">
            <a:avLst/>
          </a:prstGeom>
        </p:spPr>
      </p:pic>
    </p:spTree>
    <p:extLst>
      <p:ext uri="{BB962C8B-B14F-4D97-AF65-F5344CB8AC3E}">
        <p14:creationId xmlns:p14="http://schemas.microsoft.com/office/powerpoint/2010/main" val="3627177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6D7281E6-E174-6542-94E5-4E90695666C7}"/>
              </a:ext>
            </a:extLst>
          </p:cNvPr>
          <p:cNvSpPr>
            <a:spLocks noGrp="1"/>
          </p:cNvSpPr>
          <p:nvPr/>
        </p:nvSpPr>
        <p:spPr>
          <a:xfrm>
            <a:off x="1550803" y="594261"/>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a:solidFill>
                  <a:schemeClr val="tx1"/>
                </a:solidFill>
              </a:rPr>
              <a:t>Systems Manager</a:t>
            </a:r>
          </a:p>
        </p:txBody>
      </p:sp>
      <p:sp>
        <p:nvSpPr>
          <p:cNvPr id="10" name="Rectangle 9">
            <a:extLst>
              <a:ext uri="{FF2B5EF4-FFF2-40B4-BE49-F238E27FC236}">
                <a16:creationId xmlns:a16="http://schemas.microsoft.com/office/drawing/2014/main" id="{DFB2CA45-7992-FF47-B291-FAE3CE3860D0}"/>
              </a:ext>
            </a:extLst>
          </p:cNvPr>
          <p:cNvSpPr/>
          <p:nvPr/>
        </p:nvSpPr>
        <p:spPr>
          <a:xfrm>
            <a:off x="3991027" y="2291301"/>
            <a:ext cx="7854956" cy="3231654"/>
          </a:xfrm>
          <a:prstGeom prst="rect">
            <a:avLst/>
          </a:prstGeom>
        </p:spPr>
        <p:txBody>
          <a:bodyPr wrap="square" lIns="91440" tIns="45720" rIns="91440" bIns="4572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marL="15875" lvl="1" indent="-15875">
              <a:spcBef>
                <a:spcPts val="1200"/>
              </a:spcBef>
            </a:pPr>
            <a:r>
              <a:rPr lang="en-US" sz="22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 collection of capabilities that allow for continuous, automated system management at scale and automated configuration</a:t>
            </a:r>
          </a:p>
          <a:p>
            <a:pPr marL="15875" lvl="1" indent="-15875">
              <a:spcBef>
                <a:spcPts val="1200"/>
              </a:spcBef>
            </a:pPr>
            <a:endParaRPr lang="en-US" sz="22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endParaRPr>
          </a:p>
          <a:p>
            <a:pPr marL="456565" lvl="1" indent="-456565">
              <a:spcBef>
                <a:spcPts val="1200"/>
              </a:spcBef>
            </a:pPr>
            <a:endParaRPr lang="en-US" sz="22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endParaRPr>
          </a:p>
          <a:p>
            <a:pPr marL="913765" lvl="2" indent="-456565">
              <a:spcBef>
                <a:spcPts val="1200"/>
              </a:spcBef>
              <a:buFont typeface="Arial" panose="020B0604020202020204" pitchFamily="34" charset="0"/>
              <a:buChar char="•"/>
            </a:pPr>
            <a:r>
              <a:rPr lang="en-US" sz="2200" dirty="0">
                <a:solidFill>
                  <a:schemeClr val="tx1">
                    <a:lumMod val="85000"/>
                    <a:lumOff val="15000"/>
                  </a:schemeClr>
                </a:solidFill>
                <a:latin typeface="Amazon Ember"/>
                <a:ea typeface="Amazon Ember" panose="020B0603020204020204" pitchFamily="34" charset="0"/>
                <a:cs typeface="Amazon Ember" panose="020B0603020204020204" pitchFamily="34" charset="0"/>
              </a:rPr>
              <a:t>Across all your Windows and Linux workload</a:t>
            </a:r>
          </a:p>
          <a:p>
            <a:pPr marL="913765" lvl="2" indent="-456565">
              <a:spcBef>
                <a:spcPts val="1200"/>
              </a:spcBef>
              <a:buFont typeface="Arial" panose="020B0604020202020204" pitchFamily="34" charset="0"/>
              <a:buChar char="•"/>
            </a:pPr>
            <a:endParaRPr lang="en-US" sz="22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endParaRPr>
          </a:p>
          <a:p>
            <a:pPr marL="913765" lvl="2" indent="-456565">
              <a:spcBef>
                <a:spcPts val="1200"/>
              </a:spcBef>
              <a:buFont typeface="Arial" panose="020B0604020202020204" pitchFamily="34" charset="0"/>
              <a:buChar char="•"/>
            </a:pPr>
            <a:r>
              <a:rPr lang="en-US" sz="22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Runs in Amazon EC2 or on-premises</a:t>
            </a:r>
          </a:p>
        </p:txBody>
      </p:sp>
      <p:pic>
        <p:nvPicPr>
          <p:cNvPr id="14" name="Picture 13">
            <a:extLst>
              <a:ext uri="{FF2B5EF4-FFF2-40B4-BE49-F238E27FC236}">
                <a16:creationId xmlns:a16="http://schemas.microsoft.com/office/drawing/2014/main" id="{37F4BBC1-8FC1-414A-8DEB-C009F592CC4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48060" y="3240552"/>
            <a:ext cx="1186303" cy="1324543"/>
          </a:xfrm>
          <a:prstGeom prst="rect">
            <a:avLst/>
          </a:prstGeom>
        </p:spPr>
      </p:pic>
      <p:sp>
        <p:nvSpPr>
          <p:cNvPr id="15" name="TextBox 7">
            <a:extLst>
              <a:ext uri="{FF2B5EF4-FFF2-40B4-BE49-F238E27FC236}">
                <a16:creationId xmlns:a16="http://schemas.microsoft.com/office/drawing/2014/main" id="{8403CCC1-1510-4C4D-9686-D6BD88AE40B9}"/>
              </a:ext>
            </a:extLst>
          </p:cNvPr>
          <p:cNvSpPr txBox="1"/>
          <p:nvPr/>
        </p:nvSpPr>
        <p:spPr>
          <a:xfrm>
            <a:off x="802597" y="4776322"/>
            <a:ext cx="2477230" cy="830997"/>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4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AWS Systems Manager</a:t>
            </a:r>
          </a:p>
        </p:txBody>
      </p:sp>
      <p:sp>
        <p:nvSpPr>
          <p:cNvPr id="16" name="Rectangle 15">
            <a:extLst>
              <a:ext uri="{FF2B5EF4-FFF2-40B4-BE49-F238E27FC236}">
                <a16:creationId xmlns:a16="http://schemas.microsoft.com/office/drawing/2014/main" id="{EFEA235E-1576-4D4D-8F7B-36CF5E72B35C}"/>
              </a:ext>
            </a:extLst>
          </p:cNvPr>
          <p:cNvSpPr/>
          <p:nvPr/>
        </p:nvSpPr>
        <p:spPr>
          <a:xfrm>
            <a:off x="602690" y="2232951"/>
            <a:ext cx="2885749" cy="4045058"/>
          </a:xfrm>
          <a:prstGeom prst="rect">
            <a:avLst/>
          </a:prstGeom>
          <a:no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dirty="0"/>
          </a:p>
        </p:txBody>
      </p:sp>
    </p:spTree>
    <p:extLst>
      <p:ext uri="{BB962C8B-B14F-4D97-AF65-F5344CB8AC3E}">
        <p14:creationId xmlns:p14="http://schemas.microsoft.com/office/powerpoint/2010/main" val="929449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10F7E126-7BEE-3742-B12B-5AEF8E55FB22}"/>
              </a:ext>
            </a:extLst>
          </p:cNvPr>
          <p:cNvSpPr>
            <a:spLocks noGrp="1"/>
          </p:cNvSpPr>
          <p:nvPr/>
        </p:nvSpPr>
        <p:spPr>
          <a:xfrm>
            <a:off x="1550803" y="831027"/>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a:solidFill>
                  <a:schemeClr val="tx1"/>
                </a:solidFill>
              </a:rPr>
              <a:t>What Can It Do?</a:t>
            </a:r>
          </a:p>
        </p:txBody>
      </p:sp>
      <p:grpSp>
        <p:nvGrpSpPr>
          <p:cNvPr id="10" name="Group 9">
            <a:extLst>
              <a:ext uri="{FF2B5EF4-FFF2-40B4-BE49-F238E27FC236}">
                <a16:creationId xmlns:a16="http://schemas.microsoft.com/office/drawing/2014/main" id="{DECA0AD3-B104-894B-BD8B-A42031A70310}"/>
              </a:ext>
            </a:extLst>
          </p:cNvPr>
          <p:cNvGrpSpPr/>
          <p:nvPr/>
        </p:nvGrpSpPr>
        <p:grpSpPr>
          <a:xfrm>
            <a:off x="358839" y="2453074"/>
            <a:ext cx="3584778" cy="661500"/>
            <a:chOff x="5121678" y="1563548"/>
            <a:chExt cx="3584778" cy="661500"/>
          </a:xfrm>
        </p:grpSpPr>
        <p:pic>
          <p:nvPicPr>
            <p:cNvPr id="26" name="Picture 25">
              <a:extLst>
                <a:ext uri="{FF2B5EF4-FFF2-40B4-BE49-F238E27FC236}">
                  <a16:creationId xmlns:a16="http://schemas.microsoft.com/office/drawing/2014/main" id="{F59893E2-8990-D940-B440-134356F72EB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21678" y="1563548"/>
              <a:ext cx="906590" cy="661500"/>
            </a:xfrm>
            <a:prstGeom prst="rect">
              <a:avLst/>
            </a:prstGeom>
          </p:spPr>
        </p:pic>
        <p:sp>
          <p:nvSpPr>
            <p:cNvPr id="39" name="TextBox 7">
              <a:extLst>
                <a:ext uri="{FF2B5EF4-FFF2-40B4-BE49-F238E27FC236}">
                  <a16:creationId xmlns:a16="http://schemas.microsoft.com/office/drawing/2014/main" id="{68478B38-5F63-A84D-A236-1376E813653E}"/>
                </a:ext>
              </a:extLst>
            </p:cNvPr>
            <p:cNvSpPr txBox="1"/>
            <p:nvPr/>
          </p:nvSpPr>
          <p:spPr>
            <a:xfrm>
              <a:off x="6553201" y="1678854"/>
              <a:ext cx="2153255" cy="430887"/>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200" dirty="0">
                  <a:latin typeface="Amazon Ember"/>
                  <a:ea typeface="Amazon Ember" panose="020B0603020204020204" pitchFamily="34" charset="0"/>
                  <a:cs typeface="Amazon Ember" panose="020B0603020204020204" pitchFamily="34" charset="0"/>
                </a:rPr>
                <a:t>Run commands</a:t>
              </a:r>
              <a:endParaRPr lang="en-US" dirty="0"/>
            </a:p>
          </p:txBody>
        </p:sp>
      </p:grpSp>
      <p:grpSp>
        <p:nvGrpSpPr>
          <p:cNvPr id="11" name="Group 10">
            <a:extLst>
              <a:ext uri="{FF2B5EF4-FFF2-40B4-BE49-F238E27FC236}">
                <a16:creationId xmlns:a16="http://schemas.microsoft.com/office/drawing/2014/main" id="{99E7AE0A-225F-314D-845D-51327FAA4DF0}"/>
              </a:ext>
            </a:extLst>
          </p:cNvPr>
          <p:cNvGrpSpPr/>
          <p:nvPr/>
        </p:nvGrpSpPr>
        <p:grpSpPr>
          <a:xfrm>
            <a:off x="358839" y="3919988"/>
            <a:ext cx="4111523" cy="816632"/>
            <a:chOff x="5184878" y="2789456"/>
            <a:chExt cx="4111523" cy="816632"/>
          </a:xfrm>
        </p:grpSpPr>
        <p:pic>
          <p:nvPicPr>
            <p:cNvPr id="24" name="Picture 23">
              <a:extLst>
                <a:ext uri="{FF2B5EF4-FFF2-40B4-BE49-F238E27FC236}">
                  <a16:creationId xmlns:a16="http://schemas.microsoft.com/office/drawing/2014/main" id="{B9A3F09F-D978-614A-9E4C-55EC4595A7E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184878" y="2789456"/>
              <a:ext cx="780188" cy="816632"/>
            </a:xfrm>
            <a:prstGeom prst="rect">
              <a:avLst/>
            </a:prstGeom>
          </p:spPr>
        </p:pic>
        <p:sp>
          <p:nvSpPr>
            <p:cNvPr id="25" name="TextBox 9">
              <a:extLst>
                <a:ext uri="{FF2B5EF4-FFF2-40B4-BE49-F238E27FC236}">
                  <a16:creationId xmlns:a16="http://schemas.microsoft.com/office/drawing/2014/main" id="{04A5FD01-0FA6-0F4C-BD52-B6616CD8AE8D}"/>
                </a:ext>
              </a:extLst>
            </p:cNvPr>
            <p:cNvSpPr txBox="1"/>
            <p:nvPr/>
          </p:nvSpPr>
          <p:spPr>
            <a:xfrm>
              <a:off x="6553201" y="2982327"/>
              <a:ext cx="2743200" cy="430887"/>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200" dirty="0">
                  <a:latin typeface="Amazon Ember"/>
                  <a:ea typeface="Amazon Ember" panose="020B0603020204020204" pitchFamily="34" charset="0"/>
                  <a:cs typeface="Amazon Ember" panose="020B0603020204020204" pitchFamily="34" charset="0"/>
                </a:rPr>
                <a:t>Patch management</a:t>
              </a:r>
            </a:p>
          </p:txBody>
        </p:sp>
      </p:grpSp>
      <p:grpSp>
        <p:nvGrpSpPr>
          <p:cNvPr id="12" name="Group 11">
            <a:extLst>
              <a:ext uri="{FF2B5EF4-FFF2-40B4-BE49-F238E27FC236}">
                <a16:creationId xmlns:a16="http://schemas.microsoft.com/office/drawing/2014/main" id="{BDA678CD-8CBD-6346-B920-529A3747BBFD}"/>
              </a:ext>
            </a:extLst>
          </p:cNvPr>
          <p:cNvGrpSpPr/>
          <p:nvPr/>
        </p:nvGrpSpPr>
        <p:grpSpPr>
          <a:xfrm>
            <a:off x="6180628" y="2415904"/>
            <a:ext cx="6341629" cy="774204"/>
            <a:chOff x="5206906" y="4182147"/>
            <a:chExt cx="6341629" cy="774204"/>
          </a:xfrm>
        </p:grpSpPr>
        <p:pic>
          <p:nvPicPr>
            <p:cNvPr id="22" name="Picture 21">
              <a:extLst>
                <a:ext uri="{FF2B5EF4-FFF2-40B4-BE49-F238E27FC236}">
                  <a16:creationId xmlns:a16="http://schemas.microsoft.com/office/drawing/2014/main" id="{AF0BA4D5-E2B9-2142-B9A2-A8BA0B21FB4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206906" y="4182147"/>
              <a:ext cx="736130" cy="774204"/>
            </a:xfrm>
            <a:prstGeom prst="rect">
              <a:avLst/>
            </a:prstGeom>
          </p:spPr>
        </p:pic>
        <p:sp>
          <p:nvSpPr>
            <p:cNvPr id="23" name="TextBox 11">
              <a:extLst>
                <a:ext uri="{FF2B5EF4-FFF2-40B4-BE49-F238E27FC236}">
                  <a16:creationId xmlns:a16="http://schemas.microsoft.com/office/drawing/2014/main" id="{5E55B4D3-1779-8848-8A44-33ABA5669D61}"/>
                </a:ext>
              </a:extLst>
            </p:cNvPr>
            <p:cNvSpPr txBox="1"/>
            <p:nvPr/>
          </p:nvSpPr>
          <p:spPr>
            <a:xfrm>
              <a:off x="6553201" y="4334622"/>
              <a:ext cx="4995334" cy="430887"/>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200" dirty="0">
                  <a:latin typeface="Amazon Ember" panose="020B0603020204020204" pitchFamily="34" charset="0"/>
                  <a:ea typeface="Amazon Ember" panose="020B0603020204020204" pitchFamily="34" charset="0"/>
                  <a:cs typeface="Amazon Ember" panose="020B0603020204020204" pitchFamily="34" charset="0"/>
                </a:rPr>
                <a:t>Maintenance Windows</a:t>
              </a:r>
            </a:p>
          </p:txBody>
        </p:sp>
      </p:grpSp>
      <p:grpSp>
        <p:nvGrpSpPr>
          <p:cNvPr id="14" name="Group 13">
            <a:extLst>
              <a:ext uri="{FF2B5EF4-FFF2-40B4-BE49-F238E27FC236}">
                <a16:creationId xmlns:a16="http://schemas.microsoft.com/office/drawing/2014/main" id="{982F2802-AD78-5742-A3BF-1A9C1AA9E5A2}"/>
              </a:ext>
            </a:extLst>
          </p:cNvPr>
          <p:cNvGrpSpPr/>
          <p:nvPr/>
        </p:nvGrpSpPr>
        <p:grpSpPr>
          <a:xfrm>
            <a:off x="6237028" y="3995522"/>
            <a:ext cx="6285229" cy="741098"/>
            <a:chOff x="5263306" y="5524602"/>
            <a:chExt cx="6285229" cy="741098"/>
          </a:xfrm>
        </p:grpSpPr>
        <p:pic>
          <p:nvPicPr>
            <p:cNvPr id="20" name="Picture 19">
              <a:extLst>
                <a:ext uri="{FF2B5EF4-FFF2-40B4-BE49-F238E27FC236}">
                  <a16:creationId xmlns:a16="http://schemas.microsoft.com/office/drawing/2014/main" id="{CF49313C-D616-1E46-9634-25F584D70FB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263306" y="5524602"/>
              <a:ext cx="709108" cy="741098"/>
            </a:xfrm>
            <a:prstGeom prst="rect">
              <a:avLst/>
            </a:prstGeom>
          </p:spPr>
        </p:pic>
        <p:sp>
          <p:nvSpPr>
            <p:cNvPr id="21" name="TextBox 13">
              <a:extLst>
                <a:ext uri="{FF2B5EF4-FFF2-40B4-BE49-F238E27FC236}">
                  <a16:creationId xmlns:a16="http://schemas.microsoft.com/office/drawing/2014/main" id="{7D01BEDA-5F3B-A940-836F-A7C353CEA05A}"/>
                </a:ext>
              </a:extLst>
            </p:cNvPr>
            <p:cNvSpPr txBox="1"/>
            <p:nvPr/>
          </p:nvSpPr>
          <p:spPr>
            <a:xfrm>
              <a:off x="6553201" y="5641405"/>
              <a:ext cx="4995334" cy="430887"/>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200" dirty="0">
                  <a:latin typeface="Amazon Ember" panose="020B0603020204020204" pitchFamily="34" charset="0"/>
                  <a:ea typeface="Amazon Ember" panose="020B0603020204020204" pitchFamily="34" charset="0"/>
                  <a:cs typeface="Amazon Ember" panose="020B0603020204020204" pitchFamily="34" charset="0"/>
                </a:rPr>
                <a:t>State Manager</a:t>
              </a:r>
            </a:p>
          </p:txBody>
        </p:sp>
      </p:grpSp>
      <p:grpSp>
        <p:nvGrpSpPr>
          <p:cNvPr id="15" name="Group 14">
            <a:extLst>
              <a:ext uri="{FF2B5EF4-FFF2-40B4-BE49-F238E27FC236}">
                <a16:creationId xmlns:a16="http://schemas.microsoft.com/office/drawing/2014/main" id="{0AF74D23-E610-104E-BC8B-0D2DEDB2662D}"/>
              </a:ext>
            </a:extLst>
          </p:cNvPr>
          <p:cNvGrpSpPr/>
          <p:nvPr/>
        </p:nvGrpSpPr>
        <p:grpSpPr>
          <a:xfrm>
            <a:off x="358839" y="5310790"/>
            <a:ext cx="4111523" cy="780188"/>
            <a:chOff x="5184878" y="2807678"/>
            <a:chExt cx="4111523" cy="780188"/>
          </a:xfrm>
        </p:grpSpPr>
        <p:pic>
          <p:nvPicPr>
            <p:cNvPr id="18" name="Picture 17">
              <a:extLst>
                <a:ext uri="{FF2B5EF4-FFF2-40B4-BE49-F238E27FC236}">
                  <a16:creationId xmlns:a16="http://schemas.microsoft.com/office/drawing/2014/main" id="{CA8C827C-2226-9A46-A56A-C802F0EE3247}"/>
                </a:ext>
              </a:extLst>
            </p:cNvPr>
            <p:cNvPicPr>
              <a:picLocks noChangeAspect="1"/>
            </p:cNvPicPr>
            <p:nvPr/>
          </p:nvPicPr>
          <p:blipFill>
            <a:blip r:embed="rId11"/>
            <a:stretch>
              <a:fillRect/>
            </a:stretch>
          </p:blipFill>
          <p:spPr>
            <a:xfrm>
              <a:off x="5184878" y="2807678"/>
              <a:ext cx="780188" cy="780188"/>
            </a:xfrm>
            <a:prstGeom prst="rect">
              <a:avLst/>
            </a:prstGeom>
          </p:spPr>
        </p:pic>
        <p:sp>
          <p:nvSpPr>
            <p:cNvPr id="19" name="TextBox 16">
              <a:extLst>
                <a:ext uri="{FF2B5EF4-FFF2-40B4-BE49-F238E27FC236}">
                  <a16:creationId xmlns:a16="http://schemas.microsoft.com/office/drawing/2014/main" id="{BF08EEB9-2050-274B-ACB2-142CB4D2A892}"/>
                </a:ext>
              </a:extLst>
            </p:cNvPr>
            <p:cNvSpPr txBox="1"/>
            <p:nvPr/>
          </p:nvSpPr>
          <p:spPr>
            <a:xfrm>
              <a:off x="6553201" y="2982327"/>
              <a:ext cx="2743200" cy="430887"/>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200" dirty="0">
                  <a:latin typeface="Amazon Ember" panose="020B0603020204020204" pitchFamily="34" charset="0"/>
                  <a:ea typeface="Amazon Ember" panose="020B0603020204020204" pitchFamily="34" charset="0"/>
                  <a:cs typeface="Amazon Ember" panose="020B0603020204020204" pitchFamily="34" charset="0"/>
                </a:rPr>
                <a:t>Session Manager</a:t>
              </a:r>
            </a:p>
          </p:txBody>
        </p:sp>
      </p:grpSp>
      <p:sp>
        <p:nvSpPr>
          <p:cNvPr id="16" name="TextBox 23">
            <a:extLst>
              <a:ext uri="{FF2B5EF4-FFF2-40B4-BE49-F238E27FC236}">
                <a16:creationId xmlns:a16="http://schemas.microsoft.com/office/drawing/2014/main" id="{1C340E7A-CB50-F941-BEAF-5C39D14D84DD}"/>
              </a:ext>
            </a:extLst>
          </p:cNvPr>
          <p:cNvSpPr txBox="1"/>
          <p:nvPr/>
        </p:nvSpPr>
        <p:spPr>
          <a:xfrm>
            <a:off x="7470523" y="5602242"/>
            <a:ext cx="4995334" cy="430887"/>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200" dirty="0">
                <a:latin typeface="Amazon Ember" panose="020B0603020204020204" pitchFamily="34" charset="0"/>
                <a:ea typeface="Amazon Ember" panose="020B0603020204020204" pitchFamily="34" charset="0"/>
                <a:cs typeface="Amazon Ember" panose="020B0603020204020204" pitchFamily="34" charset="0"/>
              </a:rPr>
              <a:t>Inventory</a:t>
            </a:r>
          </a:p>
        </p:txBody>
      </p:sp>
      <p:pic>
        <p:nvPicPr>
          <p:cNvPr id="17" name="Picture 16">
            <a:extLst>
              <a:ext uri="{FF2B5EF4-FFF2-40B4-BE49-F238E27FC236}">
                <a16:creationId xmlns:a16="http://schemas.microsoft.com/office/drawing/2014/main" id="{6C0FB808-8378-EC40-8747-1D129821AD0A}"/>
              </a:ext>
            </a:extLst>
          </p:cNvPr>
          <p:cNvPicPr>
            <a:picLocks noChangeAspect="1"/>
          </p:cNvPicPr>
          <p:nvPr/>
        </p:nvPicPr>
        <p:blipFill>
          <a:blip r:embed="rId12"/>
          <a:stretch>
            <a:fillRect/>
          </a:stretch>
        </p:blipFill>
        <p:spPr>
          <a:xfrm>
            <a:off x="6180628" y="5356488"/>
            <a:ext cx="754426" cy="754426"/>
          </a:xfrm>
          <a:prstGeom prst="rect">
            <a:avLst/>
          </a:prstGeom>
        </p:spPr>
      </p:pic>
    </p:spTree>
    <p:extLst>
      <p:ext uri="{BB962C8B-B14F-4D97-AF65-F5344CB8AC3E}">
        <p14:creationId xmlns:p14="http://schemas.microsoft.com/office/powerpoint/2010/main" val="9590875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pic>
        <p:nvPicPr>
          <p:cNvPr id="9" name="Picture 8">
            <a:extLst>
              <a:ext uri="{FF2B5EF4-FFF2-40B4-BE49-F238E27FC236}">
                <a16:creationId xmlns:a16="http://schemas.microsoft.com/office/drawing/2014/main" id="{62ED8B68-8DB6-D949-B9EE-35F9EFDD9E8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83210" y="3078530"/>
            <a:ext cx="1147757" cy="1377308"/>
          </a:xfrm>
          <a:prstGeom prst="rect">
            <a:avLst/>
          </a:prstGeom>
        </p:spPr>
      </p:pic>
      <p:sp>
        <p:nvSpPr>
          <p:cNvPr id="10" name="Title 1">
            <a:extLst>
              <a:ext uri="{FF2B5EF4-FFF2-40B4-BE49-F238E27FC236}">
                <a16:creationId xmlns:a16="http://schemas.microsoft.com/office/drawing/2014/main" id="{F782A525-110F-A346-9AF1-6DA8CEAC11D4}"/>
              </a:ext>
            </a:extLst>
          </p:cNvPr>
          <p:cNvSpPr>
            <a:spLocks noGrp="1"/>
          </p:cNvSpPr>
          <p:nvPr/>
        </p:nvSpPr>
        <p:spPr>
          <a:xfrm>
            <a:off x="1550803" y="1105101"/>
            <a:ext cx="9090394" cy="779463"/>
          </a:xfrm>
          <a:prstGeom prst="rect">
            <a:avLst/>
          </a:prstGeom>
        </p:spPr>
        <p:txBody>
          <a:bodyPr vert="horz" lIns="91440" tIns="45720" rIns="91440" bIns="45720" rtlCol="0" anchor="ctr">
            <a:normAutofit fontScale="67500" lnSpcReduction="20000"/>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dirty="0">
                <a:solidFill>
                  <a:schemeClr val="tx1"/>
                </a:solidFill>
              </a:rPr>
              <a:t>AWS OpsWorks for Infrastructure and Deployment Automation</a:t>
            </a:r>
          </a:p>
        </p:txBody>
      </p:sp>
      <p:sp>
        <p:nvSpPr>
          <p:cNvPr id="55" name="TextBox 5">
            <a:extLst>
              <a:ext uri="{FF2B5EF4-FFF2-40B4-BE49-F238E27FC236}">
                <a16:creationId xmlns:a16="http://schemas.microsoft.com/office/drawing/2014/main" id="{16DC39AE-1DA8-C748-9C9B-9FBF1345EF85}"/>
              </a:ext>
            </a:extLst>
          </p:cNvPr>
          <p:cNvSpPr txBox="1"/>
          <p:nvPr/>
        </p:nvSpPr>
        <p:spPr>
          <a:xfrm>
            <a:off x="818474" y="4776322"/>
            <a:ext cx="2477230" cy="892552"/>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AWS OpsWorks</a:t>
            </a:r>
          </a:p>
        </p:txBody>
      </p:sp>
      <p:sp>
        <p:nvSpPr>
          <p:cNvPr id="56" name="Rectangle 55">
            <a:extLst>
              <a:ext uri="{FF2B5EF4-FFF2-40B4-BE49-F238E27FC236}">
                <a16:creationId xmlns:a16="http://schemas.microsoft.com/office/drawing/2014/main" id="{84A630D0-0125-0B4C-8C06-5BB003189C16}"/>
              </a:ext>
            </a:extLst>
          </p:cNvPr>
          <p:cNvSpPr/>
          <p:nvPr/>
        </p:nvSpPr>
        <p:spPr>
          <a:xfrm>
            <a:off x="618567" y="2232951"/>
            <a:ext cx="2885749" cy="4045058"/>
          </a:xfrm>
          <a:prstGeom prst="rect">
            <a:avLst/>
          </a:prstGeom>
          <a:no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dirty="0"/>
          </a:p>
        </p:txBody>
      </p:sp>
      <p:sp>
        <p:nvSpPr>
          <p:cNvPr id="57" name="TextBox 9">
            <a:extLst>
              <a:ext uri="{FF2B5EF4-FFF2-40B4-BE49-F238E27FC236}">
                <a16:creationId xmlns:a16="http://schemas.microsoft.com/office/drawing/2014/main" id="{A11E27A7-5AFE-BA41-B472-72FA5CEBF091}"/>
              </a:ext>
            </a:extLst>
          </p:cNvPr>
          <p:cNvSpPr txBox="1"/>
          <p:nvPr/>
        </p:nvSpPr>
        <p:spPr>
          <a:xfrm>
            <a:off x="3985515" y="2232951"/>
            <a:ext cx="7844590" cy="4093428"/>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000" b="1"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Configuration management services</a:t>
            </a:r>
          </a:p>
          <a:p>
            <a:endParaRPr lang="en-US" sz="2000" b="1"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endParaRPr lang="en-US" sz="2000" b="1"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342900" indent="-342900">
              <a:buClr>
                <a:schemeClr val="tx1">
                  <a:lumMod val="85000"/>
                  <a:lumOff val="15000"/>
                </a:schemeClr>
              </a:buClr>
              <a:buFont typeface="Arial" panose="020B0604020202020204" pitchFamily="34" charset="0"/>
              <a:buChar char="•"/>
            </a:pPr>
            <a:r>
              <a:rPr lang="en-US" sz="20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AWS </a:t>
            </a:r>
            <a:r>
              <a:rPr lang="en-US" sz="2000" dirty="0" err="1">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OpsWorks</a:t>
            </a:r>
            <a:r>
              <a:rPr lang="en-US" sz="20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 for Puppet Enterprise</a:t>
            </a:r>
          </a:p>
          <a:p>
            <a:pPr marL="342900" indent="-342900">
              <a:buClr>
                <a:schemeClr val="tx1">
                  <a:lumMod val="85000"/>
                  <a:lumOff val="15000"/>
                </a:schemeClr>
              </a:buClr>
              <a:buFont typeface="Arial" panose="020B0604020202020204" pitchFamily="34" charset="0"/>
              <a:buChar char="•"/>
            </a:pPr>
            <a:endParaRPr lang="en-US" sz="20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342900" indent="-342900">
              <a:buClr>
                <a:schemeClr val="tx1">
                  <a:lumMod val="85000"/>
                  <a:lumOff val="15000"/>
                </a:schemeClr>
              </a:buClr>
              <a:buFont typeface="Arial" panose="020B0604020202020204" pitchFamily="34" charset="0"/>
              <a:buChar char="•"/>
            </a:pPr>
            <a:r>
              <a:rPr lang="en-US" sz="20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AWS OpsWorks for Chef Automate</a:t>
            </a:r>
          </a:p>
          <a:p>
            <a:pPr marL="342900" indent="-342900">
              <a:buClr>
                <a:schemeClr val="tx1">
                  <a:lumMod val="85000"/>
                  <a:lumOff val="15000"/>
                </a:schemeClr>
              </a:buClr>
              <a:buFont typeface="Arial" panose="020B0604020202020204" pitchFamily="34" charset="0"/>
              <a:buChar char="•"/>
            </a:pPr>
            <a:endParaRPr lang="en-US" sz="20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342900" indent="-342900">
              <a:buClr>
                <a:schemeClr val="tx1">
                  <a:lumMod val="85000"/>
                  <a:lumOff val="15000"/>
                </a:schemeClr>
              </a:buClr>
              <a:buFont typeface="Arial" panose="020B0604020202020204" pitchFamily="34" charset="0"/>
              <a:buChar char="•"/>
            </a:pPr>
            <a:r>
              <a:rPr lang="en-US" sz="20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AWS </a:t>
            </a:r>
            <a:r>
              <a:rPr lang="en-US" sz="2000" dirty="0" err="1">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OpsWorks</a:t>
            </a:r>
            <a:r>
              <a:rPr lang="en-US" sz="20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rPr>
              <a:t> Stacks</a:t>
            </a:r>
          </a:p>
          <a:p>
            <a:pPr marL="342900" indent="-342900">
              <a:buClr>
                <a:schemeClr val="tx1">
                  <a:lumMod val="85000"/>
                  <a:lumOff val="15000"/>
                </a:schemeClr>
              </a:buClr>
              <a:buFont typeface="Arial" panose="020B0604020202020204" pitchFamily="34" charset="0"/>
              <a:buChar char="•"/>
            </a:pPr>
            <a:endParaRPr lang="en-US" sz="20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799596" lvl="1" indent="-342900">
              <a:buClr>
                <a:schemeClr val="accent2"/>
              </a:buClr>
              <a:buFont typeface="Arial" panose="020B0604020202020204" pitchFamily="34" charset="0"/>
              <a:buChar char="•"/>
            </a:pPr>
            <a:endParaRPr lang="en-US" sz="20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a:buClr>
                <a:schemeClr val="accent2"/>
              </a:buClr>
            </a:pPr>
            <a:endParaRPr lang="en-US" sz="2000" dirty="0">
              <a:solidFill>
                <a:schemeClr val="tx1">
                  <a:lumMod val="85000"/>
                  <a:lumOff val="15000"/>
                </a:schemeClr>
              </a:solidFill>
              <a:latin typeface="Amazon Ember Light" panose="020B0403020204020204" pitchFamily="34" charset="0"/>
              <a:ea typeface="Amazon Ember Light" panose="020B0403020204020204" pitchFamily="34" charset="0"/>
              <a:cs typeface="Amazon Ember Light" panose="020B0403020204020204" pitchFamily="34" charset="0"/>
            </a:endParaRPr>
          </a:p>
          <a:p>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342900" indent="-342900">
              <a:buFont typeface="Arial" panose="020B0604020202020204" pitchFamily="34" charset="0"/>
              <a:buChar char="•"/>
            </a:pPr>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pic>
        <p:nvPicPr>
          <p:cNvPr id="58" name="Picture 57">
            <a:extLst>
              <a:ext uri="{FF2B5EF4-FFF2-40B4-BE49-F238E27FC236}">
                <a16:creationId xmlns:a16="http://schemas.microsoft.com/office/drawing/2014/main" id="{429A22C1-3ED3-AB4A-8463-B639CEA9641C}"/>
              </a:ext>
            </a:extLst>
          </p:cNvPr>
          <p:cNvPicPr>
            <a:picLocks noChangeAspect="1"/>
          </p:cNvPicPr>
          <p:nvPr/>
        </p:nvPicPr>
        <p:blipFill>
          <a:blip r:embed="rId8"/>
          <a:stretch>
            <a:fillRect/>
          </a:stretch>
        </p:blipFill>
        <p:spPr>
          <a:xfrm>
            <a:off x="4730725" y="5100243"/>
            <a:ext cx="1927860" cy="704088"/>
          </a:xfrm>
          <a:prstGeom prst="rect">
            <a:avLst/>
          </a:prstGeom>
        </p:spPr>
      </p:pic>
      <p:pic>
        <p:nvPicPr>
          <p:cNvPr id="59" name="Picture 58">
            <a:extLst>
              <a:ext uri="{FF2B5EF4-FFF2-40B4-BE49-F238E27FC236}">
                <a16:creationId xmlns:a16="http://schemas.microsoft.com/office/drawing/2014/main" id="{9945DA10-4978-7146-9454-976EC3A56F7D}"/>
              </a:ext>
            </a:extLst>
          </p:cNvPr>
          <p:cNvPicPr>
            <a:picLocks noChangeAspect="1"/>
          </p:cNvPicPr>
          <p:nvPr/>
        </p:nvPicPr>
        <p:blipFill>
          <a:blip r:embed="rId9"/>
          <a:stretch>
            <a:fillRect/>
          </a:stretch>
        </p:blipFill>
        <p:spPr>
          <a:xfrm>
            <a:off x="8109366" y="5068119"/>
            <a:ext cx="1905000" cy="672084"/>
          </a:xfrm>
          <a:prstGeom prst="rect">
            <a:avLst/>
          </a:prstGeom>
        </p:spPr>
      </p:pic>
    </p:spTree>
    <p:extLst>
      <p:ext uri="{BB962C8B-B14F-4D97-AF65-F5344CB8AC3E}">
        <p14:creationId xmlns:p14="http://schemas.microsoft.com/office/powerpoint/2010/main" val="10307571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37E2FE0E-86D4-FA49-BE76-981F4AD7D6C0}"/>
              </a:ext>
            </a:extLst>
          </p:cNvPr>
          <p:cNvSpPr>
            <a:spLocks noGrp="1"/>
          </p:cNvSpPr>
          <p:nvPr/>
        </p:nvSpPr>
        <p:spPr>
          <a:xfrm>
            <a:off x="1550803" y="903515"/>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err="1">
                <a:solidFill>
                  <a:schemeClr val="tx1"/>
                </a:solidFill>
                <a:latin typeface="Amazon Ember Light"/>
              </a:rPr>
              <a:t>OpsWorks</a:t>
            </a:r>
            <a:r>
              <a:rPr lang="en-US" sz="3400" dirty="0">
                <a:solidFill>
                  <a:schemeClr val="tx1"/>
                </a:solidFill>
                <a:latin typeface="Amazon Ember Light"/>
              </a:rPr>
              <a:t> Stacks: Life Cycle Events</a:t>
            </a:r>
          </a:p>
        </p:txBody>
      </p:sp>
      <p:sp>
        <p:nvSpPr>
          <p:cNvPr id="10" name="Rectangle 9">
            <a:extLst>
              <a:ext uri="{FF2B5EF4-FFF2-40B4-BE49-F238E27FC236}">
                <a16:creationId xmlns:a16="http://schemas.microsoft.com/office/drawing/2014/main" id="{88FCF59A-D652-C541-9F53-7EDA61B9ADF2}"/>
              </a:ext>
            </a:extLst>
          </p:cNvPr>
          <p:cNvSpPr/>
          <p:nvPr/>
        </p:nvSpPr>
        <p:spPr>
          <a:xfrm>
            <a:off x="3867443" y="2041509"/>
            <a:ext cx="7988969" cy="4124206"/>
          </a:xfrm>
          <a:prstGeom prst="rect">
            <a:avLst/>
          </a:prstGeom>
        </p:spPr>
        <p:txBody>
          <a:bodyPr wrap="square" lIns="91440" tIns="45720" rIns="91440" bIns="4572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endParaRPr lang="en-US" sz="2000" b="1" dirty="0">
              <a:solidFill>
                <a:srgbClr val="444444"/>
              </a:solidFill>
              <a:latin typeface="Amazon Ember" panose="020B0603020204020204" pitchFamily="34" charset="0"/>
              <a:ea typeface="Amazon Ember" panose="020B0603020204020204" pitchFamily="34" charset="0"/>
              <a:cs typeface="Amazon Ember" panose="020B0603020204020204" pitchFamily="34" charset="0"/>
            </a:endParaRPr>
          </a:p>
          <a:p>
            <a:r>
              <a:rPr lang="en-US" sz="22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Allows you to run scripts on these triggers:</a:t>
            </a:r>
          </a:p>
          <a:p>
            <a:endParaRPr lang="en-US" sz="2000" b="1" dirty="0">
              <a:solidFill>
                <a:srgbClr val="444444"/>
              </a:solidFill>
              <a:latin typeface="Amazon Ember" panose="020B0603020204020204" pitchFamily="34" charset="0"/>
              <a:ea typeface="Amazon Ember" panose="020B0603020204020204" pitchFamily="34" charset="0"/>
              <a:cs typeface="Amazon Ember" panose="020B0603020204020204" pitchFamily="34" charset="0"/>
            </a:endParaRPr>
          </a:p>
          <a:p>
            <a:pPr marL="456565" lvl="1"/>
            <a:r>
              <a:rPr lang="en-US" sz="2000" b="1" dirty="0">
                <a:solidFill>
                  <a:srgbClr val="444444"/>
                </a:solidFill>
                <a:latin typeface="Amazon Ember Light"/>
                <a:ea typeface="Amazon Ember Light" panose="020B0403020204020204" pitchFamily="34" charset="0"/>
                <a:cs typeface="Amazon Ember Light" panose="020B0403020204020204" pitchFamily="34" charset="0"/>
              </a:rPr>
              <a:t>Setup</a:t>
            </a:r>
            <a:r>
              <a:rPr lang="en-US" sz="2000" dirty="0">
                <a:solidFill>
                  <a:srgbClr val="444444"/>
                </a:solidFill>
                <a:latin typeface="Amazon Ember Light"/>
                <a:ea typeface="Amazon Ember Light" panose="020B0403020204020204" pitchFamily="34" charset="0"/>
                <a:cs typeface="Amazon Ember Light" panose="020B0403020204020204" pitchFamily="34" charset="0"/>
              </a:rPr>
              <a:t> occurs on a fresh instance following a successful boot</a:t>
            </a:r>
          </a:p>
          <a:p>
            <a:pPr marL="456565" lvl="1"/>
            <a:endParaRPr lang="en-US" sz="2000" dirty="0">
              <a:solidFill>
                <a:srgbClr val="444444"/>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456565" lvl="1"/>
            <a:r>
              <a:rPr lang="en-US" sz="2000" b="1" dirty="0">
                <a:solidFill>
                  <a:srgbClr val="444444"/>
                </a:solidFill>
                <a:latin typeface="Amazon Ember Light"/>
                <a:ea typeface="Amazon Ember Light" panose="020B0403020204020204" pitchFamily="34" charset="0"/>
                <a:cs typeface="Amazon Ember Light" panose="020B0403020204020204" pitchFamily="34" charset="0"/>
              </a:rPr>
              <a:t>Configure</a:t>
            </a:r>
            <a:r>
              <a:rPr lang="en-US" sz="2000" dirty="0">
                <a:solidFill>
                  <a:srgbClr val="444444"/>
                </a:solidFill>
                <a:latin typeface="Amazon Ember Light"/>
                <a:ea typeface="Amazon Ember Light" panose="020B0403020204020204" pitchFamily="34" charset="0"/>
                <a:cs typeface="Amazon Ember Light" panose="020B0403020204020204" pitchFamily="34" charset="0"/>
              </a:rPr>
              <a:t> occurs whenever an instance enters or exits the online state on all the stack's instances.</a:t>
            </a:r>
          </a:p>
          <a:p>
            <a:pPr marL="456565" lvl="1"/>
            <a:endParaRPr lang="en-US" sz="2000" dirty="0">
              <a:solidFill>
                <a:srgbClr val="444444"/>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456565" lvl="1"/>
            <a:r>
              <a:rPr lang="en-US" sz="2000" b="1" dirty="0">
                <a:solidFill>
                  <a:srgbClr val="444444"/>
                </a:solidFill>
                <a:latin typeface="Amazon Ember Light"/>
                <a:ea typeface="Amazon Ember Light" panose="020B0403020204020204" pitchFamily="34" charset="0"/>
                <a:cs typeface="Amazon Ember Light" panose="020B0403020204020204" pitchFamily="34" charset="0"/>
              </a:rPr>
              <a:t>Deploy</a:t>
            </a:r>
            <a:r>
              <a:rPr lang="en-US" sz="2000" dirty="0">
                <a:solidFill>
                  <a:srgbClr val="444444"/>
                </a:solidFill>
                <a:latin typeface="Amazon Ember Light"/>
                <a:ea typeface="Amazon Ember Light" panose="020B0403020204020204" pitchFamily="34" charset="0"/>
                <a:cs typeface="Amazon Ember Light" panose="020B0403020204020204" pitchFamily="34" charset="0"/>
              </a:rPr>
              <a:t> occurs when you deploy an app</a:t>
            </a:r>
          </a:p>
          <a:p>
            <a:pPr marL="456565" lvl="1"/>
            <a:endParaRPr lang="en-US" sz="2000" dirty="0">
              <a:solidFill>
                <a:srgbClr val="444444"/>
              </a:solidFill>
              <a:latin typeface="Amazon Ember Light"/>
              <a:ea typeface="Amazon Ember Light" panose="020B0403020204020204" pitchFamily="34" charset="0"/>
              <a:cs typeface="Amazon Ember Light" panose="020B0403020204020204" pitchFamily="34" charset="0"/>
            </a:endParaRPr>
          </a:p>
          <a:p>
            <a:pPr marL="456565" lvl="1"/>
            <a:r>
              <a:rPr lang="en-US" sz="2000" b="1" dirty="0" err="1">
                <a:solidFill>
                  <a:srgbClr val="444444"/>
                </a:solidFill>
                <a:latin typeface="Amazon Ember Light"/>
                <a:ea typeface="Amazon Ember Light" panose="020B0403020204020204" pitchFamily="34" charset="0"/>
                <a:cs typeface="Amazon Ember Light" panose="020B0403020204020204" pitchFamily="34" charset="0"/>
              </a:rPr>
              <a:t>Undeploy</a:t>
            </a:r>
            <a:r>
              <a:rPr lang="en-US" sz="2000" b="1" dirty="0">
                <a:solidFill>
                  <a:srgbClr val="444444"/>
                </a:solidFill>
                <a:latin typeface="Amazon Ember Light"/>
                <a:ea typeface="Amazon Ember Light" panose="020B0403020204020204" pitchFamily="34" charset="0"/>
                <a:cs typeface="Amazon Ember Light" panose="020B0403020204020204" pitchFamily="34" charset="0"/>
              </a:rPr>
              <a:t> </a:t>
            </a:r>
            <a:r>
              <a:rPr lang="en-US" sz="2000" dirty="0">
                <a:solidFill>
                  <a:srgbClr val="444444"/>
                </a:solidFill>
                <a:latin typeface="Amazon Ember Light"/>
                <a:ea typeface="Amazon Ember Light" panose="020B0403020204020204" pitchFamily="34" charset="0"/>
                <a:cs typeface="Amazon Ember Light" panose="020B0403020204020204" pitchFamily="34" charset="0"/>
              </a:rPr>
              <a:t>occurs when you delete an app</a:t>
            </a:r>
          </a:p>
          <a:p>
            <a:pPr marL="456565" lvl="1"/>
            <a:endParaRPr lang="en-US" sz="2000" dirty="0">
              <a:solidFill>
                <a:srgbClr val="444444"/>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marL="456565" lvl="1"/>
            <a:r>
              <a:rPr lang="en-US" sz="2000" b="1" dirty="0">
                <a:solidFill>
                  <a:srgbClr val="444444"/>
                </a:solidFill>
                <a:latin typeface="Amazon Ember Light"/>
                <a:ea typeface="Amazon Ember Light" panose="020B0403020204020204" pitchFamily="34" charset="0"/>
                <a:cs typeface="Amazon Ember Light" panose="020B0403020204020204" pitchFamily="34" charset="0"/>
              </a:rPr>
              <a:t>Shutdown</a:t>
            </a:r>
            <a:r>
              <a:rPr lang="en-US" sz="2000" dirty="0">
                <a:solidFill>
                  <a:srgbClr val="444444"/>
                </a:solidFill>
                <a:latin typeface="Amazon Ember Light"/>
                <a:ea typeface="Amazon Ember Light" panose="020B0403020204020204" pitchFamily="34" charset="0"/>
                <a:cs typeface="Amazon Ember Light" panose="020B0403020204020204" pitchFamily="34" charset="0"/>
              </a:rPr>
              <a:t> occurs when you stop an instance</a:t>
            </a:r>
            <a:endParaRPr lang="en-US" sz="2000" dirty="0">
              <a:solidFill>
                <a:srgbClr val="444444"/>
              </a:solidFill>
              <a:effectLst/>
              <a:latin typeface="Amazon Ember Light"/>
              <a:ea typeface="Amazon Ember Light" panose="020B0403020204020204" pitchFamily="34" charset="0"/>
              <a:cs typeface="Amazon Ember Light" panose="020B0403020204020204" pitchFamily="34" charset="0"/>
            </a:endParaRPr>
          </a:p>
        </p:txBody>
      </p:sp>
      <p:pic>
        <p:nvPicPr>
          <p:cNvPr id="16" name="Picture 15">
            <a:extLst>
              <a:ext uri="{FF2B5EF4-FFF2-40B4-BE49-F238E27FC236}">
                <a16:creationId xmlns:a16="http://schemas.microsoft.com/office/drawing/2014/main" id="{10A96EB4-DA61-C24E-A23B-53DB9DCE094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56904" y="3078530"/>
            <a:ext cx="1147757" cy="1377308"/>
          </a:xfrm>
          <a:prstGeom prst="rect">
            <a:avLst/>
          </a:prstGeom>
        </p:spPr>
      </p:pic>
      <p:sp>
        <p:nvSpPr>
          <p:cNvPr id="17" name="TextBox 6">
            <a:extLst>
              <a:ext uri="{FF2B5EF4-FFF2-40B4-BE49-F238E27FC236}">
                <a16:creationId xmlns:a16="http://schemas.microsoft.com/office/drawing/2014/main" id="{A3CEACE4-3E24-C040-9376-C4D5BDAA2CEE}"/>
              </a:ext>
            </a:extLst>
          </p:cNvPr>
          <p:cNvSpPr txBox="1"/>
          <p:nvPr/>
        </p:nvSpPr>
        <p:spPr>
          <a:xfrm>
            <a:off x="792168" y="4776322"/>
            <a:ext cx="2477230" cy="1292662"/>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AWS OpsWorks</a:t>
            </a:r>
          </a:p>
          <a:p>
            <a:pPr algn="ctr"/>
            <a:r>
              <a:rPr lang="en-US" sz="2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Stacks</a:t>
            </a:r>
          </a:p>
        </p:txBody>
      </p:sp>
      <p:sp>
        <p:nvSpPr>
          <p:cNvPr id="18" name="Rectangle 17">
            <a:extLst>
              <a:ext uri="{FF2B5EF4-FFF2-40B4-BE49-F238E27FC236}">
                <a16:creationId xmlns:a16="http://schemas.microsoft.com/office/drawing/2014/main" id="{3829F53D-587D-3C4D-9D48-76CC10455809}"/>
              </a:ext>
            </a:extLst>
          </p:cNvPr>
          <p:cNvSpPr/>
          <p:nvPr/>
        </p:nvSpPr>
        <p:spPr>
          <a:xfrm>
            <a:off x="592261" y="2232951"/>
            <a:ext cx="2885749" cy="4045058"/>
          </a:xfrm>
          <a:prstGeom prst="rect">
            <a:avLst/>
          </a:prstGeom>
          <a:no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dirty="0"/>
          </a:p>
        </p:txBody>
      </p:sp>
    </p:spTree>
    <p:extLst>
      <p:ext uri="{BB962C8B-B14F-4D97-AF65-F5344CB8AC3E}">
        <p14:creationId xmlns:p14="http://schemas.microsoft.com/office/powerpoint/2010/main" val="29962895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611"/>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1" name="Title 4">
            <a:extLst>
              <a:ext uri="{FF2B5EF4-FFF2-40B4-BE49-F238E27FC236}">
                <a16:creationId xmlns:a16="http://schemas.microsoft.com/office/drawing/2014/main" id="{005BB4ED-D06D-CBC2-1D23-D8DC1BEDC5BF}"/>
              </a:ext>
            </a:extLst>
          </p:cNvPr>
          <p:cNvSpPr>
            <a:spLocks noGrp="1"/>
          </p:cNvSpPr>
          <p:nvPr/>
        </p:nvSpPr>
        <p:spPr>
          <a:xfrm>
            <a:off x="1550803" y="83063"/>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err="1">
                <a:solidFill>
                  <a:schemeClr val="tx1"/>
                </a:solidFill>
                <a:latin typeface="Amazon Ember Light"/>
              </a:rPr>
              <a:t>OpsWorks</a:t>
            </a:r>
            <a:r>
              <a:rPr lang="en-US" sz="3400" dirty="0">
                <a:solidFill>
                  <a:schemeClr val="tx1"/>
                </a:solidFill>
                <a:latin typeface="Amazon Ember Light"/>
              </a:rPr>
              <a:t> Stacks: Stacks and Layers</a:t>
            </a:r>
          </a:p>
        </p:txBody>
      </p:sp>
      <p:sp>
        <p:nvSpPr>
          <p:cNvPr id="13" name="Rounded Rectangle 7">
            <a:extLst>
              <a:ext uri="{FF2B5EF4-FFF2-40B4-BE49-F238E27FC236}">
                <a16:creationId xmlns:a16="http://schemas.microsoft.com/office/drawing/2014/main" id="{6B0F0DAF-E5FF-603E-C290-9BC3B4E18CC4}"/>
              </a:ext>
            </a:extLst>
          </p:cNvPr>
          <p:cNvSpPr/>
          <p:nvPr/>
        </p:nvSpPr>
        <p:spPr>
          <a:xfrm>
            <a:off x="555569" y="1528358"/>
            <a:ext cx="6486386" cy="4917448"/>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399"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4" name="Picture 13" descr="Deployment &amp; Management_OpsWorks Stack.eps">
            <a:extLst>
              <a:ext uri="{FF2B5EF4-FFF2-40B4-BE49-F238E27FC236}">
                <a16:creationId xmlns:a16="http://schemas.microsoft.com/office/drawing/2014/main" id="{1466E56D-467C-9BA7-972A-8950C0AB1D8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6954" y="1711248"/>
            <a:ext cx="792760" cy="792760"/>
          </a:xfrm>
          <a:prstGeom prst="rect">
            <a:avLst/>
          </a:prstGeom>
        </p:spPr>
      </p:pic>
      <p:sp>
        <p:nvSpPr>
          <p:cNvPr id="15" name="TextBox 1">
            <a:extLst>
              <a:ext uri="{FF2B5EF4-FFF2-40B4-BE49-F238E27FC236}">
                <a16:creationId xmlns:a16="http://schemas.microsoft.com/office/drawing/2014/main" id="{8BAF7039-0813-F185-4629-EFE41731EE7C}"/>
              </a:ext>
            </a:extLst>
          </p:cNvPr>
          <p:cNvSpPr txBox="1"/>
          <p:nvPr/>
        </p:nvSpPr>
        <p:spPr>
          <a:xfrm>
            <a:off x="1790292" y="1876854"/>
            <a:ext cx="3372798" cy="461545"/>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399" dirty="0">
                <a:latin typeface="Amazon Ember" panose="020B0603020204020204" pitchFamily="34" charset="0"/>
                <a:ea typeface="Amazon Ember" panose="020B0603020204020204" pitchFamily="34" charset="0"/>
                <a:cs typeface="Amazon Ember" panose="020B0603020204020204" pitchFamily="34" charset="0"/>
              </a:rPr>
              <a:t>PHP application stack</a:t>
            </a:r>
          </a:p>
        </p:txBody>
      </p:sp>
      <p:sp>
        <p:nvSpPr>
          <p:cNvPr id="16" name="TextBox 9">
            <a:extLst>
              <a:ext uri="{FF2B5EF4-FFF2-40B4-BE49-F238E27FC236}">
                <a16:creationId xmlns:a16="http://schemas.microsoft.com/office/drawing/2014/main" id="{DF6E8C36-1537-9E0D-0D77-99178CD5FC22}"/>
              </a:ext>
            </a:extLst>
          </p:cNvPr>
          <p:cNvSpPr txBox="1"/>
          <p:nvPr/>
        </p:nvSpPr>
        <p:spPr>
          <a:xfrm>
            <a:off x="7464402" y="1889412"/>
            <a:ext cx="4324038" cy="4154984"/>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200" dirty="0">
                <a:latin typeface="Amazon Ember Light"/>
                <a:ea typeface="Amazon Ember Light" panose="020B0403020204020204" pitchFamily="34" charset="0"/>
                <a:cs typeface="Amazon Ember Light" panose="020B0403020204020204" pitchFamily="34" charset="0"/>
              </a:rPr>
              <a:t>The stack is an assembly of linked AWS resources and EC2 instances that you want to operate as a group for a common objective</a:t>
            </a:r>
          </a:p>
          <a:p>
            <a:endParaRPr lang="en-US" sz="2200" dirty="0">
              <a:latin typeface="Amazon Ember Light" panose="020B0403020204020204" pitchFamily="34" charset="0"/>
              <a:ea typeface="Amazon Ember Light" panose="020B0403020204020204" pitchFamily="34" charset="0"/>
              <a:cs typeface="Amazon Ember Light" panose="020B0403020204020204" pitchFamily="34" charset="0"/>
            </a:endParaRPr>
          </a:p>
          <a:p>
            <a:endParaRPr lang="en-US" sz="2200" dirty="0">
              <a:latin typeface="Amazon Ember Light" panose="020B0403020204020204" pitchFamily="34" charset="0"/>
              <a:ea typeface="Amazon Ember Light" panose="020B0403020204020204" pitchFamily="34" charset="0"/>
              <a:cs typeface="Amazon Ember Light" panose="020B0403020204020204" pitchFamily="34" charset="0"/>
            </a:endParaRPr>
          </a:p>
          <a:p>
            <a:endParaRPr lang="en-US" sz="2200" dirty="0">
              <a:latin typeface="Amazon Ember Light" panose="020B0403020204020204" pitchFamily="34" charset="0"/>
              <a:ea typeface="Amazon Ember Light" panose="020B0403020204020204" pitchFamily="34" charset="0"/>
              <a:cs typeface="Amazon Ember Light" panose="020B0403020204020204" pitchFamily="34" charset="0"/>
            </a:endParaRPr>
          </a:p>
          <a:p>
            <a:endParaRPr lang="en-US" sz="2200" dirty="0">
              <a:latin typeface="Amazon Ember Light" panose="020B0403020204020204" pitchFamily="34" charset="0"/>
              <a:ea typeface="Amazon Ember Light" panose="020B0403020204020204" pitchFamily="34" charset="0"/>
              <a:cs typeface="Amazon Ember Light" panose="020B0403020204020204" pitchFamily="34" charset="0"/>
            </a:endParaRPr>
          </a:p>
          <a:p>
            <a:r>
              <a:rPr lang="en-US" sz="2200" dirty="0">
                <a:latin typeface="Amazon Ember Light"/>
                <a:ea typeface="Amazon Ember Light" panose="020B0403020204020204" pitchFamily="34" charset="0"/>
                <a:cs typeface="Amazon Ember Light" panose="020B0403020204020204" pitchFamily="34" charset="0"/>
              </a:rPr>
              <a:t>You can configure the VPC, region, security groups, default IAM role, default IAM instance profile, etc. in a stack</a:t>
            </a:r>
          </a:p>
        </p:txBody>
      </p:sp>
    </p:spTree>
    <p:extLst>
      <p:ext uri="{BB962C8B-B14F-4D97-AF65-F5344CB8AC3E}">
        <p14:creationId xmlns:p14="http://schemas.microsoft.com/office/powerpoint/2010/main" val="3696951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4">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5"/>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6"/>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7"/>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6">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7">
            <a:alphaModFix amt="27000"/>
          </a:blip>
          <a:stretch>
            <a:fillRect/>
          </a:stretch>
        </p:blipFill>
        <p:spPr>
          <a:xfrm rot="10800000">
            <a:off x="8803" y="6369939"/>
            <a:ext cx="370439" cy="468604"/>
          </a:xfrm>
          <a:prstGeom prst="rect">
            <a:avLst/>
          </a:prstGeom>
        </p:spPr>
      </p:pic>
      <p:sp>
        <p:nvSpPr>
          <p:cNvPr id="11" name="Title 4">
            <a:extLst>
              <a:ext uri="{FF2B5EF4-FFF2-40B4-BE49-F238E27FC236}">
                <a16:creationId xmlns:a16="http://schemas.microsoft.com/office/drawing/2014/main" id="{F4ACBC1D-D467-3ADA-F512-687AF555A4C1}"/>
              </a:ext>
            </a:extLst>
          </p:cNvPr>
          <p:cNvSpPr>
            <a:spLocks noGrp="1"/>
          </p:cNvSpPr>
          <p:nvPr/>
        </p:nvSpPr>
        <p:spPr>
          <a:xfrm>
            <a:off x="1550803" y="477989"/>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err="1">
                <a:solidFill>
                  <a:schemeClr val="tx1"/>
                </a:solidFill>
                <a:latin typeface="Amazon Ember Light"/>
              </a:rPr>
              <a:t>OpsWorks</a:t>
            </a:r>
            <a:r>
              <a:rPr lang="en-US" sz="3400" dirty="0">
                <a:solidFill>
                  <a:schemeClr val="tx1"/>
                </a:solidFill>
                <a:latin typeface="Amazon Ember Light"/>
              </a:rPr>
              <a:t> Stacks: Layers</a:t>
            </a:r>
          </a:p>
        </p:txBody>
      </p:sp>
      <p:sp>
        <p:nvSpPr>
          <p:cNvPr id="12" name="Rounded Rectangle 7">
            <a:extLst>
              <a:ext uri="{FF2B5EF4-FFF2-40B4-BE49-F238E27FC236}">
                <a16:creationId xmlns:a16="http://schemas.microsoft.com/office/drawing/2014/main" id="{C2E45C26-35E3-6210-1EA7-6039A83CB41A}"/>
              </a:ext>
            </a:extLst>
          </p:cNvPr>
          <p:cNvSpPr/>
          <p:nvPr/>
        </p:nvSpPr>
        <p:spPr>
          <a:xfrm>
            <a:off x="469527" y="1533787"/>
            <a:ext cx="6486386" cy="4917448"/>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399"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3" name="TextBox 9">
            <a:extLst>
              <a:ext uri="{FF2B5EF4-FFF2-40B4-BE49-F238E27FC236}">
                <a16:creationId xmlns:a16="http://schemas.microsoft.com/office/drawing/2014/main" id="{6D99FF52-2EDD-44B1-C789-53A116DB9D77}"/>
              </a:ext>
            </a:extLst>
          </p:cNvPr>
          <p:cNvSpPr txBox="1"/>
          <p:nvPr/>
        </p:nvSpPr>
        <p:spPr>
          <a:xfrm>
            <a:off x="7191310" y="1558015"/>
            <a:ext cx="4705323" cy="4401205"/>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lvl="0"/>
            <a:r>
              <a:rPr lang="en-US" sz="2000" dirty="0">
                <a:solidFill>
                  <a:srgbClr val="474746"/>
                </a:solidFill>
                <a:latin typeface="Amazon Ember Light"/>
                <a:ea typeface="Amazon Ember Light" panose="020B0403020204020204" pitchFamily="34" charset="0"/>
                <a:cs typeface="Amazon Ember Light" panose="020B0403020204020204" pitchFamily="34" charset="0"/>
              </a:rPr>
              <a:t>Every AWS OpsWorks Stacks stack contains one or more </a:t>
            </a:r>
            <a:r>
              <a:rPr lang="en-US" sz="2000" b="1" dirty="0">
                <a:solidFill>
                  <a:srgbClr val="474746"/>
                </a:solidFill>
                <a:latin typeface="Amazon Ember Light"/>
                <a:ea typeface="Amazon Ember Light" panose="020B0403020204020204" pitchFamily="34" charset="0"/>
                <a:cs typeface="Amazon Ember Light" panose="020B0403020204020204" pitchFamily="34" charset="0"/>
              </a:rPr>
              <a:t>layers</a:t>
            </a:r>
            <a:endParaRPr lang="en-US" sz="2000" i="1" dirty="0">
              <a:solidFill>
                <a:srgbClr val="474746"/>
              </a:solidFill>
              <a:latin typeface="Amazon Ember Light"/>
              <a:ea typeface="Amazon Ember Light" panose="020B0403020204020204" pitchFamily="34" charset="0"/>
              <a:cs typeface="Amazon Ember Light" panose="020B0403020204020204" pitchFamily="34" charset="0"/>
            </a:endParaRPr>
          </a:p>
          <a:p>
            <a:pPr lvl="0"/>
            <a:endParaRPr lang="en-US" sz="2000" dirty="0">
              <a:solidFill>
                <a:srgbClr val="474746"/>
              </a:solidFill>
              <a:latin typeface="Amazon Ember Light" panose="020B0403020204020204" pitchFamily="34" charset="0"/>
              <a:ea typeface="Amazon Ember Light" panose="020B0403020204020204" pitchFamily="34" charset="0"/>
              <a:cs typeface="Amazon Ember Light" panose="020B0403020204020204" pitchFamily="34" charset="0"/>
            </a:endParaRPr>
          </a:p>
          <a:p>
            <a:pPr lvl="0"/>
            <a:r>
              <a:rPr lang="en-US" sz="2000" dirty="0">
                <a:solidFill>
                  <a:srgbClr val="474746"/>
                </a:solidFill>
                <a:latin typeface="Amazon Ember Light" panose="020B0403020204020204" pitchFamily="34" charset="0"/>
                <a:ea typeface="Amazon Ember Light" panose="020B0403020204020204" pitchFamily="34" charset="0"/>
                <a:cs typeface="Amazon Ember Light" panose="020B0403020204020204" pitchFamily="34" charset="0"/>
              </a:rPr>
              <a:t>Two types of layers:</a:t>
            </a:r>
          </a:p>
          <a:p>
            <a:pPr marL="606425" lvl="1"/>
            <a:r>
              <a:rPr lang="en-US" sz="2000" b="1" dirty="0">
                <a:solidFill>
                  <a:schemeClr val="accent2"/>
                </a:solidFill>
                <a:latin typeface="Amazon Ember"/>
                <a:ea typeface="Amazon Ember" panose="020B0603020204020204" pitchFamily="34" charset="0"/>
                <a:cs typeface="Amazon Ember" panose="020B0603020204020204" pitchFamily="34" charset="0"/>
              </a:rPr>
              <a:t>Service layer:</a:t>
            </a:r>
            <a:r>
              <a:rPr lang="en-US" sz="2000" dirty="0">
                <a:solidFill>
                  <a:schemeClr val="accent2"/>
                </a:solidFill>
                <a:latin typeface="Amazon Ember"/>
                <a:ea typeface="Amazon Ember" panose="020B0603020204020204" pitchFamily="34" charset="0"/>
                <a:cs typeface="Amazon Ember" panose="020B0603020204020204" pitchFamily="34" charset="0"/>
              </a:rPr>
              <a:t> </a:t>
            </a:r>
            <a:r>
              <a:rPr lang="en-US" sz="2000" dirty="0">
                <a:solidFill>
                  <a:srgbClr val="474746"/>
                </a:solidFill>
                <a:latin typeface="Amazon Ember Light"/>
                <a:ea typeface="Amazon Ember" panose="020B0603020204020204" pitchFamily="34" charset="0"/>
                <a:cs typeface="Amazon Ember" panose="020B0603020204020204" pitchFamily="34" charset="0"/>
              </a:rPr>
              <a:t>Contains</a:t>
            </a:r>
            <a:r>
              <a:rPr lang="en-US" sz="2000" dirty="0">
                <a:solidFill>
                  <a:srgbClr val="474746"/>
                </a:solidFill>
                <a:latin typeface="Amazon Ember Light"/>
                <a:ea typeface="Amazon Ember Light" panose="020B0403020204020204" pitchFamily="34" charset="0"/>
                <a:cs typeface="Amazon Ember Light" panose="020B0403020204020204" pitchFamily="34" charset="0"/>
              </a:rPr>
              <a:t> an AWS service, such as Amazon RDS</a:t>
            </a:r>
          </a:p>
          <a:p>
            <a:pPr marL="606425" lvl="1"/>
            <a:r>
              <a:rPr lang="en-US" sz="2000" b="1" dirty="0" err="1">
                <a:solidFill>
                  <a:srgbClr val="00B050"/>
                </a:solidFill>
                <a:latin typeface="Amazon Ember"/>
                <a:ea typeface="Amazon Ember" panose="020B0603020204020204" pitchFamily="34" charset="0"/>
                <a:cs typeface="Amazon Ember" panose="020B0603020204020204" pitchFamily="34" charset="0"/>
              </a:rPr>
              <a:t>OpsWorks</a:t>
            </a:r>
            <a:r>
              <a:rPr lang="en-US" sz="2000" b="1" dirty="0">
                <a:solidFill>
                  <a:srgbClr val="00B050"/>
                </a:solidFill>
                <a:latin typeface="Amazon Ember"/>
                <a:ea typeface="Amazon Ember" panose="020B0603020204020204" pitchFamily="34" charset="0"/>
                <a:cs typeface="Amazon Ember" panose="020B0603020204020204" pitchFamily="34" charset="0"/>
              </a:rPr>
              <a:t> layer:</a:t>
            </a:r>
            <a:r>
              <a:rPr lang="en-US" sz="2000" dirty="0">
                <a:solidFill>
                  <a:srgbClr val="00B050"/>
                </a:solidFill>
                <a:latin typeface="Amazon Ember"/>
                <a:ea typeface="Amazon Ember" panose="020B0603020204020204" pitchFamily="34" charset="0"/>
                <a:cs typeface="Amazon Ember" panose="020B0603020204020204" pitchFamily="34" charset="0"/>
              </a:rPr>
              <a:t> </a:t>
            </a:r>
            <a:r>
              <a:rPr lang="en-US" sz="2000" dirty="0">
                <a:solidFill>
                  <a:srgbClr val="474746"/>
                </a:solidFill>
                <a:latin typeface="Amazon Ember Light"/>
                <a:ea typeface="Amazon Ember" panose="020B0603020204020204" pitchFamily="34" charset="0"/>
                <a:cs typeface="Amazon Ember" panose="020B0603020204020204" pitchFamily="34" charset="0"/>
              </a:rPr>
              <a:t>Contains </a:t>
            </a:r>
            <a:r>
              <a:rPr lang="en-US" sz="2000" dirty="0">
                <a:solidFill>
                  <a:srgbClr val="474746"/>
                </a:solidFill>
                <a:latin typeface="Amazon Ember Light"/>
                <a:ea typeface="Amazon Ember Light" panose="020B0403020204020204" pitchFamily="34" charset="0"/>
                <a:cs typeface="Amazon Ember Light" panose="020B0403020204020204" pitchFamily="34" charset="0"/>
              </a:rPr>
              <a:t>a set of Amazon EC2 instances</a:t>
            </a:r>
          </a:p>
          <a:p>
            <a:pPr lvl="0"/>
            <a:endParaRPr lang="en-US" sz="2000" dirty="0">
              <a:solidFill>
                <a:srgbClr val="474746"/>
              </a:solidFill>
              <a:latin typeface="Amazon Ember Light" panose="020B0403020204020204" pitchFamily="34" charset="0"/>
              <a:ea typeface="Amazon Ember Light" panose="020B0403020204020204" pitchFamily="34" charset="0"/>
              <a:cs typeface="Amazon Ember Light" panose="020B0403020204020204" pitchFamily="34" charset="0"/>
            </a:endParaRPr>
          </a:p>
          <a:p>
            <a:r>
              <a:rPr lang="en-US" sz="2000" dirty="0">
                <a:solidFill>
                  <a:srgbClr val="474746"/>
                </a:solidFill>
                <a:latin typeface="Amazon Ember Light"/>
                <a:ea typeface="Amazon Ember Light" panose="020B0403020204020204" pitchFamily="34" charset="0"/>
                <a:cs typeface="Amazon Ember Light" panose="020B0403020204020204" pitchFamily="34" charset="0"/>
              </a:rPr>
              <a:t>Instances can only be added to the levels of </a:t>
            </a:r>
            <a:r>
              <a:rPr lang="en-US" sz="2000" dirty="0" err="1">
                <a:solidFill>
                  <a:srgbClr val="474746"/>
                </a:solidFill>
                <a:latin typeface="Amazon Ember Light"/>
                <a:ea typeface="Amazon Ember Light" panose="020B0403020204020204" pitchFamily="34" charset="0"/>
                <a:cs typeface="Amazon Ember Light" panose="020B0403020204020204" pitchFamily="34" charset="0"/>
              </a:rPr>
              <a:t>OpsWorks</a:t>
            </a:r>
            <a:r>
              <a:rPr lang="en-US" sz="2000" dirty="0">
                <a:solidFill>
                  <a:srgbClr val="474746"/>
                </a:solidFill>
                <a:latin typeface="Amazon Ember Light"/>
                <a:ea typeface="Amazon Ember Light" panose="020B0403020204020204" pitchFamily="34" charset="0"/>
                <a:cs typeface="Amazon Ember Light" panose="020B0403020204020204" pitchFamily="34" charset="0"/>
              </a:rPr>
              <a:t> Stacks; they cannot be added directly to the service layers or only the stack</a:t>
            </a:r>
          </a:p>
          <a:p>
            <a:endParaRPr lang="en-US" sz="2000" dirty="0">
              <a:solidFill>
                <a:srgbClr val="474746"/>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4" name="Rounded Rectangle 10">
            <a:extLst>
              <a:ext uri="{FF2B5EF4-FFF2-40B4-BE49-F238E27FC236}">
                <a16:creationId xmlns:a16="http://schemas.microsoft.com/office/drawing/2014/main" id="{98C2BE86-915A-A70A-B5F8-1EEE6C8F5A67}"/>
              </a:ext>
            </a:extLst>
          </p:cNvPr>
          <p:cNvSpPr/>
          <p:nvPr/>
        </p:nvSpPr>
        <p:spPr>
          <a:xfrm>
            <a:off x="728759" y="5199665"/>
            <a:ext cx="6015593" cy="683089"/>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399"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5" name="Rounded Rectangle 12">
            <a:extLst>
              <a:ext uri="{FF2B5EF4-FFF2-40B4-BE49-F238E27FC236}">
                <a16:creationId xmlns:a16="http://schemas.microsoft.com/office/drawing/2014/main" id="{D997EA8C-886E-FF6B-AFC0-C50A99EB183D}"/>
              </a:ext>
            </a:extLst>
          </p:cNvPr>
          <p:cNvSpPr/>
          <p:nvPr/>
        </p:nvSpPr>
        <p:spPr>
          <a:xfrm>
            <a:off x="728759" y="4385512"/>
            <a:ext cx="6015593" cy="683089"/>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399"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6" name="Picture 15">
            <a:extLst>
              <a:ext uri="{FF2B5EF4-FFF2-40B4-BE49-F238E27FC236}">
                <a16:creationId xmlns:a16="http://schemas.microsoft.com/office/drawing/2014/main" id="{0ADA8187-75E3-8EC8-253C-CEBA8ACF4A2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77059" y="5316273"/>
            <a:ext cx="468299" cy="468299"/>
          </a:xfrm>
          <a:prstGeom prst="rect">
            <a:avLst/>
          </a:prstGeom>
        </p:spPr>
      </p:pic>
      <p:sp>
        <p:nvSpPr>
          <p:cNvPr id="17" name="TextBox 15">
            <a:extLst>
              <a:ext uri="{FF2B5EF4-FFF2-40B4-BE49-F238E27FC236}">
                <a16:creationId xmlns:a16="http://schemas.microsoft.com/office/drawing/2014/main" id="{483453FE-C301-5F9A-1FA7-82A0617F2B2E}"/>
              </a:ext>
            </a:extLst>
          </p:cNvPr>
          <p:cNvSpPr txBox="1"/>
          <p:nvPr/>
        </p:nvSpPr>
        <p:spPr>
          <a:xfrm>
            <a:off x="2775321" y="5315924"/>
            <a:ext cx="3620036" cy="461545"/>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399" dirty="0">
                <a:latin typeface="Amazon Ember" panose="020B0603020204020204" pitchFamily="34" charset="0"/>
                <a:ea typeface="Amazon Ember" panose="020B0603020204020204" pitchFamily="34" charset="0"/>
                <a:cs typeface="Amazon Ember" panose="020B0603020204020204" pitchFamily="34" charset="0"/>
              </a:rPr>
              <a:t>Amazon RDS layer</a:t>
            </a:r>
          </a:p>
        </p:txBody>
      </p:sp>
      <p:sp>
        <p:nvSpPr>
          <p:cNvPr id="18" name="TextBox 19">
            <a:extLst>
              <a:ext uri="{FF2B5EF4-FFF2-40B4-BE49-F238E27FC236}">
                <a16:creationId xmlns:a16="http://schemas.microsoft.com/office/drawing/2014/main" id="{D7E9EA75-C807-A4D0-31AB-4EE73ECDDCBC}"/>
              </a:ext>
            </a:extLst>
          </p:cNvPr>
          <p:cNvSpPr txBox="1"/>
          <p:nvPr/>
        </p:nvSpPr>
        <p:spPr>
          <a:xfrm>
            <a:off x="2758825" y="4481761"/>
            <a:ext cx="3620036" cy="461545"/>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399" dirty="0">
                <a:latin typeface="Amazon Ember" panose="020B0603020204020204" pitchFamily="34" charset="0"/>
                <a:ea typeface="Amazon Ember" panose="020B0603020204020204" pitchFamily="34" charset="0"/>
                <a:cs typeface="Amazon Ember" panose="020B0603020204020204" pitchFamily="34" charset="0"/>
              </a:rPr>
              <a:t>Scalable PHP app layer</a:t>
            </a:r>
          </a:p>
        </p:txBody>
      </p:sp>
      <p:pic>
        <p:nvPicPr>
          <p:cNvPr id="19" name="Picture 18" descr="Deployment &amp; Management_OpsWorks Instances.eps">
            <a:extLst>
              <a:ext uri="{FF2B5EF4-FFF2-40B4-BE49-F238E27FC236}">
                <a16:creationId xmlns:a16="http://schemas.microsoft.com/office/drawing/2014/main" id="{3500F0A4-A728-96EF-ADF9-85CBF6E9F99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31017" y="4400949"/>
            <a:ext cx="734462" cy="734462"/>
          </a:xfrm>
          <a:prstGeom prst="rect">
            <a:avLst/>
          </a:prstGeom>
        </p:spPr>
      </p:pic>
      <p:cxnSp>
        <p:nvCxnSpPr>
          <p:cNvPr id="20" name="Elbow Connector 5">
            <a:extLst>
              <a:ext uri="{FF2B5EF4-FFF2-40B4-BE49-F238E27FC236}">
                <a16:creationId xmlns:a16="http://schemas.microsoft.com/office/drawing/2014/main" id="{2E3BD697-E7DD-18F0-0D21-CF0B3BFAD46B}"/>
              </a:ext>
            </a:extLst>
          </p:cNvPr>
          <p:cNvCxnSpPr/>
          <p:nvPr/>
        </p:nvCxnSpPr>
        <p:spPr>
          <a:xfrm rot="5400000" flipH="1" flipV="1">
            <a:off x="2555699" y="3210102"/>
            <a:ext cx="376105" cy="1184400"/>
          </a:xfrm>
          <a:prstGeom prst="bentConnector2">
            <a:avLst/>
          </a:prstGeom>
          <a:ln w="28575">
            <a:solidFill>
              <a:srgbClr val="FFC000"/>
            </a:solidFill>
          </a:ln>
        </p:spPr>
        <p:style>
          <a:lnRef idx="2">
            <a:schemeClr val="accent1"/>
          </a:lnRef>
          <a:fillRef idx="0">
            <a:schemeClr val="accent1"/>
          </a:fillRef>
          <a:effectRef idx="1">
            <a:schemeClr val="accent1"/>
          </a:effectRef>
          <a:fontRef idx="minor">
            <a:schemeClr val="tx1"/>
          </a:fontRef>
        </p:style>
      </p:cxnSp>
      <p:sp>
        <p:nvSpPr>
          <p:cNvPr id="21" name="TextBox 25">
            <a:extLst>
              <a:ext uri="{FF2B5EF4-FFF2-40B4-BE49-F238E27FC236}">
                <a16:creationId xmlns:a16="http://schemas.microsoft.com/office/drawing/2014/main" id="{19A3756E-C46A-52BD-8E24-A4EEB48EEE27}"/>
              </a:ext>
            </a:extLst>
          </p:cNvPr>
          <p:cNvSpPr txBox="1"/>
          <p:nvPr/>
        </p:nvSpPr>
        <p:spPr>
          <a:xfrm>
            <a:off x="3480167" y="3349514"/>
            <a:ext cx="2679794" cy="461537"/>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399" dirty="0">
                <a:latin typeface="Amazon Ember" panose="020B0603020204020204" pitchFamily="34" charset="0"/>
                <a:ea typeface="Amazon Ember" panose="020B0603020204020204" pitchFamily="34" charset="0"/>
                <a:cs typeface="Amazon Ember" panose="020B0603020204020204" pitchFamily="34" charset="0"/>
              </a:rPr>
              <a:t>ELB</a:t>
            </a:r>
          </a:p>
        </p:txBody>
      </p:sp>
      <p:pic>
        <p:nvPicPr>
          <p:cNvPr id="22" name="Picture 21">
            <a:extLst>
              <a:ext uri="{FF2B5EF4-FFF2-40B4-BE49-F238E27FC236}">
                <a16:creationId xmlns:a16="http://schemas.microsoft.com/office/drawing/2014/main" id="{40459110-2DAF-15FF-090E-7BCF7261C1F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879797" y="3986267"/>
            <a:ext cx="569924" cy="683909"/>
          </a:xfrm>
          <a:prstGeom prst="rect">
            <a:avLst/>
          </a:prstGeom>
        </p:spPr>
      </p:pic>
      <p:cxnSp>
        <p:nvCxnSpPr>
          <p:cNvPr id="23" name="Straight Arrow Connector 22">
            <a:extLst>
              <a:ext uri="{FF2B5EF4-FFF2-40B4-BE49-F238E27FC236}">
                <a16:creationId xmlns:a16="http://schemas.microsoft.com/office/drawing/2014/main" id="{92A68B1D-32A1-F52C-42D0-F4515CB74B99}"/>
              </a:ext>
            </a:extLst>
          </p:cNvPr>
          <p:cNvCxnSpPr>
            <a:cxnSpLocks/>
          </p:cNvCxnSpPr>
          <p:nvPr/>
        </p:nvCxnSpPr>
        <p:spPr>
          <a:xfrm flipH="1">
            <a:off x="6231881" y="3014771"/>
            <a:ext cx="1317132" cy="1070178"/>
          </a:xfrm>
          <a:prstGeom prst="straightConnector1">
            <a:avLst/>
          </a:prstGeom>
          <a:ln w="57150">
            <a:solidFill>
              <a:srgbClr val="00B050"/>
            </a:solidFill>
            <a:tailEnd type="triangle"/>
          </a:ln>
        </p:spPr>
        <p:style>
          <a:lnRef idx="2">
            <a:schemeClr val="accent2"/>
          </a:lnRef>
          <a:fillRef idx="0">
            <a:schemeClr val="accent2"/>
          </a:fillRef>
          <a:effectRef idx="1">
            <a:schemeClr val="accent2"/>
          </a:effectRef>
          <a:fontRef idx="minor">
            <a:schemeClr val="tx1"/>
          </a:fontRef>
        </p:style>
      </p:cxnSp>
      <p:cxnSp>
        <p:nvCxnSpPr>
          <p:cNvPr id="24" name="Straight Arrow Connector 23">
            <a:extLst>
              <a:ext uri="{FF2B5EF4-FFF2-40B4-BE49-F238E27FC236}">
                <a16:creationId xmlns:a16="http://schemas.microsoft.com/office/drawing/2014/main" id="{7DA5CF62-1DD5-7758-36DB-6BAB15A69757}"/>
              </a:ext>
            </a:extLst>
          </p:cNvPr>
          <p:cNvCxnSpPr>
            <a:cxnSpLocks/>
          </p:cNvCxnSpPr>
          <p:nvPr/>
        </p:nvCxnSpPr>
        <p:spPr>
          <a:xfrm flipH="1" flipV="1">
            <a:off x="5565087" y="3599219"/>
            <a:ext cx="1983926" cy="15030"/>
          </a:xfrm>
          <a:prstGeom prst="straightConnector1">
            <a:avLst/>
          </a:prstGeom>
          <a:ln w="57150">
            <a:solidFill>
              <a:schemeClr val="accent2"/>
            </a:solidFill>
            <a:tailEnd type="triangle"/>
          </a:ln>
        </p:spPr>
        <p:style>
          <a:lnRef idx="2">
            <a:schemeClr val="accent2"/>
          </a:lnRef>
          <a:fillRef idx="0">
            <a:schemeClr val="accent2"/>
          </a:fillRef>
          <a:effectRef idx="1">
            <a:schemeClr val="accent2"/>
          </a:effectRef>
          <a:fontRef idx="minor">
            <a:schemeClr val="tx1"/>
          </a:fontRef>
        </p:style>
      </p:cxnSp>
      <p:cxnSp>
        <p:nvCxnSpPr>
          <p:cNvPr id="25" name="Straight Arrow Connector 24">
            <a:extLst>
              <a:ext uri="{FF2B5EF4-FFF2-40B4-BE49-F238E27FC236}">
                <a16:creationId xmlns:a16="http://schemas.microsoft.com/office/drawing/2014/main" id="{5B9278C8-D59B-4CB3-84F6-C6AA4DBD1CFB}"/>
              </a:ext>
            </a:extLst>
          </p:cNvPr>
          <p:cNvCxnSpPr>
            <a:cxnSpLocks/>
            <a:endCxn id="17" idx="3"/>
          </p:cNvCxnSpPr>
          <p:nvPr/>
        </p:nvCxnSpPr>
        <p:spPr>
          <a:xfrm flipH="1">
            <a:off x="6395357" y="3614249"/>
            <a:ext cx="1153656" cy="1932448"/>
          </a:xfrm>
          <a:prstGeom prst="straightConnector1">
            <a:avLst/>
          </a:prstGeom>
          <a:ln w="57150">
            <a:solidFill>
              <a:schemeClr val="accent2"/>
            </a:solidFill>
            <a:tailEnd type="triangle"/>
          </a:ln>
        </p:spPr>
        <p:style>
          <a:lnRef idx="2">
            <a:schemeClr val="accent2"/>
          </a:lnRef>
          <a:fillRef idx="0">
            <a:schemeClr val="accent2"/>
          </a:fillRef>
          <a:effectRef idx="1">
            <a:schemeClr val="accent2"/>
          </a:effectRef>
          <a:fontRef idx="minor">
            <a:schemeClr val="tx1"/>
          </a:fontRef>
        </p:style>
      </p:cxnSp>
      <p:pic>
        <p:nvPicPr>
          <p:cNvPr id="26" name="Picture 25" descr="Deployment &amp; Management_OpsWorks Stack.eps">
            <a:extLst>
              <a:ext uri="{FF2B5EF4-FFF2-40B4-BE49-F238E27FC236}">
                <a16:creationId xmlns:a16="http://schemas.microsoft.com/office/drawing/2014/main" id="{38CF7266-8EE0-4A68-C30F-9C791FF99D3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28761" y="1705819"/>
            <a:ext cx="792760" cy="792760"/>
          </a:xfrm>
          <a:prstGeom prst="rect">
            <a:avLst/>
          </a:prstGeom>
        </p:spPr>
      </p:pic>
      <p:sp>
        <p:nvSpPr>
          <p:cNvPr id="27" name="TextBox 22">
            <a:extLst>
              <a:ext uri="{FF2B5EF4-FFF2-40B4-BE49-F238E27FC236}">
                <a16:creationId xmlns:a16="http://schemas.microsoft.com/office/drawing/2014/main" id="{397A7366-196D-3CF0-A7EC-7293F150C8B7}"/>
              </a:ext>
            </a:extLst>
          </p:cNvPr>
          <p:cNvSpPr txBox="1"/>
          <p:nvPr/>
        </p:nvSpPr>
        <p:spPr>
          <a:xfrm>
            <a:off x="1682099" y="1871425"/>
            <a:ext cx="3372798" cy="461545"/>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399" dirty="0">
                <a:latin typeface="Amazon Ember" panose="020B0603020204020204" pitchFamily="34" charset="0"/>
                <a:ea typeface="Amazon Ember" panose="020B0603020204020204" pitchFamily="34" charset="0"/>
                <a:cs typeface="Amazon Ember" panose="020B0603020204020204" pitchFamily="34" charset="0"/>
              </a:rPr>
              <a:t>PHP application stack</a:t>
            </a:r>
          </a:p>
        </p:txBody>
      </p:sp>
    </p:spTree>
    <p:extLst>
      <p:ext uri="{BB962C8B-B14F-4D97-AF65-F5344CB8AC3E}">
        <p14:creationId xmlns:p14="http://schemas.microsoft.com/office/powerpoint/2010/main" val="3114564077"/>
      </p:ext>
    </p:extLst>
  </p:cSld>
  <p:clrMapOvr>
    <a:masterClrMapping/>
  </p:clrMapOvr>
  <p:extLst>
    <p:ext uri="{6950BFC3-D8DA-4A85-94F7-54DA5524770B}">
      <p188:commentRel xmlns:p188="http://schemas.microsoft.com/office/powerpoint/2018/8/main" r:id="rId3"/>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sz="quarter" idx="12"/>
          </p:nvPr>
        </p:nvSpPr>
        <p:spPr>
          <a:xfrm>
            <a:off x="8610600" y="6356350"/>
            <a:ext cx="2743200" cy="365125"/>
          </a:xfrm>
          <a:noFill/>
          <a:ln>
            <a:noFill/>
          </a:ln>
        </p:spPr>
        <p:txBody>
          <a:bodyPr spcFirstLastPara="1" wrap="square" lIns="91425" tIns="45700" rIns="91425" bIns="45700" anchor="ctr" anchorCtr="0">
            <a:noAutofit/>
          </a:bodyPr>
          <a:lstStyle/>
          <a:p>
            <a:pPr lvl="0"/>
            <a:fld id="{00000000-1234-1234-1234-123412341234}" type="slidenum">
              <a:rPr lang="en-IN">
                <a:sym typeface="Proxima Nova"/>
              </a:rPr>
              <a:pPr lvl="0"/>
              <a:t>27</a:t>
            </a:fld>
            <a:endParaRPr lang="en-IN">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4">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5"/>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6"/>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7"/>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6">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7">
            <a:alphaModFix amt="27000"/>
          </a:blip>
          <a:stretch>
            <a:fillRect/>
          </a:stretch>
        </p:blipFill>
        <p:spPr>
          <a:xfrm rot="10800000">
            <a:off x="8803" y="6369939"/>
            <a:ext cx="370439" cy="468604"/>
          </a:xfrm>
          <a:prstGeom prst="rect">
            <a:avLst/>
          </a:prstGeom>
        </p:spPr>
      </p:pic>
      <p:sp>
        <p:nvSpPr>
          <p:cNvPr id="11" name="Title 4">
            <a:extLst>
              <a:ext uri="{FF2B5EF4-FFF2-40B4-BE49-F238E27FC236}">
                <a16:creationId xmlns:a16="http://schemas.microsoft.com/office/drawing/2014/main" id="{A507394D-CE83-6C3D-7A42-244A4BC617DF}"/>
              </a:ext>
            </a:extLst>
          </p:cNvPr>
          <p:cNvSpPr>
            <a:spLocks noGrp="1"/>
          </p:cNvSpPr>
          <p:nvPr/>
        </p:nvSpPr>
        <p:spPr>
          <a:xfrm>
            <a:off x="510968" y="450853"/>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err="1">
                <a:solidFill>
                  <a:schemeClr val="tx1"/>
                </a:solidFill>
                <a:latin typeface="Amazon Ember Light"/>
              </a:rPr>
              <a:t>Customising</a:t>
            </a:r>
            <a:r>
              <a:rPr lang="en-US" sz="3400" dirty="0">
                <a:solidFill>
                  <a:schemeClr val="tx1"/>
                </a:solidFill>
                <a:latin typeface="Amazon Ember Light"/>
              </a:rPr>
              <a:t> Layers</a:t>
            </a:r>
          </a:p>
        </p:txBody>
      </p:sp>
      <p:sp>
        <p:nvSpPr>
          <p:cNvPr id="12" name="Content Placeholder 5">
            <a:extLst>
              <a:ext uri="{FF2B5EF4-FFF2-40B4-BE49-F238E27FC236}">
                <a16:creationId xmlns:a16="http://schemas.microsoft.com/office/drawing/2014/main" id="{7E25878D-E76C-947B-0A34-AFA7C5D1356D}"/>
              </a:ext>
            </a:extLst>
          </p:cNvPr>
          <p:cNvSpPr>
            <a:spLocks noGrp="1"/>
          </p:cNvSpPr>
          <p:nvPr/>
        </p:nvSpPr>
        <p:spPr>
          <a:xfrm>
            <a:off x="510968" y="1627627"/>
            <a:ext cx="11350578" cy="4779520"/>
          </a:xfrm>
          <a:prstGeom prst="rect">
            <a:avLst/>
          </a:prstGeom>
        </p:spPr>
        <p:txBody>
          <a:bodyPr vert="horz" lIns="91440" tIns="45720" rIns="91440" bIns="45720" rtlCol="0">
            <a:normAutofit/>
          </a:bodyPr>
          <a:lstStyle>
            <a:lvl1pPr marL="228562" indent="-319990" algn="l" defTabSz="914199" rtl="0" eaLnBrk="1" latinLnBrk="0" hangingPunct="1">
              <a:lnSpc>
                <a:spcPct val="90000"/>
              </a:lnSpc>
              <a:spcBef>
                <a:spcPts val="1000"/>
              </a:spcBef>
              <a:buClr>
                <a:srgbClr val="FF9900"/>
              </a:buClr>
              <a:buFont typeface="Arial" panose="020B0604020202020204" pitchFamily="34" charset="0"/>
              <a:buChar char="•"/>
              <a:defRPr sz="2799" b="0" i="0" kern="1200">
                <a:solidFill>
                  <a:schemeClr val="tx1"/>
                </a:solidFill>
                <a:latin typeface="Amazon Ember Light" charset="0"/>
                <a:ea typeface="Amazon Ember Light" charset="0"/>
                <a:cs typeface="Amazon Ember Light" charset="0"/>
              </a:defRPr>
            </a:lvl1pPr>
            <a:lvl2pPr marL="685690" indent="-319990" algn="l" defTabSz="914199" rtl="0" eaLnBrk="1" latinLnBrk="0" hangingPunct="1">
              <a:lnSpc>
                <a:spcPct val="90000"/>
              </a:lnSpc>
              <a:spcBef>
                <a:spcPts val="500"/>
              </a:spcBef>
              <a:buClr>
                <a:srgbClr val="FF9900"/>
              </a:buClr>
              <a:buFont typeface="Arial" panose="020B0604020202020204" pitchFamily="34" charset="0"/>
              <a:buChar char="•"/>
              <a:defRPr sz="2399" b="0" i="0" kern="1200">
                <a:solidFill>
                  <a:schemeClr val="tx1"/>
                </a:solidFill>
                <a:latin typeface="Amazon Ember Light" charset="0"/>
                <a:ea typeface="Amazon Ember Light" charset="0"/>
                <a:cs typeface="Amazon Ember Light" charset="0"/>
              </a:defRPr>
            </a:lvl2pPr>
            <a:lvl3pPr marL="1142817" indent="-319990" algn="l" defTabSz="914199" rtl="0" eaLnBrk="1" latinLnBrk="0" hangingPunct="1">
              <a:lnSpc>
                <a:spcPct val="90000"/>
              </a:lnSpc>
              <a:spcBef>
                <a:spcPts val="500"/>
              </a:spcBef>
              <a:buClr>
                <a:srgbClr val="FF9900"/>
              </a:buClr>
              <a:buFont typeface="Arial" panose="020B0604020202020204" pitchFamily="34" charset="0"/>
              <a:buChar char="•"/>
              <a:defRPr sz="1999" b="0" i="0" kern="1200">
                <a:solidFill>
                  <a:schemeClr val="tx1"/>
                </a:solidFill>
                <a:latin typeface="Amazon Ember Light" charset="0"/>
                <a:ea typeface="Amazon Ember Light" charset="0"/>
                <a:cs typeface="Amazon Ember Light" charset="0"/>
              </a:defRPr>
            </a:lvl3pPr>
            <a:lvl4pPr marL="1599944" indent="-228562" algn="l" defTabSz="914199" rtl="0" eaLnBrk="1" latinLnBrk="0" hangingPunct="1">
              <a:lnSpc>
                <a:spcPct val="90000"/>
              </a:lnSpc>
              <a:spcBef>
                <a:spcPts val="500"/>
              </a:spcBef>
              <a:buFontTx/>
              <a:buBlip>
                <a:blip r:embed="rId8"/>
              </a:buBlip>
              <a:defRPr sz="1799" b="0" i="0" kern="1200">
                <a:solidFill>
                  <a:schemeClr val="tx1"/>
                </a:solidFill>
                <a:latin typeface="Amazon Ember Light" charset="0"/>
                <a:ea typeface="Amazon Ember Light" charset="0"/>
                <a:cs typeface="Amazon Ember Light" charset="0"/>
              </a:defRPr>
            </a:lvl4pPr>
            <a:lvl5pPr marL="2057072" indent="-228562" algn="l" defTabSz="914199" rtl="0" eaLnBrk="1" latinLnBrk="0" hangingPunct="1">
              <a:lnSpc>
                <a:spcPct val="90000"/>
              </a:lnSpc>
              <a:spcBef>
                <a:spcPts val="500"/>
              </a:spcBef>
              <a:buFontTx/>
              <a:buBlip>
                <a:blip r:embed="rId8"/>
              </a:buBlip>
              <a:defRPr sz="1799" b="0" i="0" kern="1200">
                <a:solidFill>
                  <a:schemeClr val="tx1"/>
                </a:solidFill>
                <a:latin typeface="Amazon Ember Light" charset="0"/>
                <a:ea typeface="Amazon Ember Light" charset="0"/>
                <a:cs typeface="Amazon Ember Light" charset="0"/>
              </a:defRPr>
            </a:lvl5pPr>
            <a:lvl6pPr marL="2514047"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1146"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82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3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dirty="0"/>
          </a:p>
          <a:p>
            <a:endParaRPr lang="en-US" dirty="0"/>
          </a:p>
        </p:txBody>
      </p:sp>
      <p:sp>
        <p:nvSpPr>
          <p:cNvPr id="13" name="Content Placeholder 5">
            <a:extLst>
              <a:ext uri="{FF2B5EF4-FFF2-40B4-BE49-F238E27FC236}">
                <a16:creationId xmlns:a16="http://schemas.microsoft.com/office/drawing/2014/main" id="{37EADEF1-8C45-3819-42C8-FB9BCC809D64}"/>
              </a:ext>
            </a:extLst>
          </p:cNvPr>
          <p:cNvSpPr txBox="1">
            <a:spLocks/>
          </p:cNvSpPr>
          <p:nvPr/>
        </p:nvSpPr>
        <p:spPr>
          <a:xfrm>
            <a:off x="330454" y="1659905"/>
            <a:ext cx="10937556" cy="1378398"/>
          </a:xfrm>
          <a:prstGeom prst="rect">
            <a:avLst/>
          </a:prstGeom>
        </p:spPr>
        <p:txBody>
          <a:bodyPr vert="horz" lIns="121888" tIns="60944" rIns="121888" bIns="60944" rtlCol="0" anchor="t">
            <a:norm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defTabSz="914126">
              <a:lnSpc>
                <a:spcPct val="90000"/>
              </a:lnSpc>
              <a:spcBef>
                <a:spcPts val="1799"/>
              </a:spcBef>
            </a:pPr>
            <a:r>
              <a:rPr lang="en-US" sz="2750">
                <a:latin typeface="Amazon Ember Light"/>
                <a:ea typeface="Amazon Ember Light" charset="0"/>
                <a:cs typeface="Amazon Ember Light" charset="0"/>
              </a:rPr>
              <a:t>Customising</a:t>
            </a:r>
            <a:r>
              <a:rPr lang="en-US" sz="2750" dirty="0">
                <a:latin typeface="Amazon Ember Light"/>
                <a:ea typeface="Amazon Ember Light" charset="0"/>
                <a:cs typeface="Amazon Ember Light" charset="0"/>
              </a:rPr>
              <a:t> layers involves writing new Chef recipes and cookbooks </a:t>
            </a:r>
          </a:p>
        </p:txBody>
      </p:sp>
      <p:grpSp>
        <p:nvGrpSpPr>
          <p:cNvPr id="14" name="Group 13">
            <a:extLst>
              <a:ext uri="{FF2B5EF4-FFF2-40B4-BE49-F238E27FC236}">
                <a16:creationId xmlns:a16="http://schemas.microsoft.com/office/drawing/2014/main" id="{D02ED24D-1D06-0872-12C5-D8D11C914BAE}"/>
              </a:ext>
            </a:extLst>
          </p:cNvPr>
          <p:cNvGrpSpPr/>
          <p:nvPr/>
        </p:nvGrpSpPr>
        <p:grpSpPr>
          <a:xfrm>
            <a:off x="544412" y="5104788"/>
            <a:ext cx="5830687" cy="986940"/>
            <a:chOff x="5179513" y="3685419"/>
            <a:chExt cx="4374154" cy="740398"/>
          </a:xfrm>
        </p:grpSpPr>
        <p:sp>
          <p:nvSpPr>
            <p:cNvPr id="31" name="Rounded Rectangle 7">
              <a:extLst>
                <a:ext uri="{FF2B5EF4-FFF2-40B4-BE49-F238E27FC236}">
                  <a16:creationId xmlns:a16="http://schemas.microsoft.com/office/drawing/2014/main" id="{A97E029D-781B-9974-FF65-26064220751A}"/>
                </a:ext>
              </a:extLst>
            </p:cNvPr>
            <p:cNvSpPr/>
            <p:nvPr/>
          </p:nvSpPr>
          <p:spPr>
            <a:xfrm>
              <a:off x="5179513" y="3685419"/>
              <a:ext cx="3612620" cy="740398"/>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399"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32" name="TextBox 8">
              <a:extLst>
                <a:ext uri="{FF2B5EF4-FFF2-40B4-BE49-F238E27FC236}">
                  <a16:creationId xmlns:a16="http://schemas.microsoft.com/office/drawing/2014/main" id="{F8B30D45-7B52-2D7C-AB03-2E7DEBF0CC63}"/>
                </a:ext>
              </a:extLst>
            </p:cNvPr>
            <p:cNvSpPr txBox="1"/>
            <p:nvPr/>
          </p:nvSpPr>
          <p:spPr>
            <a:xfrm>
              <a:off x="6032123" y="3887857"/>
              <a:ext cx="3521544" cy="346243"/>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399" dirty="0">
                  <a:latin typeface="Amazon Ember" panose="020B0603020204020204" pitchFamily="34" charset="0"/>
                  <a:ea typeface="Amazon Ember" panose="020B0603020204020204" pitchFamily="34" charset="0"/>
                  <a:cs typeface="Amazon Ember" panose="020B0603020204020204" pitchFamily="34" charset="0"/>
                </a:rPr>
                <a:t>OpsWorks Stacks Layer</a:t>
              </a:r>
            </a:p>
          </p:txBody>
        </p:sp>
        <p:pic>
          <p:nvPicPr>
            <p:cNvPr id="33" name="Picture 32" descr="Deployment &amp; Management_OpsWorks Instances.eps">
              <a:extLst>
                <a:ext uri="{FF2B5EF4-FFF2-40B4-BE49-F238E27FC236}">
                  <a16:creationId xmlns:a16="http://schemas.microsoft.com/office/drawing/2014/main" id="{B82B87DD-86DA-F998-E547-C35539CE96E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462884" y="3783122"/>
              <a:ext cx="550990" cy="550990"/>
            </a:xfrm>
            <a:prstGeom prst="rect">
              <a:avLst/>
            </a:prstGeom>
          </p:spPr>
        </p:pic>
      </p:grpSp>
      <p:sp>
        <p:nvSpPr>
          <p:cNvPr id="15" name="Rounded Rectangle 10">
            <a:extLst>
              <a:ext uri="{FF2B5EF4-FFF2-40B4-BE49-F238E27FC236}">
                <a16:creationId xmlns:a16="http://schemas.microsoft.com/office/drawing/2014/main" id="{2EC0D89A-CA37-4811-91E9-4C4D187FC1F8}"/>
              </a:ext>
            </a:extLst>
          </p:cNvPr>
          <p:cNvSpPr/>
          <p:nvPr/>
        </p:nvSpPr>
        <p:spPr>
          <a:xfrm>
            <a:off x="544411" y="2611865"/>
            <a:ext cx="4815573" cy="1677038"/>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399"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grpSp>
        <p:nvGrpSpPr>
          <p:cNvPr id="16" name="Group 15">
            <a:extLst>
              <a:ext uri="{FF2B5EF4-FFF2-40B4-BE49-F238E27FC236}">
                <a16:creationId xmlns:a16="http://schemas.microsoft.com/office/drawing/2014/main" id="{1B1C5B04-41F4-F1D9-2D13-267202FBDA60}"/>
              </a:ext>
            </a:extLst>
          </p:cNvPr>
          <p:cNvGrpSpPr/>
          <p:nvPr/>
        </p:nvGrpSpPr>
        <p:grpSpPr>
          <a:xfrm>
            <a:off x="9673076" y="2623692"/>
            <a:ext cx="2134436" cy="3521745"/>
            <a:chOff x="716071" y="1816274"/>
            <a:chExt cx="1601244" cy="2641997"/>
          </a:xfrm>
        </p:grpSpPr>
        <p:sp>
          <p:nvSpPr>
            <p:cNvPr id="24" name="Rounded Rectangle 11">
              <a:extLst>
                <a:ext uri="{FF2B5EF4-FFF2-40B4-BE49-F238E27FC236}">
                  <a16:creationId xmlns:a16="http://schemas.microsoft.com/office/drawing/2014/main" id="{B0D95B78-E568-45EA-D99E-C070BD057F51}"/>
                </a:ext>
              </a:extLst>
            </p:cNvPr>
            <p:cNvSpPr/>
            <p:nvPr/>
          </p:nvSpPr>
          <p:spPr>
            <a:xfrm>
              <a:off x="716071" y="1816274"/>
              <a:ext cx="1601244" cy="2641997"/>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399"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25" name="Picture 24">
              <a:extLst>
                <a:ext uri="{FF2B5EF4-FFF2-40B4-BE49-F238E27FC236}">
                  <a16:creationId xmlns:a16="http://schemas.microsoft.com/office/drawing/2014/main" id="{83340B38-74B6-5AF3-F173-040994F5352A}"/>
                </a:ext>
              </a:extLst>
            </p:cNvPr>
            <p:cNvPicPr>
              <a:picLocks noChangeAspect="1"/>
            </p:cNvPicPr>
            <p:nvPr/>
          </p:nvPicPr>
          <p:blipFill rotWithShape="1">
            <a:blip r:embed="rId10">
              <a:extLst>
                <a:ext uri="{28A0092B-C50C-407E-A947-70E740481C1C}">
                  <a14:useLocalDpi xmlns:a14="http://schemas.microsoft.com/office/drawing/2010/main" val="0"/>
                </a:ext>
              </a:extLst>
            </a:blip>
            <a:srcRect r="959"/>
            <a:stretch/>
          </p:blipFill>
          <p:spPr>
            <a:xfrm>
              <a:off x="1230618" y="1853202"/>
              <a:ext cx="578004" cy="583604"/>
            </a:xfrm>
            <a:prstGeom prst="rect">
              <a:avLst/>
            </a:prstGeom>
          </p:spPr>
        </p:pic>
        <p:sp>
          <p:nvSpPr>
            <p:cNvPr id="26" name="TextBox 13">
              <a:extLst>
                <a:ext uri="{FF2B5EF4-FFF2-40B4-BE49-F238E27FC236}">
                  <a16:creationId xmlns:a16="http://schemas.microsoft.com/office/drawing/2014/main" id="{182C8F1F-8EC3-C31F-727B-D8694B26C2A4}"/>
                </a:ext>
              </a:extLst>
            </p:cNvPr>
            <p:cNvSpPr txBox="1"/>
            <p:nvPr/>
          </p:nvSpPr>
          <p:spPr>
            <a:xfrm>
              <a:off x="784214" y="2405833"/>
              <a:ext cx="1482301" cy="184666"/>
            </a:xfrm>
            <a:prstGeom prst="rect">
              <a:avLst/>
            </a:prstGeom>
            <a:noFill/>
          </p:spPr>
          <p:txBody>
            <a:bodyPr wrap="square" lIns="0" tIns="0" rIns="0" bIns="0"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S3 bucket</a:t>
              </a:r>
            </a:p>
          </p:txBody>
        </p:sp>
        <p:pic>
          <p:nvPicPr>
            <p:cNvPr id="27" name="Picture 26">
              <a:extLst>
                <a:ext uri="{FF2B5EF4-FFF2-40B4-BE49-F238E27FC236}">
                  <a16:creationId xmlns:a16="http://schemas.microsoft.com/office/drawing/2014/main" id="{09782848-F653-63D1-9091-F8D2D445EEA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22328" y="2723581"/>
              <a:ext cx="594584" cy="594584"/>
            </a:xfrm>
            <a:prstGeom prst="rect">
              <a:avLst/>
            </a:prstGeom>
          </p:spPr>
        </p:pic>
        <p:sp>
          <p:nvSpPr>
            <p:cNvPr id="28" name="TextBox 15">
              <a:extLst>
                <a:ext uri="{FF2B5EF4-FFF2-40B4-BE49-F238E27FC236}">
                  <a16:creationId xmlns:a16="http://schemas.microsoft.com/office/drawing/2014/main" id="{4A5EAC83-C0C8-EA13-80AB-F68ED62D3124}"/>
                </a:ext>
              </a:extLst>
            </p:cNvPr>
            <p:cNvSpPr txBox="1"/>
            <p:nvPr/>
          </p:nvSpPr>
          <p:spPr>
            <a:xfrm>
              <a:off x="784214" y="3264661"/>
              <a:ext cx="1482301" cy="184666"/>
            </a:xfrm>
            <a:prstGeom prst="rect">
              <a:avLst/>
            </a:prstGeom>
            <a:noFill/>
          </p:spPr>
          <p:txBody>
            <a:bodyPr wrap="square" lIns="0" tIns="0" rIns="0" bIns="0"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Web server</a:t>
              </a:r>
            </a:p>
          </p:txBody>
        </p:sp>
        <p:pic>
          <p:nvPicPr>
            <p:cNvPr id="29" name="Picture 28">
              <a:extLst>
                <a:ext uri="{FF2B5EF4-FFF2-40B4-BE49-F238E27FC236}">
                  <a16:creationId xmlns:a16="http://schemas.microsoft.com/office/drawing/2014/main" id="{AB1E70FC-34E6-44B8-0D5C-E07DD8A3ABD5}"/>
                </a:ext>
              </a:extLst>
            </p:cNvPr>
            <p:cNvPicPr>
              <a:picLocks noChangeAspect="1"/>
            </p:cNvPicPr>
            <p:nvPr/>
          </p:nvPicPr>
          <p:blipFill>
            <a:blip r:embed="rId12">
              <a:extLst>
                <a:ext uri="{BEBA8EAE-BF5A-486C-A8C5-ECC9F3942E4B}">
                  <a14:imgProps xmlns:a14="http://schemas.microsoft.com/office/drawing/2010/main">
                    <a14:imgLayer r:embed="rId13">
                      <a14:imgEffect>
                        <a14:colorTemperature colorTemp="11200"/>
                      </a14:imgEffect>
                      <a14:imgEffect>
                        <a14:saturation sat="0"/>
                      </a14:imgEffect>
                      <a14:imgEffect>
                        <a14:brightnessContrast bright="29000"/>
                      </a14:imgEffect>
                    </a14:imgLayer>
                  </a14:imgProps>
                </a:ext>
                <a:ext uri="{28A0092B-C50C-407E-A947-70E740481C1C}">
                  <a14:useLocalDpi xmlns:a14="http://schemas.microsoft.com/office/drawing/2010/main" val="0"/>
                </a:ext>
              </a:extLst>
            </a:blip>
            <a:stretch>
              <a:fillRect/>
            </a:stretch>
          </p:blipFill>
          <p:spPr>
            <a:xfrm>
              <a:off x="1231157" y="3604940"/>
              <a:ext cx="576927" cy="576927"/>
            </a:xfrm>
            <a:prstGeom prst="rect">
              <a:avLst/>
            </a:prstGeom>
            <a:noFill/>
          </p:spPr>
        </p:pic>
        <p:sp>
          <p:nvSpPr>
            <p:cNvPr id="30" name="TextBox 17">
              <a:extLst>
                <a:ext uri="{FF2B5EF4-FFF2-40B4-BE49-F238E27FC236}">
                  <a16:creationId xmlns:a16="http://schemas.microsoft.com/office/drawing/2014/main" id="{BCFD0141-1A35-F1D7-F0CC-76DDF3F9B674}"/>
                </a:ext>
              </a:extLst>
            </p:cNvPr>
            <p:cNvSpPr txBox="1"/>
            <p:nvPr/>
          </p:nvSpPr>
          <p:spPr>
            <a:xfrm>
              <a:off x="784214" y="4133272"/>
              <a:ext cx="1482301" cy="184666"/>
            </a:xfrm>
            <a:prstGeom prst="rect">
              <a:avLst/>
            </a:prstGeom>
            <a:noFill/>
          </p:spPr>
          <p:txBody>
            <a:bodyPr wrap="square" lIns="0" tIns="0" rIns="0" bIns="0"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Git or Subversion</a:t>
              </a:r>
            </a:p>
          </p:txBody>
        </p:sp>
      </p:grpSp>
      <p:pic>
        <p:nvPicPr>
          <p:cNvPr id="17" name="Picture 16">
            <a:extLst>
              <a:ext uri="{FF2B5EF4-FFF2-40B4-BE49-F238E27FC236}">
                <a16:creationId xmlns:a16="http://schemas.microsoft.com/office/drawing/2014/main" id="{86391448-B688-5A29-9609-D49AB94491B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796715" y="2916550"/>
            <a:ext cx="819071" cy="698331"/>
          </a:xfrm>
          <a:prstGeom prst="rect">
            <a:avLst/>
          </a:prstGeom>
        </p:spPr>
      </p:pic>
      <p:sp>
        <p:nvSpPr>
          <p:cNvPr id="18" name="TextBox 19">
            <a:extLst>
              <a:ext uri="{FF2B5EF4-FFF2-40B4-BE49-F238E27FC236}">
                <a16:creationId xmlns:a16="http://schemas.microsoft.com/office/drawing/2014/main" id="{D12B2339-9D96-F3A7-3B02-F3858513F954}"/>
              </a:ext>
            </a:extLst>
          </p:cNvPr>
          <p:cNvSpPr txBox="1"/>
          <p:nvPr/>
        </p:nvSpPr>
        <p:spPr>
          <a:xfrm>
            <a:off x="1667883" y="2847977"/>
            <a:ext cx="3458344" cy="461545"/>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399" dirty="0">
                <a:latin typeface="Amazon Ember" panose="020B0603020204020204" pitchFamily="34" charset="0"/>
                <a:ea typeface="Amazon Ember" panose="020B0603020204020204" pitchFamily="34" charset="0"/>
                <a:cs typeface="Amazon Ember" panose="020B0603020204020204" pitchFamily="34" charset="0"/>
              </a:rPr>
              <a:t>Chef Cookbook</a:t>
            </a:r>
          </a:p>
        </p:txBody>
      </p:sp>
      <p:sp>
        <p:nvSpPr>
          <p:cNvPr id="19" name="TextBox 20">
            <a:extLst>
              <a:ext uri="{FF2B5EF4-FFF2-40B4-BE49-F238E27FC236}">
                <a16:creationId xmlns:a16="http://schemas.microsoft.com/office/drawing/2014/main" id="{932463DA-0FF2-603F-180A-E14CE42FD5E2}"/>
              </a:ext>
            </a:extLst>
          </p:cNvPr>
          <p:cNvSpPr txBox="1"/>
          <p:nvPr/>
        </p:nvSpPr>
        <p:spPr>
          <a:xfrm>
            <a:off x="1772077" y="3287156"/>
            <a:ext cx="1975886" cy="738472"/>
          </a:xfrm>
          <a:prstGeom prst="rect">
            <a:avLst/>
          </a:prstGeom>
          <a:noFill/>
        </p:spPr>
        <p:txBody>
          <a:bodyPr wrap="square" lIns="0" tIns="0" rIns="0" bIns="0"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Templates</a:t>
            </a:r>
          </a:p>
          <a:p>
            <a:r>
              <a:rPr lang="en-US" sz="1600" dirty="0">
                <a:latin typeface="Amazon Ember" panose="020B0603020204020204" pitchFamily="34" charset="0"/>
                <a:ea typeface="Amazon Ember" panose="020B0603020204020204" pitchFamily="34" charset="0"/>
                <a:cs typeface="Amazon Ember" panose="020B0603020204020204" pitchFamily="34" charset="0"/>
              </a:rPr>
              <a:t>Attributes</a:t>
            </a:r>
          </a:p>
          <a:p>
            <a:r>
              <a:rPr lang="en-US" sz="1600" dirty="0">
                <a:latin typeface="Amazon Ember" panose="020B0603020204020204" pitchFamily="34" charset="0"/>
                <a:ea typeface="Amazon Ember" panose="020B0603020204020204" pitchFamily="34" charset="0"/>
                <a:cs typeface="Amazon Ember" panose="020B0603020204020204" pitchFamily="34" charset="0"/>
              </a:rPr>
              <a:t>Recipes</a:t>
            </a:r>
          </a:p>
        </p:txBody>
      </p:sp>
      <p:cxnSp>
        <p:nvCxnSpPr>
          <p:cNvPr id="20" name="Straight Arrow Connector 19">
            <a:extLst>
              <a:ext uri="{FF2B5EF4-FFF2-40B4-BE49-F238E27FC236}">
                <a16:creationId xmlns:a16="http://schemas.microsoft.com/office/drawing/2014/main" id="{9CFD178E-59D7-21B0-DB5D-4F589686E01B}"/>
              </a:ext>
            </a:extLst>
          </p:cNvPr>
          <p:cNvCxnSpPr>
            <a:stCxn id="15" idx="3"/>
          </p:cNvCxnSpPr>
          <p:nvPr/>
        </p:nvCxnSpPr>
        <p:spPr>
          <a:xfrm>
            <a:off x="5359983" y="3450384"/>
            <a:ext cx="4313093" cy="0"/>
          </a:xfrm>
          <a:prstGeom prst="straightConnector1">
            <a:avLst/>
          </a:prstGeom>
          <a:ln w="38100">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1EDAF20D-BF71-945D-678A-B39A33A245B9}"/>
              </a:ext>
            </a:extLst>
          </p:cNvPr>
          <p:cNvCxnSpPr>
            <a:stCxn id="31" idx="3"/>
          </p:cNvCxnSpPr>
          <p:nvPr/>
        </p:nvCxnSpPr>
        <p:spPr>
          <a:xfrm flipV="1">
            <a:off x="5359983" y="5596384"/>
            <a:ext cx="4313093" cy="1876"/>
          </a:xfrm>
          <a:prstGeom prst="straightConnector1">
            <a:avLst/>
          </a:prstGeom>
          <a:ln w="38100">
            <a:solidFill>
              <a:srgbClr val="0070C0"/>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9">
            <a:extLst>
              <a:ext uri="{FF2B5EF4-FFF2-40B4-BE49-F238E27FC236}">
                <a16:creationId xmlns:a16="http://schemas.microsoft.com/office/drawing/2014/main" id="{5A69CB1B-DFA4-A254-D379-3D329FD77A60}"/>
              </a:ext>
            </a:extLst>
          </p:cNvPr>
          <p:cNvSpPr txBox="1"/>
          <p:nvPr/>
        </p:nvSpPr>
        <p:spPr>
          <a:xfrm>
            <a:off x="6014760" y="3055193"/>
            <a:ext cx="2973726" cy="287248"/>
          </a:xfrm>
          <a:prstGeom prst="rect">
            <a:avLst/>
          </a:prstGeom>
          <a:noFill/>
        </p:spPr>
        <p:txBody>
          <a:bodyPr wrap="square" lIns="0" tIns="0" rIns="0" bIns="0"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866" dirty="0">
                <a:latin typeface="Amazon Ember" panose="020B0603020204020204" pitchFamily="34" charset="0"/>
                <a:ea typeface="Amazon Ember" panose="020B0603020204020204" pitchFamily="34" charset="0"/>
                <a:cs typeface="Amazon Ember" panose="020B0603020204020204" pitchFamily="34" charset="0"/>
              </a:rPr>
              <a:t>Publish custom cookbooks</a:t>
            </a:r>
          </a:p>
        </p:txBody>
      </p:sp>
      <p:sp>
        <p:nvSpPr>
          <p:cNvPr id="23" name="TextBox 30">
            <a:extLst>
              <a:ext uri="{FF2B5EF4-FFF2-40B4-BE49-F238E27FC236}">
                <a16:creationId xmlns:a16="http://schemas.microsoft.com/office/drawing/2014/main" id="{0F155543-888A-DE38-882B-0DE5A49FAA5C}"/>
              </a:ext>
            </a:extLst>
          </p:cNvPr>
          <p:cNvSpPr txBox="1"/>
          <p:nvPr/>
        </p:nvSpPr>
        <p:spPr>
          <a:xfrm>
            <a:off x="5282783" y="5191289"/>
            <a:ext cx="4437681" cy="287248"/>
          </a:xfrm>
          <a:prstGeom prst="rect">
            <a:avLst/>
          </a:prstGeom>
          <a:noFill/>
        </p:spPr>
        <p:txBody>
          <a:bodyPr wrap="square" lIns="0" tIns="0" rIns="0" bIns="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850" dirty="0">
                <a:latin typeface="Amazon Ember"/>
                <a:ea typeface="Amazon Ember" panose="020B0603020204020204" pitchFamily="34" charset="0"/>
                <a:cs typeface="Amazon Ember" panose="020B0603020204020204" pitchFamily="34" charset="0"/>
              </a:rPr>
              <a:t>Attach a recipe to a life cycle event</a:t>
            </a:r>
          </a:p>
        </p:txBody>
      </p:sp>
    </p:spTree>
    <p:extLst>
      <p:ext uri="{BB962C8B-B14F-4D97-AF65-F5344CB8AC3E}">
        <p14:creationId xmlns:p14="http://schemas.microsoft.com/office/powerpoint/2010/main" val="2810535986"/>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1" name="Title 4">
            <a:extLst>
              <a:ext uri="{FF2B5EF4-FFF2-40B4-BE49-F238E27FC236}">
                <a16:creationId xmlns:a16="http://schemas.microsoft.com/office/drawing/2014/main" id="{0D16B6B3-32BD-BD8E-2D60-ED7BD69635B1}"/>
              </a:ext>
            </a:extLst>
          </p:cNvPr>
          <p:cNvSpPr>
            <a:spLocks noGrp="1"/>
          </p:cNvSpPr>
          <p:nvPr/>
        </p:nvSpPr>
        <p:spPr>
          <a:xfrm>
            <a:off x="903714" y="820039"/>
            <a:ext cx="9090394" cy="779463"/>
          </a:xfrm>
          <a:prstGeom prst="rect">
            <a:avLst/>
          </a:prstGeom>
        </p:spPr>
        <p:txBody>
          <a:bodyPr vert="horz" lIns="91440" tIns="45720" rIns="91440" bIns="45720" rtlCol="0" anchor="ctr">
            <a:no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a:solidFill>
                  <a:schemeClr val="tx1"/>
                </a:solidFill>
                <a:latin typeface="Amazon Ember Light"/>
              </a:rPr>
              <a:t>Using AWS </a:t>
            </a:r>
            <a:r>
              <a:rPr lang="en-US" sz="3400" dirty="0" err="1">
                <a:solidFill>
                  <a:schemeClr val="tx1"/>
                </a:solidFill>
                <a:latin typeface="Amazon Ember Light"/>
              </a:rPr>
              <a:t>OpsWorks</a:t>
            </a:r>
            <a:r>
              <a:rPr lang="en-US" sz="3400" dirty="0">
                <a:solidFill>
                  <a:schemeClr val="tx1"/>
                </a:solidFill>
                <a:latin typeface="Amazon Ember Light"/>
              </a:rPr>
              <a:t> Stacks With AWS CloudFormation</a:t>
            </a:r>
          </a:p>
        </p:txBody>
      </p:sp>
      <p:sp>
        <p:nvSpPr>
          <p:cNvPr id="12" name="Content Placeholder 5">
            <a:extLst>
              <a:ext uri="{FF2B5EF4-FFF2-40B4-BE49-F238E27FC236}">
                <a16:creationId xmlns:a16="http://schemas.microsoft.com/office/drawing/2014/main" id="{1EA7C873-759D-2324-5422-3CB03BCF0078}"/>
              </a:ext>
            </a:extLst>
          </p:cNvPr>
          <p:cNvSpPr>
            <a:spLocks noGrp="1"/>
          </p:cNvSpPr>
          <p:nvPr/>
        </p:nvSpPr>
        <p:spPr>
          <a:xfrm>
            <a:off x="510968" y="1627627"/>
            <a:ext cx="11350578" cy="4779520"/>
          </a:xfrm>
          <a:prstGeom prst="rect">
            <a:avLst/>
          </a:prstGeom>
        </p:spPr>
        <p:txBody>
          <a:bodyPr vert="horz" lIns="91440" tIns="45720" rIns="91440" bIns="45720" rtlCol="0">
            <a:normAutofit/>
          </a:bodyPr>
          <a:lstStyle>
            <a:lvl1pPr marL="228562" indent="-319990" algn="l" defTabSz="914199" rtl="0" eaLnBrk="1" latinLnBrk="0" hangingPunct="1">
              <a:lnSpc>
                <a:spcPct val="90000"/>
              </a:lnSpc>
              <a:spcBef>
                <a:spcPts val="1000"/>
              </a:spcBef>
              <a:buClr>
                <a:srgbClr val="FF9900"/>
              </a:buClr>
              <a:buFont typeface="Arial" panose="020B0604020202020204" pitchFamily="34" charset="0"/>
              <a:buChar char="•"/>
              <a:defRPr sz="2799" b="0" i="0" kern="1200">
                <a:solidFill>
                  <a:schemeClr val="tx1"/>
                </a:solidFill>
                <a:latin typeface="Amazon Ember Light" charset="0"/>
                <a:ea typeface="Amazon Ember Light" charset="0"/>
                <a:cs typeface="Amazon Ember Light" charset="0"/>
              </a:defRPr>
            </a:lvl1pPr>
            <a:lvl2pPr marL="685690" indent="-319990" algn="l" defTabSz="914199" rtl="0" eaLnBrk="1" latinLnBrk="0" hangingPunct="1">
              <a:lnSpc>
                <a:spcPct val="90000"/>
              </a:lnSpc>
              <a:spcBef>
                <a:spcPts val="500"/>
              </a:spcBef>
              <a:buClr>
                <a:srgbClr val="FF9900"/>
              </a:buClr>
              <a:buFont typeface="Arial" panose="020B0604020202020204" pitchFamily="34" charset="0"/>
              <a:buChar char="•"/>
              <a:defRPr sz="2399" b="0" i="0" kern="1200">
                <a:solidFill>
                  <a:schemeClr val="tx1"/>
                </a:solidFill>
                <a:latin typeface="Amazon Ember Light" charset="0"/>
                <a:ea typeface="Amazon Ember Light" charset="0"/>
                <a:cs typeface="Amazon Ember Light" charset="0"/>
              </a:defRPr>
            </a:lvl2pPr>
            <a:lvl3pPr marL="1142817" indent="-319990" algn="l" defTabSz="914199" rtl="0" eaLnBrk="1" latinLnBrk="0" hangingPunct="1">
              <a:lnSpc>
                <a:spcPct val="90000"/>
              </a:lnSpc>
              <a:spcBef>
                <a:spcPts val="500"/>
              </a:spcBef>
              <a:buClr>
                <a:srgbClr val="FF9900"/>
              </a:buClr>
              <a:buFont typeface="Arial" panose="020B0604020202020204" pitchFamily="34" charset="0"/>
              <a:buChar char="•"/>
              <a:defRPr sz="1999" b="0" i="0" kern="1200">
                <a:solidFill>
                  <a:schemeClr val="tx1"/>
                </a:solidFill>
                <a:latin typeface="Amazon Ember Light" charset="0"/>
                <a:ea typeface="Amazon Ember Light" charset="0"/>
                <a:cs typeface="Amazon Ember Light" charset="0"/>
              </a:defRPr>
            </a:lvl3pPr>
            <a:lvl4pPr marL="1599944" indent="-228562" algn="l" defTabSz="914199" rtl="0" eaLnBrk="1" latinLnBrk="0" hangingPunct="1">
              <a:lnSpc>
                <a:spcPct val="90000"/>
              </a:lnSpc>
              <a:spcBef>
                <a:spcPts val="500"/>
              </a:spcBef>
              <a:buFontTx/>
              <a:buBlip>
                <a:blip r:embed="rId7"/>
              </a:buBlip>
              <a:defRPr sz="1799" b="0" i="0" kern="1200">
                <a:solidFill>
                  <a:schemeClr val="tx1"/>
                </a:solidFill>
                <a:latin typeface="Amazon Ember Light" charset="0"/>
                <a:ea typeface="Amazon Ember Light" charset="0"/>
                <a:cs typeface="Amazon Ember Light" charset="0"/>
              </a:defRPr>
            </a:lvl4pPr>
            <a:lvl5pPr marL="2057072" indent="-228562" algn="l" defTabSz="914199" rtl="0" eaLnBrk="1" latinLnBrk="0" hangingPunct="1">
              <a:lnSpc>
                <a:spcPct val="90000"/>
              </a:lnSpc>
              <a:spcBef>
                <a:spcPts val="500"/>
              </a:spcBef>
              <a:buFontTx/>
              <a:buBlip>
                <a:blip r:embed="rId7"/>
              </a:buBlip>
              <a:defRPr sz="1799" b="0" i="0" kern="1200">
                <a:solidFill>
                  <a:schemeClr val="tx1"/>
                </a:solidFill>
                <a:latin typeface="Amazon Ember Light" charset="0"/>
                <a:ea typeface="Amazon Ember Light" charset="0"/>
                <a:cs typeface="Amazon Ember Light" charset="0"/>
              </a:defRPr>
            </a:lvl5pPr>
            <a:lvl6pPr marL="2514047"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1146"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82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3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endParaRPr lang="en-US" dirty="0"/>
          </a:p>
          <a:p>
            <a:endParaRPr lang="en-US" dirty="0"/>
          </a:p>
        </p:txBody>
      </p:sp>
      <p:sp>
        <p:nvSpPr>
          <p:cNvPr id="13" name="Content Placeholder 5">
            <a:extLst>
              <a:ext uri="{FF2B5EF4-FFF2-40B4-BE49-F238E27FC236}">
                <a16:creationId xmlns:a16="http://schemas.microsoft.com/office/drawing/2014/main" id="{3ED299EB-4FBB-DEF8-7A26-A5B28F9BAC96}"/>
              </a:ext>
            </a:extLst>
          </p:cNvPr>
          <p:cNvSpPr txBox="1">
            <a:spLocks/>
          </p:cNvSpPr>
          <p:nvPr/>
        </p:nvSpPr>
        <p:spPr>
          <a:xfrm>
            <a:off x="330453" y="1911735"/>
            <a:ext cx="11329187" cy="1017214"/>
          </a:xfrm>
          <a:prstGeom prst="rect">
            <a:avLst/>
          </a:prstGeom>
        </p:spPr>
        <p:txBody>
          <a:bodyPr vert="horz" lIns="121888" tIns="60944" rIns="121888" bIns="60944" rtlCol="0" anchor="t">
            <a:norm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defTabSz="914126">
              <a:spcBef>
                <a:spcPts val="1799"/>
              </a:spcBef>
            </a:pPr>
            <a:r>
              <a:rPr lang="en-US" sz="2550" dirty="0">
                <a:latin typeface="Amazon Ember Light"/>
                <a:ea typeface="Amazon Ember Light" charset="0"/>
                <a:cs typeface="Amazon Ember Light" charset="0"/>
              </a:rPr>
              <a:t>Build the infrastructure (VPC, IAM roles) using AWS CloudFormation and then use AWS </a:t>
            </a:r>
            <a:r>
              <a:rPr lang="en-US" sz="2550" dirty="0" err="1">
                <a:latin typeface="Amazon Ember Light"/>
                <a:ea typeface="Amazon Ember Light" charset="0"/>
                <a:cs typeface="Amazon Ember Light" charset="0"/>
              </a:rPr>
              <a:t>OpsWorks</a:t>
            </a:r>
            <a:r>
              <a:rPr lang="en-US" sz="2550" dirty="0">
                <a:latin typeface="Amazon Ember Light"/>
                <a:ea typeface="Amazon Ember Light" charset="0"/>
                <a:cs typeface="Amazon Ember Light" charset="0"/>
              </a:rPr>
              <a:t> Stacks to deploy the application layer </a:t>
            </a:r>
          </a:p>
          <a:p>
            <a:pPr marL="0" indent="0" defTabSz="914126">
              <a:spcBef>
                <a:spcPts val="1799"/>
              </a:spcBef>
              <a:buNone/>
            </a:pPr>
            <a:endParaRPr lang="en-US" sz="2599" dirty="0">
              <a:latin typeface="Amazon Ember Light" charset="0"/>
              <a:ea typeface="Amazon Ember Light" charset="0"/>
              <a:cs typeface="Amazon Ember Light" charset="0"/>
            </a:endParaRPr>
          </a:p>
          <a:p>
            <a:endParaRPr lang="en-US" sz="2599" dirty="0"/>
          </a:p>
        </p:txBody>
      </p:sp>
      <p:grpSp>
        <p:nvGrpSpPr>
          <p:cNvPr id="14" name="Group 13">
            <a:extLst>
              <a:ext uri="{FF2B5EF4-FFF2-40B4-BE49-F238E27FC236}">
                <a16:creationId xmlns:a16="http://schemas.microsoft.com/office/drawing/2014/main" id="{302396B8-5DE7-D84A-87F9-CD5655B3923C}"/>
              </a:ext>
            </a:extLst>
          </p:cNvPr>
          <p:cNvGrpSpPr/>
          <p:nvPr/>
        </p:nvGrpSpPr>
        <p:grpSpPr>
          <a:xfrm>
            <a:off x="1035899" y="2725754"/>
            <a:ext cx="10284350" cy="3416271"/>
            <a:chOff x="943922" y="2217590"/>
            <a:chExt cx="10284350" cy="3416271"/>
          </a:xfrm>
        </p:grpSpPr>
        <p:sp>
          <p:nvSpPr>
            <p:cNvPr id="15" name="Rounded Rectangle 7">
              <a:extLst>
                <a:ext uri="{FF2B5EF4-FFF2-40B4-BE49-F238E27FC236}">
                  <a16:creationId xmlns:a16="http://schemas.microsoft.com/office/drawing/2014/main" id="{8354B094-C134-4DDC-BEA5-B2C4F7DA5CB0}"/>
                </a:ext>
              </a:extLst>
            </p:cNvPr>
            <p:cNvSpPr/>
            <p:nvPr/>
          </p:nvSpPr>
          <p:spPr>
            <a:xfrm>
              <a:off x="943922" y="2648736"/>
              <a:ext cx="10284350" cy="2985125"/>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399"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20" name="Picture 19">
              <a:extLst>
                <a:ext uri="{FF2B5EF4-FFF2-40B4-BE49-F238E27FC236}">
                  <a16:creationId xmlns:a16="http://schemas.microsoft.com/office/drawing/2014/main" id="{FA30B244-8C92-E4A0-B7DB-CD87AE42684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86243" y="2217590"/>
              <a:ext cx="862287" cy="862287"/>
            </a:xfrm>
            <a:prstGeom prst="rect">
              <a:avLst/>
            </a:prstGeom>
          </p:spPr>
        </p:pic>
        <p:sp>
          <p:nvSpPr>
            <p:cNvPr id="21" name="Rounded Rectangle 11">
              <a:extLst>
                <a:ext uri="{FF2B5EF4-FFF2-40B4-BE49-F238E27FC236}">
                  <a16:creationId xmlns:a16="http://schemas.microsoft.com/office/drawing/2014/main" id="{CBCC14BE-3A1E-06C4-F437-72CCC1D960AF}"/>
                </a:ext>
              </a:extLst>
            </p:cNvPr>
            <p:cNvSpPr/>
            <p:nvPr/>
          </p:nvSpPr>
          <p:spPr>
            <a:xfrm>
              <a:off x="1244455" y="2865796"/>
              <a:ext cx="6511715" cy="2485633"/>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399"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2" name="TextBox 13">
              <a:extLst>
                <a:ext uri="{FF2B5EF4-FFF2-40B4-BE49-F238E27FC236}">
                  <a16:creationId xmlns:a16="http://schemas.microsoft.com/office/drawing/2014/main" id="{9BCF6147-4B78-021E-E5A6-6897127BCF72}"/>
                </a:ext>
              </a:extLst>
            </p:cNvPr>
            <p:cNvSpPr txBox="1"/>
            <p:nvPr/>
          </p:nvSpPr>
          <p:spPr>
            <a:xfrm>
              <a:off x="2554007" y="2955490"/>
              <a:ext cx="3271381" cy="379557"/>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866" dirty="0">
                  <a:latin typeface="Amazon Ember" panose="020B0603020204020204" pitchFamily="34" charset="0"/>
                  <a:ea typeface="Amazon Ember" panose="020B0603020204020204" pitchFamily="34" charset="0"/>
                  <a:cs typeface="Amazon Ember" panose="020B0603020204020204" pitchFamily="34" charset="0"/>
                </a:rPr>
                <a:t>PHP application stack</a:t>
              </a:r>
            </a:p>
          </p:txBody>
        </p:sp>
        <p:sp>
          <p:nvSpPr>
            <p:cNvPr id="23" name="Rounded Rectangle 14">
              <a:extLst>
                <a:ext uri="{FF2B5EF4-FFF2-40B4-BE49-F238E27FC236}">
                  <a16:creationId xmlns:a16="http://schemas.microsoft.com/office/drawing/2014/main" id="{51B6AC0E-0B59-215E-765F-BD54CEEE3772}"/>
                </a:ext>
              </a:extLst>
            </p:cNvPr>
            <p:cNvSpPr/>
            <p:nvPr/>
          </p:nvSpPr>
          <p:spPr>
            <a:xfrm>
              <a:off x="1430931" y="4648088"/>
              <a:ext cx="4652903" cy="47496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399"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pic>
          <p:nvPicPr>
            <p:cNvPr id="24" name="Picture 23">
              <a:extLst>
                <a:ext uri="{FF2B5EF4-FFF2-40B4-BE49-F238E27FC236}">
                  <a16:creationId xmlns:a16="http://schemas.microsoft.com/office/drawing/2014/main" id="{5FA047CF-BE6F-91DF-1742-087AD30BC2F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642348" y="4727437"/>
              <a:ext cx="362218" cy="362218"/>
            </a:xfrm>
            <a:prstGeom prst="rect">
              <a:avLst/>
            </a:prstGeom>
          </p:spPr>
        </p:pic>
        <p:sp>
          <p:nvSpPr>
            <p:cNvPr id="25" name="TextBox 19">
              <a:extLst>
                <a:ext uri="{FF2B5EF4-FFF2-40B4-BE49-F238E27FC236}">
                  <a16:creationId xmlns:a16="http://schemas.microsoft.com/office/drawing/2014/main" id="{68138D28-A322-B6AA-B448-AF999062C9FE}"/>
                </a:ext>
              </a:extLst>
            </p:cNvPr>
            <p:cNvSpPr txBox="1"/>
            <p:nvPr/>
          </p:nvSpPr>
          <p:spPr>
            <a:xfrm>
              <a:off x="2558462" y="4696089"/>
              <a:ext cx="3883701" cy="379557"/>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866" dirty="0">
                  <a:latin typeface="Amazon Ember" panose="020B0603020204020204" pitchFamily="34" charset="0"/>
                  <a:ea typeface="Amazon Ember" panose="020B0603020204020204" pitchFamily="34" charset="0"/>
                  <a:cs typeface="Amazon Ember" panose="020B0603020204020204" pitchFamily="34" charset="0"/>
                </a:rPr>
                <a:t>Amazon RDS layer</a:t>
              </a:r>
            </a:p>
          </p:txBody>
        </p:sp>
        <p:grpSp>
          <p:nvGrpSpPr>
            <p:cNvPr id="26" name="Group 25">
              <a:extLst>
                <a:ext uri="{FF2B5EF4-FFF2-40B4-BE49-F238E27FC236}">
                  <a16:creationId xmlns:a16="http://schemas.microsoft.com/office/drawing/2014/main" id="{8194A118-F663-29B5-77BF-E1880A486DB1}"/>
                </a:ext>
              </a:extLst>
            </p:cNvPr>
            <p:cNvGrpSpPr/>
            <p:nvPr/>
          </p:nvGrpSpPr>
          <p:grpSpPr>
            <a:xfrm>
              <a:off x="1430931" y="3389755"/>
              <a:ext cx="4652903" cy="474960"/>
              <a:chOff x="1410711" y="2146954"/>
              <a:chExt cx="3490586" cy="356313"/>
            </a:xfrm>
          </p:grpSpPr>
          <p:sp>
            <p:nvSpPr>
              <p:cNvPr id="39" name="Rounded Rectangle 17">
                <a:extLst>
                  <a:ext uri="{FF2B5EF4-FFF2-40B4-BE49-F238E27FC236}">
                    <a16:creationId xmlns:a16="http://schemas.microsoft.com/office/drawing/2014/main" id="{005CAEB2-7FF0-AD45-E3F6-1A059BD0E7DD}"/>
                  </a:ext>
                </a:extLst>
              </p:cNvPr>
              <p:cNvSpPr/>
              <p:nvPr/>
            </p:nvSpPr>
            <p:spPr>
              <a:xfrm>
                <a:off x="1410711" y="2146954"/>
                <a:ext cx="3490586" cy="356313"/>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399"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40" name="TextBox 24">
                <a:extLst>
                  <a:ext uri="{FF2B5EF4-FFF2-40B4-BE49-F238E27FC236}">
                    <a16:creationId xmlns:a16="http://schemas.microsoft.com/office/drawing/2014/main" id="{D54B8934-E6E6-B7DB-9CED-207499113319}"/>
                  </a:ext>
                </a:extLst>
              </p:cNvPr>
              <p:cNvSpPr txBox="1"/>
              <p:nvPr/>
            </p:nvSpPr>
            <p:spPr>
              <a:xfrm>
                <a:off x="2255431" y="2181645"/>
                <a:ext cx="2100549" cy="284742"/>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866" dirty="0">
                    <a:latin typeface="Amazon Ember" panose="020B0603020204020204" pitchFamily="34" charset="0"/>
                    <a:ea typeface="Amazon Ember" panose="020B0603020204020204" pitchFamily="34" charset="0"/>
                    <a:cs typeface="Amazon Ember" panose="020B0603020204020204" pitchFamily="34" charset="0"/>
                  </a:rPr>
                  <a:t>Load balancing layer</a:t>
                </a:r>
              </a:p>
            </p:txBody>
          </p:sp>
        </p:grpSp>
        <p:sp>
          <p:nvSpPr>
            <p:cNvPr id="27" name="Rounded Rectangle 16">
              <a:extLst>
                <a:ext uri="{FF2B5EF4-FFF2-40B4-BE49-F238E27FC236}">
                  <a16:creationId xmlns:a16="http://schemas.microsoft.com/office/drawing/2014/main" id="{BD9CAD02-3646-D9DC-8087-7829B3DE00BC}"/>
                </a:ext>
              </a:extLst>
            </p:cNvPr>
            <p:cNvSpPr/>
            <p:nvPr/>
          </p:nvSpPr>
          <p:spPr>
            <a:xfrm>
              <a:off x="1430931" y="4024589"/>
              <a:ext cx="4652903" cy="474960"/>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399"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8" name="TextBox 20">
              <a:extLst>
                <a:ext uri="{FF2B5EF4-FFF2-40B4-BE49-F238E27FC236}">
                  <a16:creationId xmlns:a16="http://schemas.microsoft.com/office/drawing/2014/main" id="{117C698F-94BB-0A31-20A6-7669B73B3491}"/>
                </a:ext>
              </a:extLst>
            </p:cNvPr>
            <p:cNvSpPr txBox="1"/>
            <p:nvPr/>
          </p:nvSpPr>
          <p:spPr>
            <a:xfrm>
              <a:off x="2554006" y="4080838"/>
              <a:ext cx="3008355" cy="379557"/>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866" dirty="0">
                  <a:latin typeface="Amazon Ember" panose="020B0603020204020204" pitchFamily="34" charset="0"/>
                  <a:ea typeface="Amazon Ember" panose="020B0603020204020204" pitchFamily="34" charset="0"/>
                  <a:cs typeface="Amazon Ember" panose="020B0603020204020204" pitchFamily="34" charset="0"/>
                </a:rPr>
                <a:t>Scalable PHP app layer</a:t>
              </a:r>
            </a:p>
          </p:txBody>
        </p:sp>
        <p:pic>
          <p:nvPicPr>
            <p:cNvPr id="29" name="Picture 28" descr="Deployment &amp; Management_OpsWorks Instances.eps">
              <a:extLst>
                <a:ext uri="{FF2B5EF4-FFF2-40B4-BE49-F238E27FC236}">
                  <a16:creationId xmlns:a16="http://schemas.microsoft.com/office/drawing/2014/main" id="{5177CEE9-B690-FBBC-1C29-851110D8075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616491" y="4090117"/>
              <a:ext cx="416041" cy="416041"/>
            </a:xfrm>
            <a:prstGeom prst="rect">
              <a:avLst/>
            </a:prstGeom>
          </p:spPr>
        </p:pic>
        <p:pic>
          <p:nvPicPr>
            <p:cNvPr id="30" name="Picture 29">
              <a:extLst>
                <a:ext uri="{FF2B5EF4-FFF2-40B4-BE49-F238E27FC236}">
                  <a16:creationId xmlns:a16="http://schemas.microsoft.com/office/drawing/2014/main" id="{0941A02E-5889-EB59-93A3-04FA5A8ED86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591537" y="3207724"/>
              <a:ext cx="745311" cy="745311"/>
            </a:xfrm>
            <a:prstGeom prst="rect">
              <a:avLst/>
            </a:prstGeom>
          </p:spPr>
        </p:pic>
        <p:sp>
          <p:nvSpPr>
            <p:cNvPr id="31" name="TextBox 29">
              <a:extLst>
                <a:ext uri="{FF2B5EF4-FFF2-40B4-BE49-F238E27FC236}">
                  <a16:creationId xmlns:a16="http://schemas.microsoft.com/office/drawing/2014/main" id="{057160D2-3247-F5B5-3B8F-F8A70D27D6FE}"/>
                </a:ext>
              </a:extLst>
            </p:cNvPr>
            <p:cNvSpPr txBox="1"/>
            <p:nvPr/>
          </p:nvSpPr>
          <p:spPr>
            <a:xfrm>
              <a:off x="6539405" y="3925726"/>
              <a:ext cx="959591" cy="338466"/>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Alarms</a:t>
              </a:r>
            </a:p>
          </p:txBody>
        </p:sp>
        <p:pic>
          <p:nvPicPr>
            <p:cNvPr id="32" name="Picture 31">
              <a:extLst>
                <a:ext uri="{FF2B5EF4-FFF2-40B4-BE49-F238E27FC236}">
                  <a16:creationId xmlns:a16="http://schemas.microsoft.com/office/drawing/2014/main" id="{30AE6B1F-927A-7D8B-3D56-5BBC0E8529E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629664" y="4344802"/>
              <a:ext cx="722289" cy="722289"/>
            </a:xfrm>
            <a:prstGeom prst="rect">
              <a:avLst/>
            </a:prstGeom>
          </p:spPr>
        </p:pic>
        <p:sp>
          <p:nvSpPr>
            <p:cNvPr id="33" name="TextBox 31">
              <a:extLst>
                <a:ext uri="{FF2B5EF4-FFF2-40B4-BE49-F238E27FC236}">
                  <a16:creationId xmlns:a16="http://schemas.microsoft.com/office/drawing/2014/main" id="{FB7AC39B-A4C8-3C4C-CC1C-94164A039C82}"/>
                </a:ext>
              </a:extLst>
            </p:cNvPr>
            <p:cNvSpPr txBox="1"/>
            <p:nvPr/>
          </p:nvSpPr>
          <p:spPr>
            <a:xfrm>
              <a:off x="6640799" y="5012963"/>
              <a:ext cx="959591" cy="338466"/>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600" dirty="0">
                  <a:latin typeface="Amazon Ember" panose="020B0603020204020204" pitchFamily="34" charset="0"/>
                  <a:ea typeface="Amazon Ember" panose="020B0603020204020204" pitchFamily="34" charset="0"/>
                  <a:cs typeface="Amazon Ember" panose="020B0603020204020204" pitchFamily="34" charset="0"/>
                </a:rPr>
                <a:t>Logs</a:t>
              </a:r>
            </a:p>
          </p:txBody>
        </p:sp>
        <p:pic>
          <p:nvPicPr>
            <p:cNvPr id="34" name="Picture 33">
              <a:extLst>
                <a:ext uri="{FF2B5EF4-FFF2-40B4-BE49-F238E27FC236}">
                  <a16:creationId xmlns:a16="http://schemas.microsoft.com/office/drawing/2014/main" id="{94F93528-55F3-AD78-877E-B785012E332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924228" y="4341751"/>
              <a:ext cx="653230" cy="653230"/>
            </a:xfrm>
            <a:prstGeom prst="rect">
              <a:avLst/>
            </a:prstGeom>
          </p:spPr>
        </p:pic>
        <p:sp>
          <p:nvSpPr>
            <p:cNvPr id="35" name="TextBox 34">
              <a:extLst>
                <a:ext uri="{FF2B5EF4-FFF2-40B4-BE49-F238E27FC236}">
                  <a16:creationId xmlns:a16="http://schemas.microsoft.com/office/drawing/2014/main" id="{5083E875-8605-E66F-34E0-60BA2CCB85F6}"/>
                </a:ext>
              </a:extLst>
            </p:cNvPr>
            <p:cNvSpPr txBox="1"/>
            <p:nvPr/>
          </p:nvSpPr>
          <p:spPr>
            <a:xfrm>
              <a:off x="8191211" y="4999830"/>
              <a:ext cx="2121750" cy="338466"/>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IAM Permissions</a:t>
              </a:r>
            </a:p>
          </p:txBody>
        </p:sp>
        <p:pic>
          <p:nvPicPr>
            <p:cNvPr id="36" name="Picture 35">
              <a:extLst>
                <a:ext uri="{FF2B5EF4-FFF2-40B4-BE49-F238E27FC236}">
                  <a16:creationId xmlns:a16="http://schemas.microsoft.com/office/drawing/2014/main" id="{E13AFCD8-D4B5-9E4B-14DE-1F2691A04C70}"/>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942595" y="3008651"/>
              <a:ext cx="652791" cy="652791"/>
            </a:xfrm>
            <a:prstGeom prst="rect">
              <a:avLst/>
            </a:prstGeom>
          </p:spPr>
        </p:pic>
        <p:sp>
          <p:nvSpPr>
            <p:cNvPr id="37" name="TextBox 36">
              <a:extLst>
                <a:ext uri="{FF2B5EF4-FFF2-40B4-BE49-F238E27FC236}">
                  <a16:creationId xmlns:a16="http://schemas.microsoft.com/office/drawing/2014/main" id="{E7142CCA-1231-7FBE-C0C0-312A38BEBFB7}"/>
                </a:ext>
              </a:extLst>
            </p:cNvPr>
            <p:cNvSpPr txBox="1"/>
            <p:nvPr/>
          </p:nvSpPr>
          <p:spPr>
            <a:xfrm>
              <a:off x="8185501" y="3612856"/>
              <a:ext cx="2269702" cy="338466"/>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600" dirty="0">
                  <a:latin typeface="Amazon Ember" panose="020B0603020204020204" pitchFamily="34" charset="0"/>
                  <a:ea typeface="Amazon Ember" panose="020B0603020204020204" pitchFamily="34" charset="0"/>
                  <a:cs typeface="Amazon Ember" panose="020B0603020204020204" pitchFamily="34" charset="0"/>
                </a:rPr>
                <a:t>Amazon VPC</a:t>
              </a:r>
            </a:p>
          </p:txBody>
        </p:sp>
        <p:pic>
          <p:nvPicPr>
            <p:cNvPr id="38" name="Picture 37">
              <a:extLst>
                <a:ext uri="{FF2B5EF4-FFF2-40B4-BE49-F238E27FC236}">
                  <a16:creationId xmlns:a16="http://schemas.microsoft.com/office/drawing/2014/main" id="{DA496D66-0A34-DC4D-59CA-3860E1C837D7}"/>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451554" y="2723866"/>
              <a:ext cx="381590" cy="387040"/>
            </a:xfrm>
            <a:prstGeom prst="rect">
              <a:avLst/>
            </a:prstGeom>
          </p:spPr>
        </p:pic>
      </p:grpSp>
    </p:spTree>
    <p:extLst>
      <p:ext uri="{BB962C8B-B14F-4D97-AF65-F5344CB8AC3E}">
        <p14:creationId xmlns:p14="http://schemas.microsoft.com/office/powerpoint/2010/main" val="15350749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2460426" y="2877900"/>
            <a:ext cx="7271148" cy="1102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3200">
                <a:solidFill>
                  <a:sysClr val="windowText" lastClr="000000"/>
                </a:solidFill>
                <a:latin typeface="Proxima Nova"/>
                <a:ea typeface="Proxima Nova"/>
                <a:cs typeface="Proxima Nova"/>
                <a:sym typeface="Proxima Nova"/>
              </a:rPr>
              <a:t>A little more hands off</a:t>
            </a:r>
          </a:p>
          <a:p>
            <a:pPr marL="0" marR="0" lvl="0" indent="0" algn="ctr" rtl="0">
              <a:spcBef>
                <a:spcPts val="0"/>
              </a:spcBef>
              <a:spcAft>
                <a:spcPts val="0"/>
              </a:spcAft>
              <a:buNone/>
            </a:pPr>
            <a:endParaRPr lang="en-US" sz="3200" dirty="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lang="en-US" sz="3200" dirty="0">
              <a:solidFill>
                <a:sysClr val="windowText" lastClr="000000"/>
              </a:solidFill>
              <a:latin typeface="Proxima Nova"/>
              <a:ea typeface="Proxima Nova"/>
              <a:cs typeface="Proxima Nova"/>
              <a:sym typeface="Proxima Nova"/>
            </a:endParaRPr>
          </a:p>
          <a:p>
            <a:pPr marL="0" marR="0" lvl="0" indent="0" algn="ctr" rtl="0">
              <a:spcBef>
                <a:spcPts val="0"/>
              </a:spcBef>
              <a:spcAft>
                <a:spcPts val="0"/>
              </a:spcAft>
              <a:buNone/>
            </a:pPr>
            <a:endParaRPr sz="3200" dirty="0">
              <a:solidFill>
                <a:sysClr val="windowText" lastClr="000000"/>
              </a:solidFill>
              <a:latin typeface="Proxima Nova"/>
              <a:ea typeface="Proxima Nova"/>
              <a:cs typeface="Proxima Nova"/>
              <a:sym typeface="Proxima Nova"/>
            </a:endParaRPr>
          </a:p>
        </p:txBody>
      </p:sp>
    </p:spTree>
    <p:extLst>
      <p:ext uri="{BB962C8B-B14F-4D97-AF65-F5344CB8AC3E}">
        <p14:creationId xmlns:p14="http://schemas.microsoft.com/office/powerpoint/2010/main" val="1288712320"/>
      </p:ext>
    </p:extLst>
  </p:cSld>
  <p:clrMapOvr>
    <a:masterClrMapping/>
  </p:clrMapOvr>
  <p:extLst>
    <p:ext uri="{6950BFC3-D8DA-4A85-94F7-54DA5524770B}">
      <p188:commentRel xmlns:p188="http://schemas.microsoft.com/office/powerpoint/2018/8/main" r:id="rId2"/>
    </p:ext>
  </p:extLs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2">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3"/>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4"/>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5"/>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4">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5">
            <a:alphaModFix amt="27000"/>
          </a:blip>
          <a:stretch>
            <a:fillRect/>
          </a:stretch>
        </p:blipFill>
        <p:spPr>
          <a:xfrm rot="10800000">
            <a:off x="8803" y="6369939"/>
            <a:ext cx="370439" cy="468604"/>
          </a:xfrm>
          <a:prstGeom prst="rect">
            <a:avLst/>
          </a:prstGeom>
        </p:spPr>
      </p:pic>
      <p:sp>
        <p:nvSpPr>
          <p:cNvPr id="11" name="Title 1">
            <a:extLst>
              <a:ext uri="{FF2B5EF4-FFF2-40B4-BE49-F238E27FC236}">
                <a16:creationId xmlns:a16="http://schemas.microsoft.com/office/drawing/2014/main" id="{5DC88EBF-EC2B-B14C-BE7E-619DDCDB26F4}"/>
              </a:ext>
            </a:extLst>
          </p:cNvPr>
          <p:cNvSpPr>
            <a:spLocks noGrp="1"/>
          </p:cNvSpPr>
          <p:nvPr/>
        </p:nvSpPr>
        <p:spPr>
          <a:xfrm>
            <a:off x="420711" y="450853"/>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a:solidFill>
                  <a:schemeClr val="tx1"/>
                </a:solidFill>
              </a:rPr>
              <a:t>General Challenges</a:t>
            </a:r>
          </a:p>
        </p:txBody>
      </p:sp>
      <p:sp>
        <p:nvSpPr>
          <p:cNvPr id="12" name="Content Placeholder 2">
            <a:extLst>
              <a:ext uri="{FF2B5EF4-FFF2-40B4-BE49-F238E27FC236}">
                <a16:creationId xmlns:a16="http://schemas.microsoft.com/office/drawing/2014/main" id="{A06C6EF6-F4C2-9A4A-B573-CB296E034B63}"/>
              </a:ext>
            </a:extLst>
          </p:cNvPr>
          <p:cNvSpPr>
            <a:spLocks noGrp="1"/>
          </p:cNvSpPr>
          <p:nvPr/>
        </p:nvSpPr>
        <p:spPr>
          <a:xfrm>
            <a:off x="420711" y="2192585"/>
            <a:ext cx="11350578" cy="4214562"/>
          </a:xfrm>
          <a:prstGeom prst="rect">
            <a:avLst/>
          </a:prstGeom>
        </p:spPr>
        <p:txBody>
          <a:bodyPr vert="horz" lIns="91440" tIns="45720" rIns="91440" bIns="45720" rtlCol="0" anchor="t">
            <a:normAutofit/>
          </a:bodyPr>
          <a:lstStyle>
            <a:lvl1pPr marL="228562" indent="-319990" algn="l" defTabSz="914199" rtl="0" eaLnBrk="1" latinLnBrk="0" hangingPunct="1">
              <a:lnSpc>
                <a:spcPct val="90000"/>
              </a:lnSpc>
              <a:spcBef>
                <a:spcPts val="1000"/>
              </a:spcBef>
              <a:buClr>
                <a:srgbClr val="FF9900"/>
              </a:buClr>
              <a:buFont typeface="Arial" panose="020B0604020202020204" pitchFamily="34" charset="0"/>
              <a:buChar char="•"/>
              <a:defRPr sz="2799" b="0" i="0" kern="1200">
                <a:solidFill>
                  <a:schemeClr val="tx1"/>
                </a:solidFill>
                <a:latin typeface="Amazon Ember Light" charset="0"/>
                <a:ea typeface="Amazon Ember Light" charset="0"/>
                <a:cs typeface="Amazon Ember Light" charset="0"/>
              </a:defRPr>
            </a:lvl1pPr>
            <a:lvl2pPr marL="685690" indent="-319990" algn="l" defTabSz="914199" rtl="0" eaLnBrk="1" latinLnBrk="0" hangingPunct="1">
              <a:lnSpc>
                <a:spcPct val="90000"/>
              </a:lnSpc>
              <a:spcBef>
                <a:spcPts val="500"/>
              </a:spcBef>
              <a:buClr>
                <a:srgbClr val="FF9900"/>
              </a:buClr>
              <a:buFont typeface="Arial" panose="020B0604020202020204" pitchFamily="34" charset="0"/>
              <a:buChar char="•"/>
              <a:defRPr sz="2399" b="0" i="0" kern="1200">
                <a:solidFill>
                  <a:schemeClr val="tx1"/>
                </a:solidFill>
                <a:latin typeface="Amazon Ember Light" charset="0"/>
                <a:ea typeface="Amazon Ember Light" charset="0"/>
                <a:cs typeface="Amazon Ember Light" charset="0"/>
              </a:defRPr>
            </a:lvl2pPr>
            <a:lvl3pPr marL="1142817" indent="-319990" algn="l" defTabSz="914199" rtl="0" eaLnBrk="1" latinLnBrk="0" hangingPunct="1">
              <a:lnSpc>
                <a:spcPct val="90000"/>
              </a:lnSpc>
              <a:spcBef>
                <a:spcPts val="500"/>
              </a:spcBef>
              <a:buClr>
                <a:srgbClr val="FF9900"/>
              </a:buClr>
              <a:buFont typeface="Arial" panose="020B0604020202020204" pitchFamily="34" charset="0"/>
              <a:buChar char="•"/>
              <a:defRPr sz="1999" b="0" i="0" kern="1200">
                <a:solidFill>
                  <a:schemeClr val="tx1"/>
                </a:solidFill>
                <a:latin typeface="Amazon Ember Light" charset="0"/>
                <a:ea typeface="Amazon Ember Light" charset="0"/>
                <a:cs typeface="Amazon Ember Light" charset="0"/>
              </a:defRPr>
            </a:lvl3pPr>
            <a:lvl4pPr marL="1599944" indent="-228562" algn="l" defTabSz="914199" rtl="0" eaLnBrk="1" latinLnBrk="0" hangingPunct="1">
              <a:lnSpc>
                <a:spcPct val="90000"/>
              </a:lnSpc>
              <a:spcBef>
                <a:spcPts val="500"/>
              </a:spcBef>
              <a:buFontTx/>
              <a:buBlip>
                <a:blip r:embed="rId6"/>
              </a:buBlip>
              <a:defRPr sz="1799" b="0" i="0" kern="1200">
                <a:solidFill>
                  <a:schemeClr val="tx1"/>
                </a:solidFill>
                <a:latin typeface="Amazon Ember Light" charset="0"/>
                <a:ea typeface="Amazon Ember Light" charset="0"/>
                <a:cs typeface="Amazon Ember Light" charset="0"/>
              </a:defRPr>
            </a:lvl4pPr>
            <a:lvl5pPr marL="2057072" indent="-228562" algn="l" defTabSz="914199" rtl="0" eaLnBrk="1" latinLnBrk="0" hangingPunct="1">
              <a:lnSpc>
                <a:spcPct val="90000"/>
              </a:lnSpc>
              <a:spcBef>
                <a:spcPts val="500"/>
              </a:spcBef>
              <a:buFontTx/>
              <a:buBlip>
                <a:blip r:embed="rId6"/>
              </a:buBlip>
              <a:defRPr sz="1799" b="0" i="0" kern="1200">
                <a:solidFill>
                  <a:schemeClr val="tx1"/>
                </a:solidFill>
                <a:latin typeface="Amazon Ember Light" charset="0"/>
                <a:ea typeface="Amazon Ember Light" charset="0"/>
                <a:cs typeface="Amazon Ember Light" charset="0"/>
              </a:defRPr>
            </a:lvl5pPr>
            <a:lvl6pPr marL="2514047"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1146"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82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3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227965" indent="-319405">
              <a:buClr>
                <a:schemeClr val="tx1">
                  <a:lumMod val="85000"/>
                  <a:lumOff val="15000"/>
                </a:schemeClr>
              </a:buClr>
            </a:pPr>
            <a:endParaRPr lang="en-US" dirty="0"/>
          </a:p>
          <a:p>
            <a:pPr marL="227965" indent="-319405">
              <a:buClr>
                <a:schemeClr val="tx1">
                  <a:lumMod val="85000"/>
                  <a:lumOff val="15000"/>
                </a:schemeClr>
              </a:buClr>
            </a:pPr>
            <a:r>
              <a:rPr lang="en-US" dirty="0"/>
              <a:t>Lack of consistency across multiple projects or applications</a:t>
            </a:r>
          </a:p>
          <a:p>
            <a:pPr marL="227965" indent="-319405">
              <a:buClr>
                <a:schemeClr val="tx1">
                  <a:lumMod val="85000"/>
                  <a:lumOff val="15000"/>
                </a:schemeClr>
              </a:buClr>
            </a:pPr>
            <a:endParaRPr lang="en-US" dirty="0"/>
          </a:p>
          <a:p>
            <a:pPr marL="227965" indent="-319405">
              <a:buClr>
                <a:schemeClr val="tx1">
                  <a:lumMod val="85000"/>
                  <a:lumOff val="15000"/>
                </a:schemeClr>
              </a:buClr>
            </a:pPr>
            <a:r>
              <a:rPr lang="en-US" sz="2750" dirty="0">
                <a:latin typeface="Amazon Ember Light"/>
              </a:rPr>
              <a:t>Managing and configuring servers is time-consuming</a:t>
            </a:r>
          </a:p>
          <a:p>
            <a:pPr marL="227965" indent="-319405">
              <a:buClr>
                <a:schemeClr val="tx1">
                  <a:lumMod val="85000"/>
                  <a:lumOff val="15000"/>
                </a:schemeClr>
              </a:buClr>
            </a:pPr>
            <a:endParaRPr lang="en-US" dirty="0"/>
          </a:p>
          <a:p>
            <a:pPr marL="227965" indent="-319405">
              <a:buClr>
                <a:schemeClr val="tx1">
                  <a:lumMod val="85000"/>
                  <a:lumOff val="15000"/>
                </a:schemeClr>
              </a:buClr>
            </a:pPr>
            <a:r>
              <a:rPr lang="en-US" sz="2750" dirty="0">
                <a:latin typeface="Amazon Ember Light"/>
              </a:rPr>
              <a:t>Managing infrastructure around deploying an app can be difficult</a:t>
            </a:r>
            <a:endParaRPr lang="en-US" sz="2750"/>
          </a:p>
          <a:p>
            <a:pPr marL="227965" indent="-319405">
              <a:buClr>
                <a:schemeClr val="tx1">
                  <a:lumMod val="85000"/>
                  <a:lumOff val="15000"/>
                </a:schemeClr>
              </a:buClr>
            </a:pPr>
            <a:endParaRPr lang="en-US" dirty="0"/>
          </a:p>
        </p:txBody>
      </p:sp>
    </p:spTree>
    <p:extLst>
      <p:ext uri="{BB962C8B-B14F-4D97-AF65-F5344CB8AC3E}">
        <p14:creationId xmlns:p14="http://schemas.microsoft.com/office/powerpoint/2010/main" val="6240074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pic>
        <p:nvPicPr>
          <p:cNvPr id="11" name="Picture 10">
            <a:extLst>
              <a:ext uri="{FF2B5EF4-FFF2-40B4-BE49-F238E27FC236}">
                <a16:creationId xmlns:a16="http://schemas.microsoft.com/office/drawing/2014/main" id="{8087A410-35E7-014B-ACE2-C16AEA63718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54203" y="3104323"/>
            <a:ext cx="943708" cy="1321186"/>
          </a:xfrm>
          <a:prstGeom prst="rect">
            <a:avLst/>
          </a:prstGeom>
        </p:spPr>
      </p:pic>
      <p:sp>
        <p:nvSpPr>
          <p:cNvPr id="12" name="Title 1">
            <a:extLst>
              <a:ext uri="{FF2B5EF4-FFF2-40B4-BE49-F238E27FC236}">
                <a16:creationId xmlns:a16="http://schemas.microsoft.com/office/drawing/2014/main" id="{4B784011-1840-5349-A424-1F2071581370}"/>
              </a:ext>
            </a:extLst>
          </p:cNvPr>
          <p:cNvSpPr>
            <a:spLocks noGrp="1"/>
          </p:cNvSpPr>
          <p:nvPr/>
        </p:nvSpPr>
        <p:spPr>
          <a:xfrm>
            <a:off x="1180984" y="829545"/>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a:solidFill>
                  <a:schemeClr val="tx1"/>
                </a:solidFill>
              </a:rPr>
              <a:t>AWS Elastic Beanstalk</a:t>
            </a:r>
          </a:p>
        </p:txBody>
      </p:sp>
      <p:sp>
        <p:nvSpPr>
          <p:cNvPr id="13" name="TextBox 5">
            <a:extLst>
              <a:ext uri="{FF2B5EF4-FFF2-40B4-BE49-F238E27FC236}">
                <a16:creationId xmlns:a16="http://schemas.microsoft.com/office/drawing/2014/main" id="{4BEADFE8-58E3-B747-9FC5-641A51CDBB75}"/>
              </a:ext>
            </a:extLst>
          </p:cNvPr>
          <p:cNvSpPr txBox="1"/>
          <p:nvPr/>
        </p:nvSpPr>
        <p:spPr>
          <a:xfrm>
            <a:off x="1187443" y="4776322"/>
            <a:ext cx="2477230" cy="892552"/>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600" dirty="0">
                <a:solidFill>
                  <a:schemeClr val="tx1">
                    <a:lumMod val="85000"/>
                    <a:lumOff val="15000"/>
                  </a:schemeClr>
                </a:solidFill>
                <a:latin typeface="Amazon Ember" panose="020B0603020204020204" pitchFamily="34" charset="0"/>
                <a:ea typeface="Amazon Ember" panose="020B0603020204020204" pitchFamily="34" charset="0"/>
                <a:cs typeface="Amazon Ember" panose="020B0603020204020204" pitchFamily="34" charset="0"/>
              </a:rPr>
              <a:t>AWS Elastic Beanstalk</a:t>
            </a:r>
          </a:p>
        </p:txBody>
      </p:sp>
      <p:sp>
        <p:nvSpPr>
          <p:cNvPr id="14" name="Rectangle 13">
            <a:extLst>
              <a:ext uri="{FF2B5EF4-FFF2-40B4-BE49-F238E27FC236}">
                <a16:creationId xmlns:a16="http://schemas.microsoft.com/office/drawing/2014/main" id="{FEAFF2CD-42FA-BD46-9ABC-91B903926267}"/>
              </a:ext>
            </a:extLst>
          </p:cNvPr>
          <p:cNvSpPr/>
          <p:nvPr/>
        </p:nvSpPr>
        <p:spPr>
          <a:xfrm>
            <a:off x="987536" y="2232951"/>
            <a:ext cx="2885749" cy="4045058"/>
          </a:xfrm>
          <a:prstGeom prst="rect">
            <a:avLst/>
          </a:prstGeom>
          <a:noFill/>
          <a:ln w="508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dirty="0"/>
          </a:p>
        </p:txBody>
      </p:sp>
      <p:sp>
        <p:nvSpPr>
          <p:cNvPr id="17" name="TextBox 9">
            <a:extLst>
              <a:ext uri="{FF2B5EF4-FFF2-40B4-BE49-F238E27FC236}">
                <a16:creationId xmlns:a16="http://schemas.microsoft.com/office/drawing/2014/main" id="{541475A2-2095-D344-9654-7D8B41F657C0}"/>
              </a:ext>
            </a:extLst>
          </p:cNvPr>
          <p:cNvSpPr txBox="1"/>
          <p:nvPr/>
        </p:nvSpPr>
        <p:spPr>
          <a:xfrm>
            <a:off x="4631340" y="2268007"/>
            <a:ext cx="6723208" cy="3477875"/>
          </a:xfrm>
          <a:prstGeom prst="rect">
            <a:avLst/>
          </a:prstGeom>
          <a:noFill/>
        </p:spPr>
        <p:txBody>
          <a:bodyPr wrap="square" lIns="91440" tIns="45720" rIns="91440" bIns="45720" rtlCol="0" anchor="t">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2000" b="1" dirty="0">
                <a:solidFill>
                  <a:schemeClr val="accent2"/>
                </a:solidFill>
                <a:latin typeface="Amazon Ember Light"/>
                <a:ea typeface="Amazon Ember Light" panose="020B0403020204020204" pitchFamily="34" charset="0"/>
                <a:cs typeface="Amazon Ember Light" panose="020B0403020204020204" pitchFamily="34" charset="0"/>
              </a:rPr>
              <a:t>Completely transparent</a:t>
            </a:r>
            <a:r>
              <a:rPr lang="en-US" sz="2000" dirty="0">
                <a:latin typeface="Amazon Ember"/>
                <a:ea typeface="Amazon Ember Light" panose="020B0403020204020204" pitchFamily="34" charset="0"/>
                <a:cs typeface="Amazon Ember Light" panose="020B0403020204020204" pitchFamily="34" charset="0"/>
              </a:rPr>
              <a:t>: </a:t>
            </a:r>
            <a:r>
              <a:rPr lang="en-US" sz="2000" dirty="0">
                <a:latin typeface="Amazon Ember Light"/>
                <a:ea typeface="Amazon Ember Light" panose="020B0403020204020204" pitchFamily="34" charset="0"/>
                <a:cs typeface="Amazon Ember Light" panose="020B0403020204020204" pitchFamily="34" charset="0"/>
              </a:rPr>
              <a:t>You can view everything that is created</a:t>
            </a:r>
          </a:p>
          <a:p>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Impossible to outgrow; </a:t>
            </a:r>
            <a:r>
              <a:rPr lang="en-US" sz="2000" b="1" dirty="0">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rPr>
              <a:t>automatically scales your application </a:t>
            </a:r>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up and down</a:t>
            </a:r>
          </a:p>
          <a:p>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a:p>
            <a:r>
              <a:rPr lang="en-US" sz="2000" dirty="0">
                <a:latin typeface="Amazon Ember Light" panose="020B0403020204020204" pitchFamily="34" charset="0"/>
                <a:ea typeface="Amazon Ember Light" panose="020B0403020204020204" pitchFamily="34" charset="0"/>
                <a:cs typeface="Amazon Ember Light" panose="020B0403020204020204" pitchFamily="34" charset="0"/>
              </a:rPr>
              <a:t>Provisions and operates the infrastructure and </a:t>
            </a:r>
            <a:r>
              <a:rPr lang="en-US" sz="2000" b="1" dirty="0">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rPr>
              <a:t>manages the application stack for you</a:t>
            </a:r>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a:p>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a:p>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a:p>
            <a:endParaRPr lang="en-US" sz="20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383408759"/>
      </p:ext>
    </p:extLst>
  </p:cSld>
  <p:clrMapOvr>
    <a:masterClrMapping/>
  </p:clrMapOvr>
  <p:extLst>
    <p:ext uri="{6950BFC3-D8DA-4A85-94F7-54DA5524770B}">
      <p188:commentRel xmlns:p188="http://schemas.microsoft.com/office/powerpoint/2018/8/main" r:id="rId2"/>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1" name="Title 1">
            <a:extLst>
              <a:ext uri="{FF2B5EF4-FFF2-40B4-BE49-F238E27FC236}">
                <a16:creationId xmlns:a16="http://schemas.microsoft.com/office/drawing/2014/main" id="{28E226FA-54C5-1D40-ABF6-07507974E16C}"/>
              </a:ext>
            </a:extLst>
          </p:cNvPr>
          <p:cNvSpPr>
            <a:spLocks noGrp="1"/>
          </p:cNvSpPr>
          <p:nvPr/>
        </p:nvSpPr>
        <p:spPr>
          <a:xfrm>
            <a:off x="880679" y="454331"/>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a:solidFill>
                  <a:schemeClr val="tx1"/>
                </a:solidFill>
              </a:rPr>
              <a:t>What Do You Control?</a:t>
            </a:r>
          </a:p>
        </p:txBody>
      </p:sp>
      <p:grpSp>
        <p:nvGrpSpPr>
          <p:cNvPr id="12" name="Group 11">
            <a:extLst>
              <a:ext uri="{FF2B5EF4-FFF2-40B4-BE49-F238E27FC236}">
                <a16:creationId xmlns:a16="http://schemas.microsoft.com/office/drawing/2014/main" id="{746664EF-E050-5E40-A6CC-CB8066E815CA}"/>
              </a:ext>
            </a:extLst>
          </p:cNvPr>
          <p:cNvGrpSpPr/>
          <p:nvPr/>
        </p:nvGrpSpPr>
        <p:grpSpPr>
          <a:xfrm>
            <a:off x="4311793" y="2495055"/>
            <a:ext cx="6999526" cy="3908614"/>
            <a:chOff x="2792682" y="1527674"/>
            <a:chExt cx="5251013" cy="2932224"/>
          </a:xfrm>
        </p:grpSpPr>
        <p:pic>
          <p:nvPicPr>
            <p:cNvPr id="17" name="Picture 16">
              <a:extLst>
                <a:ext uri="{FF2B5EF4-FFF2-40B4-BE49-F238E27FC236}">
                  <a16:creationId xmlns:a16="http://schemas.microsoft.com/office/drawing/2014/main" id="{C78CE7E0-FEE3-B540-8478-6F47D2B0CDE3}"/>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5683322" y="1575394"/>
              <a:ext cx="2360373" cy="2884504"/>
            </a:xfrm>
            <a:prstGeom prst="rect">
              <a:avLst/>
            </a:prstGeom>
            <a:noFill/>
            <a:ln>
              <a:noFill/>
            </a:ln>
          </p:spPr>
        </p:pic>
        <p:sp>
          <p:nvSpPr>
            <p:cNvPr id="18" name="TextBox 6">
              <a:extLst>
                <a:ext uri="{FF2B5EF4-FFF2-40B4-BE49-F238E27FC236}">
                  <a16:creationId xmlns:a16="http://schemas.microsoft.com/office/drawing/2014/main" id="{C1B9B4F5-1DA8-CC42-9EFA-4664E2A70634}"/>
                </a:ext>
              </a:extLst>
            </p:cNvPr>
            <p:cNvSpPr txBox="1"/>
            <p:nvPr/>
          </p:nvSpPr>
          <p:spPr>
            <a:xfrm>
              <a:off x="2792682" y="1527674"/>
              <a:ext cx="2911117" cy="2595425"/>
            </a:xfrm>
            <a:prstGeom prst="rect">
              <a:avLst/>
            </a:prstGeom>
            <a:noFill/>
            <a:ln>
              <a:noFill/>
            </a:ln>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r">
                <a:lnSpc>
                  <a:spcPct val="60000"/>
                </a:lnSpc>
                <a:spcBef>
                  <a:spcPts val="3199"/>
                </a:spcBef>
              </a:pPr>
              <a:r>
                <a:rPr lang="en-GB" sz="2000" b="1" dirty="0">
                  <a:solidFill>
                    <a:schemeClr val="accent1">
                      <a:lumMod val="75000"/>
                    </a:schemeClr>
                  </a:solidFill>
                  <a:latin typeface="Amazon Ember" panose="020B0603020204020204" pitchFamily="34" charset="0"/>
                  <a:ea typeface="Amazon Ember" panose="020B0603020204020204" pitchFamily="34" charset="0"/>
                  <a:cs typeface="Amazon Ember" panose="020B0603020204020204" pitchFamily="34" charset="0"/>
                </a:rPr>
                <a:t>Code</a:t>
              </a:r>
            </a:p>
            <a:p>
              <a:pPr algn="r">
                <a:lnSpc>
                  <a:spcPct val="60000"/>
                </a:lnSpc>
                <a:spcBef>
                  <a:spcPts val="3199"/>
                </a:spcBef>
              </a:pPr>
              <a:br>
                <a:rPr lang="en-GB" sz="2000" dirty="0">
                  <a:latin typeface="Amazon Ember Light" panose="020B0403020204020204" pitchFamily="34" charset="0"/>
                  <a:ea typeface="Amazon Ember Light" panose="020B0403020204020204" pitchFamily="34" charset="0"/>
                  <a:cs typeface="Amazon Ember Light" panose="020B0403020204020204" pitchFamily="34" charset="0"/>
                </a:rPr>
              </a:br>
              <a:r>
                <a:rPr lang="en-GB" sz="2000" dirty="0">
                  <a:latin typeface="Amazon Ember Light" panose="020B0403020204020204" pitchFamily="34" charset="0"/>
                  <a:ea typeface="Amazon Ember Light" panose="020B0403020204020204" pitchFamily="34" charset="0"/>
                  <a:cs typeface="Amazon Ember Light" panose="020B0403020204020204" pitchFamily="34" charset="0"/>
                </a:rPr>
                <a:t>HTTP server</a:t>
              </a:r>
            </a:p>
            <a:p>
              <a:pPr algn="r">
                <a:lnSpc>
                  <a:spcPct val="60000"/>
                </a:lnSpc>
                <a:spcBef>
                  <a:spcPts val="3199"/>
                </a:spcBef>
              </a:pPr>
              <a:r>
                <a:rPr lang="en-GB" sz="2000" dirty="0">
                  <a:latin typeface="Amazon Ember Light" panose="020B0403020204020204" pitchFamily="34" charset="0"/>
                  <a:ea typeface="Amazon Ember Light" panose="020B0403020204020204" pitchFamily="34" charset="0"/>
                  <a:cs typeface="Amazon Ember Light" panose="020B0403020204020204" pitchFamily="34" charset="0"/>
                </a:rPr>
                <a:t>Application server</a:t>
              </a:r>
            </a:p>
            <a:p>
              <a:pPr algn="r">
                <a:lnSpc>
                  <a:spcPct val="60000"/>
                </a:lnSpc>
                <a:spcBef>
                  <a:spcPts val="3199"/>
                </a:spcBef>
              </a:pPr>
              <a:r>
                <a:rPr lang="en-GB" sz="2000" dirty="0">
                  <a:latin typeface="Amazon Ember Light" panose="020B0403020204020204" pitchFamily="34" charset="0"/>
                  <a:ea typeface="Amazon Ember Light" panose="020B0403020204020204" pitchFamily="34" charset="0"/>
                  <a:cs typeface="Amazon Ember Light" panose="020B0403020204020204" pitchFamily="34" charset="0"/>
                </a:rPr>
                <a:t>Language interpreter</a:t>
              </a:r>
            </a:p>
            <a:p>
              <a:pPr algn="r">
                <a:lnSpc>
                  <a:spcPct val="60000"/>
                </a:lnSpc>
                <a:spcBef>
                  <a:spcPts val="3199"/>
                </a:spcBef>
              </a:pPr>
              <a:r>
                <a:rPr lang="en-GB" sz="2000" dirty="0">
                  <a:latin typeface="Amazon Ember Light" panose="020B0403020204020204" pitchFamily="34" charset="0"/>
                  <a:ea typeface="Amazon Ember Light" panose="020B0403020204020204" pitchFamily="34" charset="0"/>
                  <a:cs typeface="Amazon Ember Light" panose="020B0403020204020204" pitchFamily="34" charset="0"/>
                </a:rPr>
                <a:t>Operating system</a:t>
              </a:r>
            </a:p>
            <a:p>
              <a:pPr algn="r">
                <a:lnSpc>
                  <a:spcPct val="60000"/>
                </a:lnSpc>
                <a:spcBef>
                  <a:spcPts val="3199"/>
                </a:spcBef>
              </a:pPr>
              <a:r>
                <a:rPr lang="en-GB" sz="2000" dirty="0">
                  <a:latin typeface="Amazon Ember Light" panose="020B0403020204020204" pitchFamily="34" charset="0"/>
                  <a:ea typeface="Amazon Ember Light" panose="020B0403020204020204" pitchFamily="34" charset="0"/>
                  <a:cs typeface="Amazon Ember Light" panose="020B0403020204020204" pitchFamily="34" charset="0"/>
                </a:rPr>
                <a:t>Host</a:t>
              </a:r>
            </a:p>
          </p:txBody>
        </p:sp>
        <p:cxnSp>
          <p:nvCxnSpPr>
            <p:cNvPr id="19" name="Straight Arrow Connector 18">
              <a:extLst>
                <a:ext uri="{FF2B5EF4-FFF2-40B4-BE49-F238E27FC236}">
                  <a16:creationId xmlns:a16="http://schemas.microsoft.com/office/drawing/2014/main" id="{FB6748B8-E10D-C54B-9E64-F006615476A9}"/>
                </a:ext>
              </a:extLst>
            </p:cNvPr>
            <p:cNvCxnSpPr/>
            <p:nvPr/>
          </p:nvCxnSpPr>
          <p:spPr>
            <a:xfrm>
              <a:off x="5730239" y="1618827"/>
              <a:ext cx="967628" cy="409650"/>
            </a:xfrm>
            <a:prstGeom prst="straightConnector1">
              <a:avLst/>
            </a:prstGeom>
            <a:ln w="38100">
              <a:solidFill>
                <a:srgbClr val="6F9E50"/>
              </a:solidFill>
              <a:tailEnd type="oval" w="med" len="med"/>
            </a:ln>
          </p:spPr>
          <p:style>
            <a:lnRef idx="1">
              <a:schemeClr val="accent4"/>
            </a:lnRef>
            <a:fillRef idx="0">
              <a:schemeClr val="accent4"/>
            </a:fillRef>
            <a:effectRef idx="0">
              <a:schemeClr val="accent4"/>
            </a:effectRef>
            <a:fontRef idx="minor">
              <a:schemeClr val="tx1"/>
            </a:fontRef>
          </p:style>
        </p:cxnSp>
        <p:cxnSp>
          <p:nvCxnSpPr>
            <p:cNvPr id="20" name="Straight Arrow Connector 19">
              <a:extLst>
                <a:ext uri="{FF2B5EF4-FFF2-40B4-BE49-F238E27FC236}">
                  <a16:creationId xmlns:a16="http://schemas.microsoft.com/office/drawing/2014/main" id="{261588B5-8141-FB4B-A54D-288843EEBE71}"/>
                </a:ext>
              </a:extLst>
            </p:cNvPr>
            <p:cNvCxnSpPr/>
            <p:nvPr/>
          </p:nvCxnSpPr>
          <p:spPr>
            <a:xfrm>
              <a:off x="5703147" y="2165040"/>
              <a:ext cx="741435" cy="295929"/>
            </a:xfrm>
            <a:prstGeom prst="straightConnector1">
              <a:avLst/>
            </a:prstGeom>
            <a:ln w="38100">
              <a:solidFill>
                <a:srgbClr val="6F9E50"/>
              </a:solidFill>
              <a:tailEnd type="oval" w="med" len="med"/>
            </a:ln>
          </p:spPr>
          <p:style>
            <a:lnRef idx="1">
              <a:schemeClr val="accent4"/>
            </a:lnRef>
            <a:fillRef idx="0">
              <a:schemeClr val="accent4"/>
            </a:fillRef>
            <a:effectRef idx="0">
              <a:schemeClr val="accent4"/>
            </a:effectRef>
            <a:fontRef idx="minor">
              <a:schemeClr val="tx1"/>
            </a:fontRef>
          </p:style>
        </p:cxnSp>
        <p:cxnSp>
          <p:nvCxnSpPr>
            <p:cNvPr id="21" name="Straight Arrow Connector 20">
              <a:extLst>
                <a:ext uri="{FF2B5EF4-FFF2-40B4-BE49-F238E27FC236}">
                  <a16:creationId xmlns:a16="http://schemas.microsoft.com/office/drawing/2014/main" id="{93FE4091-FBC2-0F45-BAF6-284D3621BEC1}"/>
                </a:ext>
              </a:extLst>
            </p:cNvPr>
            <p:cNvCxnSpPr/>
            <p:nvPr/>
          </p:nvCxnSpPr>
          <p:spPr>
            <a:xfrm>
              <a:off x="5709918" y="2607733"/>
              <a:ext cx="466039" cy="265132"/>
            </a:xfrm>
            <a:prstGeom prst="straightConnector1">
              <a:avLst/>
            </a:prstGeom>
            <a:ln w="38100">
              <a:solidFill>
                <a:srgbClr val="6F9E50"/>
              </a:solidFill>
              <a:tailEnd type="oval" w="med" len="med"/>
            </a:ln>
          </p:spPr>
          <p:style>
            <a:lnRef idx="1">
              <a:schemeClr val="accent4"/>
            </a:lnRef>
            <a:fillRef idx="0">
              <a:schemeClr val="accent4"/>
            </a:fillRef>
            <a:effectRef idx="0">
              <a:schemeClr val="accent4"/>
            </a:effectRef>
            <a:fontRef idx="minor">
              <a:schemeClr val="tx1"/>
            </a:fontRef>
          </p:style>
        </p:cxnSp>
        <p:cxnSp>
          <p:nvCxnSpPr>
            <p:cNvPr id="22" name="Straight Arrow Connector 21">
              <a:extLst>
                <a:ext uri="{FF2B5EF4-FFF2-40B4-BE49-F238E27FC236}">
                  <a16:creationId xmlns:a16="http://schemas.microsoft.com/office/drawing/2014/main" id="{7D0D3547-206A-E041-9DD4-20C3B67A01D4}"/>
                </a:ext>
              </a:extLst>
            </p:cNvPr>
            <p:cNvCxnSpPr/>
            <p:nvPr/>
          </p:nvCxnSpPr>
          <p:spPr>
            <a:xfrm flipV="1">
              <a:off x="5730240" y="3017644"/>
              <a:ext cx="967627" cy="30356"/>
            </a:xfrm>
            <a:prstGeom prst="straightConnector1">
              <a:avLst/>
            </a:prstGeom>
            <a:ln w="38100">
              <a:solidFill>
                <a:srgbClr val="6F9E50"/>
              </a:solidFill>
              <a:tailEnd type="oval" w="med" len="med"/>
            </a:ln>
          </p:spPr>
          <p:style>
            <a:lnRef idx="1">
              <a:schemeClr val="accent4"/>
            </a:lnRef>
            <a:fillRef idx="0">
              <a:schemeClr val="accent4"/>
            </a:fillRef>
            <a:effectRef idx="0">
              <a:schemeClr val="accent4"/>
            </a:effectRef>
            <a:fontRef idx="minor">
              <a:schemeClr val="tx1"/>
            </a:fontRef>
          </p:style>
        </p:cxnSp>
        <p:cxnSp>
          <p:nvCxnSpPr>
            <p:cNvPr id="23" name="Straight Arrow Connector 22">
              <a:extLst>
                <a:ext uri="{FF2B5EF4-FFF2-40B4-BE49-F238E27FC236}">
                  <a16:creationId xmlns:a16="http://schemas.microsoft.com/office/drawing/2014/main" id="{DA8D4FC3-CBF7-644D-9EA0-D910A1541E93}"/>
                </a:ext>
              </a:extLst>
            </p:cNvPr>
            <p:cNvCxnSpPr/>
            <p:nvPr/>
          </p:nvCxnSpPr>
          <p:spPr>
            <a:xfrm flipV="1">
              <a:off x="5709920" y="3428923"/>
              <a:ext cx="734661" cy="52570"/>
            </a:xfrm>
            <a:prstGeom prst="straightConnector1">
              <a:avLst/>
            </a:prstGeom>
            <a:ln w="38100">
              <a:solidFill>
                <a:srgbClr val="6F9E50"/>
              </a:solidFill>
              <a:tailEnd type="oval" w="med" len="med"/>
            </a:ln>
          </p:spPr>
          <p:style>
            <a:lnRef idx="1">
              <a:schemeClr val="accent4"/>
            </a:lnRef>
            <a:fillRef idx="0">
              <a:schemeClr val="accent4"/>
            </a:fillRef>
            <a:effectRef idx="0">
              <a:schemeClr val="accent4"/>
            </a:effectRef>
            <a:fontRef idx="minor">
              <a:schemeClr val="tx1"/>
            </a:fontRef>
          </p:style>
        </p:cxnSp>
        <p:cxnSp>
          <p:nvCxnSpPr>
            <p:cNvPr id="24" name="Straight Arrow Connector 23">
              <a:extLst>
                <a:ext uri="{FF2B5EF4-FFF2-40B4-BE49-F238E27FC236}">
                  <a16:creationId xmlns:a16="http://schemas.microsoft.com/office/drawing/2014/main" id="{F9399376-C615-0942-A611-DF554F0DFB9B}"/>
                </a:ext>
              </a:extLst>
            </p:cNvPr>
            <p:cNvCxnSpPr/>
            <p:nvPr/>
          </p:nvCxnSpPr>
          <p:spPr>
            <a:xfrm flipV="1">
              <a:off x="5703147" y="3840819"/>
              <a:ext cx="741434" cy="67394"/>
            </a:xfrm>
            <a:prstGeom prst="straightConnector1">
              <a:avLst/>
            </a:prstGeom>
            <a:ln w="38100">
              <a:solidFill>
                <a:srgbClr val="6F9E50"/>
              </a:solidFill>
              <a:tailEnd type="oval" w="med" len="med"/>
            </a:ln>
          </p:spPr>
          <p:style>
            <a:lnRef idx="1">
              <a:schemeClr val="accent4"/>
            </a:lnRef>
            <a:fillRef idx="0">
              <a:schemeClr val="accent4"/>
            </a:fillRef>
            <a:effectRef idx="0">
              <a:schemeClr val="accent4"/>
            </a:effectRef>
            <a:fontRef idx="minor">
              <a:schemeClr val="tx1"/>
            </a:fontRef>
          </p:style>
        </p:cxnSp>
      </p:grpSp>
      <p:pic>
        <p:nvPicPr>
          <p:cNvPr id="13" name="Content Placeholder 4">
            <a:extLst>
              <a:ext uri="{FF2B5EF4-FFF2-40B4-BE49-F238E27FC236}">
                <a16:creationId xmlns:a16="http://schemas.microsoft.com/office/drawing/2014/main" id="{E154F70A-6A44-8E41-8D0F-24E0CC81FD29}"/>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331854" y="3450357"/>
            <a:ext cx="1649112" cy="1649112"/>
          </a:xfrm>
          <a:prstGeom prst="rect">
            <a:avLst/>
          </a:prstGeom>
        </p:spPr>
      </p:pic>
      <p:pic>
        <p:nvPicPr>
          <p:cNvPr id="14" name="Picture 13">
            <a:extLst>
              <a:ext uri="{FF2B5EF4-FFF2-40B4-BE49-F238E27FC236}">
                <a16:creationId xmlns:a16="http://schemas.microsoft.com/office/drawing/2014/main" id="{EF9B78B7-7AE2-2444-B4E6-FCE4BA22D7F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68857" y="1903425"/>
            <a:ext cx="975106" cy="975106"/>
          </a:xfrm>
          <a:prstGeom prst="rect">
            <a:avLst/>
          </a:prstGeom>
        </p:spPr>
      </p:pic>
      <p:sp>
        <p:nvSpPr>
          <p:cNvPr id="15" name="TextBox 15">
            <a:extLst>
              <a:ext uri="{FF2B5EF4-FFF2-40B4-BE49-F238E27FC236}">
                <a16:creationId xmlns:a16="http://schemas.microsoft.com/office/drawing/2014/main" id="{AADA3022-FE65-F548-A273-B5ECEE5745F7}"/>
              </a:ext>
            </a:extLst>
          </p:cNvPr>
          <p:cNvSpPr txBox="1"/>
          <p:nvPr/>
        </p:nvSpPr>
        <p:spPr>
          <a:xfrm>
            <a:off x="2191426" y="2390978"/>
            <a:ext cx="1918861" cy="400110"/>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2000" dirty="0">
                <a:latin typeface="Amazon Ember" panose="020B0603020204020204" pitchFamily="34" charset="0"/>
                <a:ea typeface="Amazon Ember" panose="020B0603020204020204" pitchFamily="34" charset="0"/>
                <a:cs typeface="Amazon Ember" panose="020B0603020204020204" pitchFamily="34" charset="0"/>
              </a:rPr>
              <a:t>You</a:t>
            </a:r>
          </a:p>
        </p:txBody>
      </p:sp>
      <p:cxnSp>
        <p:nvCxnSpPr>
          <p:cNvPr id="16" name="Straight Connector 15">
            <a:extLst>
              <a:ext uri="{FF2B5EF4-FFF2-40B4-BE49-F238E27FC236}">
                <a16:creationId xmlns:a16="http://schemas.microsoft.com/office/drawing/2014/main" id="{5FF46961-C52A-414D-A78F-0BA93DD410AF}"/>
              </a:ext>
            </a:extLst>
          </p:cNvPr>
          <p:cNvCxnSpPr/>
          <p:nvPr/>
        </p:nvCxnSpPr>
        <p:spPr>
          <a:xfrm>
            <a:off x="2403428" y="2935565"/>
            <a:ext cx="5722357"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835235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2">
            <a:extLst>
              <a:ext uri="{FF2B5EF4-FFF2-40B4-BE49-F238E27FC236}">
                <a16:creationId xmlns:a16="http://schemas.microsoft.com/office/drawing/2014/main" id="{EA16C653-7568-4991-875C-AD438564DE26}"/>
              </a:ext>
            </a:extLst>
          </p:cNvPr>
          <p:cNvSpPr>
            <a:spLocks noGrp="1"/>
          </p:cNvSpPr>
          <p:nvPr/>
        </p:nvSpPr>
        <p:spPr>
          <a:xfrm>
            <a:off x="1026421" y="558276"/>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800" dirty="0">
                <a:solidFill>
                  <a:schemeClr val="tx1"/>
                </a:solidFill>
                <a:latin typeface="Amazon Ember Light"/>
              </a:rPr>
              <a:t>Elastic Beanstalk: Environment</a:t>
            </a:r>
            <a:endParaRPr lang="en-US" sz="3800" dirty="0">
              <a:solidFill>
                <a:schemeClr val="tx1"/>
              </a:solidFill>
            </a:endParaRPr>
          </a:p>
        </p:txBody>
      </p:sp>
      <p:sp>
        <p:nvSpPr>
          <p:cNvPr id="10" name="Content Placeholder 3">
            <a:extLst>
              <a:ext uri="{FF2B5EF4-FFF2-40B4-BE49-F238E27FC236}">
                <a16:creationId xmlns:a16="http://schemas.microsoft.com/office/drawing/2014/main" id="{78F25C7E-8BF2-9B7D-821E-2704B1C1BAEB}"/>
              </a:ext>
            </a:extLst>
          </p:cNvPr>
          <p:cNvSpPr>
            <a:spLocks noGrp="1"/>
          </p:cNvSpPr>
          <p:nvPr/>
        </p:nvSpPr>
        <p:spPr>
          <a:xfrm>
            <a:off x="392961" y="1559011"/>
            <a:ext cx="5938160" cy="4779520"/>
          </a:xfrm>
          <a:prstGeom prst="rect">
            <a:avLst/>
          </a:prstGeom>
        </p:spPr>
        <p:txBody>
          <a:bodyPr vert="horz" lIns="91440" tIns="45720" rIns="91440" bIns="45720" rtlCol="0" anchor="t">
            <a:normAutofit/>
          </a:bodyPr>
          <a:lstStyle>
            <a:lvl1pPr marL="228562" indent="-319990" algn="l" defTabSz="914199" rtl="0" eaLnBrk="1" latinLnBrk="0" hangingPunct="1">
              <a:lnSpc>
                <a:spcPct val="90000"/>
              </a:lnSpc>
              <a:spcBef>
                <a:spcPts val="1000"/>
              </a:spcBef>
              <a:buClr>
                <a:srgbClr val="FF9900"/>
              </a:buClr>
              <a:buFont typeface="Arial" panose="020B0604020202020204" pitchFamily="34" charset="0"/>
              <a:buChar char="•"/>
              <a:defRPr sz="2799" b="0" i="0" kern="1200">
                <a:solidFill>
                  <a:schemeClr val="tx1"/>
                </a:solidFill>
                <a:latin typeface="Amazon Ember Light" charset="0"/>
                <a:ea typeface="Amazon Ember Light" charset="0"/>
                <a:cs typeface="Amazon Ember Light" charset="0"/>
              </a:defRPr>
            </a:lvl1pPr>
            <a:lvl2pPr marL="685690" indent="-319990" algn="l" defTabSz="914199" rtl="0" eaLnBrk="1" latinLnBrk="0" hangingPunct="1">
              <a:lnSpc>
                <a:spcPct val="90000"/>
              </a:lnSpc>
              <a:spcBef>
                <a:spcPts val="500"/>
              </a:spcBef>
              <a:buClr>
                <a:srgbClr val="FF9900"/>
              </a:buClr>
              <a:buFont typeface="Arial" panose="020B0604020202020204" pitchFamily="34" charset="0"/>
              <a:buChar char="•"/>
              <a:defRPr sz="2399" b="0" i="0" kern="1200">
                <a:solidFill>
                  <a:schemeClr val="tx1"/>
                </a:solidFill>
                <a:latin typeface="Amazon Ember Light" charset="0"/>
                <a:ea typeface="Amazon Ember Light" charset="0"/>
                <a:cs typeface="Amazon Ember Light" charset="0"/>
              </a:defRPr>
            </a:lvl2pPr>
            <a:lvl3pPr marL="1142817" indent="-319990" algn="l" defTabSz="914199" rtl="0" eaLnBrk="1" latinLnBrk="0" hangingPunct="1">
              <a:lnSpc>
                <a:spcPct val="90000"/>
              </a:lnSpc>
              <a:spcBef>
                <a:spcPts val="500"/>
              </a:spcBef>
              <a:buClr>
                <a:srgbClr val="FF9900"/>
              </a:buClr>
              <a:buFont typeface="Arial" panose="020B0604020202020204" pitchFamily="34" charset="0"/>
              <a:buChar char="•"/>
              <a:defRPr sz="1999" b="0" i="0" kern="1200">
                <a:solidFill>
                  <a:schemeClr val="tx1"/>
                </a:solidFill>
                <a:latin typeface="Amazon Ember Light" charset="0"/>
                <a:ea typeface="Amazon Ember Light" charset="0"/>
                <a:cs typeface="Amazon Ember Light" charset="0"/>
              </a:defRPr>
            </a:lvl3pPr>
            <a:lvl4pPr marL="1599944" indent="-228562" algn="l" defTabSz="914199" rtl="0" eaLnBrk="1" latinLnBrk="0" hangingPunct="1">
              <a:lnSpc>
                <a:spcPct val="90000"/>
              </a:lnSpc>
              <a:spcBef>
                <a:spcPts val="500"/>
              </a:spcBef>
              <a:buFontTx/>
              <a:buBlip>
                <a:blip r:embed="rId7"/>
              </a:buBlip>
              <a:defRPr sz="1799" b="0" i="0" kern="1200">
                <a:solidFill>
                  <a:schemeClr val="tx1"/>
                </a:solidFill>
                <a:latin typeface="Amazon Ember Light" charset="0"/>
                <a:ea typeface="Amazon Ember Light" charset="0"/>
                <a:cs typeface="Amazon Ember Light" charset="0"/>
              </a:defRPr>
            </a:lvl4pPr>
            <a:lvl5pPr marL="2057072" indent="-228562" algn="l" defTabSz="914199" rtl="0" eaLnBrk="1" latinLnBrk="0" hangingPunct="1">
              <a:lnSpc>
                <a:spcPct val="90000"/>
              </a:lnSpc>
              <a:spcBef>
                <a:spcPts val="500"/>
              </a:spcBef>
              <a:buFontTx/>
              <a:buBlip>
                <a:blip r:embed="rId7"/>
              </a:buBlip>
              <a:defRPr sz="1799" b="0" i="0" kern="1200">
                <a:solidFill>
                  <a:schemeClr val="tx1"/>
                </a:solidFill>
                <a:latin typeface="Amazon Ember Light" charset="0"/>
                <a:ea typeface="Amazon Ember Light" charset="0"/>
                <a:cs typeface="Amazon Ember Light" charset="0"/>
              </a:defRPr>
            </a:lvl5pPr>
            <a:lvl6pPr marL="2514047"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1146"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82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3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r>
              <a:rPr lang="en-US" sz="2350" dirty="0">
                <a:latin typeface="Amazon Ember Light"/>
              </a:rPr>
              <a:t>Elastic Beanstalk provisions the necessary infrastructure resources</a:t>
            </a:r>
          </a:p>
          <a:p>
            <a:pPr marL="227965" indent="-319405"/>
            <a:endParaRPr lang="en-US" sz="2399" dirty="0"/>
          </a:p>
          <a:p>
            <a:pPr marL="227965" indent="-319405"/>
            <a:endParaRPr lang="en-US" sz="2399" dirty="0"/>
          </a:p>
          <a:p>
            <a:pPr marL="227965" indent="-319405"/>
            <a:endParaRPr lang="en-US" sz="2399" dirty="0"/>
          </a:p>
          <a:p>
            <a:pPr marL="0" indent="0">
              <a:spcBef>
                <a:spcPts val="1200"/>
              </a:spcBef>
              <a:buNone/>
            </a:pPr>
            <a:r>
              <a:rPr lang="en-US" sz="2350" dirty="0">
                <a:latin typeface="Amazon Ember Light"/>
              </a:rPr>
              <a:t>Elastic Beanstalk gives your application environment a unique domain name</a:t>
            </a:r>
          </a:p>
          <a:p>
            <a:pPr marL="0" indent="0">
              <a:spcBef>
                <a:spcPts val="1200"/>
              </a:spcBef>
              <a:buNone/>
            </a:pPr>
            <a:r>
              <a:rPr lang="en-US" sz="2350" dirty="0">
                <a:latin typeface="Amazon Ember Light"/>
              </a:rPr>
              <a:t> (e.g., yourapp.elasticbeanstalk.com)</a:t>
            </a:r>
            <a:endParaRPr lang="en-US" sz="2350" dirty="0"/>
          </a:p>
          <a:p>
            <a:pPr marL="685165" lvl="1" indent="-319405">
              <a:spcBef>
                <a:spcPts val="1200"/>
              </a:spcBef>
            </a:pPr>
            <a:r>
              <a:rPr lang="en-US" sz="2100" dirty="0">
                <a:latin typeface="Amazon Ember Light"/>
              </a:rPr>
              <a:t>You can resolve your domain name to this domain name with Route 53</a:t>
            </a:r>
          </a:p>
          <a:p>
            <a:pPr marL="227965" indent="-319405"/>
            <a:endParaRPr lang="en-US" sz="2399" b="1" dirty="0"/>
          </a:p>
          <a:p>
            <a:pPr marL="227965" indent="-319405"/>
            <a:endParaRPr lang="en-US" dirty="0"/>
          </a:p>
        </p:txBody>
      </p:sp>
      <p:sp>
        <p:nvSpPr>
          <p:cNvPr id="11" name="Rounded Rectangle 7">
            <a:extLst>
              <a:ext uri="{FF2B5EF4-FFF2-40B4-BE49-F238E27FC236}">
                <a16:creationId xmlns:a16="http://schemas.microsoft.com/office/drawing/2014/main" id="{A644C234-CEA5-352E-63E5-A7B203DF9669}"/>
              </a:ext>
            </a:extLst>
          </p:cNvPr>
          <p:cNvSpPr/>
          <p:nvPr/>
        </p:nvSpPr>
        <p:spPr>
          <a:xfrm>
            <a:off x="6675219" y="2827577"/>
            <a:ext cx="5123821" cy="3648186"/>
          </a:xfrm>
          <a:prstGeom prst="roundRect">
            <a:avLst>
              <a:gd name="adj" fmla="val 9818"/>
            </a:avLst>
          </a:prstGeom>
          <a:noFill/>
          <a:ln w="28575" cmpd="sng">
            <a:solidFill>
              <a:schemeClr val="tx2">
                <a:lumMod val="60000"/>
                <a:lumOff val="40000"/>
              </a:schemeClr>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399"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2" name="Round Same Side Corner Rectangle 12">
            <a:extLst>
              <a:ext uri="{FF2B5EF4-FFF2-40B4-BE49-F238E27FC236}">
                <a16:creationId xmlns:a16="http://schemas.microsoft.com/office/drawing/2014/main" id="{3D6E652C-B06F-1BF4-D594-6E93550D2234}"/>
              </a:ext>
            </a:extLst>
          </p:cNvPr>
          <p:cNvSpPr/>
          <p:nvPr/>
        </p:nvSpPr>
        <p:spPr>
          <a:xfrm>
            <a:off x="10785010" y="2985572"/>
            <a:ext cx="867310" cy="269105"/>
          </a:xfrm>
          <a:prstGeom prst="round2Same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r>
              <a:rPr lang="en-US" sz="1467" b="1" dirty="0">
                <a:solidFill>
                  <a:srgbClr val="2B2A2A"/>
                </a:solidFill>
                <a:latin typeface="Amazon Ember" panose="020B0603020204020204" pitchFamily="34" charset="0"/>
                <a:ea typeface="Amazon Ember" panose="020B0603020204020204" pitchFamily="34" charset="0"/>
                <a:cs typeface="Amazon Ember" panose="020B0603020204020204" pitchFamily="34" charset="0"/>
              </a:rPr>
              <a:t>Alert</a:t>
            </a:r>
          </a:p>
        </p:txBody>
      </p:sp>
      <p:sp>
        <p:nvSpPr>
          <p:cNvPr id="13" name="Rectangle 12">
            <a:extLst>
              <a:ext uri="{FF2B5EF4-FFF2-40B4-BE49-F238E27FC236}">
                <a16:creationId xmlns:a16="http://schemas.microsoft.com/office/drawing/2014/main" id="{C9259F73-76D4-18CC-3914-8A3D63EE9683}"/>
              </a:ext>
            </a:extLst>
          </p:cNvPr>
          <p:cNvSpPr/>
          <p:nvPr/>
        </p:nvSpPr>
        <p:spPr>
          <a:xfrm>
            <a:off x="10786517" y="3279007"/>
            <a:ext cx="865805" cy="744874"/>
          </a:xfrm>
          <a:prstGeom prst="rect">
            <a:avLst/>
          </a:prstGeom>
          <a:noFill/>
          <a:ln>
            <a:solidFill>
              <a:schemeClr val="accent6">
                <a:lumMod val="60000"/>
                <a:lumOff val="40000"/>
              </a:schemeClr>
            </a:solidFill>
            <a:prstDash val="sysDash"/>
          </a:ln>
          <a:effectLst/>
        </p:spPr>
        <p:style>
          <a:lnRef idx="1">
            <a:schemeClr val="dk1"/>
          </a:lnRef>
          <a:fillRef idx="2">
            <a:schemeClr val="dk1"/>
          </a:fillRef>
          <a:effectRef idx="1">
            <a:schemeClr val="dk1"/>
          </a:effectRef>
          <a:fontRef idx="minor">
            <a:schemeClr val="dk1"/>
          </a:fontRef>
        </p:style>
        <p:txBody>
          <a:bodyPr rtlCol="0" anchor="ctr"/>
          <a:lstStyle>
            <a:defPPr>
              <a:defRPr lang="en-US"/>
            </a:defPPr>
            <a:lvl1pPr marL="0" algn="l" defTabSz="913395" rtl="0" eaLnBrk="1" latinLnBrk="0" hangingPunct="1">
              <a:defRPr sz="1798" kern="1200">
                <a:solidFill>
                  <a:schemeClr val="dk1"/>
                </a:solidFill>
                <a:latin typeface="+mn-lt"/>
                <a:ea typeface="+mn-ea"/>
                <a:cs typeface="+mn-cs"/>
              </a:defRPr>
            </a:lvl1pPr>
            <a:lvl2pPr marL="456696" algn="l" defTabSz="913395" rtl="0" eaLnBrk="1" latinLnBrk="0" hangingPunct="1">
              <a:defRPr sz="1798" kern="1200">
                <a:solidFill>
                  <a:schemeClr val="dk1"/>
                </a:solidFill>
                <a:latin typeface="+mn-lt"/>
                <a:ea typeface="+mn-ea"/>
                <a:cs typeface="+mn-cs"/>
              </a:defRPr>
            </a:lvl2pPr>
            <a:lvl3pPr marL="913395" algn="l" defTabSz="913395" rtl="0" eaLnBrk="1" latinLnBrk="0" hangingPunct="1">
              <a:defRPr sz="1798" kern="1200">
                <a:solidFill>
                  <a:schemeClr val="dk1"/>
                </a:solidFill>
                <a:latin typeface="+mn-lt"/>
                <a:ea typeface="+mn-ea"/>
                <a:cs typeface="+mn-cs"/>
              </a:defRPr>
            </a:lvl3pPr>
            <a:lvl4pPr marL="1370091" algn="l" defTabSz="913395" rtl="0" eaLnBrk="1" latinLnBrk="0" hangingPunct="1">
              <a:defRPr sz="1798" kern="1200">
                <a:solidFill>
                  <a:schemeClr val="dk1"/>
                </a:solidFill>
                <a:latin typeface="+mn-lt"/>
                <a:ea typeface="+mn-ea"/>
                <a:cs typeface="+mn-cs"/>
              </a:defRPr>
            </a:lvl4pPr>
            <a:lvl5pPr marL="1826787" algn="l" defTabSz="913395" rtl="0" eaLnBrk="1" latinLnBrk="0" hangingPunct="1">
              <a:defRPr sz="1798" kern="1200">
                <a:solidFill>
                  <a:schemeClr val="dk1"/>
                </a:solidFill>
                <a:latin typeface="+mn-lt"/>
                <a:ea typeface="+mn-ea"/>
                <a:cs typeface="+mn-cs"/>
              </a:defRPr>
            </a:lvl5pPr>
            <a:lvl6pPr marL="2283486" algn="l" defTabSz="913395" rtl="0" eaLnBrk="1" latinLnBrk="0" hangingPunct="1">
              <a:defRPr sz="1798" kern="1200">
                <a:solidFill>
                  <a:schemeClr val="dk1"/>
                </a:solidFill>
                <a:latin typeface="+mn-lt"/>
                <a:ea typeface="+mn-ea"/>
                <a:cs typeface="+mn-cs"/>
              </a:defRPr>
            </a:lvl6pPr>
            <a:lvl7pPr marL="2740183" algn="l" defTabSz="913395" rtl="0" eaLnBrk="1" latinLnBrk="0" hangingPunct="1">
              <a:defRPr sz="1798" kern="1200">
                <a:solidFill>
                  <a:schemeClr val="dk1"/>
                </a:solidFill>
                <a:latin typeface="+mn-lt"/>
                <a:ea typeface="+mn-ea"/>
                <a:cs typeface="+mn-cs"/>
              </a:defRPr>
            </a:lvl7pPr>
            <a:lvl8pPr marL="3196881" algn="l" defTabSz="913395" rtl="0" eaLnBrk="1" latinLnBrk="0" hangingPunct="1">
              <a:defRPr sz="1798" kern="1200">
                <a:solidFill>
                  <a:schemeClr val="dk1"/>
                </a:solidFill>
                <a:latin typeface="+mn-lt"/>
                <a:ea typeface="+mn-ea"/>
                <a:cs typeface="+mn-cs"/>
              </a:defRPr>
            </a:lvl8pPr>
            <a:lvl9pPr marL="3653578" algn="l" defTabSz="913395" rtl="0" eaLnBrk="1" latinLnBrk="0" hangingPunct="1">
              <a:defRPr sz="1798" kern="1200">
                <a:solidFill>
                  <a:schemeClr val="dk1"/>
                </a:solidFill>
                <a:latin typeface="+mn-lt"/>
                <a:ea typeface="+mn-ea"/>
                <a:cs typeface="+mn-cs"/>
              </a:defRPr>
            </a:lvl9pP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4" name="Rounded Rectangle 14">
            <a:extLst>
              <a:ext uri="{FF2B5EF4-FFF2-40B4-BE49-F238E27FC236}">
                <a16:creationId xmlns:a16="http://schemas.microsoft.com/office/drawing/2014/main" id="{7656D652-B120-FCCE-A8E0-085E201F165D}"/>
              </a:ext>
            </a:extLst>
          </p:cNvPr>
          <p:cNvSpPr/>
          <p:nvPr/>
        </p:nvSpPr>
        <p:spPr>
          <a:xfrm>
            <a:off x="7097300" y="3393003"/>
            <a:ext cx="3602491" cy="2973849"/>
          </a:xfrm>
          <a:prstGeom prst="roundRect">
            <a:avLst>
              <a:gd name="adj" fmla="val 9818"/>
            </a:avLst>
          </a:prstGeom>
          <a:noFill/>
          <a:ln w="6350">
            <a:solidFill>
              <a:schemeClr val="tx1"/>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399"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5" name="Round Same Side Corner Rectangle 15">
            <a:extLst>
              <a:ext uri="{FF2B5EF4-FFF2-40B4-BE49-F238E27FC236}">
                <a16:creationId xmlns:a16="http://schemas.microsoft.com/office/drawing/2014/main" id="{B1FF18BE-DEB8-5DCF-9948-B65540205885}"/>
              </a:ext>
            </a:extLst>
          </p:cNvPr>
          <p:cNvSpPr/>
          <p:nvPr/>
        </p:nvSpPr>
        <p:spPr>
          <a:xfrm>
            <a:off x="10796295" y="4114165"/>
            <a:ext cx="867310" cy="302962"/>
          </a:xfrm>
          <a:prstGeom prst="round2Same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b"/>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r>
              <a:rPr lang="en-US" sz="1467" b="1" dirty="0">
                <a:solidFill>
                  <a:srgbClr val="2B2A2A"/>
                </a:solidFill>
                <a:latin typeface="Amazon Ember" panose="020B0603020204020204" pitchFamily="34" charset="0"/>
                <a:ea typeface="Amazon Ember" panose="020B0603020204020204" pitchFamily="34" charset="0"/>
                <a:cs typeface="Amazon Ember" panose="020B0603020204020204" pitchFamily="34" charset="0"/>
              </a:rPr>
              <a:t>Log</a:t>
            </a:r>
          </a:p>
        </p:txBody>
      </p:sp>
      <p:sp>
        <p:nvSpPr>
          <p:cNvPr id="16" name="Rectangle 15">
            <a:extLst>
              <a:ext uri="{FF2B5EF4-FFF2-40B4-BE49-F238E27FC236}">
                <a16:creationId xmlns:a16="http://schemas.microsoft.com/office/drawing/2014/main" id="{BE211654-618E-1689-798B-791E16BF4AB3}"/>
              </a:ext>
            </a:extLst>
          </p:cNvPr>
          <p:cNvSpPr/>
          <p:nvPr/>
        </p:nvSpPr>
        <p:spPr>
          <a:xfrm>
            <a:off x="10797802" y="4441457"/>
            <a:ext cx="865805" cy="744874"/>
          </a:xfrm>
          <a:prstGeom prst="rect">
            <a:avLst/>
          </a:prstGeom>
          <a:noFill/>
          <a:ln>
            <a:solidFill>
              <a:schemeClr val="accent6">
                <a:lumMod val="60000"/>
                <a:lumOff val="40000"/>
              </a:schemeClr>
            </a:solidFill>
            <a:prstDash val="sysDash"/>
          </a:ln>
          <a:effectLst/>
        </p:spPr>
        <p:style>
          <a:lnRef idx="1">
            <a:schemeClr val="dk1"/>
          </a:lnRef>
          <a:fillRef idx="2">
            <a:schemeClr val="dk1"/>
          </a:fillRef>
          <a:effectRef idx="1">
            <a:schemeClr val="dk1"/>
          </a:effectRef>
          <a:fontRef idx="minor">
            <a:schemeClr val="dk1"/>
          </a:fontRef>
        </p:style>
        <p:txBody>
          <a:bodyPr rtlCol="0" anchor="ctr"/>
          <a:lstStyle>
            <a:defPPr>
              <a:defRPr lang="en-US"/>
            </a:defPPr>
            <a:lvl1pPr marL="0" algn="l" defTabSz="913395" rtl="0" eaLnBrk="1" latinLnBrk="0" hangingPunct="1">
              <a:defRPr sz="1798" kern="1200">
                <a:solidFill>
                  <a:schemeClr val="dk1"/>
                </a:solidFill>
                <a:latin typeface="+mn-lt"/>
                <a:ea typeface="+mn-ea"/>
                <a:cs typeface="+mn-cs"/>
              </a:defRPr>
            </a:lvl1pPr>
            <a:lvl2pPr marL="456696" algn="l" defTabSz="913395" rtl="0" eaLnBrk="1" latinLnBrk="0" hangingPunct="1">
              <a:defRPr sz="1798" kern="1200">
                <a:solidFill>
                  <a:schemeClr val="dk1"/>
                </a:solidFill>
                <a:latin typeface="+mn-lt"/>
                <a:ea typeface="+mn-ea"/>
                <a:cs typeface="+mn-cs"/>
              </a:defRPr>
            </a:lvl2pPr>
            <a:lvl3pPr marL="913395" algn="l" defTabSz="913395" rtl="0" eaLnBrk="1" latinLnBrk="0" hangingPunct="1">
              <a:defRPr sz="1798" kern="1200">
                <a:solidFill>
                  <a:schemeClr val="dk1"/>
                </a:solidFill>
                <a:latin typeface="+mn-lt"/>
                <a:ea typeface="+mn-ea"/>
                <a:cs typeface="+mn-cs"/>
              </a:defRPr>
            </a:lvl3pPr>
            <a:lvl4pPr marL="1370091" algn="l" defTabSz="913395" rtl="0" eaLnBrk="1" latinLnBrk="0" hangingPunct="1">
              <a:defRPr sz="1798" kern="1200">
                <a:solidFill>
                  <a:schemeClr val="dk1"/>
                </a:solidFill>
                <a:latin typeface="+mn-lt"/>
                <a:ea typeface="+mn-ea"/>
                <a:cs typeface="+mn-cs"/>
              </a:defRPr>
            </a:lvl4pPr>
            <a:lvl5pPr marL="1826787" algn="l" defTabSz="913395" rtl="0" eaLnBrk="1" latinLnBrk="0" hangingPunct="1">
              <a:defRPr sz="1798" kern="1200">
                <a:solidFill>
                  <a:schemeClr val="dk1"/>
                </a:solidFill>
                <a:latin typeface="+mn-lt"/>
                <a:ea typeface="+mn-ea"/>
                <a:cs typeface="+mn-cs"/>
              </a:defRPr>
            </a:lvl5pPr>
            <a:lvl6pPr marL="2283486" algn="l" defTabSz="913395" rtl="0" eaLnBrk="1" latinLnBrk="0" hangingPunct="1">
              <a:defRPr sz="1798" kern="1200">
                <a:solidFill>
                  <a:schemeClr val="dk1"/>
                </a:solidFill>
                <a:latin typeface="+mn-lt"/>
                <a:ea typeface="+mn-ea"/>
                <a:cs typeface="+mn-cs"/>
              </a:defRPr>
            </a:lvl6pPr>
            <a:lvl7pPr marL="2740183" algn="l" defTabSz="913395" rtl="0" eaLnBrk="1" latinLnBrk="0" hangingPunct="1">
              <a:defRPr sz="1798" kern="1200">
                <a:solidFill>
                  <a:schemeClr val="dk1"/>
                </a:solidFill>
                <a:latin typeface="+mn-lt"/>
                <a:ea typeface="+mn-ea"/>
                <a:cs typeface="+mn-cs"/>
              </a:defRPr>
            </a:lvl7pPr>
            <a:lvl8pPr marL="3196881" algn="l" defTabSz="913395" rtl="0" eaLnBrk="1" latinLnBrk="0" hangingPunct="1">
              <a:defRPr sz="1798" kern="1200">
                <a:solidFill>
                  <a:schemeClr val="dk1"/>
                </a:solidFill>
                <a:latin typeface="+mn-lt"/>
                <a:ea typeface="+mn-ea"/>
                <a:cs typeface="+mn-cs"/>
              </a:defRPr>
            </a:lvl8pPr>
            <a:lvl9pPr marL="3653578" algn="l" defTabSz="913395" rtl="0" eaLnBrk="1" latinLnBrk="0" hangingPunct="1">
              <a:defRPr sz="1798" kern="1200">
                <a:solidFill>
                  <a:schemeClr val="dk1"/>
                </a:solidFill>
                <a:latin typeface="+mn-lt"/>
                <a:ea typeface="+mn-ea"/>
                <a:cs typeface="+mn-cs"/>
              </a:defRPr>
            </a:lvl9pP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7" name="Round Same Side Corner Rectangle 18">
            <a:extLst>
              <a:ext uri="{FF2B5EF4-FFF2-40B4-BE49-F238E27FC236}">
                <a16:creationId xmlns:a16="http://schemas.microsoft.com/office/drawing/2014/main" id="{2F12E359-8193-0527-68E0-2930608DDC77}"/>
              </a:ext>
            </a:extLst>
          </p:cNvPr>
          <p:cNvSpPr/>
          <p:nvPr/>
        </p:nvSpPr>
        <p:spPr>
          <a:xfrm>
            <a:off x="10785012" y="5276619"/>
            <a:ext cx="867310" cy="302962"/>
          </a:xfrm>
          <a:prstGeom prst="round2SameRect">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b"/>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r>
              <a:rPr lang="en-US" sz="1467" b="1" dirty="0">
                <a:solidFill>
                  <a:srgbClr val="2B2A2A"/>
                </a:solidFill>
                <a:latin typeface="Amazon Ember" panose="020B0603020204020204" pitchFamily="34" charset="0"/>
                <a:ea typeface="Amazon Ember" panose="020B0603020204020204" pitchFamily="34" charset="0"/>
                <a:cs typeface="Amazon Ember" panose="020B0603020204020204" pitchFamily="34" charset="0"/>
              </a:rPr>
              <a:t>Mon</a:t>
            </a:r>
          </a:p>
        </p:txBody>
      </p:sp>
      <p:sp>
        <p:nvSpPr>
          <p:cNvPr id="18" name="Rectangle 17">
            <a:extLst>
              <a:ext uri="{FF2B5EF4-FFF2-40B4-BE49-F238E27FC236}">
                <a16:creationId xmlns:a16="http://schemas.microsoft.com/office/drawing/2014/main" id="{06BB4E02-0D83-31A4-D7E6-293B6981E4AA}"/>
              </a:ext>
            </a:extLst>
          </p:cNvPr>
          <p:cNvSpPr/>
          <p:nvPr/>
        </p:nvSpPr>
        <p:spPr>
          <a:xfrm>
            <a:off x="10786519" y="5603912"/>
            <a:ext cx="865805" cy="744874"/>
          </a:xfrm>
          <a:prstGeom prst="rect">
            <a:avLst/>
          </a:prstGeom>
          <a:noFill/>
          <a:ln>
            <a:solidFill>
              <a:schemeClr val="accent6">
                <a:lumMod val="60000"/>
                <a:lumOff val="40000"/>
              </a:schemeClr>
            </a:solidFill>
            <a:prstDash val="sysDash"/>
          </a:ln>
          <a:effectLst/>
        </p:spPr>
        <p:style>
          <a:lnRef idx="1">
            <a:schemeClr val="dk1"/>
          </a:lnRef>
          <a:fillRef idx="2">
            <a:schemeClr val="dk1"/>
          </a:fillRef>
          <a:effectRef idx="1">
            <a:schemeClr val="dk1"/>
          </a:effectRef>
          <a:fontRef idx="minor">
            <a:schemeClr val="dk1"/>
          </a:fontRef>
        </p:style>
        <p:txBody>
          <a:bodyPr rtlCol="0" anchor="ctr"/>
          <a:lstStyle>
            <a:defPPr>
              <a:defRPr lang="en-US"/>
            </a:defPPr>
            <a:lvl1pPr marL="0" algn="l" defTabSz="913395" rtl="0" eaLnBrk="1" latinLnBrk="0" hangingPunct="1">
              <a:defRPr sz="1798" kern="1200">
                <a:solidFill>
                  <a:schemeClr val="dk1"/>
                </a:solidFill>
                <a:latin typeface="+mn-lt"/>
                <a:ea typeface="+mn-ea"/>
                <a:cs typeface="+mn-cs"/>
              </a:defRPr>
            </a:lvl1pPr>
            <a:lvl2pPr marL="456696" algn="l" defTabSz="913395" rtl="0" eaLnBrk="1" latinLnBrk="0" hangingPunct="1">
              <a:defRPr sz="1798" kern="1200">
                <a:solidFill>
                  <a:schemeClr val="dk1"/>
                </a:solidFill>
                <a:latin typeface="+mn-lt"/>
                <a:ea typeface="+mn-ea"/>
                <a:cs typeface="+mn-cs"/>
              </a:defRPr>
            </a:lvl2pPr>
            <a:lvl3pPr marL="913395" algn="l" defTabSz="913395" rtl="0" eaLnBrk="1" latinLnBrk="0" hangingPunct="1">
              <a:defRPr sz="1798" kern="1200">
                <a:solidFill>
                  <a:schemeClr val="dk1"/>
                </a:solidFill>
                <a:latin typeface="+mn-lt"/>
                <a:ea typeface="+mn-ea"/>
                <a:cs typeface="+mn-cs"/>
              </a:defRPr>
            </a:lvl3pPr>
            <a:lvl4pPr marL="1370091" algn="l" defTabSz="913395" rtl="0" eaLnBrk="1" latinLnBrk="0" hangingPunct="1">
              <a:defRPr sz="1798" kern="1200">
                <a:solidFill>
                  <a:schemeClr val="dk1"/>
                </a:solidFill>
                <a:latin typeface="+mn-lt"/>
                <a:ea typeface="+mn-ea"/>
                <a:cs typeface="+mn-cs"/>
              </a:defRPr>
            </a:lvl4pPr>
            <a:lvl5pPr marL="1826787" algn="l" defTabSz="913395" rtl="0" eaLnBrk="1" latinLnBrk="0" hangingPunct="1">
              <a:defRPr sz="1798" kern="1200">
                <a:solidFill>
                  <a:schemeClr val="dk1"/>
                </a:solidFill>
                <a:latin typeface="+mn-lt"/>
                <a:ea typeface="+mn-ea"/>
                <a:cs typeface="+mn-cs"/>
              </a:defRPr>
            </a:lvl5pPr>
            <a:lvl6pPr marL="2283486" algn="l" defTabSz="913395" rtl="0" eaLnBrk="1" latinLnBrk="0" hangingPunct="1">
              <a:defRPr sz="1798" kern="1200">
                <a:solidFill>
                  <a:schemeClr val="dk1"/>
                </a:solidFill>
                <a:latin typeface="+mn-lt"/>
                <a:ea typeface="+mn-ea"/>
                <a:cs typeface="+mn-cs"/>
              </a:defRPr>
            </a:lvl6pPr>
            <a:lvl7pPr marL="2740183" algn="l" defTabSz="913395" rtl="0" eaLnBrk="1" latinLnBrk="0" hangingPunct="1">
              <a:defRPr sz="1798" kern="1200">
                <a:solidFill>
                  <a:schemeClr val="dk1"/>
                </a:solidFill>
                <a:latin typeface="+mn-lt"/>
                <a:ea typeface="+mn-ea"/>
                <a:cs typeface="+mn-cs"/>
              </a:defRPr>
            </a:lvl7pPr>
            <a:lvl8pPr marL="3196881" algn="l" defTabSz="913395" rtl="0" eaLnBrk="1" latinLnBrk="0" hangingPunct="1">
              <a:defRPr sz="1798" kern="1200">
                <a:solidFill>
                  <a:schemeClr val="dk1"/>
                </a:solidFill>
                <a:latin typeface="+mn-lt"/>
                <a:ea typeface="+mn-ea"/>
                <a:cs typeface="+mn-cs"/>
              </a:defRPr>
            </a:lvl8pPr>
            <a:lvl9pPr marL="3653578" algn="l" defTabSz="913395" rtl="0" eaLnBrk="1" latinLnBrk="0" hangingPunct="1">
              <a:defRPr sz="1798" kern="1200">
                <a:solidFill>
                  <a:schemeClr val="dk1"/>
                </a:solidFill>
                <a:latin typeface="+mn-lt"/>
                <a:ea typeface="+mn-ea"/>
                <a:cs typeface="+mn-cs"/>
              </a:defRPr>
            </a:lvl9pP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9" name="Rounded Rectangle 21">
            <a:extLst>
              <a:ext uri="{FF2B5EF4-FFF2-40B4-BE49-F238E27FC236}">
                <a16:creationId xmlns:a16="http://schemas.microsoft.com/office/drawing/2014/main" id="{ECB114EC-CD40-9E8E-ECE6-725B9BB14A36}"/>
              </a:ext>
            </a:extLst>
          </p:cNvPr>
          <p:cNvSpPr/>
          <p:nvPr/>
        </p:nvSpPr>
        <p:spPr>
          <a:xfrm>
            <a:off x="7821054" y="5040754"/>
            <a:ext cx="943197" cy="1081401"/>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399"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0" name="Rectangle 19">
            <a:extLst>
              <a:ext uri="{FF2B5EF4-FFF2-40B4-BE49-F238E27FC236}">
                <a16:creationId xmlns:a16="http://schemas.microsoft.com/office/drawing/2014/main" id="{533D4A68-058C-4CBB-3512-B9E0AD982AE7}"/>
              </a:ext>
            </a:extLst>
          </p:cNvPr>
          <p:cNvSpPr/>
          <p:nvPr/>
        </p:nvSpPr>
        <p:spPr>
          <a:xfrm>
            <a:off x="7711010" y="4916608"/>
            <a:ext cx="2768706" cy="1258383"/>
          </a:xfrm>
          <a:prstGeom prst="rect">
            <a:avLst/>
          </a:prstGeom>
          <a:noFill/>
          <a:ln>
            <a:solidFill>
              <a:schemeClr val="tx1">
                <a:lumMod val="65000"/>
                <a:lumOff val="35000"/>
              </a:schemeClr>
            </a:solidFill>
            <a:prstDash val="sysDash"/>
          </a:ln>
          <a:effectLst/>
        </p:spPr>
        <p:style>
          <a:lnRef idx="1">
            <a:schemeClr val="dk1"/>
          </a:lnRef>
          <a:fillRef idx="2">
            <a:schemeClr val="dk1"/>
          </a:fillRef>
          <a:effectRef idx="1">
            <a:schemeClr val="dk1"/>
          </a:effectRef>
          <a:fontRef idx="minor">
            <a:schemeClr val="dk1"/>
          </a:fontRef>
        </p:style>
        <p:txBody>
          <a:bodyPr rtlCol="0" anchor="ctr"/>
          <a:lstStyle>
            <a:defPPr>
              <a:defRPr lang="en-US"/>
            </a:defPPr>
            <a:lvl1pPr marL="0" algn="l" defTabSz="913395" rtl="0" eaLnBrk="1" latinLnBrk="0" hangingPunct="1">
              <a:defRPr sz="1798" kern="1200">
                <a:solidFill>
                  <a:schemeClr val="dk1"/>
                </a:solidFill>
                <a:latin typeface="+mn-lt"/>
                <a:ea typeface="+mn-ea"/>
                <a:cs typeface="+mn-cs"/>
              </a:defRPr>
            </a:lvl1pPr>
            <a:lvl2pPr marL="456696" algn="l" defTabSz="913395" rtl="0" eaLnBrk="1" latinLnBrk="0" hangingPunct="1">
              <a:defRPr sz="1798" kern="1200">
                <a:solidFill>
                  <a:schemeClr val="dk1"/>
                </a:solidFill>
                <a:latin typeface="+mn-lt"/>
                <a:ea typeface="+mn-ea"/>
                <a:cs typeface="+mn-cs"/>
              </a:defRPr>
            </a:lvl2pPr>
            <a:lvl3pPr marL="913395" algn="l" defTabSz="913395" rtl="0" eaLnBrk="1" latinLnBrk="0" hangingPunct="1">
              <a:defRPr sz="1798" kern="1200">
                <a:solidFill>
                  <a:schemeClr val="dk1"/>
                </a:solidFill>
                <a:latin typeface="+mn-lt"/>
                <a:ea typeface="+mn-ea"/>
                <a:cs typeface="+mn-cs"/>
              </a:defRPr>
            </a:lvl3pPr>
            <a:lvl4pPr marL="1370091" algn="l" defTabSz="913395" rtl="0" eaLnBrk="1" latinLnBrk="0" hangingPunct="1">
              <a:defRPr sz="1798" kern="1200">
                <a:solidFill>
                  <a:schemeClr val="dk1"/>
                </a:solidFill>
                <a:latin typeface="+mn-lt"/>
                <a:ea typeface="+mn-ea"/>
                <a:cs typeface="+mn-cs"/>
              </a:defRPr>
            </a:lvl4pPr>
            <a:lvl5pPr marL="1826787" algn="l" defTabSz="913395" rtl="0" eaLnBrk="1" latinLnBrk="0" hangingPunct="1">
              <a:defRPr sz="1798" kern="1200">
                <a:solidFill>
                  <a:schemeClr val="dk1"/>
                </a:solidFill>
                <a:latin typeface="+mn-lt"/>
                <a:ea typeface="+mn-ea"/>
                <a:cs typeface="+mn-cs"/>
              </a:defRPr>
            </a:lvl5pPr>
            <a:lvl6pPr marL="2283486" algn="l" defTabSz="913395" rtl="0" eaLnBrk="1" latinLnBrk="0" hangingPunct="1">
              <a:defRPr sz="1798" kern="1200">
                <a:solidFill>
                  <a:schemeClr val="dk1"/>
                </a:solidFill>
                <a:latin typeface="+mn-lt"/>
                <a:ea typeface="+mn-ea"/>
                <a:cs typeface="+mn-cs"/>
              </a:defRPr>
            </a:lvl6pPr>
            <a:lvl7pPr marL="2740183" algn="l" defTabSz="913395" rtl="0" eaLnBrk="1" latinLnBrk="0" hangingPunct="1">
              <a:defRPr sz="1798" kern="1200">
                <a:solidFill>
                  <a:schemeClr val="dk1"/>
                </a:solidFill>
                <a:latin typeface="+mn-lt"/>
                <a:ea typeface="+mn-ea"/>
                <a:cs typeface="+mn-cs"/>
              </a:defRPr>
            </a:lvl7pPr>
            <a:lvl8pPr marL="3196881" algn="l" defTabSz="913395" rtl="0" eaLnBrk="1" latinLnBrk="0" hangingPunct="1">
              <a:defRPr sz="1798" kern="1200">
                <a:solidFill>
                  <a:schemeClr val="dk1"/>
                </a:solidFill>
                <a:latin typeface="+mn-lt"/>
                <a:ea typeface="+mn-ea"/>
                <a:cs typeface="+mn-cs"/>
              </a:defRPr>
            </a:lvl8pPr>
            <a:lvl9pPr marL="3653578" algn="l" defTabSz="913395" rtl="0" eaLnBrk="1" latinLnBrk="0" hangingPunct="1">
              <a:defRPr sz="1798" kern="1200">
                <a:solidFill>
                  <a:schemeClr val="dk1"/>
                </a:solidFill>
                <a:latin typeface="+mn-lt"/>
                <a:ea typeface="+mn-ea"/>
                <a:cs typeface="+mn-cs"/>
              </a:defRPr>
            </a:lvl9pP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1" name="Round Same Side Corner Rectangle 23">
            <a:extLst>
              <a:ext uri="{FF2B5EF4-FFF2-40B4-BE49-F238E27FC236}">
                <a16:creationId xmlns:a16="http://schemas.microsoft.com/office/drawing/2014/main" id="{DB37C629-D748-4BA2-28A6-DA256E838792}"/>
              </a:ext>
            </a:extLst>
          </p:cNvPr>
          <p:cNvSpPr/>
          <p:nvPr/>
        </p:nvSpPr>
        <p:spPr>
          <a:xfrm rot="16200000">
            <a:off x="6837173" y="5331366"/>
            <a:ext cx="1275312" cy="423223"/>
          </a:xfrm>
          <a:prstGeom prst="round2Same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b"/>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r>
              <a:rPr lang="en-US" sz="1866" b="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App</a:t>
            </a:r>
          </a:p>
        </p:txBody>
      </p:sp>
      <p:sp>
        <p:nvSpPr>
          <p:cNvPr id="22" name="TextBox 24">
            <a:extLst>
              <a:ext uri="{FF2B5EF4-FFF2-40B4-BE49-F238E27FC236}">
                <a16:creationId xmlns:a16="http://schemas.microsoft.com/office/drawing/2014/main" id="{F60059DA-F2EC-E371-CB57-7B27FF5422CB}"/>
              </a:ext>
            </a:extLst>
          </p:cNvPr>
          <p:cNvSpPr txBox="1">
            <a:spLocks noChangeArrowheads="1"/>
          </p:cNvSpPr>
          <p:nvPr/>
        </p:nvSpPr>
        <p:spPr bwMode="auto">
          <a:xfrm>
            <a:off x="7711010" y="5930517"/>
            <a:ext cx="1154815" cy="230832"/>
          </a:xfrm>
          <a:prstGeom prst="rect">
            <a:avLst/>
          </a:prstGeom>
          <a:noFill/>
          <a:ln w="9525">
            <a:noFill/>
            <a:miter lim="800000"/>
            <a:headEnd/>
            <a:tailEnd/>
          </a:ln>
        </p:spPr>
        <p:txBody>
          <a:bodyPr wrap="square">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900" b="1" dirty="0">
                <a:solidFill>
                  <a:srgbClr val="F7981F"/>
                </a:solidFill>
                <a:latin typeface="Amazon Ember" panose="020B0603020204020204" pitchFamily="34" charset="0"/>
                <a:ea typeface="Amazon Ember" panose="020B0603020204020204" pitchFamily="34" charset="0"/>
                <a:cs typeface="Amazon Ember" panose="020B0603020204020204" pitchFamily="34" charset="0"/>
              </a:rPr>
              <a:t>Availability Zone</a:t>
            </a:r>
          </a:p>
        </p:txBody>
      </p:sp>
      <p:sp>
        <p:nvSpPr>
          <p:cNvPr id="23" name="Rounded Rectangle 25">
            <a:extLst>
              <a:ext uri="{FF2B5EF4-FFF2-40B4-BE49-F238E27FC236}">
                <a16:creationId xmlns:a16="http://schemas.microsoft.com/office/drawing/2014/main" id="{A81E543C-C303-23D5-AA07-C3826616D4C6}"/>
              </a:ext>
            </a:extLst>
          </p:cNvPr>
          <p:cNvSpPr/>
          <p:nvPr/>
        </p:nvSpPr>
        <p:spPr>
          <a:xfrm>
            <a:off x="9423660" y="5040754"/>
            <a:ext cx="943197" cy="1081401"/>
          </a:xfrm>
          <a:prstGeom prst="roundRect">
            <a:avLst>
              <a:gd name="adj" fmla="val 9818"/>
            </a:avLst>
          </a:prstGeom>
          <a:noFill/>
          <a:ln w="19050">
            <a:solidFill>
              <a:srgbClr val="F7981F"/>
            </a:solidFill>
            <a:prstDash val="lgDash"/>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399"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24" name="Rectangle 23">
            <a:extLst>
              <a:ext uri="{FF2B5EF4-FFF2-40B4-BE49-F238E27FC236}">
                <a16:creationId xmlns:a16="http://schemas.microsoft.com/office/drawing/2014/main" id="{3D2582B9-DE3A-42EA-E2DB-30C0943D333F}"/>
              </a:ext>
            </a:extLst>
          </p:cNvPr>
          <p:cNvSpPr/>
          <p:nvPr/>
        </p:nvSpPr>
        <p:spPr>
          <a:xfrm>
            <a:off x="7711010" y="3573580"/>
            <a:ext cx="2768706" cy="1258383"/>
          </a:xfrm>
          <a:prstGeom prst="rect">
            <a:avLst/>
          </a:prstGeom>
          <a:noFill/>
          <a:ln>
            <a:solidFill>
              <a:schemeClr val="tx1">
                <a:lumMod val="65000"/>
                <a:lumOff val="35000"/>
              </a:schemeClr>
            </a:solidFill>
            <a:prstDash val="sysDash"/>
          </a:ln>
          <a:effectLst/>
        </p:spPr>
        <p:style>
          <a:lnRef idx="1">
            <a:schemeClr val="dk1"/>
          </a:lnRef>
          <a:fillRef idx="2">
            <a:schemeClr val="dk1"/>
          </a:fillRef>
          <a:effectRef idx="1">
            <a:schemeClr val="dk1"/>
          </a:effectRef>
          <a:fontRef idx="minor">
            <a:schemeClr val="dk1"/>
          </a:fontRef>
        </p:style>
        <p:txBody>
          <a:bodyPr rtlCol="0" anchor="ctr"/>
          <a:lstStyle>
            <a:defPPr>
              <a:defRPr lang="en-US"/>
            </a:defPPr>
            <a:lvl1pPr marL="0" algn="l" defTabSz="913395" rtl="0" eaLnBrk="1" latinLnBrk="0" hangingPunct="1">
              <a:defRPr sz="1798" kern="1200">
                <a:solidFill>
                  <a:schemeClr val="dk1"/>
                </a:solidFill>
                <a:latin typeface="+mn-lt"/>
                <a:ea typeface="+mn-ea"/>
                <a:cs typeface="+mn-cs"/>
              </a:defRPr>
            </a:lvl1pPr>
            <a:lvl2pPr marL="456696" algn="l" defTabSz="913395" rtl="0" eaLnBrk="1" latinLnBrk="0" hangingPunct="1">
              <a:defRPr sz="1798" kern="1200">
                <a:solidFill>
                  <a:schemeClr val="dk1"/>
                </a:solidFill>
                <a:latin typeface="+mn-lt"/>
                <a:ea typeface="+mn-ea"/>
                <a:cs typeface="+mn-cs"/>
              </a:defRPr>
            </a:lvl2pPr>
            <a:lvl3pPr marL="913395" algn="l" defTabSz="913395" rtl="0" eaLnBrk="1" latinLnBrk="0" hangingPunct="1">
              <a:defRPr sz="1798" kern="1200">
                <a:solidFill>
                  <a:schemeClr val="dk1"/>
                </a:solidFill>
                <a:latin typeface="+mn-lt"/>
                <a:ea typeface="+mn-ea"/>
                <a:cs typeface="+mn-cs"/>
              </a:defRPr>
            </a:lvl3pPr>
            <a:lvl4pPr marL="1370091" algn="l" defTabSz="913395" rtl="0" eaLnBrk="1" latinLnBrk="0" hangingPunct="1">
              <a:defRPr sz="1798" kern="1200">
                <a:solidFill>
                  <a:schemeClr val="dk1"/>
                </a:solidFill>
                <a:latin typeface="+mn-lt"/>
                <a:ea typeface="+mn-ea"/>
                <a:cs typeface="+mn-cs"/>
              </a:defRPr>
            </a:lvl4pPr>
            <a:lvl5pPr marL="1826787" algn="l" defTabSz="913395" rtl="0" eaLnBrk="1" latinLnBrk="0" hangingPunct="1">
              <a:defRPr sz="1798" kern="1200">
                <a:solidFill>
                  <a:schemeClr val="dk1"/>
                </a:solidFill>
                <a:latin typeface="+mn-lt"/>
                <a:ea typeface="+mn-ea"/>
                <a:cs typeface="+mn-cs"/>
              </a:defRPr>
            </a:lvl5pPr>
            <a:lvl6pPr marL="2283486" algn="l" defTabSz="913395" rtl="0" eaLnBrk="1" latinLnBrk="0" hangingPunct="1">
              <a:defRPr sz="1798" kern="1200">
                <a:solidFill>
                  <a:schemeClr val="dk1"/>
                </a:solidFill>
                <a:latin typeface="+mn-lt"/>
                <a:ea typeface="+mn-ea"/>
                <a:cs typeface="+mn-cs"/>
              </a:defRPr>
            </a:lvl6pPr>
            <a:lvl7pPr marL="2740183" algn="l" defTabSz="913395" rtl="0" eaLnBrk="1" latinLnBrk="0" hangingPunct="1">
              <a:defRPr sz="1798" kern="1200">
                <a:solidFill>
                  <a:schemeClr val="dk1"/>
                </a:solidFill>
                <a:latin typeface="+mn-lt"/>
                <a:ea typeface="+mn-ea"/>
                <a:cs typeface="+mn-cs"/>
              </a:defRPr>
            </a:lvl7pPr>
            <a:lvl8pPr marL="3196881" algn="l" defTabSz="913395" rtl="0" eaLnBrk="1" latinLnBrk="0" hangingPunct="1">
              <a:defRPr sz="1798" kern="1200">
                <a:solidFill>
                  <a:schemeClr val="dk1"/>
                </a:solidFill>
                <a:latin typeface="+mn-lt"/>
                <a:ea typeface="+mn-ea"/>
                <a:cs typeface="+mn-cs"/>
              </a:defRPr>
            </a:lvl8pPr>
            <a:lvl9pPr marL="3653578" algn="l" defTabSz="913395" rtl="0" eaLnBrk="1" latinLnBrk="0" hangingPunct="1">
              <a:defRPr sz="1798" kern="1200">
                <a:solidFill>
                  <a:schemeClr val="dk1"/>
                </a:solidFill>
                <a:latin typeface="+mn-lt"/>
                <a:ea typeface="+mn-ea"/>
                <a:cs typeface="+mn-cs"/>
              </a:defRPr>
            </a:lvl9pP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5" name="Round Same Side Corner Rectangle 27">
            <a:extLst>
              <a:ext uri="{FF2B5EF4-FFF2-40B4-BE49-F238E27FC236}">
                <a16:creationId xmlns:a16="http://schemas.microsoft.com/office/drawing/2014/main" id="{3A42D2E6-4164-4333-F04A-82F4B0E87304}"/>
              </a:ext>
            </a:extLst>
          </p:cNvPr>
          <p:cNvSpPr/>
          <p:nvPr/>
        </p:nvSpPr>
        <p:spPr>
          <a:xfrm rot="16200000">
            <a:off x="6837173" y="3988339"/>
            <a:ext cx="1275312" cy="423223"/>
          </a:xfrm>
          <a:prstGeom prst="round2SameRect">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b"/>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r>
              <a:rPr lang="en-US" sz="1866" b="1"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ELB</a:t>
            </a:r>
          </a:p>
        </p:txBody>
      </p:sp>
      <p:pic>
        <p:nvPicPr>
          <p:cNvPr id="26" name="Picture 25">
            <a:extLst>
              <a:ext uri="{FF2B5EF4-FFF2-40B4-BE49-F238E27FC236}">
                <a16:creationId xmlns:a16="http://schemas.microsoft.com/office/drawing/2014/main" id="{20B5E6E6-940B-4720-FC44-96701DE2450E}"/>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8567202" y="1702132"/>
            <a:ext cx="975106" cy="975106"/>
          </a:xfrm>
          <a:prstGeom prst="rect">
            <a:avLst/>
          </a:prstGeom>
        </p:spPr>
      </p:pic>
      <p:sp>
        <p:nvSpPr>
          <p:cNvPr id="27" name="TextBox 33">
            <a:extLst>
              <a:ext uri="{FF2B5EF4-FFF2-40B4-BE49-F238E27FC236}">
                <a16:creationId xmlns:a16="http://schemas.microsoft.com/office/drawing/2014/main" id="{0D061E7C-6606-7764-7A30-30192190AA18}"/>
              </a:ext>
            </a:extLst>
          </p:cNvPr>
          <p:cNvSpPr txBox="1"/>
          <p:nvPr/>
        </p:nvSpPr>
        <p:spPr>
          <a:xfrm>
            <a:off x="6990530" y="1496528"/>
            <a:ext cx="4071386" cy="246157"/>
          </a:xfrm>
          <a:prstGeom prst="rect">
            <a:avLst/>
          </a:prstGeom>
          <a:noFill/>
        </p:spPr>
        <p:txBody>
          <a:bodyPr wrap="square" lIns="0" tIns="0" rIns="0" bIns="0"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http://</a:t>
            </a:r>
            <a:r>
              <a:rPr lang="en-US" sz="1600" b="1" dirty="0">
                <a:solidFill>
                  <a:schemeClr val="accent1"/>
                </a:solidFill>
                <a:latin typeface="Amazon Ember" panose="020B0603020204020204" pitchFamily="34" charset="0"/>
                <a:ea typeface="Amazon Ember" panose="020B0603020204020204" pitchFamily="34" charset="0"/>
                <a:cs typeface="Amazon Ember" panose="020B0603020204020204" pitchFamily="34" charset="0"/>
              </a:rPr>
              <a:t>[your app]</a:t>
            </a:r>
            <a:r>
              <a:rPr lang="en-US" sz="1600" b="1" dirty="0">
                <a:latin typeface="Amazon Ember" panose="020B0603020204020204" pitchFamily="34" charset="0"/>
                <a:ea typeface="Amazon Ember" panose="020B0603020204020204" pitchFamily="34" charset="0"/>
                <a:cs typeface="Amazon Ember" panose="020B0603020204020204" pitchFamily="34" charset="0"/>
              </a:rPr>
              <a:t>.elasticbeanstalk.com</a:t>
            </a:r>
          </a:p>
        </p:txBody>
      </p:sp>
      <p:cxnSp>
        <p:nvCxnSpPr>
          <p:cNvPr id="42" name="Straight Arrow Connector 33">
            <a:extLst>
              <a:ext uri="{FF2B5EF4-FFF2-40B4-BE49-F238E27FC236}">
                <a16:creationId xmlns:a16="http://schemas.microsoft.com/office/drawing/2014/main" id="{E7D98593-D7A1-26C3-C8B9-C6ABC632E001}"/>
              </a:ext>
            </a:extLst>
          </p:cNvPr>
          <p:cNvCxnSpPr>
            <a:stCxn id="26" idx="2"/>
          </p:cNvCxnSpPr>
          <p:nvPr/>
        </p:nvCxnSpPr>
        <p:spPr>
          <a:xfrm rot="16200000" flipH="1">
            <a:off x="8551884" y="3180108"/>
            <a:ext cx="1009201" cy="3462"/>
          </a:xfrm>
          <a:prstGeom prst="bentConnector3">
            <a:avLst>
              <a:gd name="adj1" fmla="val 50000"/>
            </a:avLst>
          </a:prstGeom>
          <a:ln w="38100">
            <a:solidFill>
              <a:srgbClr val="0070C0"/>
            </a:solidFill>
            <a:prstDash val="sysDash"/>
            <a:tailEnd type="arrow"/>
          </a:ln>
          <a:effectLst/>
        </p:spPr>
        <p:style>
          <a:lnRef idx="2">
            <a:schemeClr val="accent1"/>
          </a:lnRef>
          <a:fillRef idx="0">
            <a:schemeClr val="accent1"/>
          </a:fillRef>
          <a:effectRef idx="1">
            <a:schemeClr val="accent1"/>
          </a:effectRef>
          <a:fontRef idx="minor">
            <a:schemeClr val="tx1"/>
          </a:fontRef>
        </p:style>
      </p:cxnSp>
      <p:sp>
        <p:nvSpPr>
          <p:cNvPr id="43" name="Rounded Rectangle 35">
            <a:extLst>
              <a:ext uri="{FF2B5EF4-FFF2-40B4-BE49-F238E27FC236}">
                <a16:creationId xmlns:a16="http://schemas.microsoft.com/office/drawing/2014/main" id="{2867D4DA-7FAA-3CF2-D052-AC3E9C49C535}"/>
              </a:ext>
            </a:extLst>
          </p:cNvPr>
          <p:cNvSpPr/>
          <p:nvPr/>
        </p:nvSpPr>
        <p:spPr>
          <a:xfrm>
            <a:off x="7920277" y="5155153"/>
            <a:ext cx="2342181" cy="836441"/>
          </a:xfrm>
          <a:prstGeom prst="roundRect">
            <a:avLst>
              <a:gd name="adj" fmla="val 9818"/>
            </a:avLst>
          </a:prstGeom>
          <a:noFill/>
          <a:ln w="19050">
            <a:solidFill>
              <a:schemeClr val="tx1"/>
            </a:solidFill>
            <a:prstDash val="lgDashDot"/>
          </a:ln>
          <a:effectLst/>
        </p:spPr>
        <p:style>
          <a:lnRef idx="1">
            <a:schemeClr val="accent1"/>
          </a:lnRef>
          <a:fillRef idx="3">
            <a:schemeClr val="accent1"/>
          </a:fillRef>
          <a:effectRef idx="2">
            <a:schemeClr val="accent1"/>
          </a:effectRef>
          <a:fontRef idx="minor">
            <a:schemeClr val="lt1"/>
          </a:fontRef>
        </p:style>
        <p:txBody>
          <a:bodyPr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defRPr/>
            </a:pPr>
            <a:endParaRPr lang="en-US" sz="2399" dirty="0">
              <a:solidFill>
                <a:schemeClr val="tx1"/>
              </a:solidFill>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44" name="Straight Arrow Connector 71">
            <a:extLst>
              <a:ext uri="{FF2B5EF4-FFF2-40B4-BE49-F238E27FC236}">
                <a16:creationId xmlns:a16="http://schemas.microsoft.com/office/drawing/2014/main" id="{F5C29B08-622B-84F7-4CD2-A4573E5F1B1B}"/>
              </a:ext>
            </a:extLst>
          </p:cNvPr>
          <p:cNvCxnSpPr>
            <a:endCxn id="46" idx="0"/>
          </p:cNvCxnSpPr>
          <p:nvPr/>
        </p:nvCxnSpPr>
        <p:spPr>
          <a:xfrm rot="5400000">
            <a:off x="8334776" y="4523280"/>
            <a:ext cx="667439" cy="779444"/>
          </a:xfrm>
          <a:prstGeom prst="bentConnector3">
            <a:avLst>
              <a:gd name="adj1" fmla="val 50000"/>
            </a:avLst>
          </a:prstGeom>
          <a:ln w="38100">
            <a:solidFill>
              <a:srgbClr val="0070C0"/>
            </a:solidFill>
            <a:prstDash val="sysDash"/>
            <a:tailEnd type="arrow"/>
          </a:ln>
          <a:effectLst/>
        </p:spPr>
        <p:style>
          <a:lnRef idx="2">
            <a:schemeClr val="accent1"/>
          </a:lnRef>
          <a:fillRef idx="0">
            <a:schemeClr val="accent1"/>
          </a:fillRef>
          <a:effectRef idx="1">
            <a:schemeClr val="accent1"/>
          </a:effectRef>
          <a:fontRef idx="minor">
            <a:schemeClr val="tx1"/>
          </a:fontRef>
        </p:style>
      </p:cxnSp>
      <p:cxnSp>
        <p:nvCxnSpPr>
          <p:cNvPr id="45" name="Straight Arrow Connector 33">
            <a:extLst>
              <a:ext uri="{FF2B5EF4-FFF2-40B4-BE49-F238E27FC236}">
                <a16:creationId xmlns:a16="http://schemas.microsoft.com/office/drawing/2014/main" id="{86C8EFA6-52CB-86C6-782F-2601E41F42DA}"/>
              </a:ext>
            </a:extLst>
          </p:cNvPr>
          <p:cNvCxnSpPr/>
          <p:nvPr/>
        </p:nvCxnSpPr>
        <p:spPr>
          <a:xfrm rot="16200000" flipH="1">
            <a:off x="9147363" y="4503679"/>
            <a:ext cx="642046" cy="820339"/>
          </a:xfrm>
          <a:prstGeom prst="bentConnector3">
            <a:avLst>
              <a:gd name="adj1" fmla="val 50000"/>
            </a:avLst>
          </a:prstGeom>
          <a:ln w="38100">
            <a:solidFill>
              <a:srgbClr val="0070C0"/>
            </a:solidFill>
            <a:prstDash val="sysDash"/>
            <a:tailEnd type="arrow"/>
          </a:ln>
          <a:effectLst/>
        </p:spPr>
        <p:style>
          <a:lnRef idx="2">
            <a:schemeClr val="accent1"/>
          </a:lnRef>
          <a:fillRef idx="0">
            <a:schemeClr val="accent1"/>
          </a:fillRef>
          <a:effectRef idx="1">
            <a:schemeClr val="accent1"/>
          </a:effectRef>
          <a:fontRef idx="minor">
            <a:schemeClr val="tx1"/>
          </a:fontRef>
        </p:style>
      </p:cxnSp>
      <p:pic>
        <p:nvPicPr>
          <p:cNvPr id="46" name="Picture 45">
            <a:extLst>
              <a:ext uri="{FF2B5EF4-FFF2-40B4-BE49-F238E27FC236}">
                <a16:creationId xmlns:a16="http://schemas.microsoft.com/office/drawing/2014/main" id="{67BCAED3-C1FA-2F08-271B-EDD14C143DB3}"/>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7935116" y="5246721"/>
            <a:ext cx="687314" cy="687314"/>
          </a:xfrm>
          <a:prstGeom prst="rect">
            <a:avLst/>
          </a:prstGeom>
        </p:spPr>
      </p:pic>
      <p:pic>
        <p:nvPicPr>
          <p:cNvPr id="47" name="Picture 46">
            <a:extLst>
              <a:ext uri="{FF2B5EF4-FFF2-40B4-BE49-F238E27FC236}">
                <a16:creationId xmlns:a16="http://schemas.microsoft.com/office/drawing/2014/main" id="{D2F85F67-6AE8-68DD-8352-502A9E37C083}"/>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9534900" y="5221328"/>
            <a:ext cx="687314" cy="687314"/>
          </a:xfrm>
          <a:prstGeom prst="rect">
            <a:avLst/>
          </a:prstGeom>
        </p:spPr>
      </p:pic>
      <p:pic>
        <p:nvPicPr>
          <p:cNvPr id="48" name="Picture 47">
            <a:extLst>
              <a:ext uri="{FF2B5EF4-FFF2-40B4-BE49-F238E27FC236}">
                <a16:creationId xmlns:a16="http://schemas.microsoft.com/office/drawing/2014/main" id="{B2110844-9EC1-D3C6-7931-23DA2D3233E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749468" y="3734975"/>
            <a:ext cx="665272" cy="798325"/>
          </a:xfrm>
          <a:prstGeom prst="rect">
            <a:avLst/>
          </a:prstGeom>
        </p:spPr>
      </p:pic>
      <p:pic>
        <p:nvPicPr>
          <p:cNvPr id="49" name="Picture 48">
            <a:extLst>
              <a:ext uri="{FF2B5EF4-FFF2-40B4-BE49-F238E27FC236}">
                <a16:creationId xmlns:a16="http://schemas.microsoft.com/office/drawing/2014/main" id="{C0E88018-029C-9584-06F5-1E36E750620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880259" y="3446975"/>
            <a:ext cx="704037" cy="455048"/>
          </a:xfrm>
          <a:prstGeom prst="rect">
            <a:avLst/>
          </a:prstGeom>
        </p:spPr>
      </p:pic>
      <p:pic>
        <p:nvPicPr>
          <p:cNvPr id="50" name="Picture 49">
            <a:extLst>
              <a:ext uri="{FF2B5EF4-FFF2-40B4-BE49-F238E27FC236}">
                <a16:creationId xmlns:a16="http://schemas.microsoft.com/office/drawing/2014/main" id="{4469081E-ADA3-F65F-4491-FEA0FF33ACC7}"/>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964818" y="4558056"/>
            <a:ext cx="523325" cy="542708"/>
          </a:xfrm>
          <a:prstGeom prst="rect">
            <a:avLst/>
          </a:prstGeom>
        </p:spPr>
      </p:pic>
      <p:pic>
        <p:nvPicPr>
          <p:cNvPr id="51" name="Picture 50">
            <a:extLst>
              <a:ext uri="{FF2B5EF4-FFF2-40B4-BE49-F238E27FC236}">
                <a16:creationId xmlns:a16="http://schemas.microsoft.com/office/drawing/2014/main" id="{703C5B86-8A76-D437-6C8B-295C2A0F7078}"/>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968477" y="5632033"/>
            <a:ext cx="578297" cy="656446"/>
          </a:xfrm>
          <a:prstGeom prst="rect">
            <a:avLst/>
          </a:prstGeom>
        </p:spPr>
      </p:pic>
    </p:spTree>
    <p:extLst>
      <p:ext uri="{BB962C8B-B14F-4D97-AF65-F5344CB8AC3E}">
        <p14:creationId xmlns:p14="http://schemas.microsoft.com/office/powerpoint/2010/main" val="1854140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smtClean="0">
                <a:latin typeface="Proxima Nova"/>
                <a:ea typeface="Proxima Nova"/>
                <a:cs typeface="Proxima Nova"/>
                <a:sym typeface="Proxima Nova"/>
              </a:rPr>
              <a:t>34</a:t>
            </a:fld>
            <a:endParaRPr lang="en-IN"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Title 1">
            <a:extLst>
              <a:ext uri="{FF2B5EF4-FFF2-40B4-BE49-F238E27FC236}">
                <a16:creationId xmlns:a16="http://schemas.microsoft.com/office/drawing/2014/main" id="{8E6CC4F6-8480-1987-5EE2-61394C582BCC}"/>
              </a:ext>
            </a:extLst>
          </p:cNvPr>
          <p:cNvSpPr>
            <a:spLocks noGrp="1"/>
          </p:cNvSpPr>
          <p:nvPr/>
        </p:nvSpPr>
        <p:spPr>
          <a:xfrm>
            <a:off x="1550803" y="816548"/>
            <a:ext cx="9090394" cy="779463"/>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a:solidFill>
                  <a:schemeClr val="tx1"/>
                </a:solidFill>
              </a:rPr>
              <a:t>Choosing the Right Solution</a:t>
            </a:r>
            <a:endParaRPr lang="en-US" sz="3400" dirty="0">
              <a:solidFill>
                <a:schemeClr val="tx1"/>
              </a:solidFill>
            </a:endParaRPr>
          </a:p>
        </p:txBody>
      </p:sp>
      <p:grpSp>
        <p:nvGrpSpPr>
          <p:cNvPr id="10" name="Group 9">
            <a:extLst>
              <a:ext uri="{FF2B5EF4-FFF2-40B4-BE49-F238E27FC236}">
                <a16:creationId xmlns:a16="http://schemas.microsoft.com/office/drawing/2014/main" id="{37F63A15-E0D8-BE4B-A456-442B0EA5586C}"/>
              </a:ext>
            </a:extLst>
          </p:cNvPr>
          <p:cNvGrpSpPr/>
          <p:nvPr/>
        </p:nvGrpSpPr>
        <p:grpSpPr>
          <a:xfrm>
            <a:off x="655919" y="2119368"/>
            <a:ext cx="11037055" cy="4041090"/>
            <a:chOff x="493154" y="1685358"/>
            <a:chExt cx="11037055" cy="4041090"/>
          </a:xfrm>
        </p:grpSpPr>
        <p:grpSp>
          <p:nvGrpSpPr>
            <p:cNvPr id="11" name="Group 10">
              <a:extLst>
                <a:ext uri="{FF2B5EF4-FFF2-40B4-BE49-F238E27FC236}">
                  <a16:creationId xmlns:a16="http://schemas.microsoft.com/office/drawing/2014/main" id="{AC3F2C1E-835E-1A40-A1A9-C918DC612785}"/>
                </a:ext>
              </a:extLst>
            </p:cNvPr>
            <p:cNvGrpSpPr/>
            <p:nvPr/>
          </p:nvGrpSpPr>
          <p:grpSpPr>
            <a:xfrm>
              <a:off x="639539" y="4822963"/>
              <a:ext cx="10744285" cy="903485"/>
              <a:chOff x="711761" y="4822963"/>
              <a:chExt cx="10744285" cy="903485"/>
            </a:xfrm>
          </p:grpSpPr>
          <p:sp>
            <p:nvSpPr>
              <p:cNvPr id="44" name="Left-Right Arrow 15">
                <a:extLst>
                  <a:ext uri="{FF2B5EF4-FFF2-40B4-BE49-F238E27FC236}">
                    <a16:creationId xmlns:a16="http://schemas.microsoft.com/office/drawing/2014/main" id="{D580D6D2-51EE-2163-265D-CD9491D572D4}"/>
                  </a:ext>
                </a:extLst>
              </p:cNvPr>
              <p:cNvSpPr/>
              <p:nvPr/>
            </p:nvSpPr>
            <p:spPr>
              <a:xfrm>
                <a:off x="711761" y="4822963"/>
                <a:ext cx="10744285" cy="415648"/>
              </a:xfrm>
              <a:prstGeom prst="leftRightArrow">
                <a:avLst/>
              </a:prstGeom>
              <a:gradFill>
                <a:gsLst>
                  <a:gs pos="0">
                    <a:srgbClr val="0000FF"/>
                  </a:gs>
                  <a:gs pos="50000">
                    <a:srgbClr val="CCECFF">
                      <a:shade val="67500"/>
                      <a:satMod val="115000"/>
                    </a:srgbClr>
                  </a:gs>
                  <a:gs pos="100000">
                    <a:srgbClr val="CCECFF">
                      <a:shade val="100000"/>
                      <a:satMod val="115000"/>
                    </a:srgbClr>
                  </a:gs>
                </a:gsLst>
                <a:lin ang="10800000" scaled="1"/>
              </a:gradFill>
              <a:ln>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5" name="TextBox 16">
                <a:extLst>
                  <a:ext uri="{FF2B5EF4-FFF2-40B4-BE49-F238E27FC236}">
                    <a16:creationId xmlns:a16="http://schemas.microsoft.com/office/drawing/2014/main" id="{B34D6F82-FA22-2951-C8B9-6D99AC2107BE}"/>
                  </a:ext>
                </a:extLst>
              </p:cNvPr>
              <p:cNvSpPr txBox="1"/>
              <p:nvPr/>
            </p:nvSpPr>
            <p:spPr>
              <a:xfrm>
                <a:off x="9838047" y="5346891"/>
                <a:ext cx="1373306" cy="379557"/>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r"/>
                <a:r>
                  <a:rPr lang="en-US" sz="1866" b="1" dirty="0">
                    <a:solidFill>
                      <a:srgbClr val="0000FF"/>
                    </a:solidFill>
                    <a:latin typeface="Amazon Ember" panose="020B0603020204020204" pitchFamily="34" charset="0"/>
                    <a:ea typeface="Amazon Ember" panose="020B0603020204020204" pitchFamily="34" charset="0"/>
                    <a:cs typeface="Amazon Ember" panose="020B0603020204020204" pitchFamily="34" charset="0"/>
                  </a:rPr>
                  <a:t>Control</a:t>
                </a:r>
              </a:p>
            </p:txBody>
          </p:sp>
          <p:sp>
            <p:nvSpPr>
              <p:cNvPr id="46" name="TextBox 17">
                <a:extLst>
                  <a:ext uri="{FF2B5EF4-FFF2-40B4-BE49-F238E27FC236}">
                    <a16:creationId xmlns:a16="http://schemas.microsoft.com/office/drawing/2014/main" id="{F9B78224-37FC-40FA-A895-A3DB6D8F8C8A}"/>
                  </a:ext>
                </a:extLst>
              </p:cNvPr>
              <p:cNvSpPr txBox="1"/>
              <p:nvPr/>
            </p:nvSpPr>
            <p:spPr>
              <a:xfrm>
                <a:off x="871423" y="5334107"/>
                <a:ext cx="2262459" cy="379557"/>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r>
                  <a:rPr lang="en-US" sz="1866" b="1" dirty="0">
                    <a:solidFill>
                      <a:srgbClr val="4F81BD"/>
                    </a:solidFill>
                    <a:latin typeface="Amazon Ember" panose="020B0603020204020204" pitchFamily="34" charset="0"/>
                    <a:ea typeface="Amazon Ember" panose="020B0603020204020204" pitchFamily="34" charset="0"/>
                    <a:cs typeface="Amazon Ember" panose="020B0603020204020204" pitchFamily="34" charset="0"/>
                  </a:rPr>
                  <a:t>Convenience</a:t>
                </a:r>
              </a:p>
            </p:txBody>
          </p:sp>
        </p:grpSp>
        <p:grpSp>
          <p:nvGrpSpPr>
            <p:cNvPr id="12" name="Group 11">
              <a:extLst>
                <a:ext uri="{FF2B5EF4-FFF2-40B4-BE49-F238E27FC236}">
                  <a16:creationId xmlns:a16="http://schemas.microsoft.com/office/drawing/2014/main" id="{B359697D-6E49-FB47-A78D-410D4AAFF44C}"/>
                </a:ext>
              </a:extLst>
            </p:cNvPr>
            <p:cNvGrpSpPr/>
            <p:nvPr/>
          </p:nvGrpSpPr>
          <p:grpSpPr>
            <a:xfrm>
              <a:off x="493154" y="1685358"/>
              <a:ext cx="11037055" cy="2928335"/>
              <a:chOff x="493154" y="1685358"/>
              <a:chExt cx="11037055" cy="2928335"/>
            </a:xfrm>
          </p:grpSpPr>
          <p:grpSp>
            <p:nvGrpSpPr>
              <p:cNvPr id="22" name="Group 21">
                <a:extLst>
                  <a:ext uri="{FF2B5EF4-FFF2-40B4-BE49-F238E27FC236}">
                    <a16:creationId xmlns:a16="http://schemas.microsoft.com/office/drawing/2014/main" id="{1A2D52B8-2855-834F-875E-38ED3B82F09B}"/>
                  </a:ext>
                </a:extLst>
              </p:cNvPr>
              <p:cNvGrpSpPr/>
              <p:nvPr/>
            </p:nvGrpSpPr>
            <p:grpSpPr>
              <a:xfrm>
                <a:off x="6309483" y="1692122"/>
                <a:ext cx="5220726" cy="2921571"/>
                <a:chOff x="6309483" y="1692122"/>
                <a:chExt cx="5220726" cy="2921571"/>
              </a:xfrm>
            </p:grpSpPr>
            <p:grpSp>
              <p:nvGrpSpPr>
                <p:cNvPr id="34" name="Group 33">
                  <a:extLst>
                    <a:ext uri="{FF2B5EF4-FFF2-40B4-BE49-F238E27FC236}">
                      <a16:creationId xmlns:a16="http://schemas.microsoft.com/office/drawing/2014/main" id="{78206854-B8DA-2E42-9DD9-17E4C6A8D5D1}"/>
                    </a:ext>
                  </a:extLst>
                </p:cNvPr>
                <p:cNvGrpSpPr/>
                <p:nvPr/>
              </p:nvGrpSpPr>
              <p:grpSpPr>
                <a:xfrm>
                  <a:off x="6437404" y="3006273"/>
                  <a:ext cx="4740302" cy="1607420"/>
                  <a:chOff x="306697" y="3006273"/>
                  <a:chExt cx="4740302" cy="1607420"/>
                </a:xfrm>
              </p:grpSpPr>
              <p:grpSp>
                <p:nvGrpSpPr>
                  <p:cNvPr id="38" name="Group 37">
                    <a:extLst>
                      <a:ext uri="{FF2B5EF4-FFF2-40B4-BE49-F238E27FC236}">
                        <a16:creationId xmlns:a16="http://schemas.microsoft.com/office/drawing/2014/main" id="{04E26165-169F-063E-ADFA-3ACED59824A5}"/>
                      </a:ext>
                    </a:extLst>
                  </p:cNvPr>
                  <p:cNvGrpSpPr/>
                  <p:nvPr/>
                </p:nvGrpSpPr>
                <p:grpSpPr>
                  <a:xfrm>
                    <a:off x="306697" y="3006273"/>
                    <a:ext cx="2733252" cy="1600266"/>
                    <a:chOff x="4551478" y="1515538"/>
                    <a:chExt cx="2050473" cy="1200513"/>
                  </a:xfrm>
                </p:grpSpPr>
                <p:pic>
                  <p:nvPicPr>
                    <p:cNvPr id="42" name="Picture 41">
                      <a:extLst>
                        <a:ext uri="{FF2B5EF4-FFF2-40B4-BE49-F238E27FC236}">
                          <a16:creationId xmlns:a16="http://schemas.microsoft.com/office/drawing/2014/main" id="{12CDA32C-4457-CBC3-E64B-AA8F801DDF8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10954" y="1515538"/>
                      <a:ext cx="731520" cy="731520"/>
                    </a:xfrm>
                    <a:prstGeom prst="rect">
                      <a:avLst/>
                    </a:prstGeom>
                  </p:spPr>
                </p:pic>
                <p:sp>
                  <p:nvSpPr>
                    <p:cNvPr id="43" name="TextBox 30">
                      <a:extLst>
                        <a:ext uri="{FF2B5EF4-FFF2-40B4-BE49-F238E27FC236}">
                          <a16:creationId xmlns:a16="http://schemas.microsoft.com/office/drawing/2014/main" id="{308799F2-DA34-F2D8-E520-B269A8D8F23D}"/>
                        </a:ext>
                      </a:extLst>
                    </p:cNvPr>
                    <p:cNvSpPr txBox="1"/>
                    <p:nvPr/>
                  </p:nvSpPr>
                  <p:spPr>
                    <a:xfrm>
                      <a:off x="4551478" y="2277470"/>
                      <a:ext cx="2050473" cy="438581"/>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AWS</a:t>
                      </a:r>
                    </a:p>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CloudFormation</a:t>
                      </a:r>
                    </a:p>
                  </p:txBody>
                </p:sp>
              </p:grpSp>
              <p:grpSp>
                <p:nvGrpSpPr>
                  <p:cNvPr id="39" name="Group 38">
                    <a:extLst>
                      <a:ext uri="{FF2B5EF4-FFF2-40B4-BE49-F238E27FC236}">
                        <a16:creationId xmlns:a16="http://schemas.microsoft.com/office/drawing/2014/main" id="{C31275C8-726F-F07D-6506-1FD1FEBCAD55}"/>
                      </a:ext>
                    </a:extLst>
                  </p:cNvPr>
                  <p:cNvGrpSpPr/>
                  <p:nvPr/>
                </p:nvGrpSpPr>
                <p:grpSpPr>
                  <a:xfrm>
                    <a:off x="3101340" y="3047976"/>
                    <a:ext cx="1945659" cy="1565717"/>
                    <a:chOff x="6578802" y="1481906"/>
                    <a:chExt cx="1459624" cy="1174595"/>
                  </a:xfrm>
                </p:grpSpPr>
                <p:pic>
                  <p:nvPicPr>
                    <p:cNvPr id="40" name="Picture 39">
                      <a:extLst>
                        <a:ext uri="{FF2B5EF4-FFF2-40B4-BE49-F238E27FC236}">
                          <a16:creationId xmlns:a16="http://schemas.microsoft.com/office/drawing/2014/main" id="{FEC1577E-E502-83AF-DDB5-BCDEB7D7992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42854" y="1481906"/>
                      <a:ext cx="731520" cy="731520"/>
                    </a:xfrm>
                    <a:prstGeom prst="rect">
                      <a:avLst/>
                    </a:prstGeom>
                  </p:spPr>
                </p:pic>
                <p:sp>
                  <p:nvSpPr>
                    <p:cNvPr id="41" name="TextBox 10">
                      <a:extLst>
                        <a:ext uri="{FF2B5EF4-FFF2-40B4-BE49-F238E27FC236}">
                          <a16:creationId xmlns:a16="http://schemas.microsoft.com/office/drawing/2014/main" id="{9AA82EEA-77FF-A130-5FCC-7E6B26FFA4CF}"/>
                        </a:ext>
                      </a:extLst>
                    </p:cNvPr>
                    <p:cNvSpPr txBox="1"/>
                    <p:nvPr/>
                  </p:nvSpPr>
                  <p:spPr>
                    <a:xfrm>
                      <a:off x="6578802" y="2217920"/>
                      <a:ext cx="1459624" cy="438581"/>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Amazon</a:t>
                      </a:r>
                    </a:p>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EC2</a:t>
                      </a:r>
                    </a:p>
                  </p:txBody>
                </p:sp>
              </p:grpSp>
            </p:grpSp>
            <p:grpSp>
              <p:nvGrpSpPr>
                <p:cNvPr id="35" name="Group 34">
                  <a:extLst>
                    <a:ext uri="{FF2B5EF4-FFF2-40B4-BE49-F238E27FC236}">
                      <a16:creationId xmlns:a16="http://schemas.microsoft.com/office/drawing/2014/main" id="{BCA7EB22-5B31-624C-B15C-F3AB9953BB9F}"/>
                    </a:ext>
                  </a:extLst>
                </p:cNvPr>
                <p:cNvGrpSpPr/>
                <p:nvPr/>
              </p:nvGrpSpPr>
              <p:grpSpPr>
                <a:xfrm>
                  <a:off x="6309483" y="1692122"/>
                  <a:ext cx="5220726" cy="1075497"/>
                  <a:chOff x="6143456" y="1685356"/>
                  <a:chExt cx="5478052" cy="1075497"/>
                </a:xfrm>
              </p:grpSpPr>
              <p:sp>
                <p:nvSpPr>
                  <p:cNvPr id="36" name="Left-Right Arrow 20">
                    <a:extLst>
                      <a:ext uri="{FF2B5EF4-FFF2-40B4-BE49-F238E27FC236}">
                        <a16:creationId xmlns:a16="http://schemas.microsoft.com/office/drawing/2014/main" id="{FBD97438-64DC-3F32-AD0E-23DECEC1B907}"/>
                      </a:ext>
                    </a:extLst>
                  </p:cNvPr>
                  <p:cNvSpPr/>
                  <p:nvPr/>
                </p:nvSpPr>
                <p:spPr>
                  <a:xfrm>
                    <a:off x="6143456" y="1685356"/>
                    <a:ext cx="5478052" cy="1075497"/>
                  </a:xfrm>
                  <a:prstGeom prst="leftRightArrow">
                    <a:avLst/>
                  </a:prstGeom>
                  <a:solidFill>
                    <a:schemeClr val="accent4">
                      <a:lumMod val="20000"/>
                      <a:lumOff val="80000"/>
                    </a:schemeClr>
                  </a:solidFill>
                  <a:ln>
                    <a:solidFill>
                      <a:schemeClr val="accent2">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7" name="TextBox 22">
                    <a:extLst>
                      <a:ext uri="{FF2B5EF4-FFF2-40B4-BE49-F238E27FC236}">
                        <a16:creationId xmlns:a16="http://schemas.microsoft.com/office/drawing/2014/main" id="{F2CE56EC-BC38-6EAE-8196-E00986D9BB51}"/>
                      </a:ext>
                    </a:extLst>
                  </p:cNvPr>
                  <p:cNvSpPr txBox="1"/>
                  <p:nvPr/>
                </p:nvSpPr>
                <p:spPr>
                  <a:xfrm>
                    <a:off x="6826558" y="2027609"/>
                    <a:ext cx="4111848" cy="379557"/>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866" b="1" dirty="0">
                        <a:latin typeface="Amazon Ember" panose="020B0603020204020204" pitchFamily="34" charset="0"/>
                        <a:ea typeface="Amazon Ember" panose="020B0603020204020204" pitchFamily="34" charset="0"/>
                        <a:cs typeface="Amazon Ember" panose="020B0603020204020204" pitchFamily="34" charset="0"/>
                      </a:rPr>
                      <a:t>Do it yourself</a:t>
                    </a:r>
                  </a:p>
                </p:txBody>
              </p:sp>
            </p:grpSp>
          </p:grpSp>
          <p:grpSp>
            <p:nvGrpSpPr>
              <p:cNvPr id="23" name="Group 22">
                <a:extLst>
                  <a:ext uri="{FF2B5EF4-FFF2-40B4-BE49-F238E27FC236}">
                    <a16:creationId xmlns:a16="http://schemas.microsoft.com/office/drawing/2014/main" id="{73BBB3D2-0B7A-3E4F-B4E6-08332A1E25E8}"/>
                  </a:ext>
                </a:extLst>
              </p:cNvPr>
              <p:cNvGrpSpPr/>
              <p:nvPr/>
            </p:nvGrpSpPr>
            <p:grpSpPr>
              <a:xfrm>
                <a:off x="493154" y="1685358"/>
                <a:ext cx="5220725" cy="2927207"/>
                <a:chOff x="418991" y="1685358"/>
                <a:chExt cx="5220725" cy="2927207"/>
              </a:xfrm>
            </p:grpSpPr>
            <p:grpSp>
              <p:nvGrpSpPr>
                <p:cNvPr id="24" name="Group 23">
                  <a:extLst>
                    <a:ext uri="{FF2B5EF4-FFF2-40B4-BE49-F238E27FC236}">
                      <a16:creationId xmlns:a16="http://schemas.microsoft.com/office/drawing/2014/main" id="{E79EFECF-7C5E-8D40-AA2C-8C2B69F51B19}"/>
                    </a:ext>
                  </a:extLst>
                </p:cNvPr>
                <p:cNvGrpSpPr/>
                <p:nvPr/>
              </p:nvGrpSpPr>
              <p:grpSpPr>
                <a:xfrm>
                  <a:off x="418991" y="1685358"/>
                  <a:ext cx="5220725" cy="1075497"/>
                  <a:chOff x="418991" y="1685358"/>
                  <a:chExt cx="5220725" cy="1075497"/>
                </a:xfrm>
              </p:grpSpPr>
              <p:sp>
                <p:nvSpPr>
                  <p:cNvPr id="32" name="Left-Right Arrow 19">
                    <a:extLst>
                      <a:ext uri="{FF2B5EF4-FFF2-40B4-BE49-F238E27FC236}">
                        <a16:creationId xmlns:a16="http://schemas.microsoft.com/office/drawing/2014/main" id="{2608B420-2EE8-969A-D88F-24E09223B681}"/>
                      </a:ext>
                    </a:extLst>
                  </p:cNvPr>
                  <p:cNvSpPr/>
                  <p:nvPr/>
                </p:nvSpPr>
                <p:spPr>
                  <a:xfrm>
                    <a:off x="418991" y="1685358"/>
                    <a:ext cx="5220725" cy="1075497"/>
                  </a:xfrm>
                  <a:prstGeom prst="leftRightArrow">
                    <a:avLst/>
                  </a:prstGeom>
                  <a:solidFill>
                    <a:schemeClr val="accent5">
                      <a:lumMod val="20000"/>
                      <a:lumOff val="80000"/>
                    </a:schemeClr>
                  </a:solidFill>
                  <a:ln>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3395" rtl="0" eaLnBrk="1" latinLnBrk="0" hangingPunct="1">
                      <a:defRPr sz="1798" kern="1200">
                        <a:solidFill>
                          <a:schemeClr val="lt1"/>
                        </a:solidFill>
                        <a:latin typeface="+mn-lt"/>
                        <a:ea typeface="+mn-ea"/>
                        <a:cs typeface="+mn-cs"/>
                      </a:defRPr>
                    </a:lvl1pPr>
                    <a:lvl2pPr marL="456696" algn="l" defTabSz="913395" rtl="0" eaLnBrk="1" latinLnBrk="0" hangingPunct="1">
                      <a:defRPr sz="1798" kern="1200">
                        <a:solidFill>
                          <a:schemeClr val="lt1"/>
                        </a:solidFill>
                        <a:latin typeface="+mn-lt"/>
                        <a:ea typeface="+mn-ea"/>
                        <a:cs typeface="+mn-cs"/>
                      </a:defRPr>
                    </a:lvl2pPr>
                    <a:lvl3pPr marL="913395" algn="l" defTabSz="913395" rtl="0" eaLnBrk="1" latinLnBrk="0" hangingPunct="1">
                      <a:defRPr sz="1798" kern="1200">
                        <a:solidFill>
                          <a:schemeClr val="lt1"/>
                        </a:solidFill>
                        <a:latin typeface="+mn-lt"/>
                        <a:ea typeface="+mn-ea"/>
                        <a:cs typeface="+mn-cs"/>
                      </a:defRPr>
                    </a:lvl3pPr>
                    <a:lvl4pPr marL="1370091" algn="l" defTabSz="913395" rtl="0" eaLnBrk="1" latinLnBrk="0" hangingPunct="1">
                      <a:defRPr sz="1798" kern="1200">
                        <a:solidFill>
                          <a:schemeClr val="lt1"/>
                        </a:solidFill>
                        <a:latin typeface="+mn-lt"/>
                        <a:ea typeface="+mn-ea"/>
                        <a:cs typeface="+mn-cs"/>
                      </a:defRPr>
                    </a:lvl4pPr>
                    <a:lvl5pPr marL="1826787" algn="l" defTabSz="913395" rtl="0" eaLnBrk="1" latinLnBrk="0" hangingPunct="1">
                      <a:defRPr sz="1798" kern="1200">
                        <a:solidFill>
                          <a:schemeClr val="lt1"/>
                        </a:solidFill>
                        <a:latin typeface="+mn-lt"/>
                        <a:ea typeface="+mn-ea"/>
                        <a:cs typeface="+mn-cs"/>
                      </a:defRPr>
                    </a:lvl5pPr>
                    <a:lvl6pPr marL="2283486" algn="l" defTabSz="913395" rtl="0" eaLnBrk="1" latinLnBrk="0" hangingPunct="1">
                      <a:defRPr sz="1798" kern="1200">
                        <a:solidFill>
                          <a:schemeClr val="lt1"/>
                        </a:solidFill>
                        <a:latin typeface="+mn-lt"/>
                        <a:ea typeface="+mn-ea"/>
                        <a:cs typeface="+mn-cs"/>
                      </a:defRPr>
                    </a:lvl6pPr>
                    <a:lvl7pPr marL="2740183" algn="l" defTabSz="913395" rtl="0" eaLnBrk="1" latinLnBrk="0" hangingPunct="1">
                      <a:defRPr sz="1798" kern="1200">
                        <a:solidFill>
                          <a:schemeClr val="lt1"/>
                        </a:solidFill>
                        <a:latin typeface="+mn-lt"/>
                        <a:ea typeface="+mn-ea"/>
                        <a:cs typeface="+mn-cs"/>
                      </a:defRPr>
                    </a:lvl7pPr>
                    <a:lvl8pPr marL="3196881" algn="l" defTabSz="913395" rtl="0" eaLnBrk="1" latinLnBrk="0" hangingPunct="1">
                      <a:defRPr sz="1798" kern="1200">
                        <a:solidFill>
                          <a:schemeClr val="lt1"/>
                        </a:solidFill>
                        <a:latin typeface="+mn-lt"/>
                        <a:ea typeface="+mn-ea"/>
                        <a:cs typeface="+mn-cs"/>
                      </a:defRPr>
                    </a:lvl8pPr>
                    <a:lvl9pPr marL="3653578" algn="l" defTabSz="913395" rtl="0" eaLnBrk="1" latinLnBrk="0" hangingPunct="1">
                      <a:defRPr sz="1798" kern="1200">
                        <a:solidFill>
                          <a:schemeClr val="lt1"/>
                        </a:solidFill>
                        <a:latin typeface="+mn-lt"/>
                        <a:ea typeface="+mn-ea"/>
                        <a:cs typeface="+mn-cs"/>
                      </a:defRPr>
                    </a:lvl9pPr>
                  </a:lstStyle>
                  <a:p>
                    <a:pPr algn="ctr"/>
                    <a:endParaRPr lang="en-US" sz="2399"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3" name="TextBox 21">
                    <a:extLst>
                      <a:ext uri="{FF2B5EF4-FFF2-40B4-BE49-F238E27FC236}">
                        <a16:creationId xmlns:a16="http://schemas.microsoft.com/office/drawing/2014/main" id="{00517813-F794-C6EB-084B-B91FDE34F02B}"/>
                      </a:ext>
                    </a:extLst>
                  </p:cNvPr>
                  <p:cNvSpPr txBox="1"/>
                  <p:nvPr/>
                </p:nvSpPr>
                <p:spPr>
                  <a:xfrm>
                    <a:off x="973429" y="2034362"/>
                    <a:ext cx="4111848" cy="379557"/>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866" b="1" dirty="0">
                        <a:latin typeface="Amazon Ember" panose="020B0603020204020204" pitchFamily="34" charset="0"/>
                        <a:ea typeface="Amazon Ember" panose="020B0603020204020204" pitchFamily="34" charset="0"/>
                        <a:cs typeface="Amazon Ember" panose="020B0603020204020204" pitchFamily="34" charset="0"/>
                      </a:rPr>
                      <a:t>Higher-level services</a:t>
                    </a:r>
                  </a:p>
                </p:txBody>
              </p:sp>
            </p:grpSp>
            <p:grpSp>
              <p:nvGrpSpPr>
                <p:cNvPr id="25" name="Group 24">
                  <a:extLst>
                    <a:ext uri="{FF2B5EF4-FFF2-40B4-BE49-F238E27FC236}">
                      <a16:creationId xmlns:a16="http://schemas.microsoft.com/office/drawing/2014/main" id="{9B2641A7-34B8-CC46-909E-8F9A1A746EBE}"/>
                    </a:ext>
                  </a:extLst>
                </p:cNvPr>
                <p:cNvGrpSpPr/>
                <p:nvPr/>
              </p:nvGrpSpPr>
              <p:grpSpPr>
                <a:xfrm>
                  <a:off x="813698" y="3006275"/>
                  <a:ext cx="4431311" cy="1606290"/>
                  <a:chOff x="1025032" y="3009759"/>
                  <a:chExt cx="4431311" cy="1606290"/>
                </a:xfrm>
              </p:grpSpPr>
              <p:grpSp>
                <p:nvGrpSpPr>
                  <p:cNvPr id="26" name="Group 25">
                    <a:extLst>
                      <a:ext uri="{FF2B5EF4-FFF2-40B4-BE49-F238E27FC236}">
                        <a16:creationId xmlns:a16="http://schemas.microsoft.com/office/drawing/2014/main" id="{C8B4FB68-34ED-F689-C311-E71F772A86EF}"/>
                      </a:ext>
                    </a:extLst>
                  </p:cNvPr>
                  <p:cNvGrpSpPr/>
                  <p:nvPr/>
                </p:nvGrpSpPr>
                <p:grpSpPr>
                  <a:xfrm>
                    <a:off x="3430231" y="3026712"/>
                    <a:ext cx="2026112" cy="1578397"/>
                    <a:chOff x="1737832" y="1669188"/>
                    <a:chExt cx="1519980" cy="1184107"/>
                  </a:xfrm>
                </p:grpSpPr>
                <p:pic>
                  <p:nvPicPr>
                    <p:cNvPr id="30" name="Picture 29">
                      <a:extLst>
                        <a:ext uri="{FF2B5EF4-FFF2-40B4-BE49-F238E27FC236}">
                          <a16:creationId xmlns:a16="http://schemas.microsoft.com/office/drawing/2014/main" id="{DD3C4509-4661-4D24-946E-2320F0767E7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132062" y="1669188"/>
                      <a:ext cx="731520" cy="731520"/>
                    </a:xfrm>
                    <a:prstGeom prst="rect">
                      <a:avLst/>
                    </a:prstGeom>
                  </p:spPr>
                </p:pic>
                <p:sp>
                  <p:nvSpPr>
                    <p:cNvPr id="31" name="TextBox 24">
                      <a:extLst>
                        <a:ext uri="{FF2B5EF4-FFF2-40B4-BE49-F238E27FC236}">
                          <a16:creationId xmlns:a16="http://schemas.microsoft.com/office/drawing/2014/main" id="{89DFBBEF-962D-A4D3-CFA1-1FC11720843D}"/>
                        </a:ext>
                      </a:extLst>
                    </p:cNvPr>
                    <p:cNvSpPr txBox="1"/>
                    <p:nvPr/>
                  </p:nvSpPr>
                  <p:spPr>
                    <a:xfrm>
                      <a:off x="1737832" y="2414714"/>
                      <a:ext cx="1519980" cy="438581"/>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AWS </a:t>
                      </a:r>
                    </a:p>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OpsWorks</a:t>
                      </a:r>
                    </a:p>
                  </p:txBody>
                </p:sp>
              </p:grpSp>
              <p:grpSp>
                <p:nvGrpSpPr>
                  <p:cNvPr id="27" name="Group 26">
                    <a:extLst>
                      <a:ext uri="{FF2B5EF4-FFF2-40B4-BE49-F238E27FC236}">
                        <a16:creationId xmlns:a16="http://schemas.microsoft.com/office/drawing/2014/main" id="{EC9D8CB3-FD82-8147-AD83-3CD3BA3C0A28}"/>
                      </a:ext>
                    </a:extLst>
                  </p:cNvPr>
                  <p:cNvGrpSpPr/>
                  <p:nvPr/>
                </p:nvGrpSpPr>
                <p:grpSpPr>
                  <a:xfrm>
                    <a:off x="1025032" y="3009759"/>
                    <a:ext cx="1757845" cy="1606290"/>
                    <a:chOff x="1025032" y="3009759"/>
                    <a:chExt cx="1757845" cy="1606290"/>
                  </a:xfrm>
                </p:grpSpPr>
                <p:sp>
                  <p:nvSpPr>
                    <p:cNvPr id="28" name="TextBox 7">
                      <a:extLst>
                        <a:ext uri="{FF2B5EF4-FFF2-40B4-BE49-F238E27FC236}">
                          <a16:creationId xmlns:a16="http://schemas.microsoft.com/office/drawing/2014/main" id="{012AE7B8-9C04-DD78-EC83-6D14D28D8A3F}"/>
                        </a:ext>
                      </a:extLst>
                    </p:cNvPr>
                    <p:cNvSpPr txBox="1"/>
                    <p:nvPr/>
                  </p:nvSpPr>
                  <p:spPr>
                    <a:xfrm>
                      <a:off x="1025032" y="4031426"/>
                      <a:ext cx="1757845" cy="584623"/>
                    </a:xfrm>
                    <a:prstGeom prst="rect">
                      <a:avLst/>
                    </a:prstGeom>
                    <a:noFill/>
                  </p:spPr>
                  <p:txBody>
                    <a:bodyPr wrap="square" rtlCol="0">
                      <a:spAutoFit/>
                    </a:bodyPr>
                    <a:lstStyle>
                      <a:defPPr>
                        <a:defRPr lang="en-US"/>
                      </a:defPPr>
                      <a:lvl1pPr marL="0" algn="l" defTabSz="913395" rtl="0" eaLnBrk="1" latinLnBrk="0" hangingPunct="1">
                        <a:defRPr sz="1798" kern="1200">
                          <a:solidFill>
                            <a:schemeClr val="tx1"/>
                          </a:solidFill>
                          <a:latin typeface="+mn-lt"/>
                          <a:ea typeface="+mn-ea"/>
                          <a:cs typeface="+mn-cs"/>
                        </a:defRPr>
                      </a:lvl1pPr>
                      <a:lvl2pPr marL="456696" algn="l" defTabSz="913395" rtl="0" eaLnBrk="1" latinLnBrk="0" hangingPunct="1">
                        <a:defRPr sz="1798" kern="1200">
                          <a:solidFill>
                            <a:schemeClr val="tx1"/>
                          </a:solidFill>
                          <a:latin typeface="+mn-lt"/>
                          <a:ea typeface="+mn-ea"/>
                          <a:cs typeface="+mn-cs"/>
                        </a:defRPr>
                      </a:lvl2pPr>
                      <a:lvl3pPr marL="913395" algn="l" defTabSz="913395" rtl="0" eaLnBrk="1" latinLnBrk="0" hangingPunct="1">
                        <a:defRPr sz="1798" kern="1200">
                          <a:solidFill>
                            <a:schemeClr val="tx1"/>
                          </a:solidFill>
                          <a:latin typeface="+mn-lt"/>
                          <a:ea typeface="+mn-ea"/>
                          <a:cs typeface="+mn-cs"/>
                        </a:defRPr>
                      </a:lvl3pPr>
                      <a:lvl4pPr marL="1370091" algn="l" defTabSz="913395" rtl="0" eaLnBrk="1" latinLnBrk="0" hangingPunct="1">
                        <a:defRPr sz="1798" kern="1200">
                          <a:solidFill>
                            <a:schemeClr val="tx1"/>
                          </a:solidFill>
                          <a:latin typeface="+mn-lt"/>
                          <a:ea typeface="+mn-ea"/>
                          <a:cs typeface="+mn-cs"/>
                        </a:defRPr>
                      </a:lvl4pPr>
                      <a:lvl5pPr marL="1826787" algn="l" defTabSz="913395" rtl="0" eaLnBrk="1" latinLnBrk="0" hangingPunct="1">
                        <a:defRPr sz="1798" kern="1200">
                          <a:solidFill>
                            <a:schemeClr val="tx1"/>
                          </a:solidFill>
                          <a:latin typeface="+mn-lt"/>
                          <a:ea typeface="+mn-ea"/>
                          <a:cs typeface="+mn-cs"/>
                        </a:defRPr>
                      </a:lvl5pPr>
                      <a:lvl6pPr marL="2283486" algn="l" defTabSz="913395" rtl="0" eaLnBrk="1" latinLnBrk="0" hangingPunct="1">
                        <a:defRPr sz="1798" kern="1200">
                          <a:solidFill>
                            <a:schemeClr val="tx1"/>
                          </a:solidFill>
                          <a:latin typeface="+mn-lt"/>
                          <a:ea typeface="+mn-ea"/>
                          <a:cs typeface="+mn-cs"/>
                        </a:defRPr>
                      </a:lvl6pPr>
                      <a:lvl7pPr marL="2740183" algn="l" defTabSz="913395" rtl="0" eaLnBrk="1" latinLnBrk="0" hangingPunct="1">
                        <a:defRPr sz="1798" kern="1200">
                          <a:solidFill>
                            <a:schemeClr val="tx1"/>
                          </a:solidFill>
                          <a:latin typeface="+mn-lt"/>
                          <a:ea typeface="+mn-ea"/>
                          <a:cs typeface="+mn-cs"/>
                        </a:defRPr>
                      </a:lvl7pPr>
                      <a:lvl8pPr marL="3196881" algn="l" defTabSz="913395" rtl="0" eaLnBrk="1" latinLnBrk="0" hangingPunct="1">
                        <a:defRPr sz="1798" kern="1200">
                          <a:solidFill>
                            <a:schemeClr val="tx1"/>
                          </a:solidFill>
                          <a:latin typeface="+mn-lt"/>
                          <a:ea typeface="+mn-ea"/>
                          <a:cs typeface="+mn-cs"/>
                        </a:defRPr>
                      </a:lvl8pPr>
                      <a:lvl9pPr marL="3653578" algn="l" defTabSz="913395" rtl="0" eaLnBrk="1" latinLnBrk="0" hangingPunct="1">
                        <a:defRPr sz="1798" kern="1200">
                          <a:solidFill>
                            <a:schemeClr val="tx1"/>
                          </a:solidFill>
                          <a:latin typeface="+mn-lt"/>
                          <a:ea typeface="+mn-ea"/>
                          <a:cs typeface="+mn-cs"/>
                        </a:defRPr>
                      </a:lvl9pPr>
                    </a:lstStyle>
                    <a:p>
                      <a:pPr algn="ctr"/>
                      <a:r>
                        <a:rPr lang="en-US" sz="1600" b="1" dirty="0">
                          <a:latin typeface="Amazon Ember" panose="020B0603020204020204" pitchFamily="34" charset="0"/>
                          <a:ea typeface="Amazon Ember" panose="020B0603020204020204" pitchFamily="34" charset="0"/>
                          <a:cs typeface="Amazon Ember" panose="020B0603020204020204" pitchFamily="34" charset="0"/>
                        </a:rPr>
                        <a:t>AWS Elastic Beanstalk</a:t>
                      </a:r>
                    </a:p>
                  </p:txBody>
                </p:sp>
                <p:pic>
                  <p:nvPicPr>
                    <p:cNvPr id="29" name="Picture 28">
                      <a:extLst>
                        <a:ext uri="{FF2B5EF4-FFF2-40B4-BE49-F238E27FC236}">
                          <a16:creationId xmlns:a16="http://schemas.microsoft.com/office/drawing/2014/main" id="{C3F849BA-B8F2-178E-0F14-279574611AA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53550" y="3009759"/>
                      <a:ext cx="700808" cy="981129"/>
                    </a:xfrm>
                    <a:prstGeom prst="rect">
                      <a:avLst/>
                    </a:prstGeom>
                  </p:spPr>
                </p:pic>
              </p:grpSp>
            </p:grpSp>
          </p:grpSp>
        </p:grpSp>
      </p:grpSp>
    </p:spTree>
    <p:extLst>
      <p:ext uri="{BB962C8B-B14F-4D97-AF65-F5344CB8AC3E}">
        <p14:creationId xmlns:p14="http://schemas.microsoft.com/office/powerpoint/2010/main" val="40013969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11" name="Title 1">
            <a:extLst>
              <a:ext uri="{FF2B5EF4-FFF2-40B4-BE49-F238E27FC236}">
                <a16:creationId xmlns:a16="http://schemas.microsoft.com/office/drawing/2014/main" id="{28E226FA-54C5-1D40-ABF6-07507974E16C}"/>
              </a:ext>
            </a:extLst>
          </p:cNvPr>
          <p:cNvSpPr>
            <a:spLocks noGrp="1"/>
          </p:cNvSpPr>
          <p:nvPr/>
        </p:nvSpPr>
        <p:spPr>
          <a:xfrm>
            <a:off x="1341005" y="3001646"/>
            <a:ext cx="9090394" cy="1452367"/>
          </a:xfrm>
          <a:prstGeom prst="rect">
            <a:avLst/>
          </a:prstGeom>
        </p:spPr>
        <p:txBody>
          <a:bodyPr vert="horz" lIns="91440" tIns="45720" rIns="91440" bIns="45720" rtlCol="0" anchor="ctr">
            <a:norm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400" dirty="0">
                <a:solidFill>
                  <a:schemeClr val="tx1"/>
                </a:solidFill>
                <a:latin typeface="Amazon Ember Light"/>
              </a:rPr>
              <a:t>Lab: Automating Infrastructure Deployment With AWS CloudFormation</a:t>
            </a:r>
          </a:p>
        </p:txBody>
      </p:sp>
    </p:spTree>
    <p:extLst>
      <p:ext uri="{BB962C8B-B14F-4D97-AF65-F5344CB8AC3E}">
        <p14:creationId xmlns:p14="http://schemas.microsoft.com/office/powerpoint/2010/main" val="36442774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4">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5"/>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6"/>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7"/>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6">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7">
            <a:alphaModFix amt="27000"/>
          </a:blip>
          <a:stretch>
            <a:fillRect/>
          </a:stretch>
        </p:blipFill>
        <p:spPr>
          <a:xfrm rot="10800000">
            <a:off x="8803" y="6369939"/>
            <a:ext cx="370439" cy="468604"/>
          </a:xfrm>
          <a:prstGeom prst="rect">
            <a:avLst/>
          </a:prstGeom>
        </p:spPr>
      </p:pic>
      <p:sp>
        <p:nvSpPr>
          <p:cNvPr id="28" name="Title 1">
            <a:extLst>
              <a:ext uri="{FF2B5EF4-FFF2-40B4-BE49-F238E27FC236}">
                <a16:creationId xmlns:a16="http://schemas.microsoft.com/office/drawing/2014/main" id="{63854F9A-3CA7-024A-B0C0-CAB7D80CAC21}"/>
              </a:ext>
            </a:extLst>
          </p:cNvPr>
          <p:cNvSpPr>
            <a:spLocks noGrp="1"/>
          </p:cNvSpPr>
          <p:nvPr/>
        </p:nvSpPr>
        <p:spPr>
          <a:xfrm>
            <a:off x="1550803" y="1161642"/>
            <a:ext cx="9090394" cy="779463"/>
          </a:xfrm>
          <a:prstGeom prst="rect">
            <a:avLst/>
          </a:prstGeom>
        </p:spPr>
        <p:txBody>
          <a:bodyPr vert="horz" lIns="91440" tIns="45720" rIns="91440" bIns="45720" rtlCol="0" anchor="ctr">
            <a:no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200" dirty="0">
                <a:solidFill>
                  <a:schemeClr val="tx1"/>
                </a:solidFill>
              </a:rPr>
              <a:t>Lab 5: Automating Infrastructure Deployment</a:t>
            </a:r>
          </a:p>
        </p:txBody>
      </p:sp>
      <p:sp>
        <p:nvSpPr>
          <p:cNvPr id="29" name="Content Placeholder 2">
            <a:extLst>
              <a:ext uri="{FF2B5EF4-FFF2-40B4-BE49-F238E27FC236}">
                <a16:creationId xmlns:a16="http://schemas.microsoft.com/office/drawing/2014/main" id="{2794A971-3097-944D-BD3D-437B87B74C96}"/>
              </a:ext>
            </a:extLst>
          </p:cNvPr>
          <p:cNvSpPr>
            <a:spLocks noGrp="1"/>
          </p:cNvSpPr>
          <p:nvPr/>
        </p:nvSpPr>
        <p:spPr>
          <a:xfrm>
            <a:off x="386834" y="1627627"/>
            <a:ext cx="11418333" cy="4779520"/>
          </a:xfrm>
          <a:prstGeom prst="rect">
            <a:avLst/>
          </a:prstGeom>
        </p:spPr>
        <p:txBody>
          <a:bodyPr vert="horz" lIns="91440" tIns="45720" rIns="91440" bIns="45720" rtlCol="0" anchor="t">
            <a:normAutofit/>
          </a:bodyPr>
          <a:lstStyle>
            <a:lvl1pPr marL="228562" indent="-319990" algn="l" defTabSz="914199" rtl="0" eaLnBrk="1" latinLnBrk="0" hangingPunct="1">
              <a:lnSpc>
                <a:spcPct val="90000"/>
              </a:lnSpc>
              <a:spcBef>
                <a:spcPts val="1000"/>
              </a:spcBef>
              <a:buClr>
                <a:srgbClr val="FF9900"/>
              </a:buClr>
              <a:buFont typeface="Arial" panose="020B0604020202020204" pitchFamily="34" charset="0"/>
              <a:buChar char="•"/>
              <a:defRPr sz="2799" b="0" i="0" kern="1200">
                <a:solidFill>
                  <a:schemeClr val="tx1"/>
                </a:solidFill>
                <a:latin typeface="Amazon Ember Light" charset="0"/>
                <a:ea typeface="Amazon Ember Light" charset="0"/>
                <a:cs typeface="Amazon Ember Light" charset="0"/>
              </a:defRPr>
            </a:lvl1pPr>
            <a:lvl2pPr marL="685690" indent="-319990" algn="l" defTabSz="914199" rtl="0" eaLnBrk="1" latinLnBrk="0" hangingPunct="1">
              <a:lnSpc>
                <a:spcPct val="90000"/>
              </a:lnSpc>
              <a:spcBef>
                <a:spcPts val="500"/>
              </a:spcBef>
              <a:buClr>
                <a:srgbClr val="FF9900"/>
              </a:buClr>
              <a:buFont typeface="Arial" panose="020B0604020202020204" pitchFamily="34" charset="0"/>
              <a:buChar char="•"/>
              <a:defRPr sz="2399" b="0" i="0" kern="1200">
                <a:solidFill>
                  <a:schemeClr val="tx1"/>
                </a:solidFill>
                <a:latin typeface="Amazon Ember Light" charset="0"/>
                <a:ea typeface="Amazon Ember Light" charset="0"/>
                <a:cs typeface="Amazon Ember Light" charset="0"/>
              </a:defRPr>
            </a:lvl2pPr>
            <a:lvl3pPr marL="1142817" indent="-319990" algn="l" defTabSz="914199" rtl="0" eaLnBrk="1" latinLnBrk="0" hangingPunct="1">
              <a:lnSpc>
                <a:spcPct val="90000"/>
              </a:lnSpc>
              <a:spcBef>
                <a:spcPts val="500"/>
              </a:spcBef>
              <a:buClr>
                <a:srgbClr val="FF9900"/>
              </a:buClr>
              <a:buFont typeface="Arial" panose="020B0604020202020204" pitchFamily="34" charset="0"/>
              <a:buChar char="•"/>
              <a:defRPr sz="1999" b="0" i="0" kern="1200">
                <a:solidFill>
                  <a:schemeClr val="tx1"/>
                </a:solidFill>
                <a:latin typeface="Amazon Ember Light" charset="0"/>
                <a:ea typeface="Amazon Ember Light" charset="0"/>
                <a:cs typeface="Amazon Ember Light" charset="0"/>
              </a:defRPr>
            </a:lvl3pPr>
            <a:lvl4pPr marL="1599944" indent="-228562" algn="l" defTabSz="914199" rtl="0" eaLnBrk="1" latinLnBrk="0" hangingPunct="1">
              <a:lnSpc>
                <a:spcPct val="90000"/>
              </a:lnSpc>
              <a:spcBef>
                <a:spcPts val="500"/>
              </a:spcBef>
              <a:buFontTx/>
              <a:buBlip>
                <a:blip r:embed="rId8"/>
              </a:buBlip>
              <a:defRPr sz="1799" b="0" i="0" kern="1200">
                <a:solidFill>
                  <a:schemeClr val="tx1"/>
                </a:solidFill>
                <a:latin typeface="Amazon Ember Light" charset="0"/>
                <a:ea typeface="Amazon Ember Light" charset="0"/>
                <a:cs typeface="Amazon Ember Light" charset="0"/>
              </a:defRPr>
            </a:lvl4pPr>
            <a:lvl5pPr marL="2057072" indent="-228562" algn="l" defTabSz="914199" rtl="0" eaLnBrk="1" latinLnBrk="0" hangingPunct="1">
              <a:lnSpc>
                <a:spcPct val="90000"/>
              </a:lnSpc>
              <a:spcBef>
                <a:spcPts val="500"/>
              </a:spcBef>
              <a:buFontTx/>
              <a:buBlip>
                <a:blip r:embed="rId8"/>
              </a:buBlip>
              <a:defRPr sz="1799" b="0" i="0" kern="1200">
                <a:solidFill>
                  <a:schemeClr val="tx1"/>
                </a:solidFill>
                <a:latin typeface="Amazon Ember Light" charset="0"/>
                <a:ea typeface="Amazon Ember Light" charset="0"/>
                <a:cs typeface="Amazon Ember Light" charset="0"/>
              </a:defRPr>
            </a:lvl5pPr>
            <a:lvl6pPr marL="2514047"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1146"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82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3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ctr">
              <a:lnSpc>
                <a:spcPct val="100000"/>
              </a:lnSpc>
              <a:buNone/>
            </a:pPr>
            <a:endParaRPr lang="en-US" i="1" dirty="0"/>
          </a:p>
          <a:p>
            <a:pPr marL="0" indent="0" algn="ctr">
              <a:lnSpc>
                <a:spcPct val="100000"/>
              </a:lnSpc>
              <a:buNone/>
            </a:pPr>
            <a:r>
              <a:rPr lang="en-US" sz="2750" dirty="0">
                <a:solidFill>
                  <a:srgbClr val="F68536"/>
                </a:solidFill>
                <a:latin typeface="Amazon Ember Light"/>
              </a:rPr>
              <a:t>”I want to deploy infrastructure in a consistent, repeatable manner.”</a:t>
            </a:r>
            <a:endParaRPr lang="en-US" sz="2750">
              <a:solidFill>
                <a:srgbClr val="F68536"/>
              </a:solidFill>
              <a:latin typeface="Amazon Ember Light"/>
            </a:endParaRPr>
          </a:p>
          <a:p>
            <a:pPr marL="0" indent="0" algn="ctr">
              <a:lnSpc>
                <a:spcPct val="100000"/>
              </a:lnSpc>
              <a:buNone/>
            </a:pPr>
            <a:endParaRPr lang="en-US" i="1" dirty="0"/>
          </a:p>
          <a:p>
            <a:pPr marL="0" indent="0">
              <a:lnSpc>
                <a:spcPct val="100000"/>
              </a:lnSpc>
              <a:buNone/>
            </a:pPr>
            <a:r>
              <a:rPr lang="en-US" sz="2750" b="1" dirty="0">
                <a:latin typeface="Amazon Ember Light"/>
              </a:rPr>
              <a:t>Technologies used</a:t>
            </a:r>
          </a:p>
          <a:p>
            <a:pPr marL="457200" indent="-457200">
              <a:lnSpc>
                <a:spcPct val="100000"/>
              </a:lnSpc>
            </a:pPr>
            <a:r>
              <a:rPr lang="en-US" dirty="0"/>
              <a:t>AWS CloudFormation</a:t>
            </a:r>
          </a:p>
        </p:txBody>
      </p:sp>
    </p:spTree>
    <p:extLst>
      <p:ext uri="{BB962C8B-B14F-4D97-AF65-F5344CB8AC3E}">
        <p14:creationId xmlns:p14="http://schemas.microsoft.com/office/powerpoint/2010/main" val="3799044881"/>
      </p:ext>
    </p:extLst>
  </p:cSld>
  <p:clrMapOvr>
    <a:masterClrMapping/>
  </p:clrMapOvr>
  <p:extLst>
    <p:ext uri="{6950BFC3-D8DA-4A85-94F7-54DA5524770B}">
      <p188:commentRel xmlns:p188="http://schemas.microsoft.com/office/powerpoint/2018/8/main" r:id="rId3"/>
    </p:ext>
  </p:extLs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7A2FFAB5-A837-B08E-22D5-D9FA862A104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smtClean="0">
                <a:latin typeface="Proxima Nova"/>
                <a:ea typeface="Proxima Nova"/>
                <a:cs typeface="Proxima Nova"/>
                <a:sym typeface="Proxima Nova"/>
              </a:rPr>
              <a:t>37</a:t>
            </a:fld>
            <a:endParaRPr lang="en-IN"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EA8F3DC-D7BB-51CF-3D2A-9FBA61EA9597}"/>
              </a:ext>
            </a:extLst>
          </p:cNvPr>
          <p:cNvPicPr preferRelativeResize="0"/>
          <p:nvPr/>
        </p:nvPicPr>
        <p:blipFill>
          <a:blip r:embed="rId4">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943B35CB-A5FF-FAE7-D660-EF5CA5BF4D1B}"/>
              </a:ext>
            </a:extLst>
          </p:cNvPr>
          <p:cNvPicPr>
            <a:picLocks noChangeAspect="1"/>
          </p:cNvPicPr>
          <p:nvPr/>
        </p:nvPicPr>
        <p:blipFill>
          <a:blip r:embed="rId5"/>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E906045-6F94-E57D-3F82-95B57EFA016E}"/>
              </a:ext>
            </a:extLst>
          </p:cNvPr>
          <p:cNvPicPr>
            <a:picLocks noChangeAspect="1"/>
          </p:cNvPicPr>
          <p:nvPr/>
        </p:nvPicPr>
        <p:blipFill>
          <a:blip r:embed="rId6"/>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A51130-91C8-0D4D-B666-4EFB408673DE}"/>
              </a:ext>
            </a:extLst>
          </p:cNvPr>
          <p:cNvPicPr>
            <a:picLocks noChangeAspect="1"/>
          </p:cNvPicPr>
          <p:nvPr/>
        </p:nvPicPr>
        <p:blipFill>
          <a:blip r:embed="rId7"/>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4441A4B-4DD9-6F80-BA99-3F2DD42865F3}"/>
              </a:ext>
            </a:extLst>
          </p:cNvPr>
          <p:cNvPicPr>
            <a:picLocks noChangeAspect="1"/>
          </p:cNvPicPr>
          <p:nvPr/>
        </p:nvPicPr>
        <p:blipFill>
          <a:blip r:embed="rId6">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16881E7-E998-ACE7-D2FF-3C3861068AEB}"/>
              </a:ext>
            </a:extLst>
          </p:cNvPr>
          <p:cNvPicPr>
            <a:picLocks noChangeAspect="1"/>
          </p:cNvPicPr>
          <p:nvPr/>
        </p:nvPicPr>
        <p:blipFill>
          <a:blip r:embed="rId7">
            <a:alphaModFix amt="27000"/>
          </a:blip>
          <a:stretch>
            <a:fillRect/>
          </a:stretch>
        </p:blipFill>
        <p:spPr>
          <a:xfrm rot="10800000">
            <a:off x="8803" y="6369939"/>
            <a:ext cx="370439" cy="468604"/>
          </a:xfrm>
          <a:prstGeom prst="rect">
            <a:avLst/>
          </a:prstGeom>
        </p:spPr>
      </p:pic>
      <p:sp>
        <p:nvSpPr>
          <p:cNvPr id="13" name="Title 1">
            <a:extLst>
              <a:ext uri="{FF2B5EF4-FFF2-40B4-BE49-F238E27FC236}">
                <a16:creationId xmlns:a16="http://schemas.microsoft.com/office/drawing/2014/main" id="{63854F9A-3CA7-024A-B0C0-CAB7D80CAC21}"/>
              </a:ext>
            </a:extLst>
          </p:cNvPr>
          <p:cNvSpPr>
            <a:spLocks noGrp="1"/>
          </p:cNvSpPr>
          <p:nvPr/>
        </p:nvSpPr>
        <p:spPr>
          <a:xfrm>
            <a:off x="1083624" y="880473"/>
            <a:ext cx="9090394" cy="779463"/>
          </a:xfrm>
          <a:prstGeom prst="rect">
            <a:avLst/>
          </a:prstGeom>
        </p:spPr>
        <p:txBody>
          <a:bodyPr vert="horz" lIns="91440" tIns="45720" rIns="91440" bIns="45720" rtlCol="0" anchor="ctr">
            <a:noAutofit/>
          </a:bodyPr>
          <a:lstStyle>
            <a:lvl1pPr algn="l" defTabSz="914199" rtl="0" eaLnBrk="1" latinLnBrk="0" hangingPunct="1">
              <a:lnSpc>
                <a:spcPct val="90000"/>
              </a:lnSpc>
              <a:spcBef>
                <a:spcPct val="0"/>
              </a:spcBef>
              <a:buNone/>
              <a:defRPr sz="4400" b="0" i="0" kern="1200">
                <a:solidFill>
                  <a:schemeClr val="bg1"/>
                </a:solidFill>
                <a:latin typeface="Amazon Ember Light" charset="0"/>
                <a:ea typeface="Amazon Ember Light" charset="0"/>
                <a:cs typeface="Amazon Ember Light" charset="0"/>
              </a:defRPr>
            </a:lvl1pPr>
          </a:lstStyle>
          <a:p>
            <a:pPr algn="ctr"/>
            <a:r>
              <a:rPr lang="en-US" sz="3200" dirty="0">
                <a:solidFill>
                  <a:schemeClr val="tx1"/>
                </a:solidFill>
              </a:rPr>
              <a:t>Lab 5: Automating Infrastructure Deployment</a:t>
            </a:r>
          </a:p>
        </p:txBody>
      </p:sp>
      <p:sp>
        <p:nvSpPr>
          <p:cNvPr id="14" name="Content Placeholder 2">
            <a:extLst>
              <a:ext uri="{FF2B5EF4-FFF2-40B4-BE49-F238E27FC236}">
                <a16:creationId xmlns:a16="http://schemas.microsoft.com/office/drawing/2014/main" id="{CC70F254-99EF-B240-A5D0-1DFF448CE5CE}"/>
              </a:ext>
            </a:extLst>
          </p:cNvPr>
          <p:cNvSpPr>
            <a:spLocks noGrp="1"/>
          </p:cNvSpPr>
          <p:nvPr/>
        </p:nvSpPr>
        <p:spPr>
          <a:xfrm>
            <a:off x="519837" y="1627627"/>
            <a:ext cx="11152325" cy="4779520"/>
          </a:xfrm>
          <a:prstGeom prst="rect">
            <a:avLst/>
          </a:prstGeom>
        </p:spPr>
        <p:txBody>
          <a:bodyPr vert="horz" lIns="91440" tIns="45720" rIns="91440" bIns="45720" rtlCol="0">
            <a:normAutofit/>
          </a:bodyPr>
          <a:lstStyle>
            <a:lvl1pPr marL="228562" indent="-319990" algn="l" defTabSz="914199" rtl="0" eaLnBrk="1" latinLnBrk="0" hangingPunct="1">
              <a:lnSpc>
                <a:spcPct val="90000"/>
              </a:lnSpc>
              <a:spcBef>
                <a:spcPts val="1000"/>
              </a:spcBef>
              <a:buClr>
                <a:srgbClr val="FF9900"/>
              </a:buClr>
              <a:buFont typeface="Arial" panose="020B0604020202020204" pitchFamily="34" charset="0"/>
              <a:buChar char="•"/>
              <a:defRPr sz="2799" b="0" i="0" kern="1200">
                <a:solidFill>
                  <a:schemeClr val="tx1"/>
                </a:solidFill>
                <a:latin typeface="Amazon Ember Light" charset="0"/>
                <a:ea typeface="Amazon Ember Light" charset="0"/>
                <a:cs typeface="Amazon Ember Light" charset="0"/>
              </a:defRPr>
            </a:lvl1pPr>
            <a:lvl2pPr marL="685690" indent="-319990" algn="l" defTabSz="914199" rtl="0" eaLnBrk="1" latinLnBrk="0" hangingPunct="1">
              <a:lnSpc>
                <a:spcPct val="90000"/>
              </a:lnSpc>
              <a:spcBef>
                <a:spcPts val="500"/>
              </a:spcBef>
              <a:buClr>
                <a:srgbClr val="FF9900"/>
              </a:buClr>
              <a:buFont typeface="Arial" panose="020B0604020202020204" pitchFamily="34" charset="0"/>
              <a:buChar char="•"/>
              <a:defRPr sz="2399" b="0" i="0" kern="1200">
                <a:solidFill>
                  <a:schemeClr val="tx1"/>
                </a:solidFill>
                <a:latin typeface="Amazon Ember Light" charset="0"/>
                <a:ea typeface="Amazon Ember Light" charset="0"/>
                <a:cs typeface="Amazon Ember Light" charset="0"/>
              </a:defRPr>
            </a:lvl2pPr>
            <a:lvl3pPr marL="1142817" indent="-319990" algn="l" defTabSz="914199" rtl="0" eaLnBrk="1" latinLnBrk="0" hangingPunct="1">
              <a:lnSpc>
                <a:spcPct val="90000"/>
              </a:lnSpc>
              <a:spcBef>
                <a:spcPts val="500"/>
              </a:spcBef>
              <a:buClr>
                <a:srgbClr val="FF9900"/>
              </a:buClr>
              <a:buFont typeface="Arial" panose="020B0604020202020204" pitchFamily="34" charset="0"/>
              <a:buChar char="•"/>
              <a:defRPr sz="1999" b="0" i="0" kern="1200">
                <a:solidFill>
                  <a:schemeClr val="tx1"/>
                </a:solidFill>
                <a:latin typeface="Amazon Ember Light" charset="0"/>
                <a:ea typeface="Amazon Ember Light" charset="0"/>
                <a:cs typeface="Amazon Ember Light" charset="0"/>
              </a:defRPr>
            </a:lvl3pPr>
            <a:lvl4pPr marL="1599944" indent="-228562" algn="l" defTabSz="914199" rtl="0" eaLnBrk="1" latinLnBrk="0" hangingPunct="1">
              <a:lnSpc>
                <a:spcPct val="90000"/>
              </a:lnSpc>
              <a:spcBef>
                <a:spcPts val="500"/>
              </a:spcBef>
              <a:buFontTx/>
              <a:buBlip>
                <a:blip r:embed="rId8"/>
              </a:buBlip>
              <a:defRPr sz="1799" b="0" i="0" kern="1200">
                <a:solidFill>
                  <a:schemeClr val="tx1"/>
                </a:solidFill>
                <a:latin typeface="Amazon Ember Light" charset="0"/>
                <a:ea typeface="Amazon Ember Light" charset="0"/>
                <a:cs typeface="Amazon Ember Light" charset="0"/>
              </a:defRPr>
            </a:lvl4pPr>
            <a:lvl5pPr marL="2057072" indent="-228562" algn="l" defTabSz="914199" rtl="0" eaLnBrk="1" latinLnBrk="0" hangingPunct="1">
              <a:lnSpc>
                <a:spcPct val="90000"/>
              </a:lnSpc>
              <a:spcBef>
                <a:spcPts val="500"/>
              </a:spcBef>
              <a:buFontTx/>
              <a:buBlip>
                <a:blip r:embed="rId8"/>
              </a:buBlip>
              <a:defRPr sz="1799" b="0" i="0" kern="1200">
                <a:solidFill>
                  <a:schemeClr val="tx1"/>
                </a:solidFill>
                <a:latin typeface="Amazon Ember Light" charset="0"/>
                <a:ea typeface="Amazon Ember Light" charset="0"/>
                <a:cs typeface="Amazon Ember Light" charset="0"/>
              </a:defRPr>
            </a:lvl5pPr>
            <a:lvl6pPr marL="2514047"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1146"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82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345" indent="-228549" algn="l" defTabSz="914199"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nSpc>
                <a:spcPct val="100000"/>
              </a:lnSpc>
              <a:buNone/>
            </a:pPr>
            <a:r>
              <a:rPr lang="en-US" dirty="0"/>
              <a:t>You will deploy infrastructure in </a:t>
            </a:r>
            <a:r>
              <a:rPr lang="en-US" b="1" dirty="0"/>
              <a:t>layers</a:t>
            </a:r>
            <a:r>
              <a:rPr lang="en-US" dirty="0"/>
              <a:t>:</a:t>
            </a:r>
          </a:p>
          <a:p>
            <a:pPr marL="457200" indent="-457200">
              <a:lnSpc>
                <a:spcPct val="100000"/>
              </a:lnSpc>
              <a:buClr>
                <a:schemeClr val="tx1">
                  <a:lumMod val="85000"/>
                  <a:lumOff val="15000"/>
                </a:schemeClr>
              </a:buClr>
            </a:pPr>
            <a:r>
              <a:rPr lang="en-US" dirty="0"/>
              <a:t>Network layer</a:t>
            </a:r>
          </a:p>
          <a:p>
            <a:pPr marL="457200" indent="-457200">
              <a:lnSpc>
                <a:spcPct val="100000"/>
              </a:lnSpc>
              <a:buClr>
                <a:schemeClr val="tx1">
                  <a:lumMod val="85000"/>
                  <a:lumOff val="15000"/>
                </a:schemeClr>
              </a:buClr>
            </a:pPr>
            <a:r>
              <a:rPr lang="en-US" dirty="0"/>
              <a:t>Application layer</a:t>
            </a:r>
          </a:p>
          <a:p>
            <a:pPr marL="457200" indent="-457200">
              <a:lnSpc>
                <a:spcPct val="100000"/>
              </a:lnSpc>
            </a:pPr>
            <a:endParaRPr lang="en-US" dirty="0"/>
          </a:p>
          <a:p>
            <a:pPr marL="0" indent="0">
              <a:lnSpc>
                <a:spcPct val="100000"/>
              </a:lnSpc>
              <a:buNone/>
            </a:pPr>
            <a:r>
              <a:rPr lang="en-US" dirty="0"/>
              <a:t>You will also:</a:t>
            </a:r>
          </a:p>
          <a:p>
            <a:pPr marL="457200" indent="-457200">
              <a:lnSpc>
                <a:spcPct val="100000"/>
              </a:lnSpc>
              <a:buClr>
                <a:schemeClr val="tx1">
                  <a:lumMod val="85000"/>
                  <a:lumOff val="15000"/>
                </a:schemeClr>
              </a:buClr>
            </a:pPr>
            <a:r>
              <a:rPr lang="en-US" dirty="0"/>
              <a:t>Update a stack</a:t>
            </a:r>
          </a:p>
          <a:p>
            <a:pPr marL="457200" indent="-457200">
              <a:lnSpc>
                <a:spcPct val="100000"/>
              </a:lnSpc>
              <a:buClr>
                <a:schemeClr val="tx1">
                  <a:lumMod val="85000"/>
                  <a:lumOff val="15000"/>
                </a:schemeClr>
              </a:buClr>
            </a:pPr>
            <a:r>
              <a:rPr lang="en-US" dirty="0"/>
              <a:t>Delete a stack that has a </a:t>
            </a:r>
            <a:r>
              <a:rPr lang="en-US" i="1" dirty="0"/>
              <a:t>deletion policy</a:t>
            </a:r>
          </a:p>
        </p:txBody>
      </p:sp>
    </p:spTree>
    <p:extLst>
      <p:ext uri="{BB962C8B-B14F-4D97-AF65-F5344CB8AC3E}">
        <p14:creationId xmlns:p14="http://schemas.microsoft.com/office/powerpoint/2010/main" val="3222627549"/>
      </p:ext>
    </p:extLst>
  </p:cSld>
  <p:clrMapOvr>
    <a:masterClrMapping/>
  </p:clrMapOvr>
  <p:extLst>
    <p:ext uri="{6950BFC3-D8DA-4A85-94F7-54DA5524770B}">
      <p188:commentRel xmlns:p188="http://schemas.microsoft.com/office/powerpoint/2018/8/main" r:id="rId3"/>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lc="http://schemas.openxmlformats.org/drawingml/2006/lockedCanvas" textRoundtripDataId="0"/>
                  </a:ext>
                </a:extLst>
              </a:rPr>
              <a:t>Thank You!</a:t>
            </a:r>
            <a:endParaRPr lang="en-US" sz="4800" dirty="0">
              <a:solidFill>
                <a:schemeClr val="bg1"/>
              </a:solidFill>
              <a:latin typeface="Lato"/>
              <a:ea typeface="Lato"/>
              <a:cs typeface="Lato"/>
              <a:sym typeface="Lato"/>
            </a:endParaRP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wrap="square" lIns="121900" tIns="60933" rIns="121900" bIns="60933" anchor="ctr" anchorCtr="0">
            <a:noAutofit/>
          </a:bodyPr>
          <a:lstStyle/>
          <a:p>
            <a:fld id="{00000000-1234-1234-1234-123412341234}" type="slidenum">
              <a:rPr lang="en-IN">
                <a:solidFill>
                  <a:srgbClr val="FF0000"/>
                </a:solidFill>
                <a:latin typeface="Proxima Nova"/>
                <a:ea typeface="Proxima Nova"/>
                <a:cs typeface="Proxima Nova"/>
                <a:sym typeface="Proxima Nova"/>
              </a:rPr>
              <a:pPr/>
              <a:t>38</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3" name="Picture 2">
            <a:extLst>
              <a:ext uri="{FF2B5EF4-FFF2-40B4-BE49-F238E27FC236}">
                <a16:creationId xmlns:a16="http://schemas.microsoft.com/office/drawing/2014/main" id="{ED6418B9-9024-36FD-FF4A-D689E721F145}"/>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6303C1C7C00F045B33B06D7CDCE8711" ma:contentTypeVersion="6" ma:contentTypeDescription="Create a new document." ma:contentTypeScope="" ma:versionID="d2955efeaedeea000cf8c17f03f58435">
  <xsd:schema xmlns:xsd="http://www.w3.org/2001/XMLSchema" xmlns:xs="http://www.w3.org/2001/XMLSchema" xmlns:p="http://schemas.microsoft.com/office/2006/metadata/properties" xmlns:ns3="9b18da4c-8642-4680-9c2c-33eac315f718" targetNamespace="http://schemas.microsoft.com/office/2006/metadata/properties" ma:root="true" ma:fieldsID="5414c9e87e62002766041a340a06b184" ns3:_="">
    <xsd:import namespace="9b18da4c-8642-4680-9c2c-33eac315f71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b18da4c-8642-4680-9c2c-33eac315f71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9b18da4c-8642-4680-9c2c-33eac315f718" xsi:nil="true"/>
  </documentManagement>
</p:properties>
</file>

<file path=customXml/itemProps1.xml><?xml version="1.0" encoding="utf-8"?>
<ds:datastoreItem xmlns:ds="http://schemas.openxmlformats.org/officeDocument/2006/customXml" ds:itemID="{CC64F617-7A67-4D38-A537-A7B8202FF142}">
  <ds:schemaRefs>
    <ds:schemaRef ds:uri="http://schemas.microsoft.com/sharepoint/v3/contenttype/forms"/>
  </ds:schemaRefs>
</ds:datastoreItem>
</file>

<file path=customXml/itemProps2.xml><?xml version="1.0" encoding="utf-8"?>
<ds:datastoreItem xmlns:ds="http://schemas.openxmlformats.org/officeDocument/2006/customXml" ds:itemID="{17D03F40-ADF3-4D69-9985-4ABF37261F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b18da4c-8642-4680-9c2c-33eac315f71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508C959-4D84-4852-9060-2BE0FBE11F24}">
  <ds:schemaRefs>
    <ds:schemaRef ds:uri="http://schemas.openxmlformats.org/package/2006/metadata/core-properties"/>
    <ds:schemaRef ds:uri="http://purl.org/dc/elements/1.1/"/>
    <ds:schemaRef ds:uri="http://schemas.microsoft.com/office/2006/metadata/properties"/>
    <ds:schemaRef ds:uri="http://purl.org/dc/dcmitype/"/>
    <ds:schemaRef ds:uri="http://www.w3.org/XML/1998/namespace"/>
    <ds:schemaRef ds:uri="http://schemas.microsoft.com/office/2006/documentManagement/types"/>
    <ds:schemaRef ds:uri="http://purl.org/dc/terms/"/>
    <ds:schemaRef ds:uri="9b18da4c-8642-4680-9c2c-33eac315f718"/>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1517</TotalTime>
  <Words>4616</Words>
  <Application>Microsoft Office PowerPoint</Application>
  <PresentationFormat>Widescreen</PresentationFormat>
  <Paragraphs>515</Paragraphs>
  <Slides>38</Slides>
  <Notes>29</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38</vt:i4>
      </vt:variant>
    </vt:vector>
  </HeadingPairs>
  <TitlesOfParts>
    <vt:vector size="50" baseType="lpstr">
      <vt:lpstr>Amazon Ember</vt:lpstr>
      <vt:lpstr>Amazon Ember Light</vt:lpstr>
      <vt:lpstr>Amazon Ember Medium</vt:lpstr>
      <vt:lpstr>Aptos</vt:lpstr>
      <vt:lpstr>Aptos Display</vt:lpstr>
      <vt:lpstr>Arial</vt:lpstr>
      <vt:lpstr>Calibri</vt:lpstr>
      <vt:lpstr>Courier New</vt:lpstr>
      <vt:lpstr>Helvetica Neue</vt:lpstr>
      <vt:lpstr>Lato</vt:lpstr>
      <vt:lpstr>Proxima Nova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Nikunj Singhal</dc:creator>
  <cp:lastModifiedBy>Nikunj Singhal</cp:lastModifiedBy>
  <cp:revision>165</cp:revision>
  <dcterms:created xsi:type="dcterms:W3CDTF">2024-09-17T08:21:20Z</dcterms:created>
  <dcterms:modified xsi:type="dcterms:W3CDTF">2024-09-27T10:00:54Z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0x01010096303C1C7C00F045B33B06D7CDCE8711</vt:lpwstr>
  </property>
</Properties>
</file>