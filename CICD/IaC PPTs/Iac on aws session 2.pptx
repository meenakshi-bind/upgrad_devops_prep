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3_85458D24.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350_5E748D5C.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omments/modernComment_351_25DB95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34E_A82D021.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38E_A3D759E4.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354_C3312278.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35A_B297BFEF.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398_2C32AEF9.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39A_881BB3F8.xml" ContentType="application/vnd.ms-powerpoint.comments+xml"/>
  <Override PartName="/ppt/notesSlides/notesSlide33.xml" ContentType="application/vnd.openxmlformats-officedocument.presentationml.notesSlide+xml"/>
  <Override PartName="/ppt/comments/modernComment_39B_889404C1.xml" ContentType="application/vnd.ms-powerpoint.comments+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sldIdLst>
    <p:sldId id="257" r:id="rId5"/>
    <p:sldId id="291" r:id="rId6"/>
    <p:sldId id="904" r:id="rId7"/>
    <p:sldId id="848" r:id="rId8"/>
    <p:sldId id="849" r:id="rId9"/>
    <p:sldId id="850" r:id="rId10"/>
    <p:sldId id="900" r:id="rId11"/>
    <p:sldId id="903" r:id="rId12"/>
    <p:sldId id="902" r:id="rId13"/>
    <p:sldId id="843" r:id="rId14"/>
    <p:sldId id="844" r:id="rId15"/>
    <p:sldId id="845" r:id="rId16"/>
    <p:sldId id="846" r:id="rId17"/>
    <p:sldId id="905" r:id="rId18"/>
    <p:sldId id="906" r:id="rId19"/>
    <p:sldId id="907" r:id="rId20"/>
    <p:sldId id="908" r:id="rId21"/>
    <p:sldId id="909" r:id="rId22"/>
    <p:sldId id="910" r:id="rId23"/>
    <p:sldId id="911" r:id="rId24"/>
    <p:sldId id="852" r:id="rId25"/>
    <p:sldId id="854" r:id="rId26"/>
    <p:sldId id="912" r:id="rId27"/>
    <p:sldId id="855" r:id="rId28"/>
    <p:sldId id="809" r:id="rId29"/>
    <p:sldId id="856" r:id="rId30"/>
    <p:sldId id="857" r:id="rId31"/>
    <p:sldId id="858" r:id="rId32"/>
    <p:sldId id="913" r:id="rId33"/>
    <p:sldId id="918" r:id="rId34"/>
    <p:sldId id="920" r:id="rId35"/>
    <p:sldId id="921" r:id="rId36"/>
    <p:sldId id="922" r:id="rId37"/>
    <p:sldId id="923" r:id="rId38"/>
    <p:sldId id="50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642928-73C4-3B36-5004-0C7231A89687}" name="Guest User" initials="GU" userId="S::urn:spo:anon#acd3e84f9bc229139764807e55defc87c408d882b866b2f246384ca463ce7dbe::" providerId="AD"/>
  <p188:author id="{157BD8F1-1D6F-D26C-25D7-876D38983E62}" name="Nikunj Singhal" initials="NS" userId="S::nikunj.singhal@upgrad.com::329cd218-463b-43d3-8217-a34204aa542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42CDE-10B3-0897-78CF-96CDC46F5124}" v="2" dt="2024-09-20T11:40:18.152"/>
    <p1510:client id="{508537F8-FC84-80FF-ABD9-0A4D99A6E8AB}" v="1" dt="2024-09-20T10:55:47.602"/>
    <p1510:client id="{80974C61-1994-BB12-45AD-627B351434C8}" v="237" dt="2024-09-20T10:28:23.656"/>
    <p1510:client id="{DBF84876-D42C-0F02-FCD5-4D0FD07CA99C}" v="44" dt="2024-09-20T10:53:37.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34E_A82D021.xml><?xml version="1.0" encoding="utf-8"?>
<p188:cmLst xmlns:a="http://schemas.openxmlformats.org/drawingml/2006/main" xmlns:r="http://schemas.openxmlformats.org/officeDocument/2006/relationships" xmlns:p188="http://schemas.microsoft.com/office/powerpoint/2018/8/main">
  <p188:cm id="{29D845FB-E1D8-4AA7-8BD3-2C46BBB74839}" authorId="{EF642928-73C4-3B36-5004-0C7231A89687}" created="2024-09-20T10:06:29.777">
    <ac:txMkLst xmlns:ac="http://schemas.microsoft.com/office/drawing/2013/main/command">
      <pc:docMk xmlns:pc="http://schemas.microsoft.com/office/powerpoint/2013/main/command"/>
      <pc:sldMk xmlns:pc="http://schemas.microsoft.com/office/powerpoint/2013/main/command" cId="176345121" sldId="846"/>
      <ac:spMk id="22" creationId="{23C62FA5-414A-8DCD-7673-978B627C4FB2}"/>
      <ac:txMk cp="129" len="4">
        <ac:context len="138" hash="2687366412"/>
      </ac:txMk>
    </ac:txMkLst>
    <p188:pos x="646981" y="1940943"/>
    <p188:replyLst>
      <p188:reply id="{862DA082-51F0-4A0E-BD6D-50C9A155F93B}" authorId="{157BD8F1-1D6F-D26C-25D7-876D38983E62}" created="2024-09-27T09:28:59.753">
        <p188:txBody>
          <a:bodyPr/>
          <a:lstStyle/>
          <a:p>
            <a:r>
              <a:rPr lang="en-US"/>
              <a:t>changed</a:t>
            </a:r>
          </a:p>
        </p188:txBody>
      </p188:reply>
    </p188:replyLst>
    <p188:txBody>
      <a:bodyPr/>
      <a:lstStyle/>
      <a:p>
        <a:r>
          <a:rPr lang="en-US"/>
          <a:t>Should this be 'Cloud'? Title case?</a:t>
        </a:r>
      </a:p>
    </p188:txBody>
  </p188:cm>
</p188:cmLst>
</file>

<file path=ppt/comments/modernComment_35A_B297BFEF.xml><?xml version="1.0" encoding="utf-8"?>
<p188:cmLst xmlns:a="http://schemas.openxmlformats.org/drawingml/2006/main" xmlns:r="http://schemas.openxmlformats.org/officeDocument/2006/relationships" xmlns:p188="http://schemas.microsoft.com/office/powerpoint/2018/8/main">
  <p188:cm id="{312499F3-15E6-4614-8AD2-ABCB1BE6A8CE}" authorId="{EF642928-73C4-3B36-5004-0C7231A89687}" created="2024-09-20T10:29:45.184">
    <ac:txMkLst xmlns:ac="http://schemas.microsoft.com/office/drawing/2013/main/command">
      <pc:docMk xmlns:pc="http://schemas.microsoft.com/office/powerpoint/2013/main/command"/>
      <pc:sldMk xmlns:pc="http://schemas.microsoft.com/office/powerpoint/2013/main/command" cId="2996289519" sldId="858"/>
      <ac:spMk id="16" creationId="{A23E5F3D-4E8B-7FF1-6F85-7E1131830A84}"/>
      <ac:txMk cp="89" len="40">
        <ac:context len="130" hash="827380639"/>
      </ac:txMk>
    </ac:txMkLst>
    <p188:pos x="5434641" y="661358"/>
    <p188:replyLst>
      <p188:reply id="{6EDDFF44-BC08-42AD-B0CD-FC5D99F63D3F}" authorId="{157BD8F1-1D6F-D26C-25D7-876D38983E62}" created="2024-09-27T09:30:21.886">
        <p188:txBody>
          <a:bodyPr/>
          <a:lstStyle/>
          <a:p>
            <a:r>
              <a:rPr lang="en-US"/>
              <a:t>revised</a:t>
            </a:r>
          </a:p>
        </p188:txBody>
      </p188:reply>
    </p188:replyLst>
    <p188:txBody>
      <a:bodyPr/>
      <a:lstStyle/>
      <a:p>
        <a:r>
          <a:rPr lang="en-US"/>
          <a:t>demands change and technologies evolves?</a:t>
        </a:r>
      </a:p>
    </p188:txBody>
  </p188:cm>
  <p188:cm id="{252ECE47-D10E-4984-858B-6990B2F3263A}" authorId="{EF642928-73C4-3B36-5004-0C7231A89687}" created="2024-09-20T10:30:26.919">
    <ac:txMkLst xmlns:ac="http://schemas.microsoft.com/office/drawing/2013/main/command">
      <pc:docMk xmlns:pc="http://schemas.microsoft.com/office/powerpoint/2013/main/command"/>
      <pc:sldMk xmlns:pc="http://schemas.microsoft.com/office/powerpoint/2013/main/command" cId="2996289519" sldId="858"/>
      <ac:spMk id="10" creationId="{B00B2ABD-B156-93FB-6E0D-079936165C45}"/>
      <ac:txMk cp="61" len="1">
        <ac:context len="72" hash="3804250635"/>
      </ac:txMk>
    </ac:txMkLst>
    <p188:pos x="3953773" y="2170981"/>
    <p188:replyLst>
      <p188:reply id="{DDAEB098-4CD2-4D4E-9348-402861B45C1B}" authorId="{157BD8F1-1D6F-D26C-25D7-876D38983E62}" created="2024-09-27T10:02:28.666">
        <p188:txBody>
          <a:bodyPr/>
          <a:lstStyle/>
          <a:p>
            <a:r>
              <a:rPr lang="en-US"/>
              <a:t>Revised</a:t>
            </a:r>
          </a:p>
        </p188:txBody>
      </p188:reply>
    </p188:replyLst>
    <p188:txBody>
      <a:bodyPr/>
      <a:lstStyle/>
      <a:p>
        <a:r>
          <a:rPr lang="en-US"/>
          <a:t>more often than?
Please state the comparison for clarity. 
Alternatively, do you mean 'frequently'?</a:t>
        </a:r>
      </a:p>
    </p188:txBody>
  </p188:cm>
</p188:cmLst>
</file>

<file path=ppt/comments/modernComment_38E_A3D759E4.xml><?xml version="1.0" encoding="utf-8"?>
<p188:cmLst xmlns:a="http://schemas.openxmlformats.org/drawingml/2006/main" xmlns:r="http://schemas.openxmlformats.org/officeDocument/2006/relationships" xmlns:p188="http://schemas.microsoft.com/office/powerpoint/2018/8/main">
  <p188:cm id="{10911602-67B3-4CEE-AC45-08C38D8CBF3D}" authorId="{EF642928-73C4-3B36-5004-0C7231A89687}" created="2024-09-20T09:58:37.760">
    <ac:txMkLst xmlns:ac="http://schemas.microsoft.com/office/drawing/2013/main/command">
      <pc:docMk xmlns:pc="http://schemas.microsoft.com/office/powerpoint/2013/main/command"/>
      <pc:sldMk xmlns:pc="http://schemas.microsoft.com/office/powerpoint/2013/main/command" cId="2748799460" sldId="910"/>
      <ac:spMk id="21" creationId="{61147582-EF8A-B14A-847B-CD18AA68A59C}"/>
      <ac:txMk cp="0" len="35">
        <ac:context len="72" hash="263710842"/>
      </ac:txMk>
    </ac:txMkLst>
    <p188:pos x="2947358" y="704490"/>
    <p188:replyLst>
      <p188:reply id="{7608B61A-AFF5-4512-B4EE-E1E324045EF4}" authorId="{157BD8F1-1D6F-D26C-25D7-876D38983E62}" created="2024-09-27T09:29:13.653">
        <p188:txBody>
          <a:bodyPr/>
          <a:lstStyle/>
          <a:p>
            <a:r>
              <a:rPr lang="en-US"/>
              <a:t>Not applicable</a:t>
            </a:r>
          </a:p>
        </p188:txBody>
      </p188:reply>
    </p188:replyLst>
    <p188:txBody>
      <a:bodyPr/>
      <a:lstStyle/>
      <a:p>
        <a:r>
          <a:rPr lang="en-US"/>
          <a:t>Ensure that the casing here is accurate and revise (if applicable).</a:t>
        </a:r>
      </a:p>
    </p188:txBody>
  </p188:cm>
  <p188:cm id="{BDB1876B-B6F2-4D48-AB9C-7144D4E84531}" authorId="{EF642928-73C4-3B36-5004-0C7231A89687}" created="2024-09-20T09:59:22.182">
    <ac:txMkLst xmlns:ac="http://schemas.microsoft.com/office/drawing/2013/main/command">
      <pc:docMk xmlns:pc="http://schemas.microsoft.com/office/powerpoint/2013/main/command"/>
      <pc:sldMk xmlns:pc="http://schemas.microsoft.com/office/powerpoint/2013/main/command" cId="2748799460" sldId="910"/>
      <ac:spMk id="21" creationId="{61147582-EF8A-B14A-847B-CD18AA68A59C}"/>
      <ac:txMk cp="26" len="9">
        <ac:context len="72" hash="263710842"/>
      </ac:txMk>
    </ac:txMkLst>
    <p188:pos x="2947358" y="704490"/>
    <p188:replyLst>
      <p188:reply id="{D97F8E05-C42C-4FE9-A384-F4018F7ADFC8}" authorId="{157BD8F1-1D6F-D26C-25D7-876D38983E62}" created="2024-09-27T10:02:06.060">
        <p188:txBody>
          <a:bodyPr/>
          <a:lstStyle/>
          <a:p>
            <a:r>
              <a:rPr lang="en-US"/>
              <a:t>It fine</a:t>
            </a:r>
          </a:p>
        </p188:txBody>
      </p188:reply>
    </p188:replyLst>
    <p188:txBody>
      <a:bodyPr/>
      <a:lstStyle/>
      <a:p>
        <a:r>
          <a:rPr lang="en-US"/>
          <a:t>Usually, this would have been revised to 'Optimised' (as per British English). However, I have not revised this here, as this seems to be a technical term. Please check.</a:t>
        </a:r>
      </a:p>
    </p188:txBody>
  </p188:cm>
  <p188:cm id="{FA240F90-50E0-43AD-9525-24E8A375D634}" authorId="{EF642928-73C4-3B36-5004-0C7231A89687}" created="2024-09-20T09:59:34.260">
    <ac:txMkLst xmlns:ac="http://schemas.microsoft.com/office/drawing/2013/main/command">
      <pc:docMk xmlns:pc="http://schemas.microsoft.com/office/powerpoint/2013/main/command"/>
      <pc:sldMk xmlns:pc="http://schemas.microsoft.com/office/powerpoint/2013/main/command" cId="2748799460" sldId="910"/>
      <ac:spMk id="21" creationId="{61147582-EF8A-B14A-847B-CD18AA68A59C}"/>
      <ac:txMk cp="62" len="9">
        <ac:context len="72" hash="263710842"/>
      </ac:txMk>
    </ac:txMkLst>
    <p188:pos x="3004867" y="1552754"/>
    <p188:replyLst>
      <p188:reply id="{36EAB546-29B9-43C3-8BCA-906E5B75317A}" authorId="{157BD8F1-1D6F-D26C-25D7-876D38983E62}" created="2024-09-27T10:01:57.698">
        <p188:txBody>
          <a:bodyPr/>
          <a:lstStyle/>
          <a:p>
            <a:r>
              <a:rPr lang="en-US"/>
              <a:t>Its fine</a:t>
            </a:r>
          </a:p>
        </p188:txBody>
      </p188:reply>
    </p188:replyLst>
    <p188:txBody>
      <a:bodyPr/>
      <a:lstStyle/>
      <a:p>
        <a:r>
          <a:rPr lang="en-US"/>
          <a:t>Usually, this would have been revised to 'Optimised' (as per British English). However, I have not revised this here, as this seems to be a technical term. Please check.</a:t>
        </a:r>
      </a:p>
    </p188:txBody>
  </p188:cm>
  <p188:cm id="{05352BA8-2B78-4F8D-B88E-74CB6D9E9D81}" authorId="{EF642928-73C4-3B36-5004-0C7231A89687}" created="2024-09-20T10:00:02.338">
    <ac:txMkLst xmlns:ac="http://schemas.microsoft.com/office/drawing/2013/main/command">
      <pc:docMk xmlns:pc="http://schemas.microsoft.com/office/powerpoint/2013/main/command"/>
      <pc:sldMk xmlns:pc="http://schemas.microsoft.com/office/powerpoint/2013/main/command" cId="2748799460" sldId="910"/>
      <ac:spMk id="21" creationId="{61147582-EF8A-B14A-847B-CD18AA68A59C}"/>
      <ac:txMk cp="36" len="35">
        <ac:context len="72" hash="263710842"/>
      </ac:txMk>
    </ac:txMkLst>
    <p188:pos x="3004867" y="1538377"/>
    <p188:replyLst>
      <p188:reply id="{5BD8500E-DB27-4879-AD86-115F3F8DD2B5}" authorId="{157BD8F1-1D6F-D26C-25D7-876D38983E62}" created="2024-09-27T10:02:14.377">
        <p188:txBody>
          <a:bodyPr/>
          <a:lstStyle/>
          <a:p>
            <a:r>
              <a:rPr lang="en-US"/>
              <a:t>Not applicable</a:t>
            </a:r>
          </a:p>
        </p188:txBody>
      </p188:reply>
    </p188:replyLst>
    <p188:txBody>
      <a:bodyPr/>
      <a:lstStyle/>
      <a:p>
        <a:r>
          <a:rPr lang="en-US"/>
          <a:t>Ensure that the casing here is accurate and revise (if applicable).</a:t>
        </a:r>
      </a:p>
    </p188:txBody>
  </p188:cm>
</p188:cmLst>
</file>

<file path=ppt/comments/modernComment_39A_881BB3F8.xml><?xml version="1.0" encoding="utf-8"?>
<p188:cmLst xmlns:a="http://schemas.openxmlformats.org/drawingml/2006/main" xmlns:r="http://schemas.openxmlformats.org/officeDocument/2006/relationships" xmlns:p188="http://schemas.microsoft.com/office/powerpoint/2018/8/main">
  <p188:cm id="{B74A1281-A939-4090-A70A-291FF4DF5AAE}" authorId="{EF642928-73C4-3B36-5004-0C7231A89687}" created="2024-09-20T10:40:52.508">
    <ac:deMkLst xmlns:ac="http://schemas.microsoft.com/office/drawing/2013/main/command">
      <pc:docMk xmlns:pc="http://schemas.microsoft.com/office/powerpoint/2013/main/command"/>
      <pc:sldMk xmlns:pc="http://schemas.microsoft.com/office/powerpoint/2013/main/command" cId="2283516920" sldId="922"/>
      <ac:picMk id="10" creationId="{A09472EB-3F66-FC50-FC2C-AEB489D1D420}"/>
    </ac:deMkLst>
    <p188:txBody>
      <a:bodyPr/>
      <a:lstStyle/>
      <a:p>
        <a:r>
          <a:rPr lang="en-US"/>
          <a:t>If the text within this image is to be edited, please send it in an editable format.</a:t>
        </a:r>
      </a:p>
    </p188:txBody>
  </p188:cm>
</p188:cmLst>
</file>

<file path=ppt/comments/modernComment_39B_889404C1.xml><?xml version="1.0" encoding="utf-8"?>
<p188:cmLst xmlns:a="http://schemas.openxmlformats.org/drawingml/2006/main" xmlns:r="http://schemas.openxmlformats.org/officeDocument/2006/relationships" xmlns:p188="http://schemas.microsoft.com/office/powerpoint/2018/8/main">
  <p188:cm id="{0FB9DA0C-FD04-4C14-AB99-193ED3006ACD}" authorId="{EF642928-73C4-3B36-5004-0C7231A89687}" created="2024-09-20T10:41:25.431">
    <ac:deMkLst xmlns:ac="http://schemas.microsoft.com/office/drawing/2013/main/command">
      <pc:docMk xmlns:pc="http://schemas.microsoft.com/office/powerpoint/2013/main/command"/>
      <pc:sldMk xmlns:pc="http://schemas.microsoft.com/office/powerpoint/2013/main/command" cId="2291401921" sldId="923"/>
      <ac:picMk id="12" creationId="{7F3D15F2-D6DB-81D8-AB81-8900FFB25717}"/>
    </ac:deMkLst>
    <p188:replyLst>
      <p188:reply id="{A905AA3B-6D69-4E3B-861A-65025A1C1F1B}" authorId="{EF642928-73C4-3B36-5004-0C7231A89687}" created="2024-09-20T10:41:56.713">
        <p188:txBody>
          <a:bodyPr/>
          <a:lstStyle/>
          <a:p>
            <a:r>
              <a:rPr lang="en-US"/>
              <a:t>Please delete the serial comma - after MQTT</a:t>
            </a:r>
          </a:p>
        </p188:txBody>
      </p188:reply>
      <p188:reply id="{630D4701-0E15-4071-963F-504E63150375}" authorId="{EF642928-73C4-3B36-5004-0C7231A89687}" created="2024-09-20T10:42:57.823">
        <p188:txBody>
          <a:bodyPr/>
          <a:lstStyle/>
          <a:p>
            <a:r>
              <a:rPr lang="en-US"/>
              <a:t>Delete the hyphen after 'per' </a:t>
            </a:r>
          </a:p>
        </p188:txBody>
      </p188:reply>
      <p188:reply id="{327986DB-AD83-4470-AAC6-3AC8A2E2182D}" authorId="{EF642928-73C4-3B36-5004-0C7231A89687}" created="2024-09-20T10:44:49.638">
        <p188:txBody>
          <a:bodyPr/>
          <a:lstStyle/>
          <a:p>
            <a:r>
              <a:rPr lang="en-US"/>
              <a:t>Unclear what 'you can do Pub' means here - do you mean 'you can use Pub/Sub...'</a:t>
            </a:r>
          </a:p>
        </p188:txBody>
      </p188:reply>
    </p188:replyLst>
    <p188:txBody>
      <a:bodyPr/>
      <a:lstStyle/>
      <a:p>
        <a:r>
          <a:rPr lang="en-US"/>
          <a:t>If the text within this image is to be edited, please send it in an editable format.</a:t>
        </a:r>
      </a:p>
    </p188:txBody>
  </p188:cm>
</p188:cmLst>
</file>

<file path=ppt/comments/modernComment_123_85458D24.xml><?xml version="1.0" encoding="utf-8"?>
<p188:cmLst xmlns:a="http://schemas.openxmlformats.org/drawingml/2006/main" xmlns:r="http://schemas.openxmlformats.org/officeDocument/2006/relationships" xmlns:p188="http://schemas.microsoft.com/office/powerpoint/2018/8/main">
  <p188:cm id="{C40FFDB8-9E91-4F88-BC06-C4CBBF1CB1F8}" authorId="{EF642928-73C4-3B36-5004-0C7231A89687}" created="2024-09-20T09:14:09.423">
    <ac:txMkLst xmlns:ac="http://schemas.microsoft.com/office/drawing/2013/main/command">
      <pc:docMk xmlns:pc="http://schemas.microsoft.com/office/powerpoint/2013/main/command"/>
      <pc:sldMk xmlns:pc="http://schemas.microsoft.com/office/powerpoint/2013/main/command" cId="2235927844" sldId="291"/>
      <ac:spMk id="2" creationId="{291948C9-9A2C-87BE-CE08-117DF3B40FEB}"/>
      <ac:txMk cp="30" len="10">
        <ac:context len="106" hash="2130093733"/>
      </ac:txMk>
    </ac:txMkLst>
    <p188:pos x="1610264" y="833886"/>
    <p188:replyLst>
      <p188:reply id="{2AF2D00A-F76E-4BD8-B897-9C02FD3E02D7}" authorId="{157BD8F1-1D6F-D26C-25D7-876D38983E62}" created="2024-09-27T10:01:09.726">
        <p188:txBody>
          <a:bodyPr/>
          <a:lstStyle/>
          <a:p>
            <a:r>
              <a:rPr lang="en-US"/>
              <a:t>entered</a:t>
            </a:r>
          </a:p>
        </p188:txBody>
      </p188:reply>
    </p188:replyLst>
    <p188:txBody>
      <a:bodyPr/>
      <a:lstStyle/>
      <a:p>
        <a:r>
          <a:rPr lang="en-US"/>
          <a:t>Please enter the missing details</a:t>
        </a:r>
      </a:p>
    </p188:txBody>
  </p188:cm>
</p188:cmLst>
</file>

<file path=ppt/comments/modernComment_350_5E748D5C.xml><?xml version="1.0" encoding="utf-8"?>
<p188:cmLst xmlns:a="http://schemas.openxmlformats.org/drawingml/2006/main" xmlns:r="http://schemas.openxmlformats.org/officeDocument/2006/relationships" xmlns:p188="http://schemas.microsoft.com/office/powerpoint/2018/8/main">
  <p188:cm id="{88509855-22C8-45C9-922B-33CC89738D8A}" authorId="{EF642928-73C4-3B36-5004-0C7231A89687}" created="2024-09-20T10:55:47.602">
    <ac:txMkLst xmlns:ac="http://schemas.microsoft.com/office/drawing/2013/main/command">
      <pc:docMk xmlns:pc="http://schemas.microsoft.com/office/powerpoint/2013/main/command"/>
      <pc:sldMk xmlns:pc="http://schemas.microsoft.com/office/powerpoint/2013/main/command" cId="1584696668" sldId="848"/>
      <ac:spMk id="9" creationId="{BE2D33BF-2093-354E-AC18-0778FB4623A2}"/>
      <ac:txMk cp="0" len="24">
        <ac:context len="25" hash="1076327256"/>
      </ac:txMk>
    </ac:txMkLst>
    <p188:pos x="7303698" y="158150"/>
    <p188:replyLst>
      <p188:reply id="{8A219462-28D3-4501-8C49-5BB4DD1FDEF9}" authorId="{157BD8F1-1D6F-D26C-25D7-876D38983E62}" created="2024-09-27T09:28:02.453">
        <p188:txBody>
          <a:bodyPr/>
          <a:lstStyle/>
          <a:p>
            <a:r>
              <a:rPr lang="en-US"/>
              <a:t>Its fine</a:t>
            </a:r>
          </a:p>
        </p188:txBody>
      </p188:reply>
    </p188:replyLst>
    <p188:txBody>
      <a:bodyPr/>
      <a:lstStyle/>
      <a:p>
        <a:r>
          <a:rPr lang="en-US"/>
          <a:t>Please check if all such slide headings should be in all caps.</a:t>
        </a:r>
      </a:p>
    </p188:txBody>
  </p188:cm>
</p188:cmLst>
</file>

<file path=ppt/comments/modernComment_351_25DB950.xml><?xml version="1.0" encoding="utf-8"?>
<p188:cmLst xmlns:a="http://schemas.openxmlformats.org/drawingml/2006/main" xmlns:r="http://schemas.openxmlformats.org/officeDocument/2006/relationships" xmlns:p188="http://schemas.microsoft.com/office/powerpoint/2018/8/main">
  <p188:cm id="{09866371-41E0-4781-89E4-B408F1528532}" authorId="{EF642928-73C4-3B36-5004-0C7231A89687}" created="2024-09-20T09:32:13.348">
    <pc:sldMkLst xmlns:pc="http://schemas.microsoft.com/office/powerpoint/2013/main/command">
      <pc:docMk/>
      <pc:sldMk cId="39696720" sldId="849"/>
    </pc:sldMkLst>
    <p188:replyLst>
      <p188:reply id="{087FE59E-122D-49B7-9618-8C5A43D6AF5F}" authorId="{157BD8F1-1D6F-D26C-25D7-876D38983E62}" created="2024-09-27T10:01:18.615">
        <p188:txBody>
          <a:bodyPr/>
          <a:lstStyle/>
          <a:p>
            <a:r>
              <a:rPr lang="en-US"/>
              <a:t>Its fine</a:t>
            </a:r>
          </a:p>
        </p188:txBody>
      </p188:reply>
    </p188:replyLst>
    <p188:txBody>
      <a:bodyPr/>
      <a:lstStyle/>
      <a:p>
        <a:r>
          <a:rPr lang="en-US"/>
          <a:t>Please check if all the slide headings should be in all caps.</a:t>
        </a:r>
      </a:p>
    </p188:txBody>
  </p188:cm>
</p188:cmLst>
</file>

<file path=ppt/comments/modernComment_354_C3312278.xml><?xml version="1.0" encoding="utf-8"?>
<p188:cmLst xmlns:a="http://schemas.openxmlformats.org/drawingml/2006/main" xmlns:r="http://schemas.openxmlformats.org/officeDocument/2006/relationships" xmlns:p188="http://schemas.microsoft.com/office/powerpoint/2018/8/main">
  <p188:cm id="{3DDD0F7D-E8BB-4083-B39D-D08AD47363DA}" authorId="{EF642928-73C4-3B36-5004-0C7231A89687}" created="2024-09-20T10:05:05.636">
    <ac:txMkLst xmlns:ac="http://schemas.microsoft.com/office/drawing/2013/main/command">
      <pc:docMk xmlns:pc="http://schemas.microsoft.com/office/powerpoint/2013/main/command"/>
      <pc:sldMk xmlns:pc="http://schemas.microsoft.com/office/powerpoint/2013/main/command" cId="3274777208" sldId="852"/>
      <ac:spMk id="10" creationId="{34EC3B3B-8ED3-AA41-9FC2-23F502DA4C6F}"/>
      <ac:txMk cp="83" len="1">
        <ac:context len="151" hash="3070414659"/>
      </ac:txMk>
    </ac:txMkLst>
    <p188:pos x="5103962" y="1797169"/>
    <p188:replyLst>
      <p188:reply id="{CF791CC0-4CCA-4722-BF9A-6A673A589FDC}" authorId="{157BD8F1-1D6F-D26C-25D7-876D38983E62}" created="2024-09-27T09:29:34.627">
        <p188:txBody>
          <a:bodyPr/>
          <a:lstStyle/>
          <a:p>
            <a:r>
              <a:rPr lang="en-US"/>
              <a:t>Changed</a:t>
            </a:r>
          </a:p>
        </p188:txBody>
      </p188:reply>
    </p188:replyLst>
    <p188:txBody>
      <a:bodyPr/>
      <a:lstStyle/>
      <a:p>
        <a:r>
          <a:rPr lang="en-US"/>
          <a:t>Should this be 'Cloud'? Title case?</a:t>
        </a:r>
      </a:p>
    </p188:txBody>
  </p188:cm>
</p188:cmLst>
</file>

<file path=ppt/comments/modernComment_398_2C32AEF9.xml><?xml version="1.0" encoding="utf-8"?>
<p188:cmLst xmlns:a="http://schemas.openxmlformats.org/drawingml/2006/main" xmlns:r="http://schemas.openxmlformats.org/officeDocument/2006/relationships" xmlns:p188="http://schemas.microsoft.com/office/powerpoint/2018/8/main">
  <p188:cm id="{24E3DD89-B3E1-46E8-8068-E3F6B45E447D}" authorId="{EF642928-73C4-3B36-5004-0C7231A89687}" created="2024-09-20T10:35:59.894">
    <ac:txMkLst xmlns:ac="http://schemas.microsoft.com/office/drawing/2013/main/command">
      <pc:docMk xmlns:pc="http://schemas.microsoft.com/office/powerpoint/2013/main/command"/>
      <pc:sldMk xmlns:pc="http://schemas.microsoft.com/office/powerpoint/2013/main/command" cId="741519097" sldId="920"/>
      <ac:spMk id="10" creationId="{B441378A-4546-4280-2523-A30ACBBC8762}"/>
      <ac:txMk cp="260" len="1">
        <ac:context len="269" hash="756563955"/>
      </ac:txMk>
    </ac:txMkLst>
    <p188:pos x="9445924" y="3651849"/>
    <p188:replyLst>
      <p188:reply id="{42C00382-3B56-4697-BCC9-C9812B218B49}" authorId="{157BD8F1-1D6F-D26C-25D7-876D38983E62}" created="2024-09-27T10:02:47.645">
        <p188:txBody>
          <a:bodyPr/>
          <a:lstStyle/>
          <a:p>
            <a:r>
              <a:rPr lang="en-US"/>
              <a:t>revised</a:t>
            </a:r>
          </a:p>
        </p188:txBody>
      </p188:reply>
    </p188:replyLst>
    <p188:txBody>
      <a:bodyPr/>
      <a:lstStyle/>
      <a:p>
        <a:r>
          <a:rPr lang="en-US"/>
          <a:t>Should this be 'Cloud'? Please check if title case is to be used here</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4554EE-CF1E-9840-B18A-4363BE749FA9}" type="doc">
      <dgm:prSet loTypeId="urn:microsoft.com/office/officeart/2005/8/layout/cycle5" loCatId="" qsTypeId="urn:microsoft.com/office/officeart/2005/8/quickstyle/simple1" qsCatId="simple" csTypeId="urn:microsoft.com/office/officeart/2005/8/colors/accent4_2" csCatId="accent4" phldr="1"/>
      <dgm:spPr/>
      <dgm:t>
        <a:bodyPr/>
        <a:lstStyle/>
        <a:p>
          <a:endParaRPr lang="en-US"/>
        </a:p>
      </dgm:t>
    </dgm:pt>
    <dgm:pt modelId="{35A95279-61F9-AA49-A707-1F1AC82FB9EE}">
      <dgm:prSet phldrT="[Text]" custT="1"/>
      <dgm:spPr>
        <a:noFill/>
        <a:ln w="38100">
          <a:solidFill>
            <a:srgbClr val="2E27AD"/>
          </a:solidFill>
        </a:ln>
      </dgm:spPr>
      <dgm:t>
        <a:bodyPr/>
        <a:lstStyle/>
        <a:p>
          <a:r>
            <a:rPr lang="en-US" sz="1800" b="0" i="0">
              <a:solidFill>
                <a:schemeClr val="tx1"/>
              </a:solidFill>
              <a:latin typeface="Amazon Ember"/>
              <a:ea typeface="Amazon Ember" panose="020B0603020204020204" pitchFamily="34" charset="0"/>
              <a:cs typeface="Amazon Ember" panose="020B0603020204020204" pitchFamily="34" charset="0"/>
            </a:rPr>
            <a:t>The consultant observes the coffee shop</a:t>
          </a:r>
        </a:p>
      </dgm:t>
    </dgm:pt>
    <dgm:pt modelId="{C3779B88-1AEE-764E-82D3-48EED89F750C}" type="parTrans" cxnId="{A50F1753-59E9-DB4A-99E6-FB7C216BE0A0}">
      <dgm:prSet/>
      <dgm:spPr/>
      <dgm:t>
        <a:bodyPr/>
        <a:lstStyle/>
        <a:p>
          <a:endParaRPr lang="en-US"/>
        </a:p>
      </dgm:t>
    </dgm:pt>
    <dgm:pt modelId="{5495FD1B-C3D5-0742-9837-1B0CA2945FFE}" type="sibTrans" cxnId="{A50F1753-59E9-DB4A-99E6-FB7C216BE0A0}">
      <dgm:prSet/>
      <dgm:spPr>
        <a:solidFill>
          <a:schemeClr val="tx1"/>
        </a:solidFill>
        <a:ln w="44450">
          <a:solidFill>
            <a:schemeClr val="tx1"/>
          </a:solidFill>
        </a:ln>
      </dgm:spPr>
      <dgm:t>
        <a:bodyPr/>
        <a:lstStyle/>
        <a:p>
          <a:endParaRPr lang="en-US"/>
        </a:p>
      </dgm:t>
    </dgm:pt>
    <dgm:pt modelId="{90CF9606-158D-184B-9F8C-5985DA786FF7}">
      <dgm:prSet phldrT="[Text]" custT="1"/>
      <dgm:spPr>
        <a:noFill/>
        <a:ln w="38100">
          <a:solidFill>
            <a:srgbClr val="2E27AD"/>
          </a:solidFill>
        </a:ln>
      </dgm:spPr>
      <dgm:t>
        <a:bodyPr/>
        <a:lstStyle/>
        <a:p>
          <a:endParaRPr lang="en-US" sz="1800" b="0" i="0">
            <a:solidFill>
              <a:schemeClr val="tx1"/>
            </a:solidFill>
            <a:latin typeface="Amazon Ember" panose="020B0603020204020204" pitchFamily="34" charset="0"/>
          </a:endParaRPr>
        </a:p>
        <a:p>
          <a:endParaRPr lang="en-US" sz="1800" b="0" i="0">
            <a:solidFill>
              <a:schemeClr val="tx1"/>
            </a:solidFill>
            <a:latin typeface="Amazon Ember" panose="020B0603020204020204" pitchFamily="34" charset="0"/>
          </a:endParaRPr>
        </a:p>
        <a:p>
          <a:r>
            <a:rPr lang="en-US" sz="1800" b="0" i="0">
              <a:solidFill>
                <a:schemeClr val="tx1"/>
              </a:solidFill>
              <a:latin typeface="Amazon Ember"/>
            </a:rPr>
            <a:t>The consultant offers suggestions for enhancements</a:t>
          </a:r>
        </a:p>
        <a:p>
          <a:endParaRPr lang="en-US" sz="1800" b="0" i="0">
            <a:solidFill>
              <a:schemeClr val="tx1"/>
            </a:solidFill>
            <a:latin typeface="Amazon Ember" panose="020B0603020204020204" pitchFamily="34" charset="0"/>
          </a:endParaRPr>
        </a:p>
        <a:p>
          <a:r>
            <a:rPr lang="en-US" sz="18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dgm:t>
    </dgm:pt>
    <dgm:pt modelId="{2C96B9A0-D2D6-2F4C-A867-AC49D10485AB}" type="parTrans" cxnId="{1CA6E327-1063-5547-BC46-1C067AC282F3}">
      <dgm:prSet/>
      <dgm:spPr/>
      <dgm:t>
        <a:bodyPr/>
        <a:lstStyle/>
        <a:p>
          <a:endParaRPr lang="en-US"/>
        </a:p>
      </dgm:t>
    </dgm:pt>
    <dgm:pt modelId="{7C5DA655-792A-AA47-B563-F26A67FABF1F}" type="sibTrans" cxnId="{1CA6E327-1063-5547-BC46-1C067AC282F3}">
      <dgm:prSet/>
      <dgm:spPr>
        <a:solidFill>
          <a:schemeClr val="tx1"/>
        </a:solidFill>
        <a:ln w="44450">
          <a:solidFill>
            <a:schemeClr val="tx1"/>
          </a:solidFill>
        </a:ln>
      </dgm:spPr>
      <dgm:t>
        <a:bodyPr/>
        <a:lstStyle/>
        <a:p>
          <a:endParaRPr lang="en-US"/>
        </a:p>
      </dgm:t>
    </dgm:pt>
    <dgm:pt modelId="{BFC8F207-8F46-DE47-BA3F-C3A3BA104218}">
      <dgm:prSet phldrT="[Text]" custT="1"/>
      <dgm:spPr>
        <a:noFill/>
        <a:ln w="38100">
          <a:solidFill>
            <a:srgbClr val="2E27AD"/>
          </a:solidFill>
        </a:ln>
      </dgm:spPr>
      <dgm:t>
        <a:bodyPr/>
        <a:lstStyle/>
        <a:p>
          <a:endParaRPr lang="en-US" sz="1800" b="0" i="0">
            <a:solidFill>
              <a:schemeClr val="tx1"/>
            </a:solidFill>
            <a:latin typeface="Amazon Ember" panose="020B0603020204020204" pitchFamily="34" charset="0"/>
          </a:endParaRPr>
        </a:p>
        <a:p>
          <a:endParaRPr lang="en-US" sz="1800" b="0" i="0">
            <a:solidFill>
              <a:schemeClr val="tx1"/>
            </a:solidFill>
            <a:latin typeface="Amazon Ember" panose="020B0603020204020204" pitchFamily="34" charset="0"/>
          </a:endParaRPr>
        </a:p>
        <a:p>
          <a:r>
            <a:rPr lang="en-US" sz="1800" b="0" i="0">
              <a:solidFill>
                <a:schemeClr val="tx1"/>
              </a:solidFill>
              <a:latin typeface="Amazon Ember"/>
            </a:rPr>
            <a:t>The owners implement the recommended adjustments</a:t>
          </a:r>
        </a:p>
        <a:p>
          <a:endParaRPr lang="en-US" sz="1800" b="0" i="0">
            <a:solidFill>
              <a:schemeClr val="tx1"/>
            </a:solidFill>
            <a:latin typeface="Amazon Ember" panose="020B0603020204020204" pitchFamily="34" charset="0"/>
          </a:endParaRPr>
        </a:p>
        <a:p>
          <a:r>
            <a:rPr lang="en-US" sz="18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dgm:t>
    </dgm:pt>
    <dgm:pt modelId="{5AD20D50-84F8-9D4C-BA15-08B7C701F5B8}" type="parTrans" cxnId="{9E1A0A23-F896-6D46-8D85-C3B5BB6CB4C3}">
      <dgm:prSet/>
      <dgm:spPr/>
      <dgm:t>
        <a:bodyPr/>
        <a:lstStyle/>
        <a:p>
          <a:endParaRPr lang="en-US"/>
        </a:p>
      </dgm:t>
    </dgm:pt>
    <dgm:pt modelId="{FB1FE3B7-2787-0344-ABCF-C1BDF03A350A}" type="sibTrans" cxnId="{9E1A0A23-F896-6D46-8D85-C3B5BB6CB4C3}">
      <dgm:prSet/>
      <dgm:spPr>
        <a:solidFill>
          <a:schemeClr val="tx1"/>
        </a:solidFill>
        <a:ln w="44450">
          <a:solidFill>
            <a:schemeClr val="tx1"/>
          </a:solidFill>
        </a:ln>
      </dgm:spPr>
      <dgm:t>
        <a:bodyPr/>
        <a:lstStyle/>
        <a:p>
          <a:endParaRPr lang="en-US"/>
        </a:p>
      </dgm:t>
    </dgm:pt>
    <dgm:pt modelId="{156BDC51-A31B-254F-A994-2CD563A0D5F0}" type="pres">
      <dgm:prSet presAssocID="{D54554EE-CF1E-9840-B18A-4363BE749FA9}" presName="cycle" presStyleCnt="0">
        <dgm:presLayoutVars>
          <dgm:dir/>
          <dgm:resizeHandles val="exact"/>
        </dgm:presLayoutVars>
      </dgm:prSet>
      <dgm:spPr/>
    </dgm:pt>
    <dgm:pt modelId="{7198FC77-3DAA-3C4C-AD9A-F5A146B8454D}" type="pres">
      <dgm:prSet presAssocID="{35A95279-61F9-AA49-A707-1F1AC82FB9EE}" presName="node" presStyleLbl="node1" presStyleIdx="0" presStyleCnt="3" custScaleX="161883">
        <dgm:presLayoutVars>
          <dgm:bulletEnabled val="1"/>
        </dgm:presLayoutVars>
      </dgm:prSet>
      <dgm:spPr/>
    </dgm:pt>
    <dgm:pt modelId="{142C493B-FA82-2249-A364-34671ED9FCD2}" type="pres">
      <dgm:prSet presAssocID="{35A95279-61F9-AA49-A707-1F1AC82FB9EE}" presName="spNode" presStyleCnt="0"/>
      <dgm:spPr/>
    </dgm:pt>
    <dgm:pt modelId="{C7B88BC9-1A03-F74B-8B12-E317523DB0AF}" type="pres">
      <dgm:prSet presAssocID="{5495FD1B-C3D5-0742-9837-1B0CA2945FFE}" presName="sibTrans" presStyleLbl="sibTrans1D1" presStyleIdx="0" presStyleCnt="3"/>
      <dgm:spPr/>
    </dgm:pt>
    <dgm:pt modelId="{622D1439-8C5B-0142-B3D6-3FA475F067E0}" type="pres">
      <dgm:prSet presAssocID="{90CF9606-158D-184B-9F8C-5985DA786FF7}" presName="node" presStyleLbl="node1" presStyleIdx="1" presStyleCnt="3" custScaleX="146013" custScaleY="101174" custRadScaleRad="119618" custRadScaleInc="-16928">
        <dgm:presLayoutVars>
          <dgm:bulletEnabled val="1"/>
        </dgm:presLayoutVars>
      </dgm:prSet>
      <dgm:spPr/>
    </dgm:pt>
    <dgm:pt modelId="{0C7AFCC7-FCAB-0049-92ED-E5235D30256C}" type="pres">
      <dgm:prSet presAssocID="{90CF9606-158D-184B-9F8C-5985DA786FF7}" presName="spNode" presStyleCnt="0"/>
      <dgm:spPr/>
    </dgm:pt>
    <dgm:pt modelId="{8ECD0E6F-FEF1-FF45-85EA-286864C6C317}" type="pres">
      <dgm:prSet presAssocID="{7C5DA655-792A-AA47-B563-F26A67FABF1F}" presName="sibTrans" presStyleLbl="sibTrans1D1" presStyleIdx="1" presStyleCnt="3"/>
      <dgm:spPr/>
    </dgm:pt>
    <dgm:pt modelId="{9A20AB2F-2A98-974F-A4A4-609EC84FF47E}" type="pres">
      <dgm:prSet presAssocID="{BFC8F207-8F46-DE47-BA3F-C3A3BA104218}" presName="node" presStyleLbl="node1" presStyleIdx="2" presStyleCnt="3" custScaleX="146162" custRadScaleRad="123877" custRadScaleInc="18988">
        <dgm:presLayoutVars>
          <dgm:bulletEnabled val="1"/>
        </dgm:presLayoutVars>
      </dgm:prSet>
      <dgm:spPr/>
    </dgm:pt>
    <dgm:pt modelId="{3ECF656F-8AE0-AD48-A7A3-22CE65B7FEA0}" type="pres">
      <dgm:prSet presAssocID="{BFC8F207-8F46-DE47-BA3F-C3A3BA104218}" presName="spNode" presStyleCnt="0"/>
      <dgm:spPr/>
    </dgm:pt>
    <dgm:pt modelId="{870E4778-FB92-7242-AF04-35F38A3FF53E}" type="pres">
      <dgm:prSet presAssocID="{FB1FE3B7-2787-0344-ABCF-C1BDF03A350A}" presName="sibTrans" presStyleLbl="sibTrans1D1" presStyleIdx="2" presStyleCnt="3"/>
      <dgm:spPr/>
    </dgm:pt>
  </dgm:ptLst>
  <dgm:cxnLst>
    <dgm:cxn modelId="{BE7E5C0D-7667-6540-8F28-1DA39E3A13AD}" type="presOf" srcId="{BFC8F207-8F46-DE47-BA3F-C3A3BA104218}" destId="{9A20AB2F-2A98-974F-A4A4-609EC84FF47E}" srcOrd="0" destOrd="0" presId="urn:microsoft.com/office/officeart/2005/8/layout/cycle5"/>
    <dgm:cxn modelId="{9E1A0A23-F896-6D46-8D85-C3B5BB6CB4C3}" srcId="{D54554EE-CF1E-9840-B18A-4363BE749FA9}" destId="{BFC8F207-8F46-DE47-BA3F-C3A3BA104218}" srcOrd="2" destOrd="0" parTransId="{5AD20D50-84F8-9D4C-BA15-08B7C701F5B8}" sibTransId="{FB1FE3B7-2787-0344-ABCF-C1BDF03A350A}"/>
    <dgm:cxn modelId="{CABC5D24-E43E-544A-A0E0-78EC2A623ADC}" type="presOf" srcId="{FB1FE3B7-2787-0344-ABCF-C1BDF03A350A}" destId="{870E4778-FB92-7242-AF04-35F38A3FF53E}" srcOrd="0" destOrd="0" presId="urn:microsoft.com/office/officeart/2005/8/layout/cycle5"/>
    <dgm:cxn modelId="{1CA6E327-1063-5547-BC46-1C067AC282F3}" srcId="{D54554EE-CF1E-9840-B18A-4363BE749FA9}" destId="{90CF9606-158D-184B-9F8C-5985DA786FF7}" srcOrd="1" destOrd="0" parTransId="{2C96B9A0-D2D6-2F4C-A867-AC49D10485AB}" sibTransId="{7C5DA655-792A-AA47-B563-F26A67FABF1F}"/>
    <dgm:cxn modelId="{2D4ABA34-F792-8E41-869C-6347DED5013F}" type="presOf" srcId="{7C5DA655-792A-AA47-B563-F26A67FABF1F}" destId="{8ECD0E6F-FEF1-FF45-85EA-286864C6C317}" srcOrd="0" destOrd="0" presId="urn:microsoft.com/office/officeart/2005/8/layout/cycle5"/>
    <dgm:cxn modelId="{D6486A42-000A-C74A-AD3C-6F020509F957}" type="presOf" srcId="{35A95279-61F9-AA49-A707-1F1AC82FB9EE}" destId="{7198FC77-3DAA-3C4C-AD9A-F5A146B8454D}" srcOrd="0" destOrd="0" presId="urn:microsoft.com/office/officeart/2005/8/layout/cycle5"/>
    <dgm:cxn modelId="{899FE16D-6CCD-1148-81D6-2C9451A0FEF3}" type="presOf" srcId="{D54554EE-CF1E-9840-B18A-4363BE749FA9}" destId="{156BDC51-A31B-254F-A994-2CD563A0D5F0}" srcOrd="0" destOrd="0" presId="urn:microsoft.com/office/officeart/2005/8/layout/cycle5"/>
    <dgm:cxn modelId="{A50F1753-59E9-DB4A-99E6-FB7C216BE0A0}" srcId="{D54554EE-CF1E-9840-B18A-4363BE749FA9}" destId="{35A95279-61F9-AA49-A707-1F1AC82FB9EE}" srcOrd="0" destOrd="0" parTransId="{C3779B88-1AEE-764E-82D3-48EED89F750C}" sibTransId="{5495FD1B-C3D5-0742-9837-1B0CA2945FFE}"/>
    <dgm:cxn modelId="{C668FA7A-4059-B84C-A214-5649B04394D7}" type="presOf" srcId="{90CF9606-158D-184B-9F8C-5985DA786FF7}" destId="{622D1439-8C5B-0142-B3D6-3FA475F067E0}" srcOrd="0" destOrd="0" presId="urn:microsoft.com/office/officeart/2005/8/layout/cycle5"/>
    <dgm:cxn modelId="{FA3394CC-E53E-9948-9BDE-427882BCA28A}" type="presOf" srcId="{5495FD1B-C3D5-0742-9837-1B0CA2945FFE}" destId="{C7B88BC9-1A03-F74B-8B12-E317523DB0AF}" srcOrd="0" destOrd="0" presId="urn:microsoft.com/office/officeart/2005/8/layout/cycle5"/>
    <dgm:cxn modelId="{B530851A-CB2D-244D-8CA2-BCBFF014DC2E}" type="presParOf" srcId="{156BDC51-A31B-254F-A994-2CD563A0D5F0}" destId="{7198FC77-3DAA-3C4C-AD9A-F5A146B8454D}" srcOrd="0" destOrd="0" presId="urn:microsoft.com/office/officeart/2005/8/layout/cycle5"/>
    <dgm:cxn modelId="{04C268AD-E761-544E-A2DD-A0E2841D4A43}" type="presParOf" srcId="{156BDC51-A31B-254F-A994-2CD563A0D5F0}" destId="{142C493B-FA82-2249-A364-34671ED9FCD2}" srcOrd="1" destOrd="0" presId="urn:microsoft.com/office/officeart/2005/8/layout/cycle5"/>
    <dgm:cxn modelId="{5370964A-57DD-4F43-84AA-CBA79B148FBF}" type="presParOf" srcId="{156BDC51-A31B-254F-A994-2CD563A0D5F0}" destId="{C7B88BC9-1A03-F74B-8B12-E317523DB0AF}" srcOrd="2" destOrd="0" presId="urn:microsoft.com/office/officeart/2005/8/layout/cycle5"/>
    <dgm:cxn modelId="{57136699-1505-394A-A69B-850323C169AB}" type="presParOf" srcId="{156BDC51-A31B-254F-A994-2CD563A0D5F0}" destId="{622D1439-8C5B-0142-B3D6-3FA475F067E0}" srcOrd="3" destOrd="0" presId="urn:microsoft.com/office/officeart/2005/8/layout/cycle5"/>
    <dgm:cxn modelId="{D07BF340-DDFE-5246-81E5-872FDBB80F06}" type="presParOf" srcId="{156BDC51-A31B-254F-A994-2CD563A0D5F0}" destId="{0C7AFCC7-FCAB-0049-92ED-E5235D30256C}" srcOrd="4" destOrd="0" presId="urn:microsoft.com/office/officeart/2005/8/layout/cycle5"/>
    <dgm:cxn modelId="{AB93370A-0B3B-8A47-AA20-464438FD654B}" type="presParOf" srcId="{156BDC51-A31B-254F-A994-2CD563A0D5F0}" destId="{8ECD0E6F-FEF1-FF45-85EA-286864C6C317}" srcOrd="5" destOrd="0" presId="urn:microsoft.com/office/officeart/2005/8/layout/cycle5"/>
    <dgm:cxn modelId="{31913489-27F8-7744-AB0F-AD9E3C858C0D}" type="presParOf" srcId="{156BDC51-A31B-254F-A994-2CD563A0D5F0}" destId="{9A20AB2F-2A98-974F-A4A4-609EC84FF47E}" srcOrd="6" destOrd="0" presId="urn:microsoft.com/office/officeart/2005/8/layout/cycle5"/>
    <dgm:cxn modelId="{53F53814-2892-E749-84E6-E645B5F53612}" type="presParOf" srcId="{156BDC51-A31B-254F-A994-2CD563A0D5F0}" destId="{3ECF656F-8AE0-AD48-A7A3-22CE65B7FEA0}" srcOrd="7" destOrd="0" presId="urn:microsoft.com/office/officeart/2005/8/layout/cycle5"/>
    <dgm:cxn modelId="{0BB5B1E3-B79C-6047-904B-8AA38A156929}" type="presParOf" srcId="{156BDC51-A31B-254F-A994-2CD563A0D5F0}" destId="{870E4778-FB92-7242-AF04-35F38A3FF53E}" srcOrd="8" destOrd="0" presId="urn:microsoft.com/office/officeart/2005/8/layout/cycle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98FC77-3DAA-3C4C-AD9A-F5A146B8454D}">
      <dsp:nvSpPr>
        <dsp:cNvPr id="0" name=""/>
        <dsp:cNvSpPr/>
      </dsp:nvSpPr>
      <dsp:spPr>
        <a:xfrm>
          <a:off x="2087503" y="85"/>
          <a:ext cx="3048379" cy="1223999"/>
        </a:xfrm>
        <a:prstGeom prst="roundRect">
          <a:avLst/>
        </a:prstGeom>
        <a:noFill/>
        <a:ln w="38100" cap="flat" cmpd="sng" algn="ctr">
          <a:solidFill>
            <a:srgbClr val="2E27A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solidFill>
                <a:schemeClr val="tx1"/>
              </a:solidFill>
              <a:latin typeface="Amazon Ember"/>
              <a:ea typeface="Amazon Ember" panose="020B0603020204020204" pitchFamily="34" charset="0"/>
              <a:cs typeface="Amazon Ember" panose="020B0603020204020204" pitchFamily="34" charset="0"/>
            </a:rPr>
            <a:t>The consultant observes the coffee shop</a:t>
          </a:r>
        </a:p>
      </dsp:txBody>
      <dsp:txXfrm>
        <a:off x="2147254" y="59836"/>
        <a:ext cx="2928877" cy="1104497"/>
      </dsp:txXfrm>
    </dsp:sp>
    <dsp:sp modelId="{C7B88BC9-1A03-F74B-8B12-E317523DB0AF}">
      <dsp:nvSpPr>
        <dsp:cNvPr id="0" name=""/>
        <dsp:cNvSpPr/>
      </dsp:nvSpPr>
      <dsp:spPr>
        <a:xfrm>
          <a:off x="1702858" y="1050956"/>
          <a:ext cx="3267877" cy="3267877"/>
        </a:xfrm>
        <a:custGeom>
          <a:avLst/>
          <a:gdLst/>
          <a:ahLst/>
          <a:cxnLst/>
          <a:rect l="0" t="0" r="0" b="0"/>
          <a:pathLst>
            <a:path>
              <a:moveTo>
                <a:pt x="2614698" y="327085"/>
              </a:moveTo>
              <a:arcTo wR="1633938" hR="1633938" stAng="18413237" swAng="1962970"/>
            </a:path>
          </a:pathLst>
        </a:custGeom>
        <a:noFill/>
        <a:ln w="444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622D1439-8C5B-0142-B3D6-3FA475F067E0}">
      <dsp:nvSpPr>
        <dsp:cNvPr id="0" name=""/>
        <dsp:cNvSpPr/>
      </dsp:nvSpPr>
      <dsp:spPr>
        <a:xfrm>
          <a:off x="4032974" y="2397695"/>
          <a:ext cx="2749535" cy="1238368"/>
        </a:xfrm>
        <a:prstGeom prst="roundRect">
          <a:avLst/>
        </a:prstGeom>
        <a:noFill/>
        <a:ln w="38100" cap="flat" cmpd="sng" algn="ctr">
          <a:solidFill>
            <a:srgbClr val="2E27A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r>
            <a:rPr lang="en-US" sz="1800" b="0" i="0" kern="1200">
              <a:solidFill>
                <a:schemeClr val="tx1"/>
              </a:solidFill>
              <a:latin typeface="Amazon Ember"/>
            </a:rPr>
            <a:t>The consultant offers suggestions for enhancements</a:t>
          </a:r>
        </a:p>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r>
            <a:rPr lang="en-US" sz="18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dsp:txBody>
      <dsp:txXfrm>
        <a:off x="4093426" y="2458147"/>
        <a:ext cx="2628631" cy="1117464"/>
      </dsp:txXfrm>
    </dsp:sp>
    <dsp:sp modelId="{8ECD0E6F-FEF1-FF45-85EA-286864C6C317}">
      <dsp:nvSpPr>
        <dsp:cNvPr id="0" name=""/>
        <dsp:cNvSpPr/>
      </dsp:nvSpPr>
      <dsp:spPr>
        <a:xfrm>
          <a:off x="1927849" y="1200669"/>
          <a:ext cx="3267877" cy="3267877"/>
        </a:xfrm>
        <a:custGeom>
          <a:avLst/>
          <a:gdLst/>
          <a:ahLst/>
          <a:cxnLst/>
          <a:rect l="0" t="0" r="0" b="0"/>
          <a:pathLst>
            <a:path>
              <a:moveTo>
                <a:pt x="2697879" y="2874013"/>
              </a:moveTo>
              <a:arcTo wR="1633938" hR="1633938" stAng="2962294" swAng="4891252"/>
            </a:path>
          </a:pathLst>
        </a:custGeom>
        <a:noFill/>
        <a:ln w="444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9A20AB2F-2A98-974F-A4A4-609EC84FF47E}">
      <dsp:nvSpPr>
        <dsp:cNvPr id="0" name=""/>
        <dsp:cNvSpPr/>
      </dsp:nvSpPr>
      <dsp:spPr>
        <a:xfrm>
          <a:off x="364237" y="2405495"/>
          <a:ext cx="2752341" cy="1223999"/>
        </a:xfrm>
        <a:prstGeom prst="roundRect">
          <a:avLst/>
        </a:prstGeom>
        <a:noFill/>
        <a:ln w="38100" cap="flat" cmpd="sng" algn="ctr">
          <a:solidFill>
            <a:srgbClr val="2E27A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r>
            <a:rPr lang="en-US" sz="1800" b="0" i="0" kern="1200">
              <a:solidFill>
                <a:schemeClr val="tx1"/>
              </a:solidFill>
              <a:latin typeface="Amazon Ember"/>
            </a:rPr>
            <a:t>The owners implement the recommended adjustments</a:t>
          </a:r>
        </a:p>
        <a:p>
          <a:pPr marL="0" lvl="0" indent="0" algn="ctr" defTabSz="800100">
            <a:lnSpc>
              <a:spcPct val="90000"/>
            </a:lnSpc>
            <a:spcBef>
              <a:spcPct val="0"/>
            </a:spcBef>
            <a:spcAft>
              <a:spcPct val="35000"/>
            </a:spcAft>
            <a:buNone/>
          </a:pPr>
          <a:endParaRPr lang="en-US" sz="1800" b="0" i="0" kern="1200">
            <a:solidFill>
              <a:schemeClr val="tx1"/>
            </a:solidFill>
            <a:latin typeface="Amazon Ember" panose="020B0603020204020204" pitchFamily="34" charset="0"/>
          </a:endParaRPr>
        </a:p>
        <a:p>
          <a:pPr marL="0" lvl="0" indent="0" algn="ctr" defTabSz="800100">
            <a:lnSpc>
              <a:spcPct val="90000"/>
            </a:lnSpc>
            <a:spcBef>
              <a:spcPct val="0"/>
            </a:spcBef>
            <a:spcAft>
              <a:spcPct val="35000"/>
            </a:spcAft>
            <a:buNone/>
          </a:pPr>
          <a:r>
            <a:rPr lang="en-US" sz="18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dsp:txBody>
      <dsp:txXfrm>
        <a:off x="423988" y="2465246"/>
        <a:ext cx="2632839" cy="1104497"/>
      </dsp:txXfrm>
    </dsp:sp>
    <dsp:sp modelId="{870E4778-FB92-7242-AF04-35F38A3FF53E}">
      <dsp:nvSpPr>
        <dsp:cNvPr id="0" name=""/>
        <dsp:cNvSpPr/>
      </dsp:nvSpPr>
      <dsp:spPr>
        <a:xfrm>
          <a:off x="2188521" y="1072699"/>
          <a:ext cx="3267877" cy="3267877"/>
        </a:xfrm>
        <a:custGeom>
          <a:avLst/>
          <a:gdLst/>
          <a:ahLst/>
          <a:cxnLst/>
          <a:rect l="0" t="0" r="0" b="0"/>
          <a:pathLst>
            <a:path>
              <a:moveTo>
                <a:pt x="109734" y="1045246"/>
              </a:moveTo>
              <a:arcTo wR="1633938" hR="1633938" stAng="12067081" swAng="2011568"/>
            </a:path>
          </a:pathLst>
        </a:custGeom>
        <a:noFill/>
        <a:ln w="444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28A20-C92E-4187-A2D4-162E1546B4A5}" type="datetimeFigureOut">
              <a:rPr lang="en-US" smtClean="0"/>
              <a:t>9/27/2024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A96B0-89C3-4AC3-97E3-995144F98023}" type="slidenum">
              <a:rPr lang="en-US" smtClean="0"/>
              <a:t>‹#›</a:t>
            </a:fld>
            <a:endParaRPr lang="en-US"/>
          </a:p>
        </p:txBody>
      </p:sp>
    </p:spTree>
    <p:extLst>
      <p:ext uri="{BB962C8B-B14F-4D97-AF65-F5344CB8AC3E}">
        <p14:creationId xmlns:p14="http://schemas.microsoft.com/office/powerpoint/2010/main" val="202630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aws.amazon.com/blogs/compute/running-activemq-in-a-hybrid-cloud-environment-with-amazon-mq/"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rtl="0">
              <a:spcBef>
                <a:spcPts val="0"/>
              </a:spcBef>
              <a:spcAft>
                <a:spcPts val="0"/>
              </a:spcAft>
            </a:pPr>
            <a:r>
              <a:rPr lang="en-US" sz="1800" b="0" i="0" u="none" strike="noStrike">
                <a:solidFill>
                  <a:srgbClr val="000000"/>
                </a:solidFill>
                <a:effectLst/>
                <a:latin typeface="Calibri" panose="020F0502020204030204" pitchFamily="34" charset="0"/>
              </a:rPr>
              <a:t>In this module, you will learn about migration and innovation on AWS. This includes migration services, cloud migration strategies, and the AWS Cloud Adoption Framework.</a:t>
            </a:r>
            <a:endParaRPr lang="en-US" b="0">
              <a:effectLst/>
            </a:endParaRPr>
          </a:p>
          <a:p>
            <a:br>
              <a:rPr lang="en-US"/>
            </a:b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Next, you will examine how to use data and insights about your AWS resources to identify potential areas of improvement.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A service that provides recommendations for improving your AWS environment is </a:t>
            </a:r>
            <a:r>
              <a:rPr lang="en-US" sz="1800" b="1" i="0" u="none" strike="noStrike">
                <a:solidFill>
                  <a:srgbClr val="000000"/>
                </a:solidFill>
                <a:effectLst/>
                <a:latin typeface="Calibri" panose="020F0502020204030204" pitchFamily="34" charset="0"/>
              </a:rPr>
              <a:t>AWS</a:t>
            </a:r>
            <a:r>
              <a:rPr lang="en-US" sz="1800" b="0" i="0" u="none" strike="noStrike">
                <a:solidFill>
                  <a:srgbClr val="000000"/>
                </a:solidFill>
                <a:effectLst/>
                <a:latin typeface="Calibri" panose="020F0502020204030204" pitchFamily="34" charset="0"/>
              </a:rPr>
              <a:t> </a:t>
            </a:r>
            <a:r>
              <a:rPr lang="en-US" sz="1800" b="1" i="0" u="none" strike="noStrike">
                <a:solidFill>
                  <a:srgbClr val="000000"/>
                </a:solidFill>
                <a:effectLst/>
                <a:latin typeface="Calibri" panose="020F0502020204030204" pitchFamily="34" charset="0"/>
              </a:rPr>
              <a:t>Trusted Advisor</a:t>
            </a:r>
            <a:r>
              <a:rPr lang="en-US" sz="1800" b="0" i="0" u="none" strike="noStrike">
                <a:solidFill>
                  <a:srgbClr val="000000"/>
                </a:solidFill>
                <a:effectLst/>
                <a:latin typeface="Calibri" panose="020F0502020204030204" pitchFamily="34" charset="0"/>
              </a:rPr>
              <a:t>. The next section uses a coffee shop example to introduce you to Trusted Advisor.</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3</a:t>
            </a:fld>
            <a:endParaRPr lang="en-IN"/>
          </a:p>
        </p:txBody>
      </p:sp>
    </p:spTree>
    <p:extLst>
      <p:ext uri="{BB962C8B-B14F-4D97-AF65-F5344CB8AC3E}">
        <p14:creationId xmlns:p14="http://schemas.microsoft.com/office/powerpoint/2010/main" val="4062756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Now that the coffee shop has been in business for a while, the owners want to improve their operations. They enlist the help of a coffee shop consultant.</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The consultant observes the coffee shop’s current business practices, such as order-taking processes, use of supplies, methods for securing digital records, and so on. The consultant compares their observations to established best practices for running a coffee shop.</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As the consultant completes their observations, they provide the owners with a summary of their findings and their recommended areas of improvement. This allows the owners to more easily begin making specific changes throughout the shop. Later, the owners can invite the consultant to come back to conduct additional observations and determine which other improvements might benefit the coffee shop.</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To receive real-time guidance for how to make improvements throughout your AWS environment, you can use AWS Trusted Advisor.</a:t>
            </a:r>
            <a:endParaRPr lang="en-US" b="0">
              <a:effectLst/>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4</a:t>
            </a:fld>
            <a:endParaRPr lang="en-IN"/>
          </a:p>
        </p:txBody>
      </p:sp>
    </p:spTree>
    <p:extLst>
      <p:ext uri="{BB962C8B-B14F-4D97-AF65-F5344CB8AC3E}">
        <p14:creationId xmlns:p14="http://schemas.microsoft.com/office/powerpoint/2010/main" val="1766787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1" i="0" u="none" strike="noStrike">
                <a:solidFill>
                  <a:srgbClr val="000000"/>
                </a:solidFill>
                <a:effectLst/>
                <a:latin typeface="Calibri" panose="020F0502020204030204" pitchFamily="34" charset="0"/>
              </a:rPr>
              <a:t>AWS Trusted Advisor </a:t>
            </a:r>
            <a:r>
              <a:rPr lang="en-US" sz="1800" b="0" i="0" u="none" strike="noStrike">
                <a:solidFill>
                  <a:srgbClr val="000000"/>
                </a:solidFill>
                <a:effectLst/>
                <a:latin typeface="Calibri" panose="020F0502020204030204" pitchFamily="34" charset="0"/>
              </a:rPr>
              <a:t>is a web service that inspects your AWS environment and provides real-time recommendations in accordance with AWS best practices.</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Trusted Advisor compares its findings to AWS best practices in five categories: cost optimization, performance, security, fault tolerance, and service limits. For the checks in each category, Trusted Advisor offers a list of recommended actions and additional resources to learn more about AWS best practices.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The guidance provided by AWS Trusted Advisor can benefit your company at all stages of deployment. For example, you can use AWS Trusted Advisor to assist you while you are creating new workflows and developing new applications. Or, you can use it while you are making ongoing improvements to existing applications and resources.</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5</a:t>
            </a:fld>
            <a:endParaRPr lang="en-IN"/>
          </a:p>
        </p:txBody>
      </p:sp>
    </p:spTree>
    <p:extLst>
      <p:ext uri="{BB962C8B-B14F-4D97-AF65-F5344CB8AC3E}">
        <p14:creationId xmlns:p14="http://schemas.microsoft.com/office/powerpoint/2010/main" val="462599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When you access the Trusted Advisor dashboard in the AWS Management Console, you can review completed checks for cost optimization, performance, security, fault tolerance, and service limits, as shown in this example.</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For each category:</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The green check indicates the number of items for which it detected </a:t>
            </a:r>
            <a:r>
              <a:rPr lang="en-US" sz="1800" b="1" i="0" u="none" strike="noStrike">
                <a:solidFill>
                  <a:srgbClr val="000000"/>
                </a:solidFill>
                <a:effectLst/>
                <a:latin typeface="Calibri" panose="020F0502020204030204" pitchFamily="34" charset="0"/>
              </a:rPr>
              <a:t>no problems.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The orange triangle represents the number of recommended </a:t>
            </a:r>
            <a:r>
              <a:rPr lang="en-US" sz="1800" b="1" i="0" u="none" strike="noStrike">
                <a:solidFill>
                  <a:srgbClr val="000000"/>
                </a:solidFill>
                <a:effectLst/>
                <a:latin typeface="Calibri" panose="020F0502020204030204" pitchFamily="34" charset="0"/>
              </a:rPr>
              <a:t>investigations.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The red circle represents the number of recommended </a:t>
            </a:r>
            <a:r>
              <a:rPr lang="en-US" sz="1800" b="1" i="0" u="none" strike="noStrike">
                <a:solidFill>
                  <a:srgbClr val="000000"/>
                </a:solidFill>
                <a:effectLst/>
                <a:latin typeface="Calibri" panose="020F0502020204030204" pitchFamily="34" charset="0"/>
              </a:rPr>
              <a:t>actions.</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Here are a few examples of what these alerts might indicate for Trusted Advisor’s checks in Amazon S3:</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A yellow investigation alert might occur if a bucket’s access control list allows any authenticated AWS user to view the objects in the bucket.</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A red action alert might occur if a bucket’s access control list allows any authenticated AWS user to upload files to the bucket or delete existing objects. </a:t>
            </a:r>
            <a:endParaRPr lang="en-US" sz="1800" b="0" i="0" u="none" strike="noStrike">
              <a:solidFill>
                <a:srgbClr val="000000"/>
              </a:solidFill>
              <a:effectLst/>
              <a:latin typeface="Arial" panose="020B0604020202020204" pitchFamily="34" charset="0"/>
            </a:endParaRPr>
          </a:p>
          <a:p>
            <a:pPr rtl="0">
              <a:spcBef>
                <a:spcPts val="0"/>
              </a:spcBef>
              <a:spcAft>
                <a:spcPts val="0"/>
              </a:spcAft>
            </a:pPr>
            <a:r>
              <a:rPr lang="en-US" sz="1800" b="0" i="0" u="none" strike="noStrike">
                <a:solidFill>
                  <a:srgbClr val="000000"/>
                </a:solidFill>
                <a:effectLst/>
                <a:latin typeface="Calibri" panose="020F0502020204030204" pitchFamily="34" charset="0"/>
              </a:rPr>
              <a:t> </a:t>
            </a: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Although both of these alerts should be remediated, the red alert indicates a greater sense of urgency for action that needs to be taken.</a:t>
            </a:r>
            <a:endParaRPr lang="en-US" b="0">
              <a:effectLst/>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6</a:t>
            </a:fld>
            <a:endParaRPr lang="en-IN"/>
          </a:p>
        </p:txBody>
      </p:sp>
    </p:spTree>
    <p:extLst>
      <p:ext uri="{BB962C8B-B14F-4D97-AF65-F5344CB8AC3E}">
        <p14:creationId xmlns:p14="http://schemas.microsoft.com/office/powerpoint/2010/main" val="3144208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In this section, you will explore the AWS Cloud Adoption Framework, which provides guidance to support organizational change throughout the cloud adoption process.</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7</a:t>
            </a:fld>
            <a:endParaRPr lang="en-IN"/>
          </a:p>
        </p:txBody>
      </p:sp>
    </p:spTree>
    <p:extLst>
      <p:ext uri="{BB962C8B-B14F-4D97-AF65-F5344CB8AC3E}">
        <p14:creationId xmlns:p14="http://schemas.microsoft.com/office/powerpoint/2010/main" val="2477053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Migrating to the cloud is a process. You don't snap your fingers and have everything magically hosted in AWS. Migrating applications takes effort, and a successful cloud migration requires expertise.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Fortunately, many people have successfully migrated to AWS, and a lot of knowledge about the process has been captured and shared. </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That being said, the position you hold in your organization will impact what you need to know and how you can help with a migration. If you are a developer, your role and viewpoint will be much different than a cloud architect, business analyst, or financial analyst. Different types of people bring different perspectives to the table for a migration. You want to harness those different perspectives and make sure that everyone has the same focus. </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You also want to ensure that you have the right talent to help support your migration. HR will need to hire at the correct rate to enable your migration. This can be a lot to track, and someone new to the cloud might not think of all the different people who need to be involved.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The AWS Professional Services team created the </a:t>
            </a:r>
            <a:r>
              <a:rPr lang="en-US" sz="1800" b="1" i="0" u="none" strike="noStrike">
                <a:solidFill>
                  <a:srgbClr val="000000"/>
                </a:solidFill>
                <a:effectLst/>
                <a:latin typeface="Calibri" panose="020F0502020204030204" pitchFamily="34" charset="0"/>
              </a:rPr>
              <a:t>AWS Cloud Adoption Framework (AWS CAF)</a:t>
            </a:r>
            <a:r>
              <a:rPr lang="en-US" sz="1800" b="0" i="0" u="none" strike="noStrike">
                <a:solidFill>
                  <a:srgbClr val="000000"/>
                </a:solidFill>
                <a:effectLst/>
                <a:latin typeface="Calibri" panose="020F0502020204030204" pitchFamily="34" charset="0"/>
              </a:rPr>
              <a:t> to help you manage this process. The Cloud Adoption Framework provides advice to your company to enable a smooth migration to AWS.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At the highest level, the AWS CAF organizes guidance into six areas of focus, called </a:t>
            </a:r>
            <a:r>
              <a:rPr lang="en-US" sz="1800" b="1" i="0" u="none" strike="noStrike">
                <a:solidFill>
                  <a:srgbClr val="000000"/>
                </a:solidFill>
                <a:effectLst/>
                <a:latin typeface="Calibri" panose="020F0502020204030204" pitchFamily="34" charset="0"/>
              </a:rPr>
              <a:t>perspectives</a:t>
            </a:r>
            <a:r>
              <a:rPr lang="en-US" sz="1800" b="0" i="0" u="none" strike="noStrike">
                <a:solidFill>
                  <a:srgbClr val="000000"/>
                </a:solidFill>
                <a:effectLst/>
                <a:latin typeface="Calibri" panose="020F0502020204030204" pitchFamily="34" charset="0"/>
              </a:rPr>
              <a:t>. Each perspective addresses distinct responsibilities. The planning process helps the right people across the organization prepare for the changes ahead.</a:t>
            </a:r>
            <a:endParaRPr lang="en-US" b="0">
              <a:effectLst/>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8</a:t>
            </a:fld>
            <a:endParaRPr lang="en-IN"/>
          </a:p>
        </p:txBody>
      </p:sp>
    </p:spTree>
    <p:extLst>
      <p:ext uri="{BB962C8B-B14F-4D97-AF65-F5344CB8AC3E}">
        <p14:creationId xmlns:p14="http://schemas.microsoft.com/office/powerpoint/2010/main" val="1071772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Each perspective of the AWS CAF addresses distinct responsibilities. The planning process helps the right people across the organization prepare for the changes ahead. In general, the </a:t>
            </a:r>
            <a:r>
              <a:rPr lang="en-US" sz="1800" b="1" i="0" u="none" strike="noStrike">
                <a:solidFill>
                  <a:srgbClr val="000000"/>
                </a:solidFill>
                <a:effectLst/>
                <a:latin typeface="Calibri" panose="020F0502020204030204" pitchFamily="34" charset="0"/>
              </a:rPr>
              <a:t>Business</a:t>
            </a:r>
            <a:r>
              <a:rPr lang="en-US" sz="1800" b="0" i="0" u="none" strike="noStrike">
                <a:solidFill>
                  <a:srgbClr val="000000"/>
                </a:solidFill>
                <a:effectLst/>
                <a:latin typeface="Calibri" panose="020F0502020204030204" pitchFamily="34" charset="0"/>
              </a:rPr>
              <a:t>, </a:t>
            </a:r>
            <a:r>
              <a:rPr lang="en-US" sz="1800" b="1" i="0" u="none" strike="noStrike">
                <a:solidFill>
                  <a:srgbClr val="000000"/>
                </a:solidFill>
                <a:effectLst/>
                <a:latin typeface="Calibri" panose="020F0502020204030204" pitchFamily="34" charset="0"/>
              </a:rPr>
              <a:t>People</a:t>
            </a:r>
            <a:r>
              <a:rPr lang="en-US" sz="1800" b="0" i="0" u="none" strike="noStrike">
                <a:solidFill>
                  <a:srgbClr val="000000"/>
                </a:solidFill>
                <a:effectLst/>
                <a:latin typeface="Calibri" panose="020F0502020204030204" pitchFamily="34" charset="0"/>
              </a:rPr>
              <a:t>, and </a:t>
            </a:r>
            <a:r>
              <a:rPr lang="en-US" sz="1800" b="1" i="0" u="none" strike="noStrike">
                <a:solidFill>
                  <a:srgbClr val="000000"/>
                </a:solidFill>
                <a:effectLst/>
                <a:latin typeface="Calibri" panose="020F0502020204030204" pitchFamily="34" charset="0"/>
              </a:rPr>
              <a:t>Governance</a:t>
            </a:r>
            <a:r>
              <a:rPr lang="en-US" sz="1800" b="0" i="0" u="none" strike="noStrike">
                <a:solidFill>
                  <a:srgbClr val="000000"/>
                </a:solidFill>
                <a:effectLst/>
                <a:latin typeface="Calibri" panose="020F0502020204030204" pitchFamily="34" charset="0"/>
              </a:rPr>
              <a:t> perspectives focus on business capabilities, whereas the </a:t>
            </a:r>
            <a:r>
              <a:rPr lang="en-US" sz="1800" b="1" i="0" u="none" strike="noStrike">
                <a:solidFill>
                  <a:srgbClr val="000000"/>
                </a:solidFill>
                <a:effectLst/>
                <a:latin typeface="Calibri" panose="020F0502020204030204" pitchFamily="34" charset="0"/>
              </a:rPr>
              <a:t>Platform</a:t>
            </a:r>
            <a:r>
              <a:rPr lang="en-US" sz="1800" b="0" i="0" u="none" strike="noStrike">
                <a:solidFill>
                  <a:srgbClr val="000000"/>
                </a:solidFill>
                <a:effectLst/>
                <a:latin typeface="Calibri" panose="020F0502020204030204" pitchFamily="34" charset="0"/>
              </a:rPr>
              <a:t>, </a:t>
            </a:r>
            <a:r>
              <a:rPr lang="en-US" sz="1800" b="1" i="0" u="none" strike="noStrike">
                <a:solidFill>
                  <a:srgbClr val="000000"/>
                </a:solidFill>
                <a:effectLst/>
                <a:latin typeface="Calibri" panose="020F0502020204030204" pitchFamily="34" charset="0"/>
              </a:rPr>
              <a:t>Security</a:t>
            </a:r>
            <a:r>
              <a:rPr lang="en-US" sz="1800" b="0" i="0" u="none" strike="noStrike">
                <a:solidFill>
                  <a:srgbClr val="000000"/>
                </a:solidFill>
                <a:effectLst/>
                <a:latin typeface="Calibri" panose="020F0502020204030204" pitchFamily="34" charset="0"/>
              </a:rPr>
              <a:t>, and </a:t>
            </a:r>
            <a:r>
              <a:rPr lang="en-US" sz="1800" b="1" i="0" u="none" strike="noStrike">
                <a:solidFill>
                  <a:srgbClr val="000000"/>
                </a:solidFill>
                <a:effectLst/>
                <a:latin typeface="Calibri" panose="020F0502020204030204" pitchFamily="34" charset="0"/>
              </a:rPr>
              <a:t>Operations</a:t>
            </a:r>
            <a:r>
              <a:rPr lang="en-US" sz="1800" b="0" i="0" u="none" strike="noStrike">
                <a:solidFill>
                  <a:srgbClr val="000000"/>
                </a:solidFill>
                <a:effectLst/>
                <a:latin typeface="Calibri" panose="020F0502020204030204" pitchFamily="34" charset="0"/>
              </a:rPr>
              <a:t> perspectives focus on technical capabilities. For example, someone who is a business or finance analysts is part of the Business perspective, HR is part of the People perspective, and a cloud architect is part of the Platform perspective.</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Each perspective uncovers gaps in your skills and processes, which are then recorded as inputs. The inputs are then used as the basis for creating an </a:t>
            </a:r>
            <a:r>
              <a:rPr lang="en-US" sz="1800" b="1" i="0" u="none" strike="noStrike">
                <a:solidFill>
                  <a:srgbClr val="000000"/>
                </a:solidFill>
                <a:effectLst/>
                <a:latin typeface="Calibri" panose="020F0502020204030204" pitchFamily="34" charset="0"/>
              </a:rPr>
              <a:t>AWS Cloud Adoption Framework Action Plan</a:t>
            </a:r>
            <a:r>
              <a:rPr lang="en-US" sz="1800" b="0" i="0" u="none" strike="noStrike">
                <a:solidFill>
                  <a:srgbClr val="000000"/>
                </a:solidFill>
                <a:effectLst/>
                <a:latin typeface="Calibri" panose="020F0502020204030204" pitchFamily="34" charset="0"/>
              </a:rPr>
              <a:t>. You can use the action plan to guide your organization's change management as you journey to the cloud. Having an action plan that makes sense for your organization can help keep you on track towards achieving your desired outcomes.</a:t>
            </a:r>
            <a:endParaRPr lang="en-US" b="0">
              <a:effectLst/>
            </a:endParaRPr>
          </a:p>
          <a:p>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9</a:t>
            </a:fld>
            <a:endParaRPr lang="en-IN"/>
          </a:p>
        </p:txBody>
      </p:sp>
    </p:spTree>
    <p:extLst>
      <p:ext uri="{BB962C8B-B14F-4D97-AF65-F5344CB8AC3E}">
        <p14:creationId xmlns:p14="http://schemas.microsoft.com/office/powerpoint/2010/main" val="4130762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Business perspective</a:t>
            </a:r>
            <a:r>
              <a:rPr lang="en-US" sz="1800" b="0" i="0" u="none" strike="noStrike">
                <a:solidFill>
                  <a:srgbClr val="000000"/>
                </a:solidFill>
                <a:effectLst/>
                <a:latin typeface="Calibri" panose="020F0502020204030204" pitchFamily="34" charset="0"/>
              </a:rPr>
              <a:t> ensures that IT aligns with business needs and IT investments link to key business results.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Use the Business perspective to create a strong business case for cloud adoption and prioritize cloud adoption initiatives. Ensure that your business strategies and goals align with your IT strategies and goals.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Common roles in the Business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Business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Finance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Budget owners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Strategy stakeholders</a:t>
            </a:r>
            <a:endParaRPr lang="en-US" sz="1800" b="0" i="0" u="none" strike="noStrike">
              <a:solidFill>
                <a:srgbClr val="000000"/>
              </a:solidFill>
              <a:effectLst/>
              <a:latin typeface="Arial" panose="020B0604020202020204" pitchFamily="34" charset="0"/>
            </a:endParaRPr>
          </a:p>
          <a:p>
            <a:br>
              <a:rPr lang="en-US" b="0">
                <a:effectLst/>
              </a:rPr>
            </a:br>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10</a:t>
            </a:fld>
            <a:endParaRPr lang="en-IN"/>
          </a:p>
        </p:txBody>
      </p:sp>
    </p:spTree>
    <p:extLst>
      <p:ext uri="{BB962C8B-B14F-4D97-AF65-F5344CB8AC3E}">
        <p14:creationId xmlns:p14="http://schemas.microsoft.com/office/powerpoint/2010/main" val="2770141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People perspective</a:t>
            </a:r>
            <a:r>
              <a:rPr lang="en-US" sz="1800" b="0" i="0" u="none" strike="noStrike">
                <a:solidFill>
                  <a:srgbClr val="000000"/>
                </a:solidFill>
                <a:effectLst/>
                <a:latin typeface="Calibri" panose="020F0502020204030204" pitchFamily="34" charset="0"/>
              </a:rPr>
              <a:t> supports development of an organization-wide change management strategy for successful cloud adoption.</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Use the People perspective to evaluate organizational structures and roles, new skill and process requirements, and identify gaps. This helps prioritize training, staffing, and organizational changes.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Common roles in the People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Human resources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Staffing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People managers</a:t>
            </a:r>
            <a:endParaRPr lang="en-US" sz="1800" b="0" i="0" u="none" strike="noStrike">
              <a:solidFill>
                <a:srgbClr val="000000"/>
              </a:solidFill>
              <a:effectLst/>
              <a:latin typeface="Arial" panose="020B0604020202020204" pitchFamily="34" charset="0"/>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11</a:t>
            </a:fld>
            <a:endParaRPr lang="en-IN"/>
          </a:p>
        </p:txBody>
      </p:sp>
    </p:spTree>
    <p:extLst>
      <p:ext uri="{BB962C8B-B14F-4D97-AF65-F5344CB8AC3E}">
        <p14:creationId xmlns:p14="http://schemas.microsoft.com/office/powerpoint/2010/main" val="4201441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Governance perspective</a:t>
            </a:r>
            <a:r>
              <a:rPr lang="en-US" sz="1800" b="0" i="0" u="none" strike="noStrike">
                <a:solidFill>
                  <a:srgbClr val="000000"/>
                </a:solidFill>
                <a:effectLst/>
                <a:latin typeface="Calibri" panose="020F0502020204030204" pitchFamily="34" charset="0"/>
              </a:rPr>
              <a:t> focuses on the skills and processes to align IT strategy with business strategy. This ensures that you maximize the business value and minimize risks.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Use the Governance perspective to understand how to update the staff skills and processes necessary to ensure business governance in the cloud. Manage and measure cloud investments to evaluate business outcomes.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Common roles in the Governance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Chief information officer (CIO)</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Program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Enterprise architects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Business analysts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Portfolio managers</a:t>
            </a:r>
            <a:endParaRPr lang="en-US" sz="1800" b="0" i="0" u="none" strike="noStrike">
              <a:solidFill>
                <a:srgbClr val="000000"/>
              </a:solidFill>
              <a:effectLst/>
              <a:latin typeface="Arial" panose="020B0604020202020204" pitchFamily="34" charset="0"/>
            </a:endParaRPr>
          </a:p>
          <a:p>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12</a:t>
            </a:fld>
            <a:endParaRPr lang="en-IN"/>
          </a:p>
        </p:txBody>
      </p:sp>
    </p:spTree>
    <p:extLst>
      <p:ext uri="{BB962C8B-B14F-4D97-AF65-F5344CB8AC3E}">
        <p14:creationId xmlns:p14="http://schemas.microsoft.com/office/powerpoint/2010/main" val="1198281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Platform perspective</a:t>
            </a:r>
            <a:r>
              <a:rPr lang="en-US" sz="1800" b="0" i="0" u="none" strike="noStrike">
                <a:solidFill>
                  <a:srgbClr val="000000"/>
                </a:solidFill>
                <a:effectLst/>
                <a:latin typeface="Calibri" panose="020F0502020204030204" pitchFamily="34" charset="0"/>
              </a:rPr>
              <a:t> includes principles and patterns for implementing new solutions in the cloud, and migrating on-premises workloads to the cloud.</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Use a variety of architectural models to understand and communicate the structure of IT systems and their relationships. Describe the architecture of the target state environment in detail.</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Common roles in the Platform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Chief technology officer (CTO)</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IT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Solutions architects</a:t>
            </a:r>
            <a:endParaRPr lang="en-US" sz="1800" b="0" i="0" u="none" strike="noStrike">
              <a:solidFill>
                <a:srgbClr val="000000"/>
              </a:solidFill>
              <a:effectLst/>
              <a:latin typeface="Arial" panose="020B0604020202020204" pitchFamily="34" charset="0"/>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13</a:t>
            </a:fld>
            <a:endParaRPr lang="en-IN"/>
          </a:p>
        </p:txBody>
      </p:sp>
    </p:spTree>
    <p:extLst>
      <p:ext uri="{BB962C8B-B14F-4D97-AF65-F5344CB8AC3E}">
        <p14:creationId xmlns:p14="http://schemas.microsoft.com/office/powerpoint/2010/main" val="398233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Security perspective</a:t>
            </a:r>
            <a:r>
              <a:rPr lang="en-US" sz="1800" b="0" i="0" u="none" strike="noStrike">
                <a:solidFill>
                  <a:srgbClr val="000000"/>
                </a:solidFill>
                <a:effectLst/>
                <a:latin typeface="Calibri" panose="020F0502020204030204" pitchFamily="34" charset="0"/>
              </a:rPr>
              <a:t> ensures that an organization meets security objectives for visibility, auditability, control, and agility.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Use the AWS CAF to structure the selection and implementation of security controls that meet the organization’s needs.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Common roles in the Security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Chief information security officer (CISO)</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IT security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IT security analysts</a:t>
            </a:r>
            <a:endParaRPr lang="en-US" sz="1800" b="0" i="0" u="none" strike="noStrike">
              <a:solidFill>
                <a:srgbClr val="000000"/>
              </a:solidFill>
              <a:effectLst/>
              <a:latin typeface="Arial" panose="020B0604020202020204" pitchFamily="34" charset="0"/>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14</a:t>
            </a:fld>
            <a:endParaRPr lang="en-IN"/>
          </a:p>
        </p:txBody>
      </p:sp>
    </p:spTree>
    <p:extLst>
      <p:ext uri="{BB962C8B-B14F-4D97-AF65-F5344CB8AC3E}">
        <p14:creationId xmlns:p14="http://schemas.microsoft.com/office/powerpoint/2010/main" val="42794009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Operations perspective</a:t>
            </a:r>
            <a:r>
              <a:rPr lang="en-US" sz="1800" b="0" i="0" u="none" strike="noStrike">
                <a:solidFill>
                  <a:srgbClr val="000000"/>
                </a:solidFill>
                <a:effectLst/>
                <a:latin typeface="Calibri" panose="020F0502020204030204" pitchFamily="34" charset="0"/>
              </a:rPr>
              <a:t> helps you to enable, run, use, operate, and recover IT workloads to the level agreed on with your business stakeholders.</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b="0">
              <a:effectLst/>
            </a:endParaRPr>
          </a:p>
          <a:p>
            <a:pPr rtl="0">
              <a:spcBef>
                <a:spcPts val="0"/>
              </a:spcBef>
              <a:spcAft>
                <a:spcPts val="0"/>
              </a:spcAft>
            </a:pPr>
            <a:r>
              <a:rPr lang="en-US" sz="1800" b="0" i="0" u="none" strike="noStrike">
                <a:solidFill>
                  <a:srgbClr val="000000"/>
                </a:solidFill>
                <a:effectLst/>
                <a:latin typeface="Calibri" panose="020F0502020204030204" pitchFamily="34" charset="0"/>
              </a:rPr>
              <a:t>Define how day-to-day, quarter-to-quarter, and year-to-year business is conducted. Align with and support the operations of the business. The AWS CAF helps stakeholders define current operating procedures and identify the process changes and training needed to implement successful cloud adoption.</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Common roles in the Operations perspective include: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IT operations managers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IT support managers</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Migrating to the cloud can be complicated, but you are not alone in this. You have access to many resources that can help you get started, and the AWS Cloud Adoption Framework is a helpful place to look.</a:t>
            </a:r>
            <a:endParaRPr lang="en-US" b="0">
              <a:effectLst/>
            </a:endParaRPr>
          </a:p>
          <a:p>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15</a:t>
            </a:fld>
            <a:endParaRPr lang="en-IN"/>
          </a:p>
        </p:txBody>
      </p:sp>
    </p:spTree>
    <p:extLst>
      <p:ext uri="{BB962C8B-B14F-4D97-AF65-F5344CB8AC3E}">
        <p14:creationId xmlns:p14="http://schemas.microsoft.com/office/powerpoint/2010/main" val="4224924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This section examines six strategies that you can consider implementing when preparing for a cloud migration.</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16</a:t>
            </a:fld>
            <a:endParaRPr lang="en-IN"/>
          </a:p>
        </p:txBody>
      </p:sp>
    </p:spTree>
    <p:extLst>
      <p:ext uri="{BB962C8B-B14F-4D97-AF65-F5344CB8AC3E}">
        <p14:creationId xmlns:p14="http://schemas.microsoft.com/office/powerpoint/2010/main" val="1323925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Suppose that you want to migrate from your on-premises deployment to AWS. Ideally, you could snap your fingers and instantly have all the elements from your existing on-premises data center magically appear on AWS, optimized and efficient. However, migrating doesn't work that way.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Every application (or application groups, if they're tightly coupled) has six possible options for a migration. These are known as the </a:t>
            </a:r>
            <a:r>
              <a:rPr lang="en-US" sz="1800" b="1" i="0" u="none" strike="noStrike">
                <a:solidFill>
                  <a:srgbClr val="000000"/>
                </a:solidFill>
                <a:effectLst/>
                <a:latin typeface="Calibri" panose="020F0502020204030204" pitchFamily="34" charset="0"/>
              </a:rPr>
              <a:t>six Rs of migration</a:t>
            </a:r>
            <a:r>
              <a:rPr lang="en-US" sz="1800" b="0" i="0" u="none" strike="noStrike">
                <a:solidFill>
                  <a:srgbClr val="000000"/>
                </a:solidFill>
                <a:effectLst/>
                <a:latin typeface="Calibri" panose="020F0502020204030204" pitchFamily="34" charset="0"/>
              </a:rPr>
              <a:t>. Once you complete the discovery phase and know exactly what is present in your existing environment, decide which of the six Rs might be the best option, based on factors such as time, cost, priority, and criticality.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When migrating applications to the cloud, six of the most common migration strategies that you can implement are:</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Rehosting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err="1">
                <a:solidFill>
                  <a:srgbClr val="000000"/>
                </a:solidFill>
                <a:effectLst/>
                <a:latin typeface="Calibri" panose="020F0502020204030204" pitchFamily="34" charset="0"/>
              </a:rPr>
              <a:t>Replatforming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Refactoring/re-architecting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Repurchasing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Retaining</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Retiring</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Rehosting</a:t>
            </a:r>
            <a:r>
              <a:rPr lang="en-US" sz="1800" b="0" i="0" u="none" strike="noStrike">
                <a:solidFill>
                  <a:srgbClr val="000000"/>
                </a:solidFill>
                <a:effectLst/>
                <a:latin typeface="Calibri" panose="020F0502020204030204" pitchFamily="34" charset="0"/>
              </a:rPr>
              <a:t> (also known as </a:t>
            </a:r>
            <a:r>
              <a:rPr lang="en-US" sz="1800" b="0" i="1" u="none" strike="noStrike">
                <a:solidFill>
                  <a:srgbClr val="000000"/>
                </a:solidFill>
                <a:effectLst/>
                <a:latin typeface="Calibri" panose="020F0502020204030204" pitchFamily="34" charset="0"/>
              </a:rPr>
              <a:t>lift and shift</a:t>
            </a:r>
            <a:r>
              <a:rPr lang="en-US" sz="1800" b="0" i="0" u="none" strike="noStrike">
                <a:solidFill>
                  <a:srgbClr val="000000"/>
                </a:solidFill>
                <a:effectLst/>
                <a:latin typeface="Calibri" panose="020F0502020204030204" pitchFamily="34" charset="0"/>
              </a:rPr>
              <a:t>) involves moving applications without changes. In the scenario of a large legacy migration, in which the company is looking to implement its migration and scale quickly to meet a business case, the majority of applications are rehosted.  </a:t>
            </a:r>
            <a:endParaRPr lang="en-US" b="0">
              <a:effectLst/>
            </a:endParaRPr>
          </a:p>
          <a:p>
            <a:pPr rtl="0">
              <a:spcBef>
                <a:spcPts val="0"/>
              </a:spcBef>
              <a:spcAft>
                <a:spcPts val="0"/>
              </a:spcAft>
            </a:pPr>
            <a:br>
              <a:rPr lang="en-US" b="0">
                <a:effectLst/>
              </a:rPr>
            </a:br>
            <a:r>
              <a:rPr lang="en-US" sz="1800" b="1" i="0" u="none" strike="noStrike" err="1">
                <a:solidFill>
                  <a:srgbClr val="000000"/>
                </a:solidFill>
                <a:effectLst/>
                <a:latin typeface="Calibri" panose="020F0502020204030204" pitchFamily="34" charset="0"/>
              </a:rPr>
              <a:t>Replatforming</a:t>
            </a:r>
            <a:r>
              <a:rPr lang="en-US" sz="1800" b="0" i="0" u="none" strike="noStrike">
                <a:solidFill>
                  <a:srgbClr val="000000"/>
                </a:solidFill>
                <a:effectLst/>
                <a:latin typeface="Calibri" panose="020F0502020204030204" pitchFamily="34" charset="0"/>
              </a:rPr>
              <a:t> (</a:t>
            </a:r>
            <a:r>
              <a:rPr lang="en-US" sz="1800" b="0" i="1" u="none" strike="noStrike">
                <a:solidFill>
                  <a:srgbClr val="000000"/>
                </a:solidFill>
                <a:effectLst/>
                <a:latin typeface="Calibri" panose="020F0502020204030204" pitchFamily="34" charset="0"/>
              </a:rPr>
              <a:t>also known as lift, tinker, and shift</a:t>
            </a:r>
            <a:r>
              <a:rPr lang="en-US" sz="1800" b="0" i="0" u="none" strike="noStrike">
                <a:solidFill>
                  <a:srgbClr val="000000"/>
                </a:solidFill>
                <a:effectLst/>
                <a:latin typeface="Calibri" panose="020F0502020204030204" pitchFamily="34" charset="0"/>
              </a:rPr>
              <a:t>) involves making a few cloud optimizations to realize a tangible benefit. Optimization is achieved without changing the core architecture of the application.</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Refactoring</a:t>
            </a:r>
            <a:r>
              <a:rPr lang="en-US" sz="1800" b="0" i="0" u="none" strike="noStrike">
                <a:solidFill>
                  <a:srgbClr val="000000"/>
                </a:solidFill>
                <a:effectLst/>
                <a:latin typeface="Calibri" panose="020F0502020204030204" pitchFamily="34" charset="0"/>
              </a:rPr>
              <a:t> (also known as </a:t>
            </a:r>
            <a:r>
              <a:rPr lang="en-US" sz="1800" b="0" i="1" u="none" strike="noStrike">
                <a:solidFill>
                  <a:srgbClr val="000000"/>
                </a:solidFill>
                <a:effectLst/>
                <a:latin typeface="Calibri" panose="020F0502020204030204" pitchFamily="34" charset="0"/>
              </a:rPr>
              <a:t>rearchitecting</a:t>
            </a:r>
            <a:r>
              <a:rPr lang="en-US" sz="1800" b="0" i="0" u="none" strike="noStrike">
                <a:solidFill>
                  <a:srgbClr val="000000"/>
                </a:solidFill>
                <a:effectLst/>
                <a:latin typeface="Calibri" panose="020F0502020204030204" pitchFamily="34" charset="0"/>
              </a:rPr>
              <a:t>) involves reimagining how an application is architected and developed by using cloud-native features. Refactoring is driven by a strong business need to add features, scale, or performance that would otherwise be difficult to achieve in the application’s existing environment.</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Repurchasing</a:t>
            </a:r>
            <a:r>
              <a:rPr lang="en-US" sz="1800" b="0" i="0" u="none" strike="noStrike">
                <a:solidFill>
                  <a:srgbClr val="000000"/>
                </a:solidFill>
                <a:effectLst/>
                <a:latin typeface="Calibri" panose="020F0502020204030204" pitchFamily="34" charset="0"/>
              </a:rPr>
              <a:t> involves moving from a traditional license to a software as a service model. For example, a business might choose to implement the repurchasing strategy by migrating from a customer relationship management (CRM) system to Salesforce.com.</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The final two strategies, retaining and retiring, do </a:t>
            </a:r>
            <a:r>
              <a:rPr lang="en-US" sz="1800" b="0" i="1" u="none" strike="noStrike">
                <a:solidFill>
                  <a:srgbClr val="000000"/>
                </a:solidFill>
                <a:effectLst/>
                <a:latin typeface="Calibri" panose="020F0502020204030204" pitchFamily="34" charset="0"/>
              </a:rPr>
              <a:t>not</a:t>
            </a:r>
            <a:r>
              <a:rPr lang="en-US" sz="1800" b="0" i="0" u="none" strike="noStrike">
                <a:solidFill>
                  <a:srgbClr val="000000"/>
                </a:solidFill>
                <a:effectLst/>
                <a:latin typeface="Calibri" panose="020F0502020204030204" pitchFamily="34" charset="0"/>
              </a:rPr>
              <a:t> involve moving applications to the cloud.</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Retaining</a:t>
            </a:r>
            <a:r>
              <a:rPr lang="en-US" sz="1800" b="0" i="0" u="none" strike="noStrike">
                <a:solidFill>
                  <a:srgbClr val="000000"/>
                </a:solidFill>
                <a:effectLst/>
                <a:latin typeface="Calibri" panose="020F0502020204030204" pitchFamily="34" charset="0"/>
              </a:rPr>
              <a:t> consists of keeping applications that are critical for the business in the source environment. This might include applications that require major refactoring before they can be migrated, or, work that can be postponed until a later time.</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Retiring</a:t>
            </a:r>
            <a:r>
              <a:rPr lang="en-US" sz="1800" b="0" i="0" u="none" strike="noStrike">
                <a:solidFill>
                  <a:srgbClr val="000000"/>
                </a:solidFill>
                <a:effectLst/>
                <a:latin typeface="Calibri" panose="020F0502020204030204" pitchFamily="34" charset="0"/>
              </a:rPr>
              <a:t> is the process of removing applications that are no longer needed.</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17</a:t>
            </a:fld>
            <a:endParaRPr lang="en-IN"/>
          </a:p>
        </p:txBody>
      </p:sp>
    </p:spTree>
    <p:extLst>
      <p:ext uri="{BB962C8B-B14F-4D97-AF65-F5344CB8AC3E}">
        <p14:creationId xmlns:p14="http://schemas.microsoft.com/office/powerpoint/2010/main" val="3713035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Suppose that you have a large amount of data that you need to transfer into the AWS Cloud. For this type of workload, you can use devices that are part of the </a:t>
            </a:r>
            <a:r>
              <a:rPr lang="en-US" sz="1800" b="1" i="0" u="none" strike="noStrike">
                <a:solidFill>
                  <a:srgbClr val="000000"/>
                </a:solidFill>
                <a:effectLst/>
                <a:latin typeface="Calibri" panose="020F0502020204030204" pitchFamily="34" charset="0"/>
              </a:rPr>
              <a:t>AWS Snow Family</a:t>
            </a:r>
            <a:r>
              <a:rPr lang="en-US" sz="1800" b="0" i="0" u="none" strike="noStrike">
                <a:solidFill>
                  <a:srgbClr val="000000"/>
                </a:solidFill>
                <a:effectLst/>
                <a:latin typeface="Calibri" panose="020F0502020204030204" pitchFamily="34" charset="0"/>
              </a:rPr>
              <a:t>. The AWS Snow Family is a collection of physical devices that help to physically transport up to exabytes of data into and out of AWS. </a:t>
            </a:r>
            <a:endParaRPr lang="en-US" b="0">
              <a:effectLst/>
            </a:endParaRPr>
          </a:p>
          <a:p>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18</a:t>
            </a:fld>
            <a:endParaRPr lang="en-IN"/>
          </a:p>
        </p:txBody>
      </p:sp>
    </p:spTree>
    <p:extLst>
      <p:ext uri="{BB962C8B-B14F-4D97-AF65-F5344CB8AC3E}">
        <p14:creationId xmlns:p14="http://schemas.microsoft.com/office/powerpoint/2010/main" val="2527256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AWS Snow Family is composed of </a:t>
            </a:r>
            <a:r>
              <a:rPr lang="en-US" sz="1800" b="1" i="0" u="none" strike="noStrike">
                <a:solidFill>
                  <a:srgbClr val="000000"/>
                </a:solidFill>
                <a:effectLst/>
                <a:latin typeface="Calibri" panose="020F0502020204030204" pitchFamily="34" charset="0"/>
              </a:rPr>
              <a:t>AWS </a:t>
            </a:r>
            <a:r>
              <a:rPr lang="en-US" sz="1800" b="1" i="0" u="none" strike="noStrike" err="1">
                <a:solidFill>
                  <a:srgbClr val="000000"/>
                </a:solidFill>
                <a:effectLst/>
                <a:latin typeface="Calibri" panose="020F0502020204030204" pitchFamily="34" charset="0"/>
              </a:rPr>
              <a:t>Snowcone</a:t>
            </a:r>
            <a:r>
              <a:rPr lang="en-US" sz="1800" b="0" i="0" u="none" strike="noStrike">
                <a:solidFill>
                  <a:srgbClr val="000000"/>
                </a:solidFill>
                <a:effectLst/>
                <a:latin typeface="Calibri" panose="020F0502020204030204" pitchFamily="34" charset="0"/>
              </a:rPr>
              <a:t>, </a:t>
            </a:r>
            <a:r>
              <a:rPr lang="en-US" sz="1800" b="1" i="0" u="none" strike="noStrike">
                <a:solidFill>
                  <a:srgbClr val="000000"/>
                </a:solidFill>
                <a:effectLst/>
                <a:latin typeface="Calibri" panose="020F0502020204030204" pitchFamily="34" charset="0"/>
              </a:rPr>
              <a:t>AWS Snowball</a:t>
            </a:r>
            <a:r>
              <a:rPr lang="en-US" sz="1800" b="0" i="0" u="none" strike="noStrike">
                <a:solidFill>
                  <a:srgbClr val="000000"/>
                </a:solidFill>
                <a:effectLst/>
                <a:latin typeface="Calibri" panose="020F0502020204030204" pitchFamily="34" charset="0"/>
              </a:rPr>
              <a:t>, and </a:t>
            </a:r>
            <a:r>
              <a:rPr lang="en-US" sz="1800" b="1" i="0" u="none" strike="noStrike">
                <a:solidFill>
                  <a:srgbClr val="000000"/>
                </a:solidFill>
                <a:effectLst/>
                <a:latin typeface="Calibri" panose="020F0502020204030204" pitchFamily="34" charset="0"/>
              </a:rPr>
              <a:t>AWS Snowmobile</a:t>
            </a:r>
            <a:r>
              <a:rPr lang="en-US" sz="1800" b="0" i="0" u="none" strike="noStrike">
                <a:solidFill>
                  <a:srgbClr val="000000"/>
                </a:solidFill>
                <a:effectLst/>
                <a:latin typeface="Calibri" panose="020F0502020204030204" pitchFamily="34" charset="0"/>
              </a:rPr>
              <a:t>. These devices offer different capacity points, and most include built-in computing capabilities. AWS owns and manages the Snow Family devices and integrates with AWS security, monitoring, storage management, and computing capabilities.  </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AWS </a:t>
            </a:r>
            <a:r>
              <a:rPr lang="en-US" sz="1800" b="1" i="0" u="none" strike="noStrike" err="1">
                <a:solidFill>
                  <a:srgbClr val="000000"/>
                </a:solidFill>
                <a:effectLst/>
                <a:latin typeface="Calibri" panose="020F0502020204030204" pitchFamily="34" charset="0"/>
              </a:rPr>
              <a:t>Snowcone</a:t>
            </a:r>
            <a:r>
              <a:rPr lang="en-US" sz="1800" b="1" i="0" u="none" strike="noStrike">
                <a:solidFill>
                  <a:srgbClr val="000000"/>
                </a:solidFill>
                <a:effectLst/>
                <a:latin typeface="Calibri" panose="020F0502020204030204" pitchFamily="34" charset="0"/>
              </a:rPr>
              <a:t> </a:t>
            </a:r>
            <a:r>
              <a:rPr lang="en-US" sz="1800" b="0" i="0" u="none" strike="noStrike">
                <a:solidFill>
                  <a:srgbClr val="000000"/>
                </a:solidFill>
                <a:effectLst/>
                <a:latin typeface="Calibri" panose="020F0502020204030204" pitchFamily="34" charset="0"/>
              </a:rPr>
              <a:t>is a small, rugged, and secure edge computing and data transfer device. It features 2 CPUs, 4 GB of memory, and 8 TB of usable storage.</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AWS offers two types of </a:t>
            </a:r>
            <a:r>
              <a:rPr lang="en-US" sz="1800" b="1" i="0" u="none" strike="noStrike">
                <a:solidFill>
                  <a:srgbClr val="000000"/>
                </a:solidFill>
                <a:effectLst/>
                <a:latin typeface="Calibri" panose="020F0502020204030204" pitchFamily="34" charset="0"/>
              </a:rPr>
              <a:t>AWS Snowball </a:t>
            </a:r>
            <a:r>
              <a:rPr lang="en-US" sz="1800" b="0" i="0" u="none" strike="noStrike">
                <a:solidFill>
                  <a:srgbClr val="000000"/>
                </a:solidFill>
                <a:effectLst/>
                <a:latin typeface="Calibri" panose="020F0502020204030204" pitchFamily="34" charset="0"/>
              </a:rPr>
              <a:t>devices:</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1" i="0" u="none" strike="noStrike">
                <a:solidFill>
                  <a:srgbClr val="000000"/>
                </a:solidFill>
                <a:effectLst/>
                <a:latin typeface="Calibri" panose="020F0502020204030204" pitchFamily="34" charset="0"/>
              </a:rPr>
              <a:t>Snowball Edge Storage Optimized </a:t>
            </a:r>
            <a:r>
              <a:rPr lang="en-US" sz="1800" b="0" i="0" u="none" strike="noStrike">
                <a:solidFill>
                  <a:srgbClr val="000000"/>
                </a:solidFill>
                <a:effectLst/>
                <a:latin typeface="Calibri" panose="020F0502020204030204" pitchFamily="34" charset="0"/>
              </a:rPr>
              <a:t>devices are well suited for large-scale data migrations and recurring transfer workflows, in addition to local computing with higher capacity needs. </a:t>
            </a:r>
            <a:endParaRPr lang="en-US" sz="1800" b="1" i="0" u="none" strike="noStrike">
              <a:solidFill>
                <a:srgbClr val="000000"/>
              </a:solidFill>
              <a:effectLst/>
              <a:latin typeface="Arial" panose="020B0604020202020204" pitchFamily="34" charset="0"/>
            </a:endParaRPr>
          </a:p>
          <a:p>
            <a:pPr marL="304800"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Storage: 80 TB of hard disk drive (HDD) capacity for block volumes and Amazon S3 compatible object storage; 1 TB of SATA solid state drive (SSD) for block volumes</a:t>
            </a:r>
            <a:endParaRPr lang="en-US" sz="1800" b="0" i="0" u="none" strike="noStrike">
              <a:solidFill>
                <a:srgbClr val="000000"/>
              </a:solidFill>
              <a:effectLst/>
              <a:latin typeface="Arial" panose="020B0604020202020204" pitchFamily="34" charset="0"/>
            </a:endParaRPr>
          </a:p>
          <a:p>
            <a:pPr marL="304800"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Compute: 40 vCPUs; 80 GiB of memory to support Amazon EC2 sbe1 instances (equivalent to C5)</a:t>
            </a:r>
            <a:br>
              <a:rPr lang="en-US" sz="1800" b="0" i="0" u="none" strike="noStrike">
                <a:solidFill>
                  <a:srgbClr val="000000"/>
                </a:solidFill>
                <a:effectLst/>
                <a:latin typeface="Calibri" panose="020F0502020204030204" pitchFamily="34" charset="0"/>
              </a:rPr>
            </a:br>
            <a:br>
              <a:rPr lang="en-US" sz="1800" b="0" i="0" u="none" strike="noStrike">
                <a:solidFill>
                  <a:srgbClr val="000000"/>
                </a:solidFill>
                <a:effectLst/>
                <a:latin typeface="Calibri" panose="020F0502020204030204" pitchFamily="34" charset="0"/>
              </a:rPr>
            </a:b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a:solidFill>
                  <a:srgbClr val="000000"/>
                </a:solidFill>
                <a:effectLst/>
                <a:latin typeface="Calibri" panose="020F0502020204030204" pitchFamily="34" charset="0"/>
              </a:rPr>
              <a:t>Snowball Edge Compute Optimized </a:t>
            </a:r>
            <a:r>
              <a:rPr lang="en-US" sz="1800" b="0" i="0" u="none" strike="noStrike">
                <a:solidFill>
                  <a:srgbClr val="000000"/>
                </a:solidFill>
                <a:effectLst/>
                <a:latin typeface="Calibri" panose="020F0502020204030204" pitchFamily="34" charset="0"/>
              </a:rPr>
              <a:t>provides powerful computing resources for use cases such as machine learning, full motion video analysis, analytics, and local computing stacks. </a:t>
            </a:r>
            <a:endParaRPr lang="en-US" sz="1800" b="1" i="0" u="none" strike="noStrike">
              <a:solidFill>
                <a:srgbClr val="000000"/>
              </a:solidFill>
              <a:effectLst/>
              <a:latin typeface="Arial" panose="020B0604020202020204" pitchFamily="34" charset="0"/>
            </a:endParaRPr>
          </a:p>
          <a:p>
            <a:pPr marL="304800"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Storage: 42-TB usable HDD capacity for Amazon S3 compatible object storage or Amazon EBS compatible block volumes; 7.68 TB of usable </a:t>
            </a:r>
            <a:r>
              <a:rPr lang="en-US" sz="1800" b="0" i="0" u="none" strike="noStrike" err="1">
                <a:solidFill>
                  <a:srgbClr val="000000"/>
                </a:solidFill>
                <a:effectLst/>
                <a:latin typeface="Calibri" panose="020F0502020204030204" pitchFamily="34" charset="0"/>
              </a:rPr>
              <a:t>NVMe</a:t>
            </a:r>
            <a:r>
              <a:rPr lang="en-US" sz="1800" b="0" i="0" u="none" strike="noStrike">
                <a:solidFill>
                  <a:srgbClr val="000000"/>
                </a:solidFill>
                <a:effectLst/>
                <a:latin typeface="Calibri" panose="020F0502020204030204" pitchFamily="34" charset="0"/>
              </a:rPr>
              <a:t> SSD capacity for Amazon EBS compatible block volumes</a:t>
            </a:r>
            <a:endParaRPr lang="en-US" sz="1800" b="0" i="0" u="none" strike="noStrike">
              <a:solidFill>
                <a:srgbClr val="000000"/>
              </a:solidFill>
              <a:effectLst/>
              <a:latin typeface="Arial" panose="020B0604020202020204" pitchFamily="34" charset="0"/>
            </a:endParaRPr>
          </a:p>
          <a:p>
            <a:pPr marL="304800"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Compute: 52 vCPUs; 208 GiB of memory; optional NVIDIA Tesla V100 GPU; run Amazon EC2 </a:t>
            </a:r>
            <a:r>
              <a:rPr lang="en-US" sz="1800" b="0" i="0" u="none" strike="noStrike" err="1">
                <a:solidFill>
                  <a:srgbClr val="000000"/>
                </a:solidFill>
                <a:effectLst/>
                <a:latin typeface="Calibri" panose="020F0502020204030204" pitchFamily="34" charset="0"/>
              </a:rPr>
              <a:t>sbe</a:t>
            </a:r>
            <a:r>
              <a:rPr lang="en-US" sz="1800" b="0" i="0" u="none" strike="noStrike">
                <a:solidFill>
                  <a:srgbClr val="000000"/>
                </a:solidFill>
                <a:effectLst/>
                <a:latin typeface="Calibri" panose="020F0502020204030204" pitchFamily="34" charset="0"/>
              </a:rPr>
              <a:t>-c and </a:t>
            </a:r>
            <a:r>
              <a:rPr lang="en-US" sz="1800" b="0" i="0" u="none" strike="noStrike" err="1">
                <a:solidFill>
                  <a:srgbClr val="000000"/>
                </a:solidFill>
                <a:effectLst/>
                <a:latin typeface="Calibri" panose="020F0502020204030204" pitchFamily="34" charset="0"/>
              </a:rPr>
              <a:t>sbe</a:t>
            </a:r>
            <a:r>
              <a:rPr lang="en-US" sz="1800" b="0" i="0" u="none" strike="noStrike">
                <a:solidFill>
                  <a:srgbClr val="000000"/>
                </a:solidFill>
                <a:effectLst/>
                <a:latin typeface="Calibri" panose="020F0502020204030204" pitchFamily="34" charset="0"/>
              </a:rPr>
              <a:t>-g instances, which are equivalent to C5, M5a, G3, and P3 instances</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AWS Snowmobile </a:t>
            </a:r>
            <a:r>
              <a:rPr lang="en-US" sz="1800" b="0" i="0" u="none" strike="noStrike">
                <a:solidFill>
                  <a:srgbClr val="000000"/>
                </a:solidFill>
                <a:effectLst/>
                <a:latin typeface="Calibri" panose="020F0502020204030204" pitchFamily="34" charset="0"/>
              </a:rPr>
              <a:t>is</a:t>
            </a:r>
            <a:r>
              <a:rPr lang="en-US" sz="1800" b="1" i="0" u="none" strike="noStrike">
                <a:solidFill>
                  <a:srgbClr val="000000"/>
                </a:solidFill>
                <a:effectLst/>
                <a:latin typeface="Calibri" panose="020F0502020204030204" pitchFamily="34" charset="0"/>
              </a:rPr>
              <a:t> </a:t>
            </a:r>
            <a:r>
              <a:rPr lang="en-US" sz="1800" b="0" i="0" u="none" strike="noStrike">
                <a:solidFill>
                  <a:srgbClr val="000000"/>
                </a:solidFill>
                <a:effectLst/>
                <a:latin typeface="Calibri" panose="020F0502020204030204" pitchFamily="34" charset="0"/>
              </a:rPr>
              <a:t>an exabyte-scale data transfer service used to move large amounts of data to AWS. You can transfer up to 100 petabytes of data per Snowmobile, which is a 45-foot long ruggedized shipping container, pulled by a semitrailer truck.</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19</a:t>
            </a:fld>
            <a:endParaRPr lang="en-IN"/>
          </a:p>
        </p:txBody>
      </p:sp>
    </p:spTree>
    <p:extLst>
      <p:ext uri="{BB962C8B-B14F-4D97-AF65-F5344CB8AC3E}">
        <p14:creationId xmlns:p14="http://schemas.microsoft.com/office/powerpoint/2010/main" val="923549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next section of this module examines innovation with AWS. </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20</a:t>
            </a:fld>
            <a:endParaRPr lang="en-IN"/>
          </a:p>
        </p:txBody>
      </p:sp>
    </p:spTree>
    <p:extLst>
      <p:ext uri="{BB962C8B-B14F-4D97-AF65-F5344CB8AC3E}">
        <p14:creationId xmlns:p14="http://schemas.microsoft.com/office/powerpoint/2010/main" val="3731290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When examining how to use AWS services, focus on the desired outcomes. You are properly equipped to drive innovation in the cloud if you can clearly articulate the following: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Current state</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Desired state</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Problems you are trying to solve</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Consider some of the paths you might explore in the future as you continue on your cloud journey. </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21</a:t>
            </a:fld>
            <a:endParaRPr lang="en-IN"/>
          </a:p>
        </p:txBody>
      </p:sp>
    </p:spTree>
    <p:extLst>
      <p:ext uri="{BB962C8B-B14F-4D97-AF65-F5344CB8AC3E}">
        <p14:creationId xmlns:p14="http://schemas.microsoft.com/office/powerpoint/2010/main" val="4938703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1" i="0" u="none" strike="noStrike">
                <a:solidFill>
                  <a:srgbClr val="000000"/>
                </a:solidFill>
                <a:effectLst/>
                <a:latin typeface="Calibri" panose="020F0502020204030204" pitchFamily="34" charset="0"/>
              </a:rPr>
              <a:t>Serverless applications: </a:t>
            </a:r>
            <a:r>
              <a:rPr lang="en-US" sz="1800" b="0" i="0" u="none" strike="noStrike">
                <a:solidFill>
                  <a:srgbClr val="000000"/>
                </a:solidFill>
                <a:effectLst/>
                <a:latin typeface="Calibri" panose="020F0502020204030204" pitchFamily="34" charset="0"/>
              </a:rPr>
              <a:t>With AWS, </a:t>
            </a:r>
            <a:r>
              <a:rPr lang="en-US" sz="1800" b="1" i="0" u="none" strike="noStrike">
                <a:solidFill>
                  <a:srgbClr val="000000"/>
                </a:solidFill>
                <a:effectLst/>
                <a:latin typeface="Calibri" panose="020F0502020204030204" pitchFamily="34" charset="0"/>
              </a:rPr>
              <a:t>serverless</a:t>
            </a:r>
            <a:r>
              <a:rPr lang="en-US" sz="1800" b="0" i="0" u="none" strike="noStrike">
                <a:solidFill>
                  <a:srgbClr val="000000"/>
                </a:solidFill>
                <a:effectLst/>
                <a:latin typeface="Calibri" panose="020F0502020204030204" pitchFamily="34" charset="0"/>
              </a:rPr>
              <a:t> refers to applications that don’t require you to provision, maintain, or administer servers. AWS handles fault tolerance and availability for you.</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AWS Lambda is an example of a service that you can use to run serverless applications. If you design your architecture to trigger Lambda functions to run your code, you can bypass the need to manage a fleet of servers. Building your architecture with serverless applications helps developers focus on their core product instead of managing and operating servers.</a:t>
            </a:r>
            <a:endParaRPr lang="en-US" b="0">
              <a:effectLst/>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Artificial intelligence (AI): </a:t>
            </a:r>
            <a:r>
              <a:rPr lang="en-US" sz="1800" b="0" i="0" u="none" strike="noStrike">
                <a:solidFill>
                  <a:srgbClr val="000000"/>
                </a:solidFill>
                <a:effectLst/>
                <a:latin typeface="Calibri" panose="020F0502020204030204" pitchFamily="34" charset="0"/>
              </a:rPr>
              <a:t>AWS offers a variety of services powered by AI. For example, you can:</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Convert speech to text with Amazon Transcribe</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Discover patterns in text with Amazon Comprehend</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Identify potentially fraudulent online activities with Amazon Fraud Detector</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Build voice and text chatbots with Amazon Lex</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1" i="0" u="none" strike="noStrike">
                <a:solidFill>
                  <a:srgbClr val="000000"/>
                </a:solidFill>
                <a:effectLst/>
                <a:latin typeface="Calibri" panose="020F0502020204030204" pitchFamily="34" charset="0"/>
              </a:rPr>
              <a:t>Machine learning (ML):</a:t>
            </a:r>
            <a:r>
              <a:rPr lang="en-US" sz="1800" b="0" i="0" u="none" strike="noStrike">
                <a:solidFill>
                  <a:srgbClr val="000000"/>
                </a:solidFill>
                <a:effectLst/>
                <a:latin typeface="Calibri" panose="020F0502020204030204" pitchFamily="34" charset="0"/>
              </a:rPr>
              <a:t> Traditional machine learning development is complex, expensive, time consuming, and error prone. AWS offers Amazon </a:t>
            </a:r>
            <a:r>
              <a:rPr lang="en-US" sz="1800" b="0" i="0" u="none" strike="noStrike" err="1">
                <a:solidFill>
                  <a:srgbClr val="000000"/>
                </a:solidFill>
                <a:effectLst/>
                <a:latin typeface="Calibri" panose="020F0502020204030204" pitchFamily="34" charset="0"/>
              </a:rPr>
              <a:t>SageMaker</a:t>
            </a:r>
            <a:r>
              <a:rPr lang="en-US" sz="1800" b="0" i="0" u="none" strike="noStrike">
                <a:solidFill>
                  <a:srgbClr val="000000"/>
                </a:solidFill>
                <a:effectLst/>
                <a:latin typeface="Calibri" panose="020F0502020204030204" pitchFamily="34" charset="0"/>
              </a:rPr>
              <a:t> to remove the difficult work from the process and empower you to build, train, and deploy ML models quickly. You can use ML to analyze data, solve complex problems, and predict outcomes.</a:t>
            </a:r>
            <a:endParaRPr lang="en-US" b="0">
              <a:effectLst/>
            </a:endParaRPr>
          </a:p>
          <a:p>
            <a:br>
              <a:rPr lang="en-US" b="0">
                <a:effectLst/>
              </a:rPr>
            </a:br>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22</a:t>
            </a:fld>
            <a:endParaRPr lang="en-IN"/>
          </a:p>
        </p:txBody>
      </p:sp>
    </p:spTree>
    <p:extLst>
      <p:ext uri="{BB962C8B-B14F-4D97-AF65-F5344CB8AC3E}">
        <p14:creationId xmlns:p14="http://schemas.microsoft.com/office/powerpoint/2010/main" val="3569872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Throughout this course, you have learned about a wide range of AWS services. You can use these services as building blocks for your cloud architecture. To help you evaluate how well your architecture aligns with best practices, you can use the</a:t>
            </a:r>
            <a:r>
              <a:rPr lang="en-US" sz="1800" b="1" i="0" u="none" strike="noStrike">
                <a:solidFill>
                  <a:srgbClr val="000000"/>
                </a:solidFill>
                <a:effectLst/>
                <a:latin typeface="Calibri" panose="020F0502020204030204" pitchFamily="34" charset="0"/>
              </a:rPr>
              <a:t> Well-Architected Framework</a:t>
            </a:r>
            <a:r>
              <a:rPr lang="en-US" sz="1800" b="0" i="0" u="none" strike="noStrike">
                <a:solidFill>
                  <a:srgbClr val="000000"/>
                </a:solidFill>
                <a:effectLst/>
                <a:latin typeface="Calibri" panose="020F0502020204030204" pitchFamily="34" charset="0"/>
              </a:rPr>
              <a:t>.</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23</a:t>
            </a:fld>
            <a:endParaRPr lang="en-IN"/>
          </a:p>
        </p:txBody>
      </p:sp>
    </p:spTree>
    <p:extLst>
      <p:ext uri="{BB962C8B-B14F-4D97-AF65-F5344CB8AC3E}">
        <p14:creationId xmlns:p14="http://schemas.microsoft.com/office/powerpoint/2010/main" val="1248304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Well-Architected Framework helps you understand how to design and operate reliable, secure, efficient, and cost-effective systems in the AWS Cloud. It provides a way for you to consistently measure your architecture against best practices and design principles and identify areas for improvement.</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The Well-Architected Framework is based on five pillars: </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Operational excellence</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Security</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Reliability</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Performance efficiency</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Cost optimization</a:t>
            </a:r>
            <a:endParaRPr lang="en-US" sz="1800" b="0" i="0" u="none" strike="noStrike">
              <a:solidFill>
                <a:srgbClr val="000000"/>
              </a:solidFill>
              <a:effectLst/>
              <a:latin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24</a:t>
            </a:fld>
            <a:endParaRPr lang="en-IN"/>
          </a:p>
        </p:txBody>
      </p:sp>
    </p:spTree>
    <p:extLst>
      <p:ext uri="{BB962C8B-B14F-4D97-AF65-F5344CB8AC3E}">
        <p14:creationId xmlns:p14="http://schemas.microsoft.com/office/powerpoint/2010/main" val="35359336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first pillar is </a:t>
            </a:r>
            <a:r>
              <a:rPr lang="en-US" sz="1800" b="1" i="0" u="none" strike="noStrike">
                <a:solidFill>
                  <a:srgbClr val="000000"/>
                </a:solidFill>
                <a:effectLst/>
                <a:latin typeface="Calibri" panose="020F0502020204030204" pitchFamily="34" charset="0"/>
              </a:rPr>
              <a:t>operational excellence</a:t>
            </a:r>
            <a:r>
              <a:rPr lang="en-US" sz="1800" b="0" i="0" u="none" strike="noStrike">
                <a:solidFill>
                  <a:srgbClr val="000000"/>
                </a:solidFill>
                <a:effectLst/>
                <a:latin typeface="Calibri" panose="020F0502020204030204" pitchFamily="34" charset="0"/>
              </a:rPr>
              <a:t>. It focuses on running and monitoring systems to deliver business value, and with that, continually improving processes and procedures. For example, automating changes with deployment pipelines, or responding to events that are triggered.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Design principles for operational excellence in the cloud include performing operations as code, annotating documentation, anticipating failure, and frequently making small, reversible changes.</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25</a:t>
            </a:fld>
            <a:endParaRPr lang="en-IN"/>
          </a:p>
        </p:txBody>
      </p:sp>
    </p:spTree>
    <p:extLst>
      <p:ext uri="{BB962C8B-B14F-4D97-AF65-F5344CB8AC3E}">
        <p14:creationId xmlns:p14="http://schemas.microsoft.com/office/powerpoint/2010/main" val="16340919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The </a:t>
            </a:r>
            <a:r>
              <a:rPr lang="en-US" sz="1800" b="1" i="0" u="none" strike="noStrike">
                <a:solidFill>
                  <a:srgbClr val="000000"/>
                </a:solidFill>
                <a:effectLst/>
                <a:latin typeface="Calibri" panose="020F0502020204030204" pitchFamily="34" charset="0"/>
              </a:rPr>
              <a:t>security</a:t>
            </a:r>
            <a:r>
              <a:rPr lang="en-US" sz="1800" b="0" i="0" u="none" strike="noStrike">
                <a:solidFill>
                  <a:srgbClr val="000000"/>
                </a:solidFill>
                <a:effectLst/>
                <a:latin typeface="Calibri" panose="020F0502020204030204" pitchFamily="34" charset="0"/>
              </a:rPr>
              <a:t> pillar is the ability to protect information, systems, and assets while delivering business value through risk assessments and mitigation strategies.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When considering the security of your architecture, apply these best practices:</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Automate security best practices when possible</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Apply security at all layers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Protect data in transit and at rest</a:t>
            </a:r>
            <a:endParaRPr lang="en-US" sz="1800" b="0" i="0" u="none" strike="noStrike">
              <a:solidFill>
                <a:srgbClr val="000000"/>
              </a:solidFill>
              <a:effectLst/>
              <a:latin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26</a:t>
            </a:fld>
            <a:endParaRPr lang="en-IN"/>
          </a:p>
        </p:txBody>
      </p:sp>
    </p:spTree>
    <p:extLst>
      <p:ext uri="{BB962C8B-B14F-4D97-AF65-F5344CB8AC3E}">
        <p14:creationId xmlns:p14="http://schemas.microsoft.com/office/powerpoint/2010/main" val="4136698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1" i="0" u="none" strike="noStrike">
                <a:solidFill>
                  <a:srgbClr val="000000"/>
                </a:solidFill>
                <a:effectLst/>
                <a:latin typeface="Calibri" panose="020F0502020204030204" pitchFamily="34" charset="0"/>
              </a:rPr>
              <a:t>Reliability</a:t>
            </a:r>
            <a:r>
              <a:rPr lang="en-US" sz="1800" b="0" i="0" u="none" strike="noStrike">
                <a:solidFill>
                  <a:srgbClr val="000000"/>
                </a:solidFill>
                <a:effectLst/>
                <a:latin typeface="Calibri" panose="020F0502020204030204" pitchFamily="34" charset="0"/>
              </a:rPr>
              <a:t> is the ability of a system to do the following:</a:t>
            </a:r>
            <a:endParaRPr lang="en-US" b="0">
              <a:effectLst/>
            </a:endParaRPr>
          </a:p>
          <a:p>
            <a:pPr rtl="0" fontAlgn="base">
              <a:spcBef>
                <a:spcPts val="0"/>
              </a:spcBef>
              <a:spcAft>
                <a:spcPts val="0"/>
              </a:spcAft>
              <a:buFont typeface="Arial" panose="020B0604020202020204" pitchFamily="34" charset="0"/>
              <a:buChar char="•"/>
            </a:pPr>
            <a:br>
              <a:rPr lang="en-US" b="0">
                <a:effectLst/>
              </a:rPr>
            </a:br>
            <a:r>
              <a:rPr lang="en-US" sz="1800" b="0" i="0" u="none" strike="noStrike">
                <a:solidFill>
                  <a:srgbClr val="000000"/>
                </a:solidFill>
                <a:effectLst/>
                <a:latin typeface="Calibri" panose="020F0502020204030204" pitchFamily="34" charset="0"/>
              </a:rPr>
              <a:t>Recover from infrastructure or service disruptions</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Dynamically acquire computing resources to meet demand</a:t>
            </a:r>
            <a:endParaRPr lang="en-US" sz="1800" b="0" i="0" u="none" strike="noStrike">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a:solidFill>
                  <a:srgbClr val="000000"/>
                </a:solidFill>
                <a:effectLst/>
                <a:latin typeface="Calibri" panose="020F0502020204030204" pitchFamily="34" charset="0"/>
              </a:rPr>
              <a:t>Mitigate disruptions such as misconfigurations or transient network issues</a:t>
            </a:r>
            <a:endParaRPr lang="en-US" sz="1800" b="0" i="0" u="none" strike="noStrike">
              <a:solidFill>
                <a:srgbClr val="000000"/>
              </a:solidFill>
              <a:effectLst/>
              <a:latin typeface="Arial" panose="020B0604020202020204" pitchFamily="34" charset="0"/>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Reliability includes testing recovery procedures, scaling horizontally to increase aggregate system availability, and automatically recovering from failure.</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27</a:t>
            </a:fld>
            <a:endParaRPr lang="en-IN"/>
          </a:p>
        </p:txBody>
      </p:sp>
    </p:spTree>
    <p:extLst>
      <p:ext uri="{BB962C8B-B14F-4D97-AF65-F5344CB8AC3E}">
        <p14:creationId xmlns:p14="http://schemas.microsoft.com/office/powerpoint/2010/main" val="3388152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1" i="0" u="none" strike="noStrike">
                <a:solidFill>
                  <a:srgbClr val="000000"/>
                </a:solidFill>
                <a:effectLst/>
                <a:latin typeface="Calibri" panose="020F0502020204030204" pitchFamily="34" charset="0"/>
              </a:rPr>
              <a:t>Performance efficiency</a:t>
            </a:r>
            <a:r>
              <a:rPr lang="en-US" sz="1800" b="0" i="0" u="none" strike="noStrike">
                <a:solidFill>
                  <a:srgbClr val="000000"/>
                </a:solidFill>
                <a:effectLst/>
                <a:latin typeface="Calibri" panose="020F0502020204030204" pitchFamily="34" charset="0"/>
              </a:rPr>
              <a:t> is the ability to use computing resources efficiently to meet system requirements, and maintain that efficiency as demand changes and technologies evolve. An example of performance efficiency is choosing the right Amazon EC2 instance type for an application.</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Evaluating the performance efficiency of your architecture includes experimenting more often, using serverless architectures, and designing systems to be able to go global in minutes.</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28</a:t>
            </a:fld>
            <a:endParaRPr lang="en-IN"/>
          </a:p>
        </p:txBody>
      </p:sp>
    </p:spTree>
    <p:extLst>
      <p:ext uri="{BB962C8B-B14F-4D97-AF65-F5344CB8AC3E}">
        <p14:creationId xmlns:p14="http://schemas.microsoft.com/office/powerpoint/2010/main" val="11717170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1" i="0" u="none" strike="noStrike">
                <a:solidFill>
                  <a:srgbClr val="000000"/>
                </a:solidFill>
                <a:effectLst/>
                <a:latin typeface="Calibri" panose="020F0502020204030204" pitchFamily="34" charset="0"/>
              </a:rPr>
              <a:t>Cost optimization</a:t>
            </a:r>
            <a:r>
              <a:rPr lang="en-US" sz="1800" b="0" i="0" u="none" strike="noStrike">
                <a:solidFill>
                  <a:srgbClr val="000000"/>
                </a:solidFill>
                <a:effectLst/>
                <a:latin typeface="Calibri" panose="020F0502020204030204" pitchFamily="34" charset="0"/>
              </a:rPr>
              <a:t> is the ability to run systems to deliver business value at the lowest price point.</a:t>
            </a:r>
            <a:r>
              <a:rPr lang="en-US" sz="1800" b="1" i="0" u="none" strike="noStrike">
                <a:solidFill>
                  <a:srgbClr val="000000"/>
                </a:solidFill>
                <a:effectLst/>
                <a:latin typeface="Calibri" panose="020F0502020204030204" pitchFamily="34" charset="0"/>
              </a:rPr>
              <a:t> </a:t>
            </a:r>
            <a:r>
              <a:rPr lang="en-US" sz="1800" b="0" i="0" u="none" strike="noStrike">
                <a:solidFill>
                  <a:srgbClr val="000000"/>
                </a:solidFill>
                <a:effectLst/>
                <a:latin typeface="Calibri" panose="020F0502020204030204" pitchFamily="34" charset="0"/>
              </a:rPr>
              <a:t>For example, suppose that you are analyzing your Amazon EC2 compute usage. If you have overestimated your compute needs, you could lower your costs by choosing a more cost-effective instance type.</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Cost optimization includes adopting a consumption model, analyzing and attributing expenditure, and using managed services to reduce the cost of ownership.</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29</a:t>
            </a:fld>
            <a:endParaRPr lang="en-IN"/>
          </a:p>
        </p:txBody>
      </p:sp>
    </p:spTree>
    <p:extLst>
      <p:ext uri="{BB962C8B-B14F-4D97-AF65-F5344CB8AC3E}">
        <p14:creationId xmlns:p14="http://schemas.microsoft.com/office/powerpoint/2010/main" val="31638736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Amazon MQ is a managed message broker service for Apache ActiveMQ that makes it easy to set up and operate message brokers in the cloud. Message brokers allow different software systems–often using different programming languages, and on different platforms–to communicate and exchange information. Messaging is the communications backbone that connects and integrates the components of distributed applications, such as order processing, inventory management, and order fulfillment for ecommerce. Amazon MQ manages the administration and maintenance of ActiveMQ, a popular open-source message broker. The underlying infrastructure is automatically provisioned for high availability and message durability to support the reliability of your applications. With Amazon MQ, you get direct access to the ActiveMQ console and industry standard APIs and protocols for messaging, including JMS, NMS, AMQP, STOMP, MQTT, and WebSocket. You can easily move from any message broker that uses these standards to Amazon MQ because you don’t have to rewrite any messaging code in your applications.</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31</a:t>
            </a:fld>
            <a:endParaRPr lang="en-IN"/>
          </a:p>
        </p:txBody>
      </p:sp>
    </p:spTree>
    <p:extLst>
      <p:ext uri="{BB962C8B-B14F-4D97-AF65-F5344CB8AC3E}">
        <p14:creationId xmlns:p14="http://schemas.microsoft.com/office/powerpoint/2010/main" val="3266605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An </a:t>
            </a:r>
            <a:r>
              <a:rPr lang="en-US" sz="1800" b="0" i="1" u="none" strike="noStrike">
                <a:solidFill>
                  <a:srgbClr val="000000"/>
                </a:solidFill>
                <a:effectLst/>
                <a:latin typeface="Calibri" panose="020F0502020204030204" pitchFamily="34" charset="0"/>
              </a:rPr>
              <a:t>active/standby broker for high availability</a:t>
            </a:r>
            <a:r>
              <a:rPr lang="en-US" sz="1800" b="0" i="0" u="none" strike="noStrike">
                <a:solidFill>
                  <a:srgbClr val="000000"/>
                </a:solidFill>
                <a:effectLst/>
                <a:latin typeface="Calibri" panose="020F0502020204030204" pitchFamily="34" charset="0"/>
              </a:rPr>
              <a:t> is comprised of two brokers in two different Availability Zones, configured in a </a:t>
            </a:r>
            <a:r>
              <a:rPr lang="en-US" sz="1800" b="0" i="1" u="none" strike="noStrike">
                <a:solidFill>
                  <a:srgbClr val="000000"/>
                </a:solidFill>
                <a:effectLst/>
                <a:latin typeface="Calibri" panose="020F0502020204030204" pitchFamily="34" charset="0"/>
              </a:rPr>
              <a:t>redundant pair</a:t>
            </a:r>
            <a:r>
              <a:rPr lang="en-US" sz="1800" b="0" i="0" u="none" strike="noStrike">
                <a:solidFill>
                  <a:srgbClr val="000000"/>
                </a:solidFill>
                <a:effectLst/>
                <a:latin typeface="Calibri" panose="020F0502020204030204" pitchFamily="34" charset="0"/>
              </a:rPr>
              <a:t>. These brokers communicate synchronously with your application, and with a shared storage location.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Normally, only one of the broker instances is active at any time, while the other broker instance is on standby. If one of the broker instances malfunctions or undergoes maintenance, it takes Amazon MQ a short while to take the inactive instance out of service, allowing the healthy standby instance to become active and to begin accepting incoming communications. </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Amazon MQ brokers can be created as </a:t>
            </a:r>
            <a:r>
              <a:rPr lang="en-US" sz="1800" b="0" i="1" u="none" strike="noStrike">
                <a:solidFill>
                  <a:srgbClr val="000000"/>
                </a:solidFill>
                <a:effectLst/>
                <a:latin typeface="Calibri" panose="020F0502020204030204" pitchFamily="34" charset="0"/>
              </a:rPr>
              <a:t>single-instance brokers</a:t>
            </a:r>
            <a:r>
              <a:rPr lang="en-US" sz="1800" b="0" i="0" u="none" strike="noStrike">
                <a:solidFill>
                  <a:srgbClr val="000000"/>
                </a:solidFill>
                <a:effectLst/>
                <a:latin typeface="Calibri" panose="020F0502020204030204" pitchFamily="34" charset="0"/>
              </a:rPr>
              <a:t> or </a:t>
            </a:r>
            <a:r>
              <a:rPr lang="en-US" sz="1800" b="0" i="1" u="none" strike="noStrike">
                <a:solidFill>
                  <a:srgbClr val="000000"/>
                </a:solidFill>
                <a:effectLst/>
                <a:latin typeface="Calibri" panose="020F0502020204030204" pitchFamily="34" charset="0"/>
              </a:rPr>
              <a:t>active/standby brokers for high availability</a:t>
            </a:r>
            <a:r>
              <a:rPr lang="en-US" sz="1800" b="0" i="0" u="none" strike="noStrike">
                <a:solidFill>
                  <a:srgbClr val="000000"/>
                </a:solidFill>
                <a:effectLst/>
                <a:latin typeface="Calibri" panose="020F0502020204030204" pitchFamily="34" charset="0"/>
              </a:rPr>
              <a:t>. For both deployment modes, Amazon MQ provides high durability by storing its data redundantly, across multiple Availability Zones (multi-AZs) within an AWS Region. Amazon MQ ensures high availability by providing failover to a standby instance in a second Availability Zone. </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32</a:t>
            </a:fld>
            <a:endParaRPr lang="en-IN"/>
          </a:p>
        </p:txBody>
      </p:sp>
    </p:spTree>
    <p:extLst>
      <p:ext uri="{BB962C8B-B14F-4D97-AF65-F5344CB8AC3E}">
        <p14:creationId xmlns:p14="http://schemas.microsoft.com/office/powerpoint/2010/main" val="23234302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Organizations have started to build new or “lift and shift” applications to AWS. In some cases, there are applications, such as mainframe systems, too costly to migrate. In these scenarios, those on-premises applications still need to interact with cloud-based components. Amazon MQ is a managed message broker service for ActiveMQ that enables organizations to send messages between applications in the cloud and on-premises to enable hybrid environments and application modernization. ActiveMQ is an open-source message broker written in Java that is packaged with clients in multiple languages, Java Message Server (JMS) client being one example.</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This diagram shows you can use Amazon MQ to integrate on-premises and cloud environments using the network of brokers feature of ActiveMQ. It outlines the message lifecycle from the on-premises producer to the on-premises broker, traversing the hybrid connection between the on-premises broker and Amazon MQ, and finally consumption within the AWS Cloud.</a:t>
            </a:r>
            <a:endParaRPr lang="en-US" b="0">
              <a:effectLst/>
            </a:endParaRPr>
          </a:p>
          <a:p>
            <a:pPr rtl="0">
              <a:spcBef>
                <a:spcPts val="0"/>
              </a:spcBef>
              <a:spcAft>
                <a:spcPts val="0"/>
              </a:spcAft>
            </a:pPr>
            <a:br>
              <a:rPr lang="en-US" b="0">
                <a:effectLst/>
              </a:rPr>
            </a:br>
            <a:r>
              <a:rPr lang="en-US" sz="1800" b="0" i="0" u="none" strike="noStrike">
                <a:solidFill>
                  <a:srgbClr val="000000"/>
                </a:solidFill>
                <a:effectLst/>
                <a:latin typeface="Calibri" panose="020F0502020204030204" pitchFamily="34" charset="0"/>
              </a:rPr>
              <a:t>For more information, see </a:t>
            </a:r>
            <a:r>
              <a:rPr lang="en-US" sz="1800" b="0" i="0" u="sng" strike="noStrike">
                <a:solidFill>
                  <a:srgbClr val="0563C1"/>
                </a:solidFill>
                <a:effectLst/>
                <a:latin typeface="Calibri" panose="020F0502020204030204" pitchFamily="34" charset="0"/>
                <a:hlinkClick r:id="rId3"/>
              </a:rPr>
              <a:t>https://aws.amazon.com/blogs/compute/running-activemq-in-a-hybrid-cloud-environment-with-amazon-mq/</a:t>
            </a:r>
            <a:r>
              <a:rPr lang="en-US" sz="1800" b="0" i="0" u="none" strike="noStrike">
                <a:solidFill>
                  <a:srgbClr val="000000"/>
                </a:solidFill>
                <a:effectLst/>
                <a:latin typeface="Calibri" panose="020F0502020204030204" pitchFamily="34" charset="0"/>
              </a:rPr>
              <a:t>.</a:t>
            </a:r>
            <a:endParaRPr lang="en-US" b="0">
              <a:effectLst/>
            </a:endParaRPr>
          </a:p>
          <a:p>
            <a:br>
              <a:rPr lang="en-US" b="0">
                <a:effectLst/>
              </a:rPr>
            </a:br>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33</a:t>
            </a:fld>
            <a:endParaRPr lang="en-IN"/>
          </a:p>
        </p:txBody>
      </p:sp>
    </p:spTree>
    <p:extLst>
      <p:ext uri="{BB962C8B-B14F-4D97-AF65-F5344CB8AC3E}">
        <p14:creationId xmlns:p14="http://schemas.microsoft.com/office/powerpoint/2010/main" val="21179505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800" b="0" i="0" u="none" strike="noStrike">
                <a:solidFill>
                  <a:srgbClr val="000000"/>
                </a:solidFill>
                <a:effectLst/>
                <a:latin typeface="Calibri" panose="020F0502020204030204" pitchFamily="34" charset="0"/>
              </a:rPr>
              <a:t>Amazon MQ, Amazon SQS, and Amazon SNS are messaging services that are suitable for anyone from startups to enterprises. If you're using messaging with existing applications, and want to move your messaging to the cloud quickly and easily, we recommend you consider Amazon MQ. It supports open standard APIs and protocols so you can switch from any standards-based message broker to Amazon MQ without rewriting the messaging code in your applications. If you are building brand new applications in the cloud, we recommend you consider Amazon SQS and Amazon SNS. Amazon SQS and SNS are lightweight, fully managed message queue and topic services that scale almost infinitely and provide simple, easy-to-use APIs. You can use Amazon SQS and SNS to decouple and scale microservices, distributed systems, and serverless applications, and improve reliability.</a:t>
            </a:r>
            <a:endParaRPr lang="en-US" b="0">
              <a:effectLst/>
            </a:endParaRPr>
          </a:p>
          <a:p>
            <a:br>
              <a:rPr lang="en-US" b="0">
                <a:effectLst/>
              </a:rPr>
            </a:br>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34</a:t>
            </a:fld>
            <a:endParaRPr lang="en-IN"/>
          </a:p>
        </p:txBody>
      </p:sp>
    </p:spTree>
    <p:extLst>
      <p:ext uri="{BB962C8B-B14F-4D97-AF65-F5344CB8AC3E}">
        <p14:creationId xmlns:p14="http://schemas.microsoft.com/office/powerpoint/2010/main" val="25022624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br>
              <a:rPr lang="en-US"/>
            </a:b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E88E-4DE0-98C9-B036-DC8925FFE8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57C37D-1C20-9033-511F-5236A4B1D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EE9837-6AD9-2B2C-EC72-EE94929997AA}"/>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B9E5D823-87C7-0871-8DB4-74EA282E16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4F47C-9050-630F-1700-A6EF009627E6}"/>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2635100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B0E8-C821-95B0-F854-2F63BF43C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3E4F30-C66A-C6A5-0B4D-DFF219852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FE243-9F85-967F-6C5E-5764CA0B70C9}"/>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B911647F-29C3-C591-26FE-2E452BEA6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561AE-1C39-A474-5463-47D3CA2D0EB6}"/>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2804000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3A880-39B7-A23C-4E60-71A207D2AE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082330-8FC4-67EE-334B-B0C38F2186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CE04A0-C80A-3095-2C1F-C253DC2CB939}"/>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5731E70F-946F-E591-F4DD-FA0B6FDE1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207C4-F78B-229A-65F2-69DF244FA875}"/>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4267214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FB32F-83F5-DBB0-894A-BB4920756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DC7F34-5982-D070-7E74-7A414AC064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5A5527-EB1A-B1AA-D67B-AB51C33157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AD1E6D-29AC-77C4-772D-718AC075F9AE}"/>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6" name="Footer Placeholder 5">
            <a:extLst>
              <a:ext uri="{FF2B5EF4-FFF2-40B4-BE49-F238E27FC236}">
                <a16:creationId xmlns:a16="http://schemas.microsoft.com/office/drawing/2014/main" id="{51E7BCB5-CF58-DDE5-BF68-94BB8D2D39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E2DA04-F049-354F-41EB-EFF41090A015}"/>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3981551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BCF8-ED6E-0975-615C-BE38164B68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71960-85A7-E6C8-CFBC-BAF8CEA22C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596283-AF21-704F-FDC2-6C495F2B2F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D09689-A02D-C1FA-4FC3-2058E96567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8129C7-CD3A-59EE-0251-AA94E53645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BE1FF8-9115-8AE8-7E45-4AEFEBF1144B}"/>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8" name="Footer Placeholder 7">
            <a:extLst>
              <a:ext uri="{FF2B5EF4-FFF2-40B4-BE49-F238E27FC236}">
                <a16:creationId xmlns:a16="http://schemas.microsoft.com/office/drawing/2014/main" id="{D82F6C2E-068B-05BC-68EB-123B9DF6BA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15AED9-A5A8-E91D-9349-E8007325491B}"/>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3739128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045F5-32A2-2EB5-B242-4848B3B764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03C36A-0F99-3035-3C51-F325BAE4450D}"/>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4" name="Footer Placeholder 3">
            <a:extLst>
              <a:ext uri="{FF2B5EF4-FFF2-40B4-BE49-F238E27FC236}">
                <a16:creationId xmlns:a16="http://schemas.microsoft.com/office/drawing/2014/main" id="{81CFE0E7-A64D-220F-DEAC-A2C50570D6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FABE2E-D1CF-142E-9CB0-8279DE041184}"/>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842906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B8232-A17F-F798-E9C4-44BA66F89D85}"/>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3" name="Footer Placeholder 2">
            <a:extLst>
              <a:ext uri="{FF2B5EF4-FFF2-40B4-BE49-F238E27FC236}">
                <a16:creationId xmlns:a16="http://schemas.microsoft.com/office/drawing/2014/main" id="{3CCB31F0-A54B-3306-BB98-54B7158534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5C3969-AACE-38D1-DFF1-5B26F7CC6685}"/>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782522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21569-F13B-8093-3033-54E9E89BF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9361A6-E474-B251-A261-F112CECC2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C4AE9A-BAD4-D04B-1132-3F236C21C9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AC583-3FA9-F53A-9C3B-E5FD5FEC132C}"/>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6" name="Footer Placeholder 5">
            <a:extLst>
              <a:ext uri="{FF2B5EF4-FFF2-40B4-BE49-F238E27FC236}">
                <a16:creationId xmlns:a16="http://schemas.microsoft.com/office/drawing/2014/main" id="{B889A8CD-846A-B85E-EF21-B189C6E182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6EF08-A5B1-67C4-A5E0-5CAE37440E5A}"/>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1692653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4B8F-6D8C-6E9C-499B-FC6CE577CD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8E1D70-E3CB-1B2E-0AAD-A798E408D3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517E5E-8175-6615-C20A-713C761A2D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901B6-8BBE-AD5C-819A-42E28DE5B5F9}"/>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6" name="Footer Placeholder 5">
            <a:extLst>
              <a:ext uri="{FF2B5EF4-FFF2-40B4-BE49-F238E27FC236}">
                <a16:creationId xmlns:a16="http://schemas.microsoft.com/office/drawing/2014/main" id="{20F2FA24-F23D-9468-4AAB-0F7A383694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7AC17-AE7D-AED5-ABB6-1E9FC35BF567}"/>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938483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17A5E-316B-B7B3-574C-544269699E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6BD6FD-14D8-6BAC-7E89-40095E7BE9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1A39E-8928-3941-65A6-2678F7E16F6B}"/>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E8839ED5-0A4A-3F80-2BAF-0A6D4F5FA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E722C-DE46-8E4F-0880-19FED596F2A3}"/>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205415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E14DFB-CB9A-EE90-88E2-FAD1742C53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83EED6-113C-7FA6-BB42-117D8F48B6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376E7-FEF8-D20D-87A7-58726DADCA40}"/>
              </a:ext>
            </a:extLst>
          </p:cNvPr>
          <p:cNvSpPr>
            <a:spLocks noGrp="1"/>
          </p:cNvSpPr>
          <p:nvPr>
            <p:ph type="dt" sz="half" idx="10"/>
          </p:nvPr>
        </p:nvSpPr>
        <p:spPr/>
        <p:txBody>
          <a:body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FDE06B39-C51A-F35D-3756-4F70D26E8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82CA3-DDB7-6040-6B15-B9F2A6E3A8C8}"/>
              </a:ext>
            </a:extLst>
          </p:cNvPr>
          <p:cNvSpPr>
            <a:spLocks noGrp="1"/>
          </p:cNvSpPr>
          <p:nvPr>
            <p:ph type="sldNum" sz="quarter" idx="12"/>
          </p:nvPr>
        </p:nvSpPr>
        <p:spPr/>
        <p:txBody>
          <a:bodyPr/>
          <a:lstStyle/>
          <a:p>
            <a:fld id="{45A39348-DB3D-44A1-AD38-A099857A557B}" type="slidenum">
              <a:rPr lang="en-US" smtClean="0"/>
              <a:t>‹#›</a:t>
            </a:fld>
            <a:endParaRPr lang="en-US"/>
          </a:p>
        </p:txBody>
      </p:sp>
    </p:spTree>
    <p:extLst>
      <p:ext uri="{BB962C8B-B14F-4D97-AF65-F5344CB8AC3E}">
        <p14:creationId xmlns:p14="http://schemas.microsoft.com/office/powerpoint/2010/main" val="247354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82DC05-9453-AD70-4524-14970B0E84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8E78FD-1211-BABF-066B-AD5F857979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5881E-970A-F772-3810-CD8AC6BBA5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73A57E-B82B-4A53-811E-1AE410993CE6}" type="datetimeFigureOut">
              <a:rPr lang="en-US" smtClean="0"/>
              <a:t>9/27/2024</a:t>
            </a:fld>
            <a:endParaRPr lang="en-US"/>
          </a:p>
        </p:txBody>
      </p:sp>
      <p:sp>
        <p:nvSpPr>
          <p:cNvPr id="5" name="Footer Placeholder 4">
            <a:extLst>
              <a:ext uri="{FF2B5EF4-FFF2-40B4-BE49-F238E27FC236}">
                <a16:creationId xmlns:a16="http://schemas.microsoft.com/office/drawing/2014/main" id="{9EF2B793-F1F0-139C-EC25-B5A2BA2B9D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FDEDC90-9E97-F965-CA13-C002C6F07F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A39348-DB3D-44A1-AD38-A099857A557B}" type="slidenum">
              <a:rPr lang="en-US" smtClean="0"/>
              <a:t>‹#›</a:t>
            </a:fld>
            <a:endParaRPr lang="en-US"/>
          </a:p>
        </p:txBody>
      </p:sp>
    </p:spTree>
    <p:extLst>
      <p:ext uri="{BB962C8B-B14F-4D97-AF65-F5344CB8AC3E}">
        <p14:creationId xmlns:p14="http://schemas.microsoft.com/office/powerpoint/2010/main" val="2001539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23_85458D24.xml"/><Relationship Id="rId7"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1.xml"/><Relationship Id="rId3" Type="http://schemas.microsoft.com/office/2018/10/relationships/comments" Target="../comments/modernComment_350_5E748D5C.xml"/><Relationship Id="rId7" Type="http://schemas.openxmlformats.org/officeDocument/2006/relationships/image" Target="../media/image5.emf"/><Relationship Id="rId12"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emf"/><Relationship Id="rId11" Type="http://schemas.openxmlformats.org/officeDocument/2006/relationships/diagramColors" Target="../diagrams/colors1.xml"/><Relationship Id="rId5" Type="http://schemas.openxmlformats.org/officeDocument/2006/relationships/image" Target="../media/image3.emf"/><Relationship Id="rId10" Type="http://schemas.openxmlformats.org/officeDocument/2006/relationships/diagramQuickStyle" Target="../diagrams/quickStyle1.xml"/><Relationship Id="rId4" Type="http://schemas.openxmlformats.org/officeDocument/2006/relationships/image" Target="../media/image1.png"/><Relationship Id="rId9"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18/10/relationships/comments" Target="../comments/modernComment_351_25DB950.xml"/><Relationship Id="rId7"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tiff"/><Relationship Id="rId12"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3.svg"/><Relationship Id="rId5" Type="http://schemas.openxmlformats.org/officeDocument/2006/relationships/image" Target="../media/image4.emf"/><Relationship Id="rId10" Type="http://schemas.openxmlformats.org/officeDocument/2006/relationships/image" Target="../media/image12.png"/><Relationship Id="rId4" Type="http://schemas.openxmlformats.org/officeDocument/2006/relationships/image" Target="../media/image3.emf"/><Relationship Id="rId9"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microsoft.com/office/2018/10/relationships/comments" Target="../comments/modernComment_34E_A82D021.xml"/><Relationship Id="rId7" Type="http://schemas.openxmlformats.org/officeDocument/2006/relationships/image" Target="../media/image5.emf"/><Relationship Id="rId12"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emf"/><Relationship Id="rId11" Type="http://schemas.openxmlformats.org/officeDocument/2006/relationships/image" Target="../media/image18.png"/><Relationship Id="rId5" Type="http://schemas.openxmlformats.org/officeDocument/2006/relationships/image" Target="../media/image3.emf"/><Relationship Id="rId10" Type="http://schemas.openxmlformats.org/officeDocument/2006/relationships/image" Target="../media/image17.png"/><Relationship Id="rId4" Type="http://schemas.openxmlformats.org/officeDocument/2006/relationships/image" Target="../media/image1.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png"/><Relationship Id="rId4" Type="http://schemas.openxmlformats.org/officeDocument/2006/relationships/image" Target="../media/image3.emf"/><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7.xml"/><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25.png"/><Relationship Id="rId5" Type="http://schemas.openxmlformats.org/officeDocument/2006/relationships/image" Target="../media/image4.emf"/><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3.emf"/><Relationship Id="rId9" Type="http://schemas.openxmlformats.org/officeDocument/2006/relationships/image" Target="../media/image23.png"/><Relationship Id="rId1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microsoft.com/office/2018/10/relationships/comments" Target="../comments/modernComment_38E_A3D759E4.xml"/><Relationship Id="rId7"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3" Type="http://schemas.microsoft.com/office/2018/10/relationships/comments" Target="../comments/modernComment_354_C3312278.xml"/><Relationship Id="rId7"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3" Type="http://schemas.microsoft.com/office/2018/10/relationships/comments" Target="../comments/modernComment_35A_B297BFEF.xml"/><Relationship Id="rId7" Type="http://schemas.openxmlformats.org/officeDocument/2006/relationships/image" Target="../media/image5.emf"/><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18/10/relationships/comments" Target="../comments/modernComment_398_2C32AEF9.xml"/><Relationship Id="rId7" Type="http://schemas.openxmlformats.org/officeDocument/2006/relationships/image" Target="../media/image5.emf"/><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3.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18/10/relationships/comments" Target="../comments/modernComment_39A_881BB3F8.xml"/><Relationship Id="rId7" Type="http://schemas.openxmlformats.org/officeDocument/2006/relationships/image" Target="../media/image5.emf"/><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8" Type="http://schemas.openxmlformats.org/officeDocument/2006/relationships/image" Target="../media/image40.png"/><Relationship Id="rId3" Type="http://schemas.microsoft.com/office/2018/10/relationships/comments" Target="../comments/modernComment_39B_889404C1.xml"/><Relationship Id="rId7" Type="http://schemas.openxmlformats.org/officeDocument/2006/relationships/image" Target="../media/image5.emf"/><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a:solidFill>
                  <a:schemeClr val="bg1"/>
                </a:solidFill>
                <a:latin typeface="Lato"/>
                <a:ea typeface="Lato"/>
                <a:cs typeface="Lato"/>
                <a:sym typeface="Lato"/>
              </a:rPr>
              <a:t>Infrastructure as Code (</a:t>
            </a:r>
            <a:r>
              <a:rPr lang="en-US" sz="4800" err="1">
                <a:solidFill>
                  <a:schemeClr val="bg1"/>
                </a:solidFill>
                <a:latin typeface="Lato"/>
                <a:ea typeface="Lato"/>
                <a:cs typeface="Lato"/>
                <a:sym typeface="Lato"/>
              </a:rPr>
              <a:t>IaC</a:t>
            </a:r>
            <a:r>
              <a:rPr lang="en-US" sz="4800">
                <a:solidFill>
                  <a:schemeClr val="bg1"/>
                </a:solidFill>
                <a:latin typeface="Lato"/>
                <a:ea typeface="Lato"/>
                <a:cs typeface="Lato"/>
                <a:sym typeface="Lato"/>
              </a:rPr>
              <a:t>) on AWS</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8" name="Rectangle 7">
            <a:extLst>
              <a:ext uri="{FF2B5EF4-FFF2-40B4-BE49-F238E27FC236}">
                <a16:creationId xmlns:a16="http://schemas.microsoft.com/office/drawing/2014/main" id="{9B9679C1-BC8C-6DA1-DAAC-A17D4D80D152}"/>
              </a:ext>
            </a:extLst>
          </p:cNvPr>
          <p:cNvSpPr/>
          <p:nvPr/>
        </p:nvSpPr>
        <p:spPr>
          <a:xfrm>
            <a:off x="974708" y="2835973"/>
            <a:ext cx="10242584" cy="1891999"/>
          </a:xfrm>
          <a:prstGeom prst="rect">
            <a:avLst/>
          </a:prstGeom>
          <a:solidFill>
            <a:srgbClr val="F9F9F9"/>
          </a:solidFill>
          <a:ln>
            <a:noFill/>
          </a:ln>
          <a:effectLst>
            <a:outerShdw blurRad="50800" dist="38100" dir="5400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2</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4">
            <a:alphaModFix/>
          </a:blip>
          <a:stretch>
            <a:fillRect/>
          </a:stretch>
        </p:blipFill>
        <p:spPr>
          <a:xfrm>
            <a:off x="10586575" y="339777"/>
            <a:ext cx="839192" cy="839192"/>
          </a:xfrm>
          <a:prstGeom prst="rect">
            <a:avLst/>
          </a:prstGeom>
          <a:noFill/>
          <a:ln>
            <a:noFill/>
          </a:ln>
        </p:spPr>
      </p:pic>
      <p:sp>
        <p:nvSpPr>
          <p:cNvPr id="2" name="Google Shape;625;p35">
            <a:extLst>
              <a:ext uri="{FF2B5EF4-FFF2-40B4-BE49-F238E27FC236}">
                <a16:creationId xmlns:a16="http://schemas.microsoft.com/office/drawing/2014/main" id="{291948C9-9A2C-87BE-CE08-117DF3B40FEB}"/>
              </a:ext>
            </a:extLst>
          </p:cNvPr>
          <p:cNvSpPr txBox="1"/>
          <p:nvPr/>
        </p:nvSpPr>
        <p:spPr>
          <a:xfrm>
            <a:off x="1238600" y="3025047"/>
            <a:ext cx="10320821" cy="1410192"/>
          </a:xfrm>
          <a:prstGeom prst="rect">
            <a:avLst/>
          </a:prstGeom>
          <a:noFill/>
          <a:ln>
            <a:noFill/>
          </a:ln>
        </p:spPr>
        <p:txBody>
          <a:bodyPr spcFirstLastPara="1" wrap="square" lIns="121900" tIns="60933" rIns="121900" bIns="60933" anchor="t" anchorCtr="0">
            <a:noAutofit/>
          </a:bodyPr>
          <a:lstStyle/>
          <a:p>
            <a:pPr>
              <a:lnSpc>
                <a:spcPct val="90000"/>
              </a:lnSpc>
              <a:buClr>
                <a:srgbClr val="000000"/>
              </a:buClr>
              <a:buSzPts val="1800"/>
            </a:pPr>
            <a:r>
              <a:rPr lang="en-IN" sz="2400" b="1" dirty="0">
                <a:solidFill>
                  <a:srgbClr val="004F9B"/>
                </a:solidFill>
                <a:latin typeface="Proxima Nova"/>
                <a:ea typeface="Proxima Nova"/>
                <a:cs typeface="Proxima Nova"/>
                <a:sym typeface="Proxima Nova"/>
              </a:rPr>
              <a:t>Course: </a:t>
            </a:r>
            <a:r>
              <a:rPr lang="en-IN" sz="2400" dirty="0">
                <a:latin typeface="Proxima Nova"/>
                <a:ea typeface="Proxima Nova"/>
                <a:cs typeface="Proxima Nova"/>
                <a:sym typeface="Proxima Nova"/>
              </a:rPr>
              <a:t>Mastering Amazon AWS	</a:t>
            </a:r>
          </a:p>
          <a:p>
            <a:pPr>
              <a:lnSpc>
                <a:spcPct val="90000"/>
              </a:lnSpc>
              <a:spcBef>
                <a:spcPts val="1333"/>
              </a:spcBef>
              <a:buClr>
                <a:srgbClr val="000000"/>
              </a:buClr>
              <a:buSzPts val="1800"/>
            </a:pPr>
            <a:r>
              <a:rPr lang="en-IN" sz="2400" b="1" dirty="0">
                <a:solidFill>
                  <a:srgbClr val="004F9B"/>
                </a:solidFill>
                <a:latin typeface="Proxima Nova"/>
                <a:ea typeface="Proxima Nova"/>
                <a:cs typeface="Proxima Nova"/>
                <a:sym typeface="Proxima Nova"/>
              </a:rPr>
              <a:t>Lecture on: </a:t>
            </a:r>
            <a:r>
              <a:rPr lang="en-IN" sz="2400" dirty="0">
                <a:latin typeface="Proxima Nova"/>
                <a:ea typeface="Proxima Nova"/>
                <a:cs typeface="Proxima Nova"/>
                <a:sym typeface="Proxima Nova"/>
              </a:rPr>
              <a:t>Infrastructure as Code(</a:t>
            </a:r>
            <a:r>
              <a:rPr lang="en-IN" sz="2400" dirty="0" err="1">
                <a:latin typeface="Proxima Nova"/>
                <a:ea typeface="Proxima Nova"/>
                <a:cs typeface="Proxima Nova"/>
                <a:sym typeface="Proxima Nova"/>
              </a:rPr>
              <a:t>IaC</a:t>
            </a:r>
            <a:r>
              <a:rPr lang="en-IN" sz="2400" dirty="0">
                <a:latin typeface="Proxima Nova"/>
                <a:ea typeface="Proxima Nova"/>
                <a:cs typeface="Proxima Nova"/>
                <a:sym typeface="Proxima Nova"/>
              </a:rPr>
              <a:t>) on AWS</a:t>
            </a:r>
            <a:endParaRPr lang="en-IN" sz="2400" b="1" dirty="0">
              <a:solidFill>
                <a:srgbClr val="004F9B"/>
              </a:solidFill>
              <a:latin typeface="Proxima Nova"/>
              <a:ea typeface="Proxima Nova"/>
              <a:cs typeface="Proxima Nova"/>
            </a:endParaRPr>
          </a:p>
          <a:p>
            <a:pPr>
              <a:lnSpc>
                <a:spcPct val="90000"/>
              </a:lnSpc>
              <a:spcBef>
                <a:spcPts val="1333"/>
              </a:spcBef>
              <a:buClr>
                <a:srgbClr val="000000"/>
              </a:buClr>
              <a:buSzPts val="1800"/>
            </a:pPr>
            <a:r>
              <a:rPr lang="en-IN" sz="2400" b="1" dirty="0">
                <a:solidFill>
                  <a:srgbClr val="004F9B"/>
                </a:solidFill>
                <a:latin typeface="Proxima Nova"/>
                <a:ea typeface="Proxima Nova"/>
                <a:cs typeface="Proxima Nova"/>
                <a:sym typeface="Proxima Nova"/>
              </a:rPr>
              <a:t>Instructor:</a:t>
            </a:r>
            <a:r>
              <a:rPr lang="en-IN" sz="2400" dirty="0">
                <a:solidFill>
                  <a:srgbClr val="004F9B"/>
                </a:solidFill>
                <a:latin typeface="Proxima Nova"/>
                <a:ea typeface="Proxima Nova"/>
                <a:cs typeface="Proxima Nova"/>
                <a:sym typeface="Proxima Nova"/>
              </a:rPr>
              <a:t> </a:t>
            </a:r>
            <a:r>
              <a:rPr lang="en-IN" sz="2400" dirty="0">
                <a:latin typeface="Proxima Nova"/>
                <a:ea typeface="Proxima Nova"/>
                <a:cs typeface="Proxima Nova"/>
                <a:sym typeface="Proxima Nova"/>
              </a:rPr>
              <a:t>Siddharth Sharma</a:t>
            </a:r>
          </a:p>
        </p:txBody>
      </p:sp>
      <p:sp>
        <p:nvSpPr>
          <p:cNvPr id="10" name="Rectangle 9">
            <a:extLst>
              <a:ext uri="{FF2B5EF4-FFF2-40B4-BE49-F238E27FC236}">
                <a16:creationId xmlns:a16="http://schemas.microsoft.com/office/drawing/2014/main" id="{3A08B53D-9306-9D48-39AC-6DE1ADEA2CB3}"/>
              </a:ext>
            </a:extLst>
          </p:cNvPr>
          <p:cNvSpPr/>
          <p:nvPr/>
        </p:nvSpPr>
        <p:spPr>
          <a:xfrm>
            <a:off x="502022" y="554705"/>
            <a:ext cx="4035748" cy="10538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A9F23375-B8AB-D09C-AE78-7CB2ACA91BA0}"/>
              </a:ext>
            </a:extLst>
          </p:cNvPr>
          <p:cNvPicPr>
            <a:picLocks noChangeAspect="1"/>
          </p:cNvPicPr>
          <p:nvPr/>
        </p:nvPicPr>
        <p:blipFill>
          <a:blip r:embed="rId5"/>
          <a:stretch>
            <a:fillRect/>
          </a:stretch>
        </p:blipFill>
        <p:spPr>
          <a:xfrm>
            <a:off x="9262181" y="674400"/>
            <a:ext cx="1214204" cy="321112"/>
          </a:xfrm>
          <a:prstGeom prst="rect">
            <a:avLst/>
          </a:prstGeom>
        </p:spPr>
      </p:pic>
      <p:pic>
        <p:nvPicPr>
          <p:cNvPr id="3" name="Picture 2">
            <a:extLst>
              <a:ext uri="{FF2B5EF4-FFF2-40B4-BE49-F238E27FC236}">
                <a16:creationId xmlns:a16="http://schemas.microsoft.com/office/drawing/2014/main" id="{C5638F4F-FD5E-21E6-1E9F-FDC54ACC902B}"/>
              </a:ext>
            </a:extLst>
          </p:cNvPr>
          <p:cNvPicPr>
            <a:picLocks noChangeAspect="1"/>
          </p:cNvPicPr>
          <p:nvPr/>
        </p:nvPicPr>
        <p:blipFill>
          <a:blip r:embed="rId6"/>
          <a:stretch>
            <a:fillRect/>
          </a:stretch>
        </p:blipFill>
        <p:spPr>
          <a:xfrm>
            <a:off x="1" y="-6519"/>
            <a:ext cx="2242807" cy="1783508"/>
          </a:xfrm>
          <a:prstGeom prst="rect">
            <a:avLst/>
          </a:prstGeom>
        </p:spPr>
      </p:pic>
      <p:pic>
        <p:nvPicPr>
          <p:cNvPr id="5" name="Picture 4">
            <a:extLst>
              <a:ext uri="{FF2B5EF4-FFF2-40B4-BE49-F238E27FC236}">
                <a16:creationId xmlns:a16="http://schemas.microsoft.com/office/drawing/2014/main" id="{0862FBDC-6DA2-B87B-EE85-C2E7BA6FF1E4}"/>
              </a:ext>
            </a:extLst>
          </p:cNvPr>
          <p:cNvPicPr>
            <a:picLocks noChangeAspect="1"/>
          </p:cNvPicPr>
          <p:nvPr/>
        </p:nvPicPr>
        <p:blipFill>
          <a:blip r:embed="rId7"/>
          <a:stretch>
            <a:fillRect/>
          </a:stretch>
        </p:blipFill>
        <p:spPr>
          <a:xfrm>
            <a:off x="11240112" y="-13039"/>
            <a:ext cx="964928" cy="1220633"/>
          </a:xfrm>
          <a:prstGeom prst="rect">
            <a:avLst/>
          </a:prstGeom>
        </p:spPr>
      </p:pic>
      <p:pic>
        <p:nvPicPr>
          <p:cNvPr id="9" name="Picture 8">
            <a:extLst>
              <a:ext uri="{FF2B5EF4-FFF2-40B4-BE49-F238E27FC236}">
                <a16:creationId xmlns:a16="http://schemas.microsoft.com/office/drawing/2014/main" id="{6FACF819-EB7A-C5FA-9359-22256A6A507F}"/>
              </a:ext>
            </a:extLst>
          </p:cNvPr>
          <p:cNvPicPr>
            <a:picLocks noChangeAspect="1"/>
          </p:cNvPicPr>
          <p:nvPr/>
        </p:nvPicPr>
        <p:blipFill>
          <a:blip r:embed="rId6">
            <a:alphaModFix amt="11000"/>
          </a:blip>
          <a:stretch>
            <a:fillRect/>
          </a:stretch>
        </p:blipFill>
        <p:spPr>
          <a:xfrm rot="10800000">
            <a:off x="11253151" y="6109915"/>
            <a:ext cx="940736" cy="748085"/>
          </a:xfrm>
          <a:prstGeom prst="rect">
            <a:avLst/>
          </a:prstGeom>
        </p:spPr>
      </p:pic>
      <p:pic>
        <p:nvPicPr>
          <p:cNvPr id="12" name="Picture 11">
            <a:extLst>
              <a:ext uri="{FF2B5EF4-FFF2-40B4-BE49-F238E27FC236}">
                <a16:creationId xmlns:a16="http://schemas.microsoft.com/office/drawing/2014/main" id="{98EE7E7C-67F5-30B2-6350-6BDF088EE9E8}"/>
              </a:ext>
            </a:extLst>
          </p:cNvPr>
          <p:cNvPicPr>
            <a:picLocks noChangeAspect="1"/>
          </p:cNvPicPr>
          <p:nvPr/>
        </p:nvPicPr>
        <p:blipFill>
          <a:blip r:embed="rId7">
            <a:alphaModFix amt="27000"/>
          </a:blip>
          <a:stretch>
            <a:fillRect/>
          </a:stretch>
        </p:blipFill>
        <p:spPr>
          <a:xfrm rot="10800000">
            <a:off x="0" y="6388576"/>
            <a:ext cx="371088" cy="469425"/>
          </a:xfrm>
          <a:prstGeom prst="rect">
            <a:avLst/>
          </a:prstGeom>
        </p:spPr>
      </p:pic>
    </p:spTree>
    <p:extLst>
      <p:ext uri="{BB962C8B-B14F-4D97-AF65-F5344CB8AC3E}">
        <p14:creationId xmlns:p14="http://schemas.microsoft.com/office/powerpoint/2010/main" val="2235927844"/>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AWS Trusted Advisor</a:t>
            </a:r>
          </a:p>
          <a:p>
            <a:pPr marL="0" marR="0" lvl="0" indent="0" algn="ctr" rtl="0">
              <a:spcBef>
                <a:spcPts val="0"/>
              </a:spcBef>
              <a:spcAft>
                <a:spcPts val="0"/>
              </a:spcAft>
              <a:buNone/>
            </a:pPr>
            <a:endParaRPr lang="en-US" sz="320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833544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BE2D33BF-2093-354E-AC18-0778FB4623A2}"/>
              </a:ext>
            </a:extLst>
          </p:cNvPr>
          <p:cNvSpPr>
            <a:spLocks noGrp="1"/>
          </p:cNvSpPr>
          <p:nvPr/>
        </p:nvSpPr>
        <p:spPr>
          <a:xfrm>
            <a:off x="1578863" y="87425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Coffee Shop Improvements</a:t>
            </a:r>
          </a:p>
        </p:txBody>
      </p:sp>
      <p:graphicFrame>
        <p:nvGraphicFramePr>
          <p:cNvPr id="10" name="Diagram 9">
            <a:extLst>
              <a:ext uri="{FF2B5EF4-FFF2-40B4-BE49-F238E27FC236}">
                <a16:creationId xmlns:a16="http://schemas.microsoft.com/office/drawing/2014/main" id="{DB67B38E-F7AA-0444-AFB3-0D58CEFB735A}"/>
              </a:ext>
            </a:extLst>
          </p:cNvPr>
          <p:cNvGraphicFramePr/>
          <p:nvPr>
            <p:extLst>
              <p:ext uri="{D42A27DB-BD31-4B8C-83A1-F6EECF244321}">
                <p14:modId xmlns:p14="http://schemas.microsoft.com/office/powerpoint/2010/main" val="757788054"/>
              </p:ext>
            </p:extLst>
          </p:nvPr>
        </p:nvGraphicFramePr>
        <p:xfrm>
          <a:off x="2283334" y="1791862"/>
          <a:ext cx="7221983" cy="41060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58469666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D4EE731-7F54-2945-9683-F8C0FF95E617}"/>
              </a:ext>
            </a:extLst>
          </p:cNvPr>
          <p:cNvSpPr>
            <a:spLocks noGrp="1"/>
          </p:cNvSpPr>
          <p:nvPr/>
        </p:nvSpPr>
        <p:spPr>
          <a:xfrm>
            <a:off x="1578864" y="907682"/>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AWS Trusted Advisor</a:t>
            </a:r>
          </a:p>
        </p:txBody>
      </p:sp>
      <p:sp>
        <p:nvSpPr>
          <p:cNvPr id="10" name="TextBox 4">
            <a:extLst>
              <a:ext uri="{FF2B5EF4-FFF2-40B4-BE49-F238E27FC236}">
                <a16:creationId xmlns:a16="http://schemas.microsoft.com/office/drawing/2014/main" id="{EED4773F-2BFE-8D4D-89CD-3C7CEEF22D9F}"/>
              </a:ext>
            </a:extLst>
          </p:cNvPr>
          <p:cNvSpPr txBox="1"/>
          <p:nvPr/>
        </p:nvSpPr>
        <p:spPr>
          <a:xfrm>
            <a:off x="922382" y="4916496"/>
            <a:ext cx="2946400" cy="132343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latin typeface="Amazon Ember Light"/>
                <a:ea typeface="Amazon Ember Light" panose="020B0403020204020204" pitchFamily="34" charset="0"/>
                <a:cs typeface="Amazon Ember Light" panose="020B0403020204020204" pitchFamily="34" charset="0"/>
              </a:rPr>
              <a:t>Get immediate advice on enhancing your AWS environment</a:t>
            </a:r>
          </a:p>
          <a:p>
            <a:pPr algn="ct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 name="TextBox 5">
            <a:extLst>
              <a:ext uri="{FF2B5EF4-FFF2-40B4-BE49-F238E27FC236}">
                <a16:creationId xmlns:a16="http://schemas.microsoft.com/office/drawing/2014/main" id="{7499544A-64C8-AA4B-9178-DB98CB3F84F8}"/>
              </a:ext>
            </a:extLst>
          </p:cNvPr>
          <p:cNvSpPr txBox="1"/>
          <p:nvPr/>
        </p:nvSpPr>
        <p:spPr>
          <a:xfrm>
            <a:off x="4684950" y="4916495"/>
            <a:ext cx="3157621" cy="132343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latin typeface="Amazon Ember Light"/>
                <a:ea typeface="Amazon Ember Light" panose="020B0403020204020204" pitchFamily="34" charset="0"/>
                <a:cs typeface="Amazon Ember Light" panose="020B0403020204020204" pitchFamily="34" charset="0"/>
              </a:rPr>
              <a:t>Examine your infrastructure in five categories against AWS best practices</a:t>
            </a:r>
          </a:p>
          <a:p>
            <a:pPr algn="ct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TextBox 6">
            <a:extLst>
              <a:ext uri="{FF2B5EF4-FFF2-40B4-BE49-F238E27FC236}">
                <a16:creationId xmlns:a16="http://schemas.microsoft.com/office/drawing/2014/main" id="{E462A08D-0DA9-DF42-B4EC-4099AE43A95B}"/>
              </a:ext>
            </a:extLst>
          </p:cNvPr>
          <p:cNvSpPr txBox="1"/>
          <p:nvPr/>
        </p:nvSpPr>
        <p:spPr>
          <a:xfrm>
            <a:off x="8658740" y="4916495"/>
            <a:ext cx="2946400" cy="163121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latin typeface="Amazon Ember Light"/>
                <a:ea typeface="Amazon Ember Light" panose="020B0403020204020204" pitchFamily="34" charset="0"/>
                <a:cs typeface="Amazon Ember Light" panose="020B0403020204020204" pitchFamily="34" charset="0"/>
              </a:rPr>
              <a:t>At every level of deployment, assess and implement the suggestions </a:t>
            </a:r>
          </a:p>
          <a:p>
            <a:pPr algn="ct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7" name="Picture 16">
            <a:extLst>
              <a:ext uri="{FF2B5EF4-FFF2-40B4-BE49-F238E27FC236}">
                <a16:creationId xmlns:a16="http://schemas.microsoft.com/office/drawing/2014/main" id="{B56ADE9C-BADB-BB4B-A0C0-AD2227B04BAE}"/>
              </a:ext>
            </a:extLst>
          </p:cNvPr>
          <p:cNvPicPr>
            <a:picLocks noChangeAspect="1"/>
          </p:cNvPicPr>
          <p:nvPr/>
        </p:nvPicPr>
        <p:blipFill>
          <a:blip r:embed="rId8"/>
          <a:stretch>
            <a:fillRect/>
          </a:stretch>
        </p:blipFill>
        <p:spPr>
          <a:xfrm>
            <a:off x="4884702" y="2987323"/>
            <a:ext cx="2758115" cy="1765360"/>
          </a:xfrm>
          <a:prstGeom prst="rect">
            <a:avLst/>
          </a:prstGeom>
        </p:spPr>
      </p:pic>
      <p:pic>
        <p:nvPicPr>
          <p:cNvPr id="18" name="Picture 17">
            <a:extLst>
              <a:ext uri="{FF2B5EF4-FFF2-40B4-BE49-F238E27FC236}">
                <a16:creationId xmlns:a16="http://schemas.microsoft.com/office/drawing/2014/main" id="{2BD7D102-38D8-E74E-ABE2-05CF14C3BBBA}"/>
              </a:ext>
            </a:extLst>
          </p:cNvPr>
          <p:cNvPicPr>
            <a:picLocks noChangeAspect="1"/>
          </p:cNvPicPr>
          <p:nvPr/>
        </p:nvPicPr>
        <p:blipFill>
          <a:blip r:embed="rId9"/>
          <a:stretch>
            <a:fillRect/>
          </a:stretch>
        </p:blipFill>
        <p:spPr>
          <a:xfrm>
            <a:off x="1446821" y="2866494"/>
            <a:ext cx="1897515" cy="1941644"/>
          </a:xfrm>
          <a:prstGeom prst="rect">
            <a:avLst/>
          </a:prstGeom>
        </p:spPr>
      </p:pic>
      <p:pic>
        <p:nvPicPr>
          <p:cNvPr id="19" name="Picture 18">
            <a:extLst>
              <a:ext uri="{FF2B5EF4-FFF2-40B4-BE49-F238E27FC236}">
                <a16:creationId xmlns:a16="http://schemas.microsoft.com/office/drawing/2014/main" id="{230B02A9-AEBD-AD4B-8F62-045FACC62DC4}"/>
              </a:ext>
            </a:extLst>
          </p:cNvPr>
          <p:cNvPicPr>
            <a:picLocks noChangeAspect="1"/>
          </p:cNvPicPr>
          <p:nvPr/>
        </p:nvPicPr>
        <p:blipFill>
          <a:blip r:embed="rId10"/>
          <a:stretch>
            <a:fillRect/>
          </a:stretch>
        </p:blipFill>
        <p:spPr>
          <a:xfrm>
            <a:off x="8913978" y="3040224"/>
            <a:ext cx="2435924" cy="1712459"/>
          </a:xfrm>
          <a:prstGeom prst="rect">
            <a:avLst/>
          </a:prstGeom>
        </p:spPr>
      </p:pic>
    </p:spTree>
    <p:extLst>
      <p:ext uri="{BB962C8B-B14F-4D97-AF65-F5344CB8AC3E}">
        <p14:creationId xmlns:p14="http://schemas.microsoft.com/office/powerpoint/2010/main" val="3969672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BE2D33BF-2093-354E-AC18-0778FB4623A2}"/>
              </a:ext>
            </a:extLst>
          </p:cNvPr>
          <p:cNvSpPr>
            <a:spLocks noGrp="1"/>
          </p:cNvSpPr>
          <p:nvPr/>
        </p:nvSpPr>
        <p:spPr>
          <a:xfrm>
            <a:off x="1578864" y="1086279"/>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AWS Trusted Advisor Dashboard</a:t>
            </a:r>
            <a:endParaRPr lang="en-US">
              <a:solidFill>
                <a:schemeClr val="tx1"/>
              </a:solidFill>
            </a:endParaRPr>
          </a:p>
        </p:txBody>
      </p:sp>
      <p:pic>
        <p:nvPicPr>
          <p:cNvPr id="10" name="Picture 9">
            <a:extLst>
              <a:ext uri="{FF2B5EF4-FFF2-40B4-BE49-F238E27FC236}">
                <a16:creationId xmlns:a16="http://schemas.microsoft.com/office/drawing/2014/main" id="{AD4D37AA-DBBF-BF40-AE24-AAC2705FEC10}"/>
              </a:ext>
            </a:extLst>
          </p:cNvPr>
          <p:cNvPicPr>
            <a:picLocks noChangeAspect="1"/>
          </p:cNvPicPr>
          <p:nvPr/>
        </p:nvPicPr>
        <p:blipFill rotWithShape="1">
          <a:blip r:embed="rId7"/>
          <a:srcRect r="1724" b="9648"/>
          <a:stretch/>
        </p:blipFill>
        <p:spPr>
          <a:xfrm>
            <a:off x="315272" y="3801674"/>
            <a:ext cx="11561457" cy="2560320"/>
          </a:xfrm>
          <a:prstGeom prst="rect">
            <a:avLst/>
          </a:prstGeom>
        </p:spPr>
      </p:pic>
      <p:sp>
        <p:nvSpPr>
          <p:cNvPr id="13" name="Rounded Rectangle 2">
            <a:extLst>
              <a:ext uri="{FF2B5EF4-FFF2-40B4-BE49-F238E27FC236}">
                <a16:creationId xmlns:a16="http://schemas.microsoft.com/office/drawing/2014/main" id="{33D0D066-151C-4741-BE28-7DF9595FD20B}"/>
              </a:ext>
            </a:extLst>
          </p:cNvPr>
          <p:cNvSpPr/>
          <p:nvPr/>
        </p:nvSpPr>
        <p:spPr>
          <a:xfrm>
            <a:off x="353038" y="2425831"/>
            <a:ext cx="3572540" cy="914400"/>
          </a:xfrm>
          <a:prstGeom prst="roundRect">
            <a:avLst/>
          </a:prstGeom>
          <a:noFill/>
          <a:ln w="38100">
            <a:solidFill>
              <a:srgbClr val="0A99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ea typeface="Amazon Ember" panose="020B0603020204020204" pitchFamily="34" charset="0"/>
                <a:cs typeface="Amazon Ember" panose="020B0603020204020204" pitchFamily="34" charset="0"/>
              </a:rPr>
              <a:t>Number of products for which no issues have been found</a:t>
            </a:r>
          </a:p>
          <a:p>
            <a:pPr algn="ctr"/>
            <a:endParaRPr lang="en-US">
              <a:solidFill>
                <a:schemeClr val="tx1"/>
              </a:solidFill>
              <a:ea typeface="Amazon Ember" panose="020B0603020204020204" pitchFamily="34" charset="0"/>
              <a:cs typeface="Amazon Ember" panose="020B0603020204020204" pitchFamily="34" charset="0"/>
            </a:endParaRPr>
          </a:p>
        </p:txBody>
      </p:sp>
      <p:grpSp>
        <p:nvGrpSpPr>
          <p:cNvPr id="14" name="Group 13">
            <a:extLst>
              <a:ext uri="{FF2B5EF4-FFF2-40B4-BE49-F238E27FC236}">
                <a16:creationId xmlns:a16="http://schemas.microsoft.com/office/drawing/2014/main" id="{228A3ECD-D42F-8646-8B9D-CDCBC7F9A358}"/>
              </a:ext>
            </a:extLst>
          </p:cNvPr>
          <p:cNvGrpSpPr/>
          <p:nvPr/>
        </p:nvGrpSpPr>
        <p:grpSpPr>
          <a:xfrm>
            <a:off x="1851933" y="1669053"/>
            <a:ext cx="564580" cy="554846"/>
            <a:chOff x="5983705" y="5298007"/>
            <a:chExt cx="465221" cy="457200"/>
          </a:xfrm>
        </p:grpSpPr>
        <p:sp>
          <p:nvSpPr>
            <p:cNvPr id="23" name="Rounded Rectangle 5">
              <a:extLst>
                <a:ext uri="{FF2B5EF4-FFF2-40B4-BE49-F238E27FC236}">
                  <a16:creationId xmlns:a16="http://schemas.microsoft.com/office/drawing/2014/main" id="{D77769B2-D37D-B542-8E2B-EC5123D07101}"/>
                </a:ext>
              </a:extLst>
            </p:cNvPr>
            <p:cNvSpPr/>
            <p:nvPr/>
          </p:nvSpPr>
          <p:spPr>
            <a:xfrm>
              <a:off x="5983705" y="5298007"/>
              <a:ext cx="465221" cy="457200"/>
            </a:xfrm>
            <a:prstGeom prst="roundRect">
              <a:avLst/>
            </a:prstGeom>
            <a:solidFill>
              <a:srgbClr val="0A9932"/>
            </a:solidFill>
            <a:ln>
              <a:solidFill>
                <a:srgbClr val="0A99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4" name="Graphic 7" descr="Checkmark">
              <a:extLst>
                <a:ext uri="{FF2B5EF4-FFF2-40B4-BE49-F238E27FC236}">
                  <a16:creationId xmlns:a16="http://schemas.microsoft.com/office/drawing/2014/main" id="{7D07F41F-2475-3D43-877C-DE4BBDA868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30918" y="5341210"/>
              <a:ext cx="370794" cy="370794"/>
            </a:xfrm>
            <a:prstGeom prst="rect">
              <a:avLst/>
            </a:prstGeom>
          </p:spPr>
        </p:pic>
      </p:grpSp>
      <p:sp>
        <p:nvSpPr>
          <p:cNvPr id="15" name="Rounded Rectangle 9">
            <a:extLst>
              <a:ext uri="{FF2B5EF4-FFF2-40B4-BE49-F238E27FC236}">
                <a16:creationId xmlns:a16="http://schemas.microsoft.com/office/drawing/2014/main" id="{D71549BC-97AC-9147-8237-1C35A892971C}"/>
              </a:ext>
            </a:extLst>
          </p:cNvPr>
          <p:cNvSpPr/>
          <p:nvPr/>
        </p:nvSpPr>
        <p:spPr>
          <a:xfrm>
            <a:off x="4309730" y="2403689"/>
            <a:ext cx="3572540" cy="914400"/>
          </a:xfrm>
          <a:prstGeom prst="roundRect">
            <a:avLst/>
          </a:prstGeom>
          <a:noFill/>
          <a:ln w="38100">
            <a:solidFill>
              <a:srgbClr val="E0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ea typeface="Amazon Ember" panose="020B0603020204020204" pitchFamily="34" charset="0"/>
                <a:cs typeface="Amazon Ember" panose="020B0603020204020204" pitchFamily="34" charset="0"/>
              </a:rPr>
              <a:t>Number of recommended </a:t>
            </a:r>
            <a:r>
              <a:rPr lang="en-US">
                <a:solidFill>
                  <a:schemeClr val="tx1"/>
                </a:solidFill>
                <a:latin typeface="Amazon Ember" panose="02000000000000000000" pitchFamily="2" charset="0"/>
                <a:ea typeface="Amazon Ember" panose="02000000000000000000" pitchFamily="2" charset="0"/>
                <a:cs typeface="Amazon Ember" panose="020B0603020204020204" pitchFamily="34" charset="0"/>
              </a:rPr>
              <a:t>investigations</a:t>
            </a:r>
          </a:p>
        </p:txBody>
      </p:sp>
      <p:grpSp>
        <p:nvGrpSpPr>
          <p:cNvPr id="16" name="Group 15">
            <a:extLst>
              <a:ext uri="{FF2B5EF4-FFF2-40B4-BE49-F238E27FC236}">
                <a16:creationId xmlns:a16="http://schemas.microsoft.com/office/drawing/2014/main" id="{4FC1126E-2A31-B047-95F8-06523C49AF61}"/>
              </a:ext>
            </a:extLst>
          </p:cNvPr>
          <p:cNvGrpSpPr/>
          <p:nvPr/>
        </p:nvGrpSpPr>
        <p:grpSpPr>
          <a:xfrm>
            <a:off x="5741143" y="1617418"/>
            <a:ext cx="709714" cy="606481"/>
            <a:chOff x="9263575" y="1948321"/>
            <a:chExt cx="773723" cy="661181"/>
          </a:xfrm>
        </p:grpSpPr>
        <p:sp>
          <p:nvSpPr>
            <p:cNvPr id="21" name="Triangle 12">
              <a:extLst>
                <a:ext uri="{FF2B5EF4-FFF2-40B4-BE49-F238E27FC236}">
                  <a16:creationId xmlns:a16="http://schemas.microsoft.com/office/drawing/2014/main" id="{81EED466-98A2-5546-9BC5-7CA0F705E066}"/>
                </a:ext>
              </a:extLst>
            </p:cNvPr>
            <p:cNvSpPr/>
            <p:nvPr/>
          </p:nvSpPr>
          <p:spPr>
            <a:xfrm>
              <a:off x="9263575" y="1948321"/>
              <a:ext cx="773723" cy="661181"/>
            </a:xfrm>
            <a:prstGeom prst="triangle">
              <a:avLst/>
            </a:prstGeom>
            <a:solidFill>
              <a:srgbClr val="E07900"/>
            </a:solidFill>
            <a:ln>
              <a:solidFill>
                <a:srgbClr val="E0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2" name="Graphic 11" descr="Exclamation mark">
              <a:extLst>
                <a:ext uri="{FF2B5EF4-FFF2-40B4-BE49-F238E27FC236}">
                  <a16:creationId xmlns:a16="http://schemas.microsoft.com/office/drawing/2014/main" id="{F8AC8D41-5FFE-9C4B-A9DE-8614437A00B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97450" y="2072646"/>
              <a:ext cx="705973" cy="498424"/>
            </a:xfrm>
            <a:prstGeom prst="rect">
              <a:avLst/>
            </a:prstGeom>
          </p:spPr>
        </p:pic>
      </p:grpSp>
      <p:sp>
        <p:nvSpPr>
          <p:cNvPr id="17" name="Rounded Rectangle 14">
            <a:extLst>
              <a:ext uri="{FF2B5EF4-FFF2-40B4-BE49-F238E27FC236}">
                <a16:creationId xmlns:a16="http://schemas.microsoft.com/office/drawing/2014/main" id="{CA340324-49E8-9F4F-B190-B30E299F82F5}"/>
              </a:ext>
            </a:extLst>
          </p:cNvPr>
          <p:cNvSpPr/>
          <p:nvPr/>
        </p:nvSpPr>
        <p:spPr>
          <a:xfrm>
            <a:off x="8266422" y="2403689"/>
            <a:ext cx="3572540" cy="914400"/>
          </a:xfrm>
          <a:prstGeom prst="roundRect">
            <a:avLst/>
          </a:prstGeom>
          <a:noFill/>
          <a:ln w="38100">
            <a:solidFill>
              <a:srgbClr val="CC0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ea typeface="Amazon Ember" panose="020B0603020204020204" pitchFamily="34" charset="0"/>
                <a:cs typeface="Amazon Ember" panose="020B0603020204020204" pitchFamily="34" charset="0"/>
              </a:rPr>
              <a:t>Number of recommended </a:t>
            </a:r>
            <a:r>
              <a:rPr lang="en-US">
                <a:solidFill>
                  <a:schemeClr val="tx1"/>
                </a:solidFill>
                <a:latin typeface="Amazon Ember" panose="02000000000000000000" pitchFamily="2" charset="0"/>
                <a:ea typeface="Amazon Ember" panose="02000000000000000000" pitchFamily="2" charset="0"/>
                <a:cs typeface="Amazon Ember" panose="020B0603020204020204" pitchFamily="34" charset="0"/>
              </a:rPr>
              <a:t>actions</a:t>
            </a:r>
          </a:p>
        </p:txBody>
      </p:sp>
      <p:grpSp>
        <p:nvGrpSpPr>
          <p:cNvPr id="18" name="Group 17">
            <a:extLst>
              <a:ext uri="{FF2B5EF4-FFF2-40B4-BE49-F238E27FC236}">
                <a16:creationId xmlns:a16="http://schemas.microsoft.com/office/drawing/2014/main" id="{D86DC2D5-1E74-F641-9BE2-15986B984524}"/>
              </a:ext>
            </a:extLst>
          </p:cNvPr>
          <p:cNvGrpSpPr/>
          <p:nvPr/>
        </p:nvGrpSpPr>
        <p:grpSpPr>
          <a:xfrm>
            <a:off x="9692600" y="1648562"/>
            <a:ext cx="720184" cy="586469"/>
            <a:chOff x="9981947" y="1651496"/>
            <a:chExt cx="586888" cy="477922"/>
          </a:xfrm>
        </p:grpSpPr>
        <p:sp>
          <p:nvSpPr>
            <p:cNvPr id="19" name="Oval 18">
              <a:extLst>
                <a:ext uri="{FF2B5EF4-FFF2-40B4-BE49-F238E27FC236}">
                  <a16:creationId xmlns:a16="http://schemas.microsoft.com/office/drawing/2014/main" id="{AB4F5EB5-8E7C-D44F-AB9C-BA2D2FCCDC43}"/>
                </a:ext>
              </a:extLst>
            </p:cNvPr>
            <p:cNvSpPr/>
            <p:nvPr/>
          </p:nvSpPr>
          <p:spPr>
            <a:xfrm>
              <a:off x="10031158" y="1651496"/>
              <a:ext cx="478419" cy="477922"/>
            </a:xfrm>
            <a:prstGeom prst="ellipse">
              <a:avLst/>
            </a:prstGeom>
            <a:solidFill>
              <a:srgbClr val="CC0200"/>
            </a:solidFill>
            <a:ln>
              <a:solidFill>
                <a:srgbClr val="CC0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 name="Graphic 16" descr="Exclamation mark">
              <a:extLst>
                <a:ext uri="{FF2B5EF4-FFF2-40B4-BE49-F238E27FC236}">
                  <a16:creationId xmlns:a16="http://schemas.microsoft.com/office/drawing/2014/main" id="{C85527FB-32D6-1F49-AD6E-2F4E419DA11A}"/>
                </a:ext>
              </a:extLst>
            </p:cNvPr>
            <p:cNvPicPr>
              <a:picLocks noChangeAspect="1"/>
            </p:cNvPicPr>
            <p:nvPr/>
          </p:nvPicPr>
          <p:blipFill>
            <a:blip r:embed="rId10">
              <a:extLst>
                <a:ext uri="{96DAC541-7B7A-43D3-8B79-37D633B846F1}">
                  <asvg:svgBlip xmlns:asvg="http://schemas.microsoft.com/office/drawing/2016/SVG/main" r:embed="rId12"/>
                </a:ext>
              </a:extLst>
            </a:blip>
            <a:stretch>
              <a:fillRect/>
            </a:stretch>
          </p:blipFill>
          <p:spPr>
            <a:xfrm>
              <a:off x="9981947" y="1706200"/>
              <a:ext cx="586888" cy="378509"/>
            </a:xfrm>
            <a:prstGeom prst="rect">
              <a:avLst/>
            </a:prstGeom>
          </p:spPr>
        </p:pic>
      </p:grpSp>
    </p:spTree>
    <p:extLst>
      <p:ext uri="{BB962C8B-B14F-4D97-AF65-F5344CB8AC3E}">
        <p14:creationId xmlns:p14="http://schemas.microsoft.com/office/powerpoint/2010/main" val="33803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AWS Cloud Adoption Framework</a:t>
            </a: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3748195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IN">
                <a:sym typeface="Proxima Nova"/>
              </a:rPr>
              <a:pPr lvl="0"/>
              <a:t>8</a:t>
            </a:fld>
            <a:endParaRPr lang="en-IN">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5">
            <a:extLst>
              <a:ext uri="{FF2B5EF4-FFF2-40B4-BE49-F238E27FC236}">
                <a16:creationId xmlns:a16="http://schemas.microsoft.com/office/drawing/2014/main" id="{D13737C7-7FAA-2757-094F-AD332BE5C041}"/>
              </a:ext>
            </a:extLst>
          </p:cNvPr>
          <p:cNvSpPr>
            <a:spLocks noGrp="1"/>
          </p:cNvSpPr>
          <p:nvPr/>
        </p:nvSpPr>
        <p:spPr>
          <a:xfrm>
            <a:off x="1578864" y="1076711"/>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AWS Cloud Adoption Framework</a:t>
            </a:r>
          </a:p>
        </p:txBody>
      </p:sp>
      <p:sp>
        <p:nvSpPr>
          <p:cNvPr id="12" name="Text Placeholder 6">
            <a:extLst>
              <a:ext uri="{FF2B5EF4-FFF2-40B4-BE49-F238E27FC236}">
                <a16:creationId xmlns:a16="http://schemas.microsoft.com/office/drawing/2014/main" id="{2F5A6BA4-B871-EA66-09B1-7D61E4B1AB0E}"/>
              </a:ext>
            </a:extLst>
          </p:cNvPr>
          <p:cNvSpPr>
            <a:spLocks noGrp="1"/>
          </p:cNvSpPr>
          <p:nvPr/>
        </p:nvSpPr>
        <p:spPr>
          <a:xfrm>
            <a:off x="1578864" y="2166492"/>
            <a:ext cx="7290238" cy="294381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0"/>
              </a:spcAft>
            </a:pPr>
            <a:r>
              <a:rPr lang="en-US" err="1">
                <a:latin typeface="+mn-lt"/>
              </a:rPr>
              <a:t>Organises</a:t>
            </a:r>
            <a:r>
              <a:rPr lang="en-US">
                <a:latin typeface="+mn-lt"/>
              </a:rPr>
              <a:t> guidance into six areas of focus, which are called </a:t>
            </a:r>
            <a:r>
              <a:rPr lang="en-US">
                <a:latin typeface="Amazon Ember"/>
                <a:ea typeface="Amazon Ember" panose="020B0603020204020204" pitchFamily="34" charset="0"/>
                <a:cs typeface="Amazon Ember" panose="020B0603020204020204" pitchFamily="34" charset="0"/>
              </a:rPr>
              <a:t>perspectives</a:t>
            </a:r>
            <a:endParaRPr lang="en-US">
              <a:latin typeface="Amazon Ember"/>
            </a:endParaRPr>
          </a:p>
          <a:p>
            <a:pPr>
              <a:lnSpc>
                <a:spcPct val="100000"/>
              </a:lnSpc>
              <a:spcAft>
                <a:spcPts val="1000"/>
              </a:spcAft>
            </a:pPr>
            <a:r>
              <a:rPr lang="en-US">
                <a:latin typeface="Amazon Ember Light"/>
              </a:rPr>
              <a:t>Provides business guidance to facilitate a speedy and seamless transition to AWS</a:t>
            </a:r>
          </a:p>
          <a:p>
            <a:pPr>
              <a:lnSpc>
                <a:spcPct val="100000"/>
              </a:lnSpc>
              <a:spcAft>
                <a:spcPts val="1000"/>
              </a:spcAft>
            </a:pPr>
            <a:endParaRPr lang="en-US"/>
          </a:p>
        </p:txBody>
      </p:sp>
    </p:spTree>
    <p:extLst>
      <p:ext uri="{BB962C8B-B14F-4D97-AF65-F5344CB8AC3E}">
        <p14:creationId xmlns:p14="http://schemas.microsoft.com/office/powerpoint/2010/main" val="4155490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3E90C5A5-95C9-879C-2234-880303CFFBC6}"/>
              </a:ext>
            </a:extLst>
          </p:cNvPr>
          <p:cNvSpPr>
            <a:spLocks noGrp="1"/>
          </p:cNvSpPr>
          <p:nvPr/>
        </p:nvSpPr>
        <p:spPr>
          <a:xfrm>
            <a:off x="802088" y="820669"/>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Perspectives</a:t>
            </a:r>
          </a:p>
        </p:txBody>
      </p:sp>
      <p:sp>
        <p:nvSpPr>
          <p:cNvPr id="12" name="Freeform 10">
            <a:extLst>
              <a:ext uri="{FF2B5EF4-FFF2-40B4-BE49-F238E27FC236}">
                <a16:creationId xmlns:a16="http://schemas.microsoft.com/office/drawing/2014/main" id="{B1139D5B-4F9B-F73F-22AF-14691C66F1FC}"/>
              </a:ext>
            </a:extLst>
          </p:cNvPr>
          <p:cNvSpPr/>
          <p:nvPr/>
        </p:nvSpPr>
        <p:spPr>
          <a:xfrm>
            <a:off x="1190592" y="2161098"/>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13" name="Freeform 12">
            <a:extLst>
              <a:ext uri="{FF2B5EF4-FFF2-40B4-BE49-F238E27FC236}">
                <a16:creationId xmlns:a16="http://schemas.microsoft.com/office/drawing/2014/main" id="{29CC7BBC-F25D-EC68-D028-FACAC7E8E178}"/>
              </a:ext>
            </a:extLst>
          </p:cNvPr>
          <p:cNvSpPr/>
          <p:nvPr/>
        </p:nvSpPr>
        <p:spPr>
          <a:xfrm>
            <a:off x="3361037" y="2161098"/>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4" name="Freeform 14">
            <a:extLst>
              <a:ext uri="{FF2B5EF4-FFF2-40B4-BE49-F238E27FC236}">
                <a16:creationId xmlns:a16="http://schemas.microsoft.com/office/drawing/2014/main" id="{0C8C7244-1D29-8B81-55A7-9A30BD1211D8}"/>
              </a:ext>
            </a:extLst>
          </p:cNvPr>
          <p:cNvSpPr/>
          <p:nvPr/>
        </p:nvSpPr>
        <p:spPr>
          <a:xfrm>
            <a:off x="5540195" y="2161098"/>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5" name="Freeform 16">
            <a:extLst>
              <a:ext uri="{FF2B5EF4-FFF2-40B4-BE49-F238E27FC236}">
                <a16:creationId xmlns:a16="http://schemas.microsoft.com/office/drawing/2014/main" id="{ABEF6040-307B-4AA0-9099-E1B24764F34B}"/>
              </a:ext>
            </a:extLst>
          </p:cNvPr>
          <p:cNvSpPr/>
          <p:nvPr/>
        </p:nvSpPr>
        <p:spPr>
          <a:xfrm>
            <a:off x="1075358" y="5574747"/>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20" name="Freeform 18">
            <a:extLst>
              <a:ext uri="{FF2B5EF4-FFF2-40B4-BE49-F238E27FC236}">
                <a16:creationId xmlns:a16="http://schemas.microsoft.com/office/drawing/2014/main" id="{66DD8B30-B659-1E30-BBCE-DE3628AF2136}"/>
              </a:ext>
            </a:extLst>
          </p:cNvPr>
          <p:cNvSpPr/>
          <p:nvPr/>
        </p:nvSpPr>
        <p:spPr>
          <a:xfrm>
            <a:off x="3265685" y="5574747"/>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21" name="Freeform 20">
            <a:extLst>
              <a:ext uri="{FF2B5EF4-FFF2-40B4-BE49-F238E27FC236}">
                <a16:creationId xmlns:a16="http://schemas.microsoft.com/office/drawing/2014/main" id="{6C07DE3D-ECB1-C9A3-1D69-D9E0EAB4B424}"/>
              </a:ext>
            </a:extLst>
          </p:cNvPr>
          <p:cNvSpPr/>
          <p:nvPr/>
        </p:nvSpPr>
        <p:spPr>
          <a:xfrm>
            <a:off x="5424961" y="5574747"/>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sp>
        <p:nvSpPr>
          <p:cNvPr id="22" name="TextBox 1">
            <a:extLst>
              <a:ext uri="{FF2B5EF4-FFF2-40B4-BE49-F238E27FC236}">
                <a16:creationId xmlns:a16="http://schemas.microsoft.com/office/drawing/2014/main" id="{D5841DBC-1C27-6437-E03B-8C5633B79653}"/>
              </a:ext>
            </a:extLst>
          </p:cNvPr>
          <p:cNvSpPr txBox="1"/>
          <p:nvPr/>
        </p:nvSpPr>
        <p:spPr>
          <a:xfrm>
            <a:off x="9198880" y="2647825"/>
            <a:ext cx="2117558"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Business</a:t>
            </a:r>
          </a:p>
          <a:p>
            <a:pPr algn="ctr"/>
            <a:r>
              <a:rPr lang="en-US" sz="28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capabilities</a:t>
            </a:r>
          </a:p>
        </p:txBody>
      </p:sp>
      <p:sp>
        <p:nvSpPr>
          <p:cNvPr id="23" name="TextBox 46">
            <a:extLst>
              <a:ext uri="{FF2B5EF4-FFF2-40B4-BE49-F238E27FC236}">
                <a16:creationId xmlns:a16="http://schemas.microsoft.com/office/drawing/2014/main" id="{B7446B1E-D84F-522E-3C0C-4B555E0B5741}"/>
              </a:ext>
            </a:extLst>
          </p:cNvPr>
          <p:cNvSpPr txBox="1"/>
          <p:nvPr/>
        </p:nvSpPr>
        <p:spPr>
          <a:xfrm>
            <a:off x="9125408" y="4605893"/>
            <a:ext cx="2264503"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Technical</a:t>
            </a:r>
          </a:p>
          <a:p>
            <a:pPr algn="ctr"/>
            <a:r>
              <a:rPr lang="en-US" sz="28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capabilities</a:t>
            </a:r>
          </a:p>
        </p:txBody>
      </p:sp>
      <p:grpSp>
        <p:nvGrpSpPr>
          <p:cNvPr id="24" name="Group 23">
            <a:extLst>
              <a:ext uri="{FF2B5EF4-FFF2-40B4-BE49-F238E27FC236}">
                <a16:creationId xmlns:a16="http://schemas.microsoft.com/office/drawing/2014/main" id="{6A52ABC2-5F73-57AD-7A56-F7A7055EE6A9}"/>
              </a:ext>
            </a:extLst>
          </p:cNvPr>
          <p:cNvGrpSpPr/>
          <p:nvPr/>
        </p:nvGrpSpPr>
        <p:grpSpPr>
          <a:xfrm>
            <a:off x="3835621" y="4405885"/>
            <a:ext cx="1112988" cy="1065005"/>
            <a:chOff x="6089845" y="3221263"/>
            <a:chExt cx="1112988" cy="1065005"/>
          </a:xfrm>
        </p:grpSpPr>
        <p:sp>
          <p:nvSpPr>
            <p:cNvPr id="42" name="Rounded Rectangle 17">
              <a:extLst>
                <a:ext uri="{FF2B5EF4-FFF2-40B4-BE49-F238E27FC236}">
                  <a16:creationId xmlns:a16="http://schemas.microsoft.com/office/drawing/2014/main" id="{3EDE6BAA-44CB-A7BC-8075-0B61BCFAC89A}"/>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43" name="Picture 42">
              <a:extLst>
                <a:ext uri="{FF2B5EF4-FFF2-40B4-BE49-F238E27FC236}">
                  <a16:creationId xmlns:a16="http://schemas.microsoft.com/office/drawing/2014/main" id="{783E2C17-A0E0-3030-1633-C6F6ECAEE23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25" name="Group 24">
            <a:extLst>
              <a:ext uri="{FF2B5EF4-FFF2-40B4-BE49-F238E27FC236}">
                <a16:creationId xmlns:a16="http://schemas.microsoft.com/office/drawing/2014/main" id="{77FAE572-C768-A260-15ED-D49DCB16FA4A}"/>
              </a:ext>
            </a:extLst>
          </p:cNvPr>
          <p:cNvGrpSpPr/>
          <p:nvPr/>
        </p:nvGrpSpPr>
        <p:grpSpPr>
          <a:xfrm>
            <a:off x="5995436" y="2718515"/>
            <a:ext cx="1058062" cy="1063537"/>
            <a:chOff x="4792341" y="4406849"/>
            <a:chExt cx="1058062" cy="1063537"/>
          </a:xfrm>
        </p:grpSpPr>
        <p:sp>
          <p:nvSpPr>
            <p:cNvPr id="40" name="Rounded Rectangle 13">
              <a:extLst>
                <a:ext uri="{FF2B5EF4-FFF2-40B4-BE49-F238E27FC236}">
                  <a16:creationId xmlns:a16="http://schemas.microsoft.com/office/drawing/2014/main" id="{DB8EA43F-3F34-38E8-DB08-9BAFDE7F8C28}"/>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41" name="Picture 40">
              <a:extLst>
                <a:ext uri="{FF2B5EF4-FFF2-40B4-BE49-F238E27FC236}">
                  <a16:creationId xmlns:a16="http://schemas.microsoft.com/office/drawing/2014/main" id="{056ED836-00AB-4605-CA2D-A52BBC77779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26" name="Group 25">
            <a:extLst>
              <a:ext uri="{FF2B5EF4-FFF2-40B4-BE49-F238E27FC236}">
                <a16:creationId xmlns:a16="http://schemas.microsoft.com/office/drawing/2014/main" id="{193B52F9-7406-D035-11B0-B85E4B25F8FC}"/>
              </a:ext>
            </a:extLst>
          </p:cNvPr>
          <p:cNvGrpSpPr/>
          <p:nvPr/>
        </p:nvGrpSpPr>
        <p:grpSpPr>
          <a:xfrm>
            <a:off x="5994615" y="4411149"/>
            <a:ext cx="1040409" cy="1051505"/>
            <a:chOff x="6089845" y="4406849"/>
            <a:chExt cx="1040409" cy="1051505"/>
          </a:xfrm>
        </p:grpSpPr>
        <p:sp>
          <p:nvSpPr>
            <p:cNvPr id="38" name="Rounded Rectangle 19">
              <a:extLst>
                <a:ext uri="{FF2B5EF4-FFF2-40B4-BE49-F238E27FC236}">
                  <a16:creationId xmlns:a16="http://schemas.microsoft.com/office/drawing/2014/main" id="{661B28CF-22A3-C3BC-2DB7-27B8DE00B1C8}"/>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9C07C20D-0EA9-0353-9B34-DA147142414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27" name="Group 26">
            <a:extLst>
              <a:ext uri="{FF2B5EF4-FFF2-40B4-BE49-F238E27FC236}">
                <a16:creationId xmlns:a16="http://schemas.microsoft.com/office/drawing/2014/main" id="{3F291057-9941-9900-E2D5-3B7831038880}"/>
              </a:ext>
            </a:extLst>
          </p:cNvPr>
          <p:cNvGrpSpPr/>
          <p:nvPr/>
        </p:nvGrpSpPr>
        <p:grpSpPr>
          <a:xfrm>
            <a:off x="1632977" y="4403155"/>
            <a:ext cx="1036839" cy="1036839"/>
            <a:chOff x="6089845" y="2000207"/>
            <a:chExt cx="1036839" cy="1036839"/>
          </a:xfrm>
        </p:grpSpPr>
        <p:sp>
          <p:nvSpPr>
            <p:cNvPr id="36" name="Rounded Rectangle 15">
              <a:extLst>
                <a:ext uri="{FF2B5EF4-FFF2-40B4-BE49-F238E27FC236}">
                  <a16:creationId xmlns:a16="http://schemas.microsoft.com/office/drawing/2014/main" id="{CA382A40-2A2A-D2F9-FAE3-5CDE49720EF1}"/>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37" name="Picture 36">
              <a:extLst>
                <a:ext uri="{FF2B5EF4-FFF2-40B4-BE49-F238E27FC236}">
                  <a16:creationId xmlns:a16="http://schemas.microsoft.com/office/drawing/2014/main" id="{A4607485-607E-B81E-C0F0-FAA8762DD9B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28" name="Group 27">
            <a:extLst>
              <a:ext uri="{FF2B5EF4-FFF2-40B4-BE49-F238E27FC236}">
                <a16:creationId xmlns:a16="http://schemas.microsoft.com/office/drawing/2014/main" id="{AC5F6FA9-D128-BC16-7B8C-0B9D443E7323}"/>
              </a:ext>
            </a:extLst>
          </p:cNvPr>
          <p:cNvGrpSpPr/>
          <p:nvPr/>
        </p:nvGrpSpPr>
        <p:grpSpPr>
          <a:xfrm>
            <a:off x="1612436" y="2731864"/>
            <a:ext cx="1036839" cy="1036839"/>
            <a:chOff x="4792341" y="2000207"/>
            <a:chExt cx="1036839" cy="1036839"/>
          </a:xfrm>
        </p:grpSpPr>
        <p:sp>
          <p:nvSpPr>
            <p:cNvPr id="34" name="Rounded Rectangle 9">
              <a:extLst>
                <a:ext uri="{FF2B5EF4-FFF2-40B4-BE49-F238E27FC236}">
                  <a16:creationId xmlns:a16="http://schemas.microsoft.com/office/drawing/2014/main" id="{9D7738B3-58A4-5911-A0A3-17DDC875C6F2}"/>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71E67D63-1017-0A4C-CC37-F41FA62F404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29" name="Group 28">
            <a:extLst>
              <a:ext uri="{FF2B5EF4-FFF2-40B4-BE49-F238E27FC236}">
                <a16:creationId xmlns:a16="http://schemas.microsoft.com/office/drawing/2014/main" id="{6AE28339-03A5-4EB4-8760-11E8B5F2B54B}"/>
              </a:ext>
            </a:extLst>
          </p:cNvPr>
          <p:cNvGrpSpPr/>
          <p:nvPr/>
        </p:nvGrpSpPr>
        <p:grpSpPr>
          <a:xfrm>
            <a:off x="3803936" y="2731864"/>
            <a:ext cx="1036839" cy="1036839"/>
            <a:chOff x="4792341" y="3221263"/>
            <a:chExt cx="1036839" cy="1036839"/>
          </a:xfrm>
        </p:grpSpPr>
        <p:sp>
          <p:nvSpPr>
            <p:cNvPr id="32" name="Rounded Rectangle 11">
              <a:extLst>
                <a:ext uri="{FF2B5EF4-FFF2-40B4-BE49-F238E27FC236}">
                  <a16:creationId xmlns:a16="http://schemas.microsoft.com/office/drawing/2014/main" id="{D041A222-58DA-D0F3-36F6-492BE2A71E97}"/>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13F73ACF-8F8A-CAF4-BA15-45EE16A815F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30" name="Left Brace 29">
            <a:extLst>
              <a:ext uri="{FF2B5EF4-FFF2-40B4-BE49-F238E27FC236}">
                <a16:creationId xmlns:a16="http://schemas.microsoft.com/office/drawing/2014/main" id="{A04D8A4A-7257-C6BA-E961-C17D9A1BA8D2}"/>
              </a:ext>
            </a:extLst>
          </p:cNvPr>
          <p:cNvSpPr/>
          <p:nvPr/>
        </p:nvSpPr>
        <p:spPr>
          <a:xfrm rot="10800000">
            <a:off x="8212505" y="2326459"/>
            <a:ext cx="406400" cy="1596840"/>
          </a:xfrm>
          <a:prstGeom prst="leftBrace">
            <a:avLst>
              <a:gd name="adj1" fmla="val 35000"/>
              <a:gd name="adj2" fmla="val 50000"/>
            </a:avLst>
          </a:prstGeom>
          <a:ln>
            <a:solidFill>
              <a:srgbClr val="507EFF"/>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1" name="Left Brace 30">
            <a:extLst>
              <a:ext uri="{FF2B5EF4-FFF2-40B4-BE49-F238E27FC236}">
                <a16:creationId xmlns:a16="http://schemas.microsoft.com/office/drawing/2014/main" id="{D755791E-92A7-672B-D6DE-260A9AAD90BD}"/>
              </a:ext>
            </a:extLst>
          </p:cNvPr>
          <p:cNvSpPr/>
          <p:nvPr/>
        </p:nvSpPr>
        <p:spPr>
          <a:xfrm rot="10800000">
            <a:off x="8212506" y="4284527"/>
            <a:ext cx="406400" cy="1596840"/>
          </a:xfrm>
          <a:prstGeom prst="leftBrace">
            <a:avLst>
              <a:gd name="adj1" fmla="val 35000"/>
              <a:gd name="adj2" fmla="val 50000"/>
            </a:avLst>
          </a:prstGeom>
          <a:ln>
            <a:solidFill>
              <a:srgbClr val="507EFF"/>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8535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23" name="Title 4">
            <a:extLst>
              <a:ext uri="{FF2B5EF4-FFF2-40B4-BE49-F238E27FC236}">
                <a16:creationId xmlns:a16="http://schemas.microsoft.com/office/drawing/2014/main" id="{DEA8EC94-967D-BBD3-7A8A-531BA8F61525}"/>
              </a:ext>
            </a:extLst>
          </p:cNvPr>
          <p:cNvSpPr>
            <a:spLocks noGrp="1"/>
          </p:cNvSpPr>
          <p:nvPr/>
        </p:nvSpPr>
        <p:spPr>
          <a:xfrm>
            <a:off x="603885" y="66702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Business Perspective</a:t>
            </a:r>
          </a:p>
        </p:txBody>
      </p:sp>
      <p:sp>
        <p:nvSpPr>
          <p:cNvPr id="24" name="Freeform 10">
            <a:extLst>
              <a:ext uri="{FF2B5EF4-FFF2-40B4-BE49-F238E27FC236}">
                <a16:creationId xmlns:a16="http://schemas.microsoft.com/office/drawing/2014/main" id="{9541A213-5537-BA0A-ED01-6FD9E8EC9FCE}"/>
              </a:ext>
            </a:extLst>
          </p:cNvPr>
          <p:cNvSpPr/>
          <p:nvPr/>
        </p:nvSpPr>
        <p:spPr>
          <a:xfrm>
            <a:off x="992389"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25" name="Freeform 12">
            <a:extLst>
              <a:ext uri="{FF2B5EF4-FFF2-40B4-BE49-F238E27FC236}">
                <a16:creationId xmlns:a16="http://schemas.microsoft.com/office/drawing/2014/main" id="{1AD6131A-EAF7-4FF5-F802-02CDC5D63F4C}"/>
              </a:ext>
            </a:extLst>
          </p:cNvPr>
          <p:cNvSpPr/>
          <p:nvPr/>
        </p:nvSpPr>
        <p:spPr>
          <a:xfrm>
            <a:off x="3162834"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26" name="Freeform 14">
            <a:extLst>
              <a:ext uri="{FF2B5EF4-FFF2-40B4-BE49-F238E27FC236}">
                <a16:creationId xmlns:a16="http://schemas.microsoft.com/office/drawing/2014/main" id="{A2320F5E-A2A6-368C-E436-2347EE655A3D}"/>
              </a:ext>
            </a:extLst>
          </p:cNvPr>
          <p:cNvSpPr/>
          <p:nvPr/>
        </p:nvSpPr>
        <p:spPr>
          <a:xfrm>
            <a:off x="5341992"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27" name="Freeform 16">
            <a:extLst>
              <a:ext uri="{FF2B5EF4-FFF2-40B4-BE49-F238E27FC236}">
                <a16:creationId xmlns:a16="http://schemas.microsoft.com/office/drawing/2014/main" id="{A235010E-78A1-1CEB-26A5-09F6F2CF0215}"/>
              </a:ext>
            </a:extLst>
          </p:cNvPr>
          <p:cNvSpPr/>
          <p:nvPr/>
        </p:nvSpPr>
        <p:spPr>
          <a:xfrm>
            <a:off x="877155"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28" name="Freeform 18">
            <a:extLst>
              <a:ext uri="{FF2B5EF4-FFF2-40B4-BE49-F238E27FC236}">
                <a16:creationId xmlns:a16="http://schemas.microsoft.com/office/drawing/2014/main" id="{065E5E7D-3661-8039-6F1C-B9811CB93ACE}"/>
              </a:ext>
            </a:extLst>
          </p:cNvPr>
          <p:cNvSpPr/>
          <p:nvPr/>
        </p:nvSpPr>
        <p:spPr>
          <a:xfrm>
            <a:off x="3067482"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29" name="Freeform 20">
            <a:extLst>
              <a:ext uri="{FF2B5EF4-FFF2-40B4-BE49-F238E27FC236}">
                <a16:creationId xmlns:a16="http://schemas.microsoft.com/office/drawing/2014/main" id="{32434C98-FC53-A55C-5FCD-BD6DD360CE49}"/>
              </a:ext>
            </a:extLst>
          </p:cNvPr>
          <p:cNvSpPr/>
          <p:nvPr/>
        </p:nvSpPr>
        <p:spPr>
          <a:xfrm>
            <a:off x="5226758"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30" name="Group 29">
            <a:extLst>
              <a:ext uri="{FF2B5EF4-FFF2-40B4-BE49-F238E27FC236}">
                <a16:creationId xmlns:a16="http://schemas.microsoft.com/office/drawing/2014/main" id="{ADFFFAF0-0141-CEFD-E04B-F9448D76C19D}"/>
              </a:ext>
            </a:extLst>
          </p:cNvPr>
          <p:cNvGrpSpPr/>
          <p:nvPr/>
        </p:nvGrpSpPr>
        <p:grpSpPr>
          <a:xfrm>
            <a:off x="3637418" y="4252242"/>
            <a:ext cx="1112988" cy="1065005"/>
            <a:chOff x="6089845" y="3221263"/>
            <a:chExt cx="1112988" cy="1065005"/>
          </a:xfrm>
        </p:grpSpPr>
        <p:sp>
          <p:nvSpPr>
            <p:cNvPr id="54" name="Rounded Rectangle 17">
              <a:extLst>
                <a:ext uri="{FF2B5EF4-FFF2-40B4-BE49-F238E27FC236}">
                  <a16:creationId xmlns:a16="http://schemas.microsoft.com/office/drawing/2014/main" id="{B37FA678-918F-7ECD-9E2E-E7D131841ED1}"/>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55" name="Picture 54">
              <a:extLst>
                <a:ext uri="{FF2B5EF4-FFF2-40B4-BE49-F238E27FC236}">
                  <a16:creationId xmlns:a16="http://schemas.microsoft.com/office/drawing/2014/main" id="{10254704-BFD4-36E0-D3C8-D8B7BC401CC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31" name="Group 30">
            <a:extLst>
              <a:ext uri="{FF2B5EF4-FFF2-40B4-BE49-F238E27FC236}">
                <a16:creationId xmlns:a16="http://schemas.microsoft.com/office/drawing/2014/main" id="{295E7270-9BA4-0FDD-7D97-1A4EA5A70EE8}"/>
              </a:ext>
            </a:extLst>
          </p:cNvPr>
          <p:cNvGrpSpPr/>
          <p:nvPr/>
        </p:nvGrpSpPr>
        <p:grpSpPr>
          <a:xfrm>
            <a:off x="5797233" y="2564872"/>
            <a:ext cx="1058062" cy="1063537"/>
            <a:chOff x="4792341" y="4406849"/>
            <a:chExt cx="1058062" cy="1063537"/>
          </a:xfrm>
        </p:grpSpPr>
        <p:sp>
          <p:nvSpPr>
            <p:cNvPr id="52" name="Rounded Rectangle 13">
              <a:extLst>
                <a:ext uri="{FF2B5EF4-FFF2-40B4-BE49-F238E27FC236}">
                  <a16:creationId xmlns:a16="http://schemas.microsoft.com/office/drawing/2014/main" id="{C1682E5C-E0DB-AA8E-48EA-07711DFFDD3D}"/>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53" name="Picture 52">
              <a:extLst>
                <a:ext uri="{FF2B5EF4-FFF2-40B4-BE49-F238E27FC236}">
                  <a16:creationId xmlns:a16="http://schemas.microsoft.com/office/drawing/2014/main" id="{81CEDF93-13FA-E36F-1B12-499BB381B94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32" name="Group 31">
            <a:extLst>
              <a:ext uri="{FF2B5EF4-FFF2-40B4-BE49-F238E27FC236}">
                <a16:creationId xmlns:a16="http://schemas.microsoft.com/office/drawing/2014/main" id="{B05B890C-B4FA-76CB-6C43-4751125A45EE}"/>
              </a:ext>
            </a:extLst>
          </p:cNvPr>
          <p:cNvGrpSpPr/>
          <p:nvPr/>
        </p:nvGrpSpPr>
        <p:grpSpPr>
          <a:xfrm>
            <a:off x="5796412" y="4257506"/>
            <a:ext cx="1040409" cy="1051505"/>
            <a:chOff x="6089845" y="4406849"/>
            <a:chExt cx="1040409" cy="1051505"/>
          </a:xfrm>
        </p:grpSpPr>
        <p:sp>
          <p:nvSpPr>
            <p:cNvPr id="50" name="Rounded Rectangle 19">
              <a:extLst>
                <a:ext uri="{FF2B5EF4-FFF2-40B4-BE49-F238E27FC236}">
                  <a16:creationId xmlns:a16="http://schemas.microsoft.com/office/drawing/2014/main" id="{C650D9F8-6008-5C36-6228-4F4895B842F2}"/>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51" name="Picture 50">
              <a:extLst>
                <a:ext uri="{FF2B5EF4-FFF2-40B4-BE49-F238E27FC236}">
                  <a16:creationId xmlns:a16="http://schemas.microsoft.com/office/drawing/2014/main" id="{25097ADE-5990-D315-3FC7-91D56B8D15D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33" name="Group 32">
            <a:extLst>
              <a:ext uri="{FF2B5EF4-FFF2-40B4-BE49-F238E27FC236}">
                <a16:creationId xmlns:a16="http://schemas.microsoft.com/office/drawing/2014/main" id="{65ED74FC-9B94-624B-01A3-E5AA07529CDE}"/>
              </a:ext>
            </a:extLst>
          </p:cNvPr>
          <p:cNvGrpSpPr/>
          <p:nvPr/>
        </p:nvGrpSpPr>
        <p:grpSpPr>
          <a:xfrm>
            <a:off x="1434774" y="4249512"/>
            <a:ext cx="1036839" cy="1036839"/>
            <a:chOff x="6089845" y="2000207"/>
            <a:chExt cx="1036839" cy="1036839"/>
          </a:xfrm>
        </p:grpSpPr>
        <p:sp>
          <p:nvSpPr>
            <p:cNvPr id="48" name="Rounded Rectangle 15">
              <a:extLst>
                <a:ext uri="{FF2B5EF4-FFF2-40B4-BE49-F238E27FC236}">
                  <a16:creationId xmlns:a16="http://schemas.microsoft.com/office/drawing/2014/main" id="{54A7F5E3-8BA9-A5EC-F4B0-10D8839BC7D4}"/>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49" name="Picture 48">
              <a:extLst>
                <a:ext uri="{FF2B5EF4-FFF2-40B4-BE49-F238E27FC236}">
                  <a16:creationId xmlns:a16="http://schemas.microsoft.com/office/drawing/2014/main" id="{6E7664CE-012A-BBB4-67A3-66121C29923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34" name="Group 33">
            <a:extLst>
              <a:ext uri="{FF2B5EF4-FFF2-40B4-BE49-F238E27FC236}">
                <a16:creationId xmlns:a16="http://schemas.microsoft.com/office/drawing/2014/main" id="{E52BF9AC-B37B-7112-DA29-277EA8734BA2}"/>
              </a:ext>
            </a:extLst>
          </p:cNvPr>
          <p:cNvGrpSpPr/>
          <p:nvPr/>
        </p:nvGrpSpPr>
        <p:grpSpPr>
          <a:xfrm>
            <a:off x="1414233" y="2578221"/>
            <a:ext cx="1036839" cy="1036839"/>
            <a:chOff x="4792341" y="2000207"/>
            <a:chExt cx="1036839" cy="1036839"/>
          </a:xfrm>
        </p:grpSpPr>
        <p:sp>
          <p:nvSpPr>
            <p:cNvPr id="46" name="Rounded Rectangle 9">
              <a:extLst>
                <a:ext uri="{FF2B5EF4-FFF2-40B4-BE49-F238E27FC236}">
                  <a16:creationId xmlns:a16="http://schemas.microsoft.com/office/drawing/2014/main" id="{05E8D3F3-AB08-64F5-7B67-4850EDBDD5F3}"/>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47" name="Picture 46">
              <a:extLst>
                <a:ext uri="{FF2B5EF4-FFF2-40B4-BE49-F238E27FC236}">
                  <a16:creationId xmlns:a16="http://schemas.microsoft.com/office/drawing/2014/main" id="{31764E20-248F-AB73-1004-ECD8E4BC777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35" name="Group 34">
            <a:extLst>
              <a:ext uri="{FF2B5EF4-FFF2-40B4-BE49-F238E27FC236}">
                <a16:creationId xmlns:a16="http://schemas.microsoft.com/office/drawing/2014/main" id="{34CA91AF-AEF1-2DD0-65BE-4EDF0A43BDC0}"/>
              </a:ext>
            </a:extLst>
          </p:cNvPr>
          <p:cNvGrpSpPr/>
          <p:nvPr/>
        </p:nvGrpSpPr>
        <p:grpSpPr>
          <a:xfrm>
            <a:off x="3605733" y="2578221"/>
            <a:ext cx="1036839" cy="1036839"/>
            <a:chOff x="4792341" y="3221263"/>
            <a:chExt cx="1036839" cy="1036839"/>
          </a:xfrm>
        </p:grpSpPr>
        <p:sp>
          <p:nvSpPr>
            <p:cNvPr id="44" name="Rounded Rectangle 11">
              <a:extLst>
                <a:ext uri="{FF2B5EF4-FFF2-40B4-BE49-F238E27FC236}">
                  <a16:creationId xmlns:a16="http://schemas.microsoft.com/office/drawing/2014/main" id="{13026883-5CBD-3210-956F-69DF941F45E1}"/>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45" name="Picture 44">
              <a:extLst>
                <a:ext uri="{FF2B5EF4-FFF2-40B4-BE49-F238E27FC236}">
                  <a16:creationId xmlns:a16="http://schemas.microsoft.com/office/drawing/2014/main" id="{F1664DC2-D54D-0C85-3AE2-A5EED6CD4AE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36" name="Rectangle 35">
            <a:extLst>
              <a:ext uri="{FF2B5EF4-FFF2-40B4-BE49-F238E27FC236}">
                <a16:creationId xmlns:a16="http://schemas.microsoft.com/office/drawing/2014/main" id="{C178CBD3-CB1D-955B-D1B2-6BADCB9C9C95}"/>
              </a:ext>
            </a:extLst>
          </p:cNvPr>
          <p:cNvSpPr/>
          <p:nvPr/>
        </p:nvSpPr>
        <p:spPr>
          <a:xfrm>
            <a:off x="8662035" y="2185388"/>
            <a:ext cx="2926080" cy="37856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EE02153E-2875-F965-3082-9CE9FE6CE929}"/>
              </a:ext>
            </a:extLst>
          </p:cNvPr>
          <p:cNvSpPr/>
          <p:nvPr/>
        </p:nvSpPr>
        <p:spPr>
          <a:xfrm>
            <a:off x="8762115" y="2641468"/>
            <a:ext cx="2745735" cy="2031325"/>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Ensures that investments in IT are linked to important business outcomes and that IT is in line with business needs</a:t>
            </a:r>
          </a:p>
          <a:p>
            <a:br>
              <a:rPr lang="en-US"/>
            </a:br>
            <a:endParaRPr lang="en-US"/>
          </a:p>
        </p:txBody>
      </p:sp>
      <p:sp>
        <p:nvSpPr>
          <p:cNvPr id="38" name="Rectangle 37">
            <a:extLst>
              <a:ext uri="{FF2B5EF4-FFF2-40B4-BE49-F238E27FC236}">
                <a16:creationId xmlns:a16="http://schemas.microsoft.com/office/drawing/2014/main" id="{EC2D09A6-22DE-7358-0E37-0ACD69AE27DD}"/>
              </a:ext>
            </a:extLst>
          </p:cNvPr>
          <p:cNvSpPr/>
          <p:nvPr/>
        </p:nvSpPr>
        <p:spPr>
          <a:xfrm>
            <a:off x="8718491" y="4521159"/>
            <a:ext cx="2832981" cy="120032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t>Finance managers</a:t>
            </a:r>
          </a:p>
          <a:p>
            <a:pPr marL="285750" indent="-285750">
              <a:buFont typeface="Arial" panose="020B0604020202020204" pitchFamily="34" charset="0"/>
              <a:buChar char="•"/>
            </a:pPr>
            <a:r>
              <a:rPr lang="en-US"/>
              <a:t>Budget owners</a:t>
            </a:r>
          </a:p>
          <a:p>
            <a:pPr marL="285750" indent="-285750">
              <a:buFont typeface="Arial" panose="020B0604020202020204" pitchFamily="34" charset="0"/>
              <a:buChar char="•"/>
            </a:pPr>
            <a:r>
              <a:rPr lang="en-US"/>
              <a:t>Strategy stakeholders</a:t>
            </a:r>
          </a:p>
          <a:p>
            <a:pPr marL="285750" indent="-285750">
              <a:buFont typeface="Arial" panose="020B0604020202020204" pitchFamily="34" charset="0"/>
              <a:buChar char="•"/>
            </a:pPr>
            <a:r>
              <a:rPr lang="en-US"/>
              <a:t>Business managers</a:t>
            </a:r>
          </a:p>
        </p:txBody>
      </p:sp>
      <p:sp>
        <p:nvSpPr>
          <p:cNvPr id="39" name="TextBox 34">
            <a:extLst>
              <a:ext uri="{FF2B5EF4-FFF2-40B4-BE49-F238E27FC236}">
                <a16:creationId xmlns:a16="http://schemas.microsoft.com/office/drawing/2014/main" id="{84CDD6E8-DF38-2FFC-5264-20230C66B642}"/>
              </a:ext>
            </a:extLst>
          </p:cNvPr>
          <p:cNvSpPr txBox="1"/>
          <p:nvPr/>
        </p:nvSpPr>
        <p:spPr>
          <a:xfrm>
            <a:off x="8733266" y="2224733"/>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40" name="TextBox 35">
            <a:extLst>
              <a:ext uri="{FF2B5EF4-FFF2-40B4-BE49-F238E27FC236}">
                <a16:creationId xmlns:a16="http://schemas.microsoft.com/office/drawing/2014/main" id="{EA71EE62-5FE8-539E-DC95-2F05607EC1C4}"/>
              </a:ext>
            </a:extLst>
          </p:cNvPr>
          <p:cNvSpPr txBox="1"/>
          <p:nvPr/>
        </p:nvSpPr>
        <p:spPr>
          <a:xfrm>
            <a:off x="8741537" y="4111858"/>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41" name="Rectangle 40">
            <a:extLst>
              <a:ext uri="{FF2B5EF4-FFF2-40B4-BE49-F238E27FC236}">
                <a16:creationId xmlns:a16="http://schemas.microsoft.com/office/drawing/2014/main" id="{B0987BFF-E64E-4D70-D84F-9FD6DD847DCE}"/>
              </a:ext>
            </a:extLst>
          </p:cNvPr>
          <p:cNvSpPr/>
          <p:nvPr/>
        </p:nvSpPr>
        <p:spPr>
          <a:xfrm>
            <a:off x="3069108" y="1819536"/>
            <a:ext cx="4246021"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Rectangle 41">
            <a:extLst>
              <a:ext uri="{FF2B5EF4-FFF2-40B4-BE49-F238E27FC236}">
                <a16:creationId xmlns:a16="http://schemas.microsoft.com/office/drawing/2014/main" id="{0589BAC7-5D56-6674-2452-CE68B51A03DB}"/>
              </a:ext>
            </a:extLst>
          </p:cNvPr>
          <p:cNvSpPr/>
          <p:nvPr/>
        </p:nvSpPr>
        <p:spPr>
          <a:xfrm>
            <a:off x="1263211" y="4133400"/>
            <a:ext cx="6085526"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43" name="Elbow Connector 5">
            <a:extLst>
              <a:ext uri="{FF2B5EF4-FFF2-40B4-BE49-F238E27FC236}">
                <a16:creationId xmlns:a16="http://schemas.microsoft.com/office/drawing/2014/main" id="{9C250543-80B8-79C8-A4C8-29906F13BB90}"/>
              </a:ext>
            </a:extLst>
          </p:cNvPr>
          <p:cNvCxnSpPr>
            <a:stCxn id="46" idx="2"/>
          </p:cNvCxnSpPr>
          <p:nvPr/>
        </p:nvCxnSpPr>
        <p:spPr>
          <a:xfrm rot="16200000" flipH="1">
            <a:off x="5087024" y="460689"/>
            <a:ext cx="420641" cy="6729382"/>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34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BC030A29-3996-9A27-35A8-B52DB914390A}"/>
              </a:ext>
            </a:extLst>
          </p:cNvPr>
          <p:cNvSpPr>
            <a:spLocks noGrp="1"/>
          </p:cNvSpPr>
          <p:nvPr/>
        </p:nvSpPr>
        <p:spPr>
          <a:xfrm>
            <a:off x="603885" y="66702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People Perspective</a:t>
            </a:r>
          </a:p>
        </p:txBody>
      </p:sp>
      <p:sp>
        <p:nvSpPr>
          <p:cNvPr id="12" name="Freeform 10">
            <a:extLst>
              <a:ext uri="{FF2B5EF4-FFF2-40B4-BE49-F238E27FC236}">
                <a16:creationId xmlns:a16="http://schemas.microsoft.com/office/drawing/2014/main" id="{DBEB1100-EC72-8193-F896-9F00C550AEFD}"/>
              </a:ext>
            </a:extLst>
          </p:cNvPr>
          <p:cNvSpPr/>
          <p:nvPr/>
        </p:nvSpPr>
        <p:spPr>
          <a:xfrm>
            <a:off x="992389"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13" name="Freeform 12">
            <a:extLst>
              <a:ext uri="{FF2B5EF4-FFF2-40B4-BE49-F238E27FC236}">
                <a16:creationId xmlns:a16="http://schemas.microsoft.com/office/drawing/2014/main" id="{3FDA1BC8-F165-6A0F-F024-A70FB945FA33}"/>
              </a:ext>
            </a:extLst>
          </p:cNvPr>
          <p:cNvSpPr/>
          <p:nvPr/>
        </p:nvSpPr>
        <p:spPr>
          <a:xfrm>
            <a:off x="3162834"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4" name="Freeform 14">
            <a:extLst>
              <a:ext uri="{FF2B5EF4-FFF2-40B4-BE49-F238E27FC236}">
                <a16:creationId xmlns:a16="http://schemas.microsoft.com/office/drawing/2014/main" id="{8873D5E8-D5F9-3170-CDD5-4EDF9E2ECB4D}"/>
              </a:ext>
            </a:extLst>
          </p:cNvPr>
          <p:cNvSpPr/>
          <p:nvPr/>
        </p:nvSpPr>
        <p:spPr>
          <a:xfrm>
            <a:off x="5341992"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5" name="Freeform 16">
            <a:extLst>
              <a:ext uri="{FF2B5EF4-FFF2-40B4-BE49-F238E27FC236}">
                <a16:creationId xmlns:a16="http://schemas.microsoft.com/office/drawing/2014/main" id="{DDE6435F-8DA0-983E-35A4-54D9AA313FE8}"/>
              </a:ext>
            </a:extLst>
          </p:cNvPr>
          <p:cNvSpPr/>
          <p:nvPr/>
        </p:nvSpPr>
        <p:spPr>
          <a:xfrm>
            <a:off x="877155"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16" name="Freeform 18">
            <a:extLst>
              <a:ext uri="{FF2B5EF4-FFF2-40B4-BE49-F238E27FC236}">
                <a16:creationId xmlns:a16="http://schemas.microsoft.com/office/drawing/2014/main" id="{CADC93F1-42A9-E309-4697-EEA178BDB78D}"/>
              </a:ext>
            </a:extLst>
          </p:cNvPr>
          <p:cNvSpPr/>
          <p:nvPr/>
        </p:nvSpPr>
        <p:spPr>
          <a:xfrm>
            <a:off x="3067482"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17" name="Freeform 20">
            <a:extLst>
              <a:ext uri="{FF2B5EF4-FFF2-40B4-BE49-F238E27FC236}">
                <a16:creationId xmlns:a16="http://schemas.microsoft.com/office/drawing/2014/main" id="{3C50BBF6-9F89-3694-26D0-FE4BC9560245}"/>
              </a:ext>
            </a:extLst>
          </p:cNvPr>
          <p:cNvSpPr/>
          <p:nvPr/>
        </p:nvSpPr>
        <p:spPr>
          <a:xfrm>
            <a:off x="5226758"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18" name="Group 17">
            <a:extLst>
              <a:ext uri="{FF2B5EF4-FFF2-40B4-BE49-F238E27FC236}">
                <a16:creationId xmlns:a16="http://schemas.microsoft.com/office/drawing/2014/main" id="{64C77EE7-F749-628E-8574-02F4200F2AA1}"/>
              </a:ext>
            </a:extLst>
          </p:cNvPr>
          <p:cNvGrpSpPr/>
          <p:nvPr/>
        </p:nvGrpSpPr>
        <p:grpSpPr>
          <a:xfrm>
            <a:off x="3637418" y="4252242"/>
            <a:ext cx="1112988" cy="1065005"/>
            <a:chOff x="6089845" y="3221263"/>
            <a:chExt cx="1112988" cy="1065005"/>
          </a:xfrm>
        </p:grpSpPr>
        <p:sp>
          <p:nvSpPr>
            <p:cNvPr id="43" name="Rounded Rectangle 17">
              <a:extLst>
                <a:ext uri="{FF2B5EF4-FFF2-40B4-BE49-F238E27FC236}">
                  <a16:creationId xmlns:a16="http://schemas.microsoft.com/office/drawing/2014/main" id="{F697A4E9-6A88-54D6-C8FE-7A06BC5EEDB5}"/>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9733DC27-62E9-145F-4B37-B4A021BA8F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19" name="Group 18">
            <a:extLst>
              <a:ext uri="{FF2B5EF4-FFF2-40B4-BE49-F238E27FC236}">
                <a16:creationId xmlns:a16="http://schemas.microsoft.com/office/drawing/2014/main" id="{9C3FF325-E730-5FE5-EC1A-27546ECB6DD3}"/>
              </a:ext>
            </a:extLst>
          </p:cNvPr>
          <p:cNvGrpSpPr/>
          <p:nvPr/>
        </p:nvGrpSpPr>
        <p:grpSpPr>
          <a:xfrm>
            <a:off x="5797233" y="2564872"/>
            <a:ext cx="1058062" cy="1063537"/>
            <a:chOff x="4792341" y="4406849"/>
            <a:chExt cx="1058062" cy="1063537"/>
          </a:xfrm>
        </p:grpSpPr>
        <p:sp>
          <p:nvSpPr>
            <p:cNvPr id="41" name="Rounded Rectangle 13">
              <a:extLst>
                <a:ext uri="{FF2B5EF4-FFF2-40B4-BE49-F238E27FC236}">
                  <a16:creationId xmlns:a16="http://schemas.microsoft.com/office/drawing/2014/main" id="{9727BBAE-78EF-6F81-84F0-BE585CA1C914}"/>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42" name="Picture 41">
              <a:extLst>
                <a:ext uri="{FF2B5EF4-FFF2-40B4-BE49-F238E27FC236}">
                  <a16:creationId xmlns:a16="http://schemas.microsoft.com/office/drawing/2014/main" id="{C3E72A88-C935-66E6-7BF5-96E5239196B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20" name="Group 19">
            <a:extLst>
              <a:ext uri="{FF2B5EF4-FFF2-40B4-BE49-F238E27FC236}">
                <a16:creationId xmlns:a16="http://schemas.microsoft.com/office/drawing/2014/main" id="{BB79D350-E95C-3CCF-068B-6C048C1AC7A1}"/>
              </a:ext>
            </a:extLst>
          </p:cNvPr>
          <p:cNvGrpSpPr/>
          <p:nvPr/>
        </p:nvGrpSpPr>
        <p:grpSpPr>
          <a:xfrm>
            <a:off x="5796412" y="4257506"/>
            <a:ext cx="1040409" cy="1051505"/>
            <a:chOff x="6089845" y="4406849"/>
            <a:chExt cx="1040409" cy="1051505"/>
          </a:xfrm>
        </p:grpSpPr>
        <p:sp>
          <p:nvSpPr>
            <p:cNvPr id="39" name="Rounded Rectangle 19">
              <a:extLst>
                <a:ext uri="{FF2B5EF4-FFF2-40B4-BE49-F238E27FC236}">
                  <a16:creationId xmlns:a16="http://schemas.microsoft.com/office/drawing/2014/main" id="{B3479F4D-D2FE-84BE-FE57-EF006E398CC8}"/>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40" name="Picture 39">
              <a:extLst>
                <a:ext uri="{FF2B5EF4-FFF2-40B4-BE49-F238E27FC236}">
                  <a16:creationId xmlns:a16="http://schemas.microsoft.com/office/drawing/2014/main" id="{4A86ED02-4AB5-0E51-DF0E-9378B4B748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21" name="Group 20">
            <a:extLst>
              <a:ext uri="{FF2B5EF4-FFF2-40B4-BE49-F238E27FC236}">
                <a16:creationId xmlns:a16="http://schemas.microsoft.com/office/drawing/2014/main" id="{6A90C8DF-BC8F-1CDF-DDD1-4D83155F8F40}"/>
              </a:ext>
            </a:extLst>
          </p:cNvPr>
          <p:cNvGrpSpPr/>
          <p:nvPr/>
        </p:nvGrpSpPr>
        <p:grpSpPr>
          <a:xfrm>
            <a:off x="1434774" y="4249512"/>
            <a:ext cx="1036839" cy="1036839"/>
            <a:chOff x="6089845" y="2000207"/>
            <a:chExt cx="1036839" cy="1036839"/>
          </a:xfrm>
        </p:grpSpPr>
        <p:sp>
          <p:nvSpPr>
            <p:cNvPr id="37" name="Rounded Rectangle 15">
              <a:extLst>
                <a:ext uri="{FF2B5EF4-FFF2-40B4-BE49-F238E27FC236}">
                  <a16:creationId xmlns:a16="http://schemas.microsoft.com/office/drawing/2014/main" id="{8B3232EF-3714-DE4F-6130-D958656AC6E4}"/>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38" name="Picture 37">
              <a:extLst>
                <a:ext uri="{FF2B5EF4-FFF2-40B4-BE49-F238E27FC236}">
                  <a16:creationId xmlns:a16="http://schemas.microsoft.com/office/drawing/2014/main" id="{DC11A235-9BDF-235A-59E9-BC6A6B92309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22" name="Group 21">
            <a:extLst>
              <a:ext uri="{FF2B5EF4-FFF2-40B4-BE49-F238E27FC236}">
                <a16:creationId xmlns:a16="http://schemas.microsoft.com/office/drawing/2014/main" id="{9A9F07ED-ABAD-896C-4678-13A7F672A3A5}"/>
              </a:ext>
            </a:extLst>
          </p:cNvPr>
          <p:cNvGrpSpPr/>
          <p:nvPr/>
        </p:nvGrpSpPr>
        <p:grpSpPr>
          <a:xfrm>
            <a:off x="1414233" y="2578221"/>
            <a:ext cx="1036839" cy="1036839"/>
            <a:chOff x="4792341" y="2000207"/>
            <a:chExt cx="1036839" cy="1036839"/>
          </a:xfrm>
        </p:grpSpPr>
        <p:sp>
          <p:nvSpPr>
            <p:cNvPr id="35" name="Rounded Rectangle 9">
              <a:extLst>
                <a:ext uri="{FF2B5EF4-FFF2-40B4-BE49-F238E27FC236}">
                  <a16:creationId xmlns:a16="http://schemas.microsoft.com/office/drawing/2014/main" id="{2000C880-1CC1-419A-EC32-2917A5845BCE}"/>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36" name="Picture 35">
              <a:extLst>
                <a:ext uri="{FF2B5EF4-FFF2-40B4-BE49-F238E27FC236}">
                  <a16:creationId xmlns:a16="http://schemas.microsoft.com/office/drawing/2014/main" id="{05893530-FD13-20A2-EB0C-27B1114C350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23" name="Group 22">
            <a:extLst>
              <a:ext uri="{FF2B5EF4-FFF2-40B4-BE49-F238E27FC236}">
                <a16:creationId xmlns:a16="http://schemas.microsoft.com/office/drawing/2014/main" id="{11ECAF9F-CDE2-FB2C-A68E-8FCBE4398274}"/>
              </a:ext>
            </a:extLst>
          </p:cNvPr>
          <p:cNvGrpSpPr/>
          <p:nvPr/>
        </p:nvGrpSpPr>
        <p:grpSpPr>
          <a:xfrm>
            <a:off x="3605733" y="2578221"/>
            <a:ext cx="1036839" cy="1036839"/>
            <a:chOff x="4792341" y="3221263"/>
            <a:chExt cx="1036839" cy="1036839"/>
          </a:xfrm>
        </p:grpSpPr>
        <p:sp>
          <p:nvSpPr>
            <p:cNvPr id="33" name="Rounded Rectangle 11">
              <a:extLst>
                <a:ext uri="{FF2B5EF4-FFF2-40B4-BE49-F238E27FC236}">
                  <a16:creationId xmlns:a16="http://schemas.microsoft.com/office/drawing/2014/main" id="{9BE239F9-787D-60CF-96B4-434C83D13450}"/>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5759B185-82E2-39DE-E0DE-5EE01643FC4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24" name="Rectangle 23">
            <a:extLst>
              <a:ext uri="{FF2B5EF4-FFF2-40B4-BE49-F238E27FC236}">
                <a16:creationId xmlns:a16="http://schemas.microsoft.com/office/drawing/2014/main" id="{83F1601A-4E86-58FE-FA7C-CBDCD77927DE}"/>
              </a:ext>
            </a:extLst>
          </p:cNvPr>
          <p:cNvSpPr/>
          <p:nvPr/>
        </p:nvSpPr>
        <p:spPr>
          <a:xfrm>
            <a:off x="8662035" y="2185389"/>
            <a:ext cx="2926080" cy="37856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a:extLst>
              <a:ext uri="{FF2B5EF4-FFF2-40B4-BE49-F238E27FC236}">
                <a16:creationId xmlns:a16="http://schemas.microsoft.com/office/drawing/2014/main" id="{7BC00E68-3F6B-EB5E-8E7D-D68F5D127595}"/>
              </a:ext>
            </a:extLst>
          </p:cNvPr>
          <p:cNvSpPr/>
          <p:nvPr/>
        </p:nvSpPr>
        <p:spPr>
          <a:xfrm>
            <a:off x="8762115" y="2641468"/>
            <a:ext cx="2745735" cy="2031325"/>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Helps create an effective change management plan for the entire company to ensure Cloud adoption</a:t>
            </a:r>
          </a:p>
          <a:p>
            <a:endParaRPr lang="en-US"/>
          </a:p>
          <a:p>
            <a:br>
              <a:rPr lang="en-US"/>
            </a:br>
            <a:endParaRPr lang="en-US"/>
          </a:p>
        </p:txBody>
      </p:sp>
      <p:sp>
        <p:nvSpPr>
          <p:cNvPr id="26" name="Rectangle 25">
            <a:extLst>
              <a:ext uri="{FF2B5EF4-FFF2-40B4-BE49-F238E27FC236}">
                <a16:creationId xmlns:a16="http://schemas.microsoft.com/office/drawing/2014/main" id="{CF4178F6-BA5C-C43F-CCEB-16EC7F7CB528}"/>
              </a:ext>
            </a:extLst>
          </p:cNvPr>
          <p:cNvSpPr/>
          <p:nvPr/>
        </p:nvSpPr>
        <p:spPr>
          <a:xfrm>
            <a:off x="8718491" y="4521159"/>
            <a:ext cx="2832981" cy="9233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t>Staffing</a:t>
            </a:r>
          </a:p>
          <a:p>
            <a:pPr marL="285750" indent="-285750">
              <a:buFont typeface="Arial" panose="020B0604020202020204" pitchFamily="34" charset="0"/>
              <a:buChar char="•"/>
            </a:pPr>
            <a:r>
              <a:rPr lang="en-US"/>
              <a:t>People managers</a:t>
            </a:r>
          </a:p>
          <a:p>
            <a:pPr marL="285750" indent="-285750">
              <a:buFont typeface="Arial" panose="020B0604020202020204" pitchFamily="34" charset="0"/>
              <a:buChar char="•"/>
            </a:pPr>
            <a:r>
              <a:rPr lang="en-US"/>
              <a:t>Human resources</a:t>
            </a:r>
          </a:p>
        </p:txBody>
      </p:sp>
      <p:sp>
        <p:nvSpPr>
          <p:cNvPr id="27" name="TextBox 34">
            <a:extLst>
              <a:ext uri="{FF2B5EF4-FFF2-40B4-BE49-F238E27FC236}">
                <a16:creationId xmlns:a16="http://schemas.microsoft.com/office/drawing/2014/main" id="{14E08356-C006-146B-551E-7F7E54EA55CA}"/>
              </a:ext>
            </a:extLst>
          </p:cNvPr>
          <p:cNvSpPr txBox="1"/>
          <p:nvPr/>
        </p:nvSpPr>
        <p:spPr>
          <a:xfrm>
            <a:off x="8733266" y="2224733"/>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28" name="TextBox 35">
            <a:extLst>
              <a:ext uri="{FF2B5EF4-FFF2-40B4-BE49-F238E27FC236}">
                <a16:creationId xmlns:a16="http://schemas.microsoft.com/office/drawing/2014/main" id="{DCDACD4C-836B-CDE9-CFC4-7B4505BD0401}"/>
              </a:ext>
            </a:extLst>
          </p:cNvPr>
          <p:cNvSpPr txBox="1"/>
          <p:nvPr/>
        </p:nvSpPr>
        <p:spPr>
          <a:xfrm>
            <a:off x="8741537" y="4111858"/>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29" name="Rectangle 28">
            <a:extLst>
              <a:ext uri="{FF2B5EF4-FFF2-40B4-BE49-F238E27FC236}">
                <a16:creationId xmlns:a16="http://schemas.microsoft.com/office/drawing/2014/main" id="{4CE91D9B-2D53-2FB3-EF67-0EDFAEC3C631}"/>
              </a:ext>
            </a:extLst>
          </p:cNvPr>
          <p:cNvSpPr/>
          <p:nvPr/>
        </p:nvSpPr>
        <p:spPr>
          <a:xfrm>
            <a:off x="5341992" y="1819536"/>
            <a:ext cx="1973137"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ectangle 29">
            <a:extLst>
              <a:ext uri="{FF2B5EF4-FFF2-40B4-BE49-F238E27FC236}">
                <a16:creationId xmlns:a16="http://schemas.microsoft.com/office/drawing/2014/main" id="{565781BB-9FFB-92DE-4D06-06850EC0F8A8}"/>
              </a:ext>
            </a:extLst>
          </p:cNvPr>
          <p:cNvSpPr/>
          <p:nvPr/>
        </p:nvSpPr>
        <p:spPr>
          <a:xfrm>
            <a:off x="1263211" y="4133400"/>
            <a:ext cx="6085526"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1" name="Elbow Connector 5">
            <a:extLst>
              <a:ext uri="{FF2B5EF4-FFF2-40B4-BE49-F238E27FC236}">
                <a16:creationId xmlns:a16="http://schemas.microsoft.com/office/drawing/2014/main" id="{B57B1A0A-D208-6B2E-CAAC-3979CF60FF88}"/>
              </a:ext>
            </a:extLst>
          </p:cNvPr>
          <p:cNvCxnSpPr>
            <a:stCxn id="33" idx="2"/>
          </p:cNvCxnSpPr>
          <p:nvPr/>
        </p:nvCxnSpPr>
        <p:spPr>
          <a:xfrm rot="16200000" flipH="1">
            <a:off x="6182774" y="1556438"/>
            <a:ext cx="420640" cy="45378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673D46D-89E3-1BC0-FB9D-FD1D8E4A03D0}"/>
              </a:ext>
            </a:extLst>
          </p:cNvPr>
          <p:cNvSpPr/>
          <p:nvPr/>
        </p:nvSpPr>
        <p:spPr>
          <a:xfrm>
            <a:off x="1087924" y="1786418"/>
            <a:ext cx="1973137"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41121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85CCB995-E388-6B08-0278-0BBF38E9E69B}"/>
              </a:ext>
            </a:extLst>
          </p:cNvPr>
          <p:cNvSpPr>
            <a:spLocks noGrp="1"/>
          </p:cNvSpPr>
          <p:nvPr/>
        </p:nvSpPr>
        <p:spPr>
          <a:xfrm>
            <a:off x="603885" y="66702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Governance Perspective</a:t>
            </a:r>
          </a:p>
        </p:txBody>
      </p:sp>
      <p:sp>
        <p:nvSpPr>
          <p:cNvPr id="12" name="Freeform 10">
            <a:extLst>
              <a:ext uri="{FF2B5EF4-FFF2-40B4-BE49-F238E27FC236}">
                <a16:creationId xmlns:a16="http://schemas.microsoft.com/office/drawing/2014/main" id="{3B8CA973-4478-8077-A5F7-B1DA900B5650}"/>
              </a:ext>
            </a:extLst>
          </p:cNvPr>
          <p:cNvSpPr/>
          <p:nvPr/>
        </p:nvSpPr>
        <p:spPr>
          <a:xfrm>
            <a:off x="992389"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13" name="Freeform 12">
            <a:extLst>
              <a:ext uri="{FF2B5EF4-FFF2-40B4-BE49-F238E27FC236}">
                <a16:creationId xmlns:a16="http://schemas.microsoft.com/office/drawing/2014/main" id="{891DF7D1-645A-89EA-DB14-CB679625299C}"/>
              </a:ext>
            </a:extLst>
          </p:cNvPr>
          <p:cNvSpPr/>
          <p:nvPr/>
        </p:nvSpPr>
        <p:spPr>
          <a:xfrm>
            <a:off x="3162834"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4" name="Freeform 14">
            <a:extLst>
              <a:ext uri="{FF2B5EF4-FFF2-40B4-BE49-F238E27FC236}">
                <a16:creationId xmlns:a16="http://schemas.microsoft.com/office/drawing/2014/main" id="{D7A652CE-57C1-D39E-5101-4F3B4D8E7249}"/>
              </a:ext>
            </a:extLst>
          </p:cNvPr>
          <p:cNvSpPr/>
          <p:nvPr/>
        </p:nvSpPr>
        <p:spPr>
          <a:xfrm>
            <a:off x="5341992" y="200745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5" name="Freeform 16">
            <a:extLst>
              <a:ext uri="{FF2B5EF4-FFF2-40B4-BE49-F238E27FC236}">
                <a16:creationId xmlns:a16="http://schemas.microsoft.com/office/drawing/2014/main" id="{C2BF3BB0-2B39-902D-94BD-81D01772EAB3}"/>
              </a:ext>
            </a:extLst>
          </p:cNvPr>
          <p:cNvSpPr/>
          <p:nvPr/>
        </p:nvSpPr>
        <p:spPr>
          <a:xfrm>
            <a:off x="877155"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16" name="Freeform 18">
            <a:extLst>
              <a:ext uri="{FF2B5EF4-FFF2-40B4-BE49-F238E27FC236}">
                <a16:creationId xmlns:a16="http://schemas.microsoft.com/office/drawing/2014/main" id="{4DAFEDBF-DFF5-7CD2-747D-5A8501E188D7}"/>
              </a:ext>
            </a:extLst>
          </p:cNvPr>
          <p:cNvSpPr/>
          <p:nvPr/>
        </p:nvSpPr>
        <p:spPr>
          <a:xfrm>
            <a:off x="3067482"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17" name="Freeform 20">
            <a:extLst>
              <a:ext uri="{FF2B5EF4-FFF2-40B4-BE49-F238E27FC236}">
                <a16:creationId xmlns:a16="http://schemas.microsoft.com/office/drawing/2014/main" id="{856AAF01-0E1A-AAF7-0AE7-815DF8181D93}"/>
              </a:ext>
            </a:extLst>
          </p:cNvPr>
          <p:cNvSpPr/>
          <p:nvPr/>
        </p:nvSpPr>
        <p:spPr>
          <a:xfrm>
            <a:off x="5226758" y="542110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18" name="Group 17">
            <a:extLst>
              <a:ext uri="{FF2B5EF4-FFF2-40B4-BE49-F238E27FC236}">
                <a16:creationId xmlns:a16="http://schemas.microsoft.com/office/drawing/2014/main" id="{2CDE8DE8-6AD4-1A07-07AF-309AFB7833BB}"/>
              </a:ext>
            </a:extLst>
          </p:cNvPr>
          <p:cNvGrpSpPr/>
          <p:nvPr/>
        </p:nvGrpSpPr>
        <p:grpSpPr>
          <a:xfrm>
            <a:off x="3637418" y="4252242"/>
            <a:ext cx="1112988" cy="1065005"/>
            <a:chOff x="6089845" y="3221263"/>
            <a:chExt cx="1112988" cy="1065005"/>
          </a:xfrm>
        </p:grpSpPr>
        <p:sp>
          <p:nvSpPr>
            <p:cNvPr id="42" name="Rounded Rectangle 17">
              <a:extLst>
                <a:ext uri="{FF2B5EF4-FFF2-40B4-BE49-F238E27FC236}">
                  <a16:creationId xmlns:a16="http://schemas.microsoft.com/office/drawing/2014/main" id="{8A6D6D18-769F-06F9-3C4D-830C3D0DF9A5}"/>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43" name="Picture 42">
              <a:extLst>
                <a:ext uri="{FF2B5EF4-FFF2-40B4-BE49-F238E27FC236}">
                  <a16:creationId xmlns:a16="http://schemas.microsoft.com/office/drawing/2014/main" id="{18D9776F-D251-C7E7-68EC-0D5971243B1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19" name="Group 18">
            <a:extLst>
              <a:ext uri="{FF2B5EF4-FFF2-40B4-BE49-F238E27FC236}">
                <a16:creationId xmlns:a16="http://schemas.microsoft.com/office/drawing/2014/main" id="{C6DE5D48-729D-C2DA-BDDC-56658C7485A0}"/>
              </a:ext>
            </a:extLst>
          </p:cNvPr>
          <p:cNvGrpSpPr/>
          <p:nvPr/>
        </p:nvGrpSpPr>
        <p:grpSpPr>
          <a:xfrm>
            <a:off x="5797233" y="2564872"/>
            <a:ext cx="1058062" cy="1063537"/>
            <a:chOff x="4792341" y="4406849"/>
            <a:chExt cx="1058062" cy="1063537"/>
          </a:xfrm>
        </p:grpSpPr>
        <p:sp>
          <p:nvSpPr>
            <p:cNvPr id="40" name="Rounded Rectangle 13">
              <a:extLst>
                <a:ext uri="{FF2B5EF4-FFF2-40B4-BE49-F238E27FC236}">
                  <a16:creationId xmlns:a16="http://schemas.microsoft.com/office/drawing/2014/main" id="{D51C1E25-8531-B294-180A-A8F6C5C512E7}"/>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41" name="Picture 40">
              <a:extLst>
                <a:ext uri="{FF2B5EF4-FFF2-40B4-BE49-F238E27FC236}">
                  <a16:creationId xmlns:a16="http://schemas.microsoft.com/office/drawing/2014/main" id="{744AF41E-4049-B213-C7BC-D793CF87D4C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20" name="Group 19">
            <a:extLst>
              <a:ext uri="{FF2B5EF4-FFF2-40B4-BE49-F238E27FC236}">
                <a16:creationId xmlns:a16="http://schemas.microsoft.com/office/drawing/2014/main" id="{863E10CF-7066-8FCB-44B1-66F584C26195}"/>
              </a:ext>
            </a:extLst>
          </p:cNvPr>
          <p:cNvGrpSpPr/>
          <p:nvPr/>
        </p:nvGrpSpPr>
        <p:grpSpPr>
          <a:xfrm>
            <a:off x="5796412" y="4257506"/>
            <a:ext cx="1040409" cy="1051505"/>
            <a:chOff x="6089845" y="4406849"/>
            <a:chExt cx="1040409" cy="1051505"/>
          </a:xfrm>
        </p:grpSpPr>
        <p:sp>
          <p:nvSpPr>
            <p:cNvPr id="38" name="Rounded Rectangle 19">
              <a:extLst>
                <a:ext uri="{FF2B5EF4-FFF2-40B4-BE49-F238E27FC236}">
                  <a16:creationId xmlns:a16="http://schemas.microsoft.com/office/drawing/2014/main" id="{1D8E20F6-112A-2EC1-377B-C90879FB5052}"/>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7380C187-0C70-D77C-C198-91808B8D18E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21" name="Group 20">
            <a:extLst>
              <a:ext uri="{FF2B5EF4-FFF2-40B4-BE49-F238E27FC236}">
                <a16:creationId xmlns:a16="http://schemas.microsoft.com/office/drawing/2014/main" id="{D31D7E5D-D7EF-F154-8CDF-28835CEB5D30}"/>
              </a:ext>
            </a:extLst>
          </p:cNvPr>
          <p:cNvGrpSpPr/>
          <p:nvPr/>
        </p:nvGrpSpPr>
        <p:grpSpPr>
          <a:xfrm>
            <a:off x="1434774" y="4249512"/>
            <a:ext cx="1036839" cy="1036839"/>
            <a:chOff x="6089845" y="2000207"/>
            <a:chExt cx="1036839" cy="1036839"/>
          </a:xfrm>
        </p:grpSpPr>
        <p:sp>
          <p:nvSpPr>
            <p:cNvPr id="36" name="Rounded Rectangle 15">
              <a:extLst>
                <a:ext uri="{FF2B5EF4-FFF2-40B4-BE49-F238E27FC236}">
                  <a16:creationId xmlns:a16="http://schemas.microsoft.com/office/drawing/2014/main" id="{FB772CA7-3628-3987-3DF5-F96483B8F35B}"/>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37" name="Picture 36">
              <a:extLst>
                <a:ext uri="{FF2B5EF4-FFF2-40B4-BE49-F238E27FC236}">
                  <a16:creationId xmlns:a16="http://schemas.microsoft.com/office/drawing/2014/main" id="{C1D3FD25-5BC2-6EAD-38A2-EB7851D33A0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22" name="Group 21">
            <a:extLst>
              <a:ext uri="{FF2B5EF4-FFF2-40B4-BE49-F238E27FC236}">
                <a16:creationId xmlns:a16="http://schemas.microsoft.com/office/drawing/2014/main" id="{7AF01542-7CEE-C149-915C-A2DA774E188C}"/>
              </a:ext>
            </a:extLst>
          </p:cNvPr>
          <p:cNvGrpSpPr/>
          <p:nvPr/>
        </p:nvGrpSpPr>
        <p:grpSpPr>
          <a:xfrm>
            <a:off x="1414233" y="2578221"/>
            <a:ext cx="1036839" cy="1036839"/>
            <a:chOff x="4792341" y="2000207"/>
            <a:chExt cx="1036839" cy="1036839"/>
          </a:xfrm>
        </p:grpSpPr>
        <p:sp>
          <p:nvSpPr>
            <p:cNvPr id="34" name="Rounded Rectangle 9">
              <a:extLst>
                <a:ext uri="{FF2B5EF4-FFF2-40B4-BE49-F238E27FC236}">
                  <a16:creationId xmlns:a16="http://schemas.microsoft.com/office/drawing/2014/main" id="{42F51ADB-1BFC-4240-537B-F6A5182895B4}"/>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DEBFA66C-AA82-F682-446D-BA50AF2E89C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23" name="Group 22">
            <a:extLst>
              <a:ext uri="{FF2B5EF4-FFF2-40B4-BE49-F238E27FC236}">
                <a16:creationId xmlns:a16="http://schemas.microsoft.com/office/drawing/2014/main" id="{10501AFD-4456-7183-4EC2-57A83E7AC4FC}"/>
              </a:ext>
            </a:extLst>
          </p:cNvPr>
          <p:cNvGrpSpPr/>
          <p:nvPr/>
        </p:nvGrpSpPr>
        <p:grpSpPr>
          <a:xfrm>
            <a:off x="3605733" y="2578221"/>
            <a:ext cx="1036839" cy="1036839"/>
            <a:chOff x="4792341" y="3221263"/>
            <a:chExt cx="1036839" cy="1036839"/>
          </a:xfrm>
        </p:grpSpPr>
        <p:sp>
          <p:nvSpPr>
            <p:cNvPr id="32" name="Rounded Rectangle 11">
              <a:extLst>
                <a:ext uri="{FF2B5EF4-FFF2-40B4-BE49-F238E27FC236}">
                  <a16:creationId xmlns:a16="http://schemas.microsoft.com/office/drawing/2014/main" id="{218D4CAF-FEE6-A6AA-072B-B2AB98A98D2C}"/>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0C4BE674-6CB3-A192-7CDE-EF5054FEA70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24" name="Rectangle 23">
            <a:extLst>
              <a:ext uri="{FF2B5EF4-FFF2-40B4-BE49-F238E27FC236}">
                <a16:creationId xmlns:a16="http://schemas.microsoft.com/office/drawing/2014/main" id="{3DBF376F-6943-358F-5BF5-B6105F45C6F6}"/>
              </a:ext>
            </a:extLst>
          </p:cNvPr>
          <p:cNvSpPr/>
          <p:nvPr/>
        </p:nvSpPr>
        <p:spPr>
          <a:xfrm>
            <a:off x="8662035" y="2185389"/>
            <a:ext cx="2926080" cy="37852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a:extLst>
              <a:ext uri="{FF2B5EF4-FFF2-40B4-BE49-F238E27FC236}">
                <a16:creationId xmlns:a16="http://schemas.microsoft.com/office/drawing/2014/main" id="{DFCF2109-57D8-A06B-DE72-8AEECDA2CDFD}"/>
              </a:ext>
            </a:extLst>
          </p:cNvPr>
          <p:cNvSpPr/>
          <p:nvPr/>
        </p:nvSpPr>
        <p:spPr>
          <a:xfrm>
            <a:off x="8762115" y="2641468"/>
            <a:ext cx="2745735" cy="1754326"/>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Focuses on the abilities and procedures needed to match business strategy with IT strategy</a:t>
            </a:r>
          </a:p>
          <a:p>
            <a:br>
              <a:rPr lang="en-US"/>
            </a:br>
            <a:endParaRPr lang="en-US"/>
          </a:p>
        </p:txBody>
      </p:sp>
      <p:sp>
        <p:nvSpPr>
          <p:cNvPr id="26" name="Rectangle 25">
            <a:extLst>
              <a:ext uri="{FF2B5EF4-FFF2-40B4-BE49-F238E27FC236}">
                <a16:creationId xmlns:a16="http://schemas.microsoft.com/office/drawing/2014/main" id="{3E5B33B6-E7DA-61BF-873D-0CBFC086A450}"/>
              </a:ext>
            </a:extLst>
          </p:cNvPr>
          <p:cNvSpPr/>
          <p:nvPr/>
        </p:nvSpPr>
        <p:spPr>
          <a:xfrm>
            <a:off x="8718491" y="4216355"/>
            <a:ext cx="2832981" cy="1754326"/>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t>Program managers</a:t>
            </a:r>
          </a:p>
          <a:p>
            <a:pPr marL="285750" indent="-285750">
              <a:buFont typeface="Arial" panose="020B0604020202020204" pitchFamily="34" charset="0"/>
              <a:buChar char="•"/>
            </a:pPr>
            <a:r>
              <a:rPr lang="en-US"/>
              <a:t>Enterprise architects</a:t>
            </a:r>
          </a:p>
          <a:p>
            <a:pPr marL="285750" indent="-285750">
              <a:buFont typeface="Arial" panose="020B0604020202020204" pitchFamily="34" charset="0"/>
              <a:buChar char="•"/>
            </a:pPr>
            <a:r>
              <a:rPr lang="en-US"/>
              <a:t>Chief information officers (CIOs)</a:t>
            </a:r>
          </a:p>
          <a:p>
            <a:pPr marL="285750" indent="-285750">
              <a:buFont typeface="Arial" panose="020B0604020202020204" pitchFamily="34" charset="0"/>
              <a:buChar char="•"/>
            </a:pPr>
            <a:r>
              <a:rPr lang="en-US"/>
              <a:t>Portfolio managers</a:t>
            </a:r>
          </a:p>
          <a:p>
            <a:pPr marL="285750" indent="-285750">
              <a:buFont typeface="Arial" panose="020B0604020202020204" pitchFamily="34" charset="0"/>
              <a:buChar char="•"/>
            </a:pPr>
            <a:r>
              <a:rPr lang="en-US"/>
              <a:t>Business analysts</a:t>
            </a:r>
          </a:p>
        </p:txBody>
      </p:sp>
      <p:sp>
        <p:nvSpPr>
          <p:cNvPr id="27" name="TextBox 34">
            <a:extLst>
              <a:ext uri="{FF2B5EF4-FFF2-40B4-BE49-F238E27FC236}">
                <a16:creationId xmlns:a16="http://schemas.microsoft.com/office/drawing/2014/main" id="{39144D14-38CD-8318-DC9E-9AD8A47A4A1C}"/>
              </a:ext>
            </a:extLst>
          </p:cNvPr>
          <p:cNvSpPr txBox="1"/>
          <p:nvPr/>
        </p:nvSpPr>
        <p:spPr>
          <a:xfrm>
            <a:off x="8733266" y="2224733"/>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28" name="TextBox 35">
            <a:extLst>
              <a:ext uri="{FF2B5EF4-FFF2-40B4-BE49-F238E27FC236}">
                <a16:creationId xmlns:a16="http://schemas.microsoft.com/office/drawing/2014/main" id="{3C25AD1C-2341-3432-A584-07A3529FD6DC}"/>
              </a:ext>
            </a:extLst>
          </p:cNvPr>
          <p:cNvSpPr txBox="1"/>
          <p:nvPr/>
        </p:nvSpPr>
        <p:spPr>
          <a:xfrm>
            <a:off x="8741537" y="3807054"/>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29" name="Rectangle 28">
            <a:extLst>
              <a:ext uri="{FF2B5EF4-FFF2-40B4-BE49-F238E27FC236}">
                <a16:creationId xmlns:a16="http://schemas.microsoft.com/office/drawing/2014/main" id="{F8D3DDEE-0470-0A10-E758-E1EED7EB62A4}"/>
              </a:ext>
            </a:extLst>
          </p:cNvPr>
          <p:cNvSpPr/>
          <p:nvPr/>
        </p:nvSpPr>
        <p:spPr>
          <a:xfrm>
            <a:off x="962993" y="2047660"/>
            <a:ext cx="4246021"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ectangle 29">
            <a:extLst>
              <a:ext uri="{FF2B5EF4-FFF2-40B4-BE49-F238E27FC236}">
                <a16:creationId xmlns:a16="http://schemas.microsoft.com/office/drawing/2014/main" id="{8E035DED-C5D0-C2A3-41D2-CD2A68D1AA33}"/>
              </a:ext>
            </a:extLst>
          </p:cNvPr>
          <p:cNvSpPr/>
          <p:nvPr/>
        </p:nvSpPr>
        <p:spPr>
          <a:xfrm>
            <a:off x="1263211" y="4133400"/>
            <a:ext cx="6085526"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1" name="Elbow Connector 5">
            <a:extLst>
              <a:ext uri="{FF2B5EF4-FFF2-40B4-BE49-F238E27FC236}">
                <a16:creationId xmlns:a16="http://schemas.microsoft.com/office/drawing/2014/main" id="{BCB73545-8715-DE37-4C7E-61EB9CAFECAB}"/>
              </a:ext>
            </a:extLst>
          </p:cNvPr>
          <p:cNvCxnSpPr>
            <a:stCxn id="41" idx="2"/>
          </p:cNvCxnSpPr>
          <p:nvPr/>
        </p:nvCxnSpPr>
        <p:spPr>
          <a:xfrm rot="16200000" flipH="1">
            <a:off x="7295949" y="2669612"/>
            <a:ext cx="407291" cy="2324884"/>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66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4">
            <a:extLst>
              <a:ext uri="{FF2B5EF4-FFF2-40B4-BE49-F238E27FC236}">
                <a16:creationId xmlns:a16="http://schemas.microsoft.com/office/drawing/2014/main" id="{24AE34FE-938F-31A3-20D5-66D010DF7D3B}"/>
              </a:ext>
            </a:extLst>
          </p:cNvPr>
          <p:cNvSpPr>
            <a:spLocks noGrp="1"/>
          </p:cNvSpPr>
          <p:nvPr/>
        </p:nvSpPr>
        <p:spPr>
          <a:xfrm>
            <a:off x="582456" y="68125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Platform Perspective</a:t>
            </a:r>
          </a:p>
        </p:txBody>
      </p:sp>
      <p:sp>
        <p:nvSpPr>
          <p:cNvPr id="10" name="Freeform 12">
            <a:extLst>
              <a:ext uri="{FF2B5EF4-FFF2-40B4-BE49-F238E27FC236}">
                <a16:creationId xmlns:a16="http://schemas.microsoft.com/office/drawing/2014/main" id="{AE7183CA-9561-EE26-55E1-5676300DFB07}"/>
              </a:ext>
            </a:extLst>
          </p:cNvPr>
          <p:cNvSpPr/>
          <p:nvPr/>
        </p:nvSpPr>
        <p:spPr>
          <a:xfrm>
            <a:off x="3141405" y="202168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1" name="Freeform 14">
            <a:extLst>
              <a:ext uri="{FF2B5EF4-FFF2-40B4-BE49-F238E27FC236}">
                <a16:creationId xmlns:a16="http://schemas.microsoft.com/office/drawing/2014/main" id="{DB8005C3-C59E-4640-C9B5-55818869C788}"/>
              </a:ext>
            </a:extLst>
          </p:cNvPr>
          <p:cNvSpPr/>
          <p:nvPr/>
        </p:nvSpPr>
        <p:spPr>
          <a:xfrm>
            <a:off x="5320563" y="202168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2" name="Freeform 16">
            <a:extLst>
              <a:ext uri="{FF2B5EF4-FFF2-40B4-BE49-F238E27FC236}">
                <a16:creationId xmlns:a16="http://schemas.microsoft.com/office/drawing/2014/main" id="{A2580BCB-7178-2029-82CF-9D0022C9A2D9}"/>
              </a:ext>
            </a:extLst>
          </p:cNvPr>
          <p:cNvSpPr/>
          <p:nvPr/>
        </p:nvSpPr>
        <p:spPr>
          <a:xfrm>
            <a:off x="855726" y="54353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13" name="Freeform 18">
            <a:extLst>
              <a:ext uri="{FF2B5EF4-FFF2-40B4-BE49-F238E27FC236}">
                <a16:creationId xmlns:a16="http://schemas.microsoft.com/office/drawing/2014/main" id="{F2ECE8DD-44AB-E9C3-0259-7B25053B62F0}"/>
              </a:ext>
            </a:extLst>
          </p:cNvPr>
          <p:cNvSpPr/>
          <p:nvPr/>
        </p:nvSpPr>
        <p:spPr>
          <a:xfrm>
            <a:off x="3046053" y="54353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14" name="Freeform 20">
            <a:extLst>
              <a:ext uri="{FF2B5EF4-FFF2-40B4-BE49-F238E27FC236}">
                <a16:creationId xmlns:a16="http://schemas.microsoft.com/office/drawing/2014/main" id="{1B46ECDF-6C7F-6F0D-AD5C-3F38894DDB56}"/>
              </a:ext>
            </a:extLst>
          </p:cNvPr>
          <p:cNvSpPr/>
          <p:nvPr/>
        </p:nvSpPr>
        <p:spPr>
          <a:xfrm>
            <a:off x="5205329" y="54353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15" name="Group 14">
            <a:extLst>
              <a:ext uri="{FF2B5EF4-FFF2-40B4-BE49-F238E27FC236}">
                <a16:creationId xmlns:a16="http://schemas.microsoft.com/office/drawing/2014/main" id="{8B09CA31-75C1-B6AF-3262-ECF6466F7980}"/>
              </a:ext>
            </a:extLst>
          </p:cNvPr>
          <p:cNvGrpSpPr/>
          <p:nvPr/>
        </p:nvGrpSpPr>
        <p:grpSpPr>
          <a:xfrm>
            <a:off x="3615989" y="4266472"/>
            <a:ext cx="1112988" cy="1065005"/>
            <a:chOff x="6089845" y="3221263"/>
            <a:chExt cx="1112988" cy="1065005"/>
          </a:xfrm>
        </p:grpSpPr>
        <p:sp>
          <p:nvSpPr>
            <p:cNvPr id="53" name="Rounded Rectangle 17">
              <a:extLst>
                <a:ext uri="{FF2B5EF4-FFF2-40B4-BE49-F238E27FC236}">
                  <a16:creationId xmlns:a16="http://schemas.microsoft.com/office/drawing/2014/main" id="{EB1AE83B-D4BD-1EB5-ECA0-74F340D70C70}"/>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54" name="Picture 53">
              <a:extLst>
                <a:ext uri="{FF2B5EF4-FFF2-40B4-BE49-F238E27FC236}">
                  <a16:creationId xmlns:a16="http://schemas.microsoft.com/office/drawing/2014/main" id="{5FE61E91-A188-1F12-679A-1C14728413B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16" name="Group 15">
            <a:extLst>
              <a:ext uri="{FF2B5EF4-FFF2-40B4-BE49-F238E27FC236}">
                <a16:creationId xmlns:a16="http://schemas.microsoft.com/office/drawing/2014/main" id="{FFB4AF4B-C3A5-6A10-6C50-799113EB2796}"/>
              </a:ext>
            </a:extLst>
          </p:cNvPr>
          <p:cNvGrpSpPr/>
          <p:nvPr/>
        </p:nvGrpSpPr>
        <p:grpSpPr>
          <a:xfrm>
            <a:off x="5775804" y="2579102"/>
            <a:ext cx="1058062" cy="1063537"/>
            <a:chOff x="4792341" y="4406849"/>
            <a:chExt cx="1058062" cy="1063537"/>
          </a:xfrm>
        </p:grpSpPr>
        <p:sp>
          <p:nvSpPr>
            <p:cNvPr id="51" name="Rounded Rectangle 13">
              <a:extLst>
                <a:ext uri="{FF2B5EF4-FFF2-40B4-BE49-F238E27FC236}">
                  <a16:creationId xmlns:a16="http://schemas.microsoft.com/office/drawing/2014/main" id="{A8DCDE2A-28FA-D122-4762-3859543D52E9}"/>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52" name="Picture 51">
              <a:extLst>
                <a:ext uri="{FF2B5EF4-FFF2-40B4-BE49-F238E27FC236}">
                  <a16:creationId xmlns:a16="http://schemas.microsoft.com/office/drawing/2014/main" id="{AB4BB3A9-F92B-F34F-33C1-D129D6E475D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17" name="Group 16">
            <a:extLst>
              <a:ext uri="{FF2B5EF4-FFF2-40B4-BE49-F238E27FC236}">
                <a16:creationId xmlns:a16="http://schemas.microsoft.com/office/drawing/2014/main" id="{55B46318-BD11-9A95-7FDC-4F63B503C567}"/>
              </a:ext>
            </a:extLst>
          </p:cNvPr>
          <p:cNvGrpSpPr/>
          <p:nvPr/>
        </p:nvGrpSpPr>
        <p:grpSpPr>
          <a:xfrm>
            <a:off x="5774983" y="4271736"/>
            <a:ext cx="1040409" cy="1051505"/>
            <a:chOff x="6089845" y="4406849"/>
            <a:chExt cx="1040409" cy="1051505"/>
          </a:xfrm>
        </p:grpSpPr>
        <p:sp>
          <p:nvSpPr>
            <p:cNvPr id="49" name="Rounded Rectangle 19">
              <a:extLst>
                <a:ext uri="{FF2B5EF4-FFF2-40B4-BE49-F238E27FC236}">
                  <a16:creationId xmlns:a16="http://schemas.microsoft.com/office/drawing/2014/main" id="{8C256A4B-0049-B16F-D41F-40B730F3D07E}"/>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50" name="Picture 49">
              <a:extLst>
                <a:ext uri="{FF2B5EF4-FFF2-40B4-BE49-F238E27FC236}">
                  <a16:creationId xmlns:a16="http://schemas.microsoft.com/office/drawing/2014/main" id="{46C01065-1594-E198-41BA-A4A0F9DA26E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18" name="Group 17">
            <a:extLst>
              <a:ext uri="{FF2B5EF4-FFF2-40B4-BE49-F238E27FC236}">
                <a16:creationId xmlns:a16="http://schemas.microsoft.com/office/drawing/2014/main" id="{FD651C3D-BFC8-23EC-46A4-01356F982F04}"/>
              </a:ext>
            </a:extLst>
          </p:cNvPr>
          <p:cNvGrpSpPr/>
          <p:nvPr/>
        </p:nvGrpSpPr>
        <p:grpSpPr>
          <a:xfrm>
            <a:off x="1413345" y="4263742"/>
            <a:ext cx="1036839" cy="1036839"/>
            <a:chOff x="6089845" y="2000207"/>
            <a:chExt cx="1036839" cy="1036839"/>
          </a:xfrm>
        </p:grpSpPr>
        <p:sp>
          <p:nvSpPr>
            <p:cNvPr id="47" name="Rounded Rectangle 15">
              <a:extLst>
                <a:ext uri="{FF2B5EF4-FFF2-40B4-BE49-F238E27FC236}">
                  <a16:creationId xmlns:a16="http://schemas.microsoft.com/office/drawing/2014/main" id="{768CED06-A6FF-0B22-3351-B666F189BF0A}"/>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48" name="Picture 47">
              <a:extLst>
                <a:ext uri="{FF2B5EF4-FFF2-40B4-BE49-F238E27FC236}">
                  <a16:creationId xmlns:a16="http://schemas.microsoft.com/office/drawing/2014/main" id="{325CBDA3-974B-E59E-D4E9-C5FE330E4BF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19" name="Group 18">
            <a:extLst>
              <a:ext uri="{FF2B5EF4-FFF2-40B4-BE49-F238E27FC236}">
                <a16:creationId xmlns:a16="http://schemas.microsoft.com/office/drawing/2014/main" id="{6D1F825C-BBBD-87CE-73B2-54D16BE8AA60}"/>
              </a:ext>
            </a:extLst>
          </p:cNvPr>
          <p:cNvGrpSpPr/>
          <p:nvPr/>
        </p:nvGrpSpPr>
        <p:grpSpPr>
          <a:xfrm>
            <a:off x="1392804" y="2592451"/>
            <a:ext cx="1036839" cy="1036839"/>
            <a:chOff x="4792341" y="2000207"/>
            <a:chExt cx="1036839" cy="1036839"/>
          </a:xfrm>
        </p:grpSpPr>
        <p:sp>
          <p:nvSpPr>
            <p:cNvPr id="45" name="Rounded Rectangle 9">
              <a:extLst>
                <a:ext uri="{FF2B5EF4-FFF2-40B4-BE49-F238E27FC236}">
                  <a16:creationId xmlns:a16="http://schemas.microsoft.com/office/drawing/2014/main" id="{694E518A-1FB5-3C64-969F-66D5C6F12A52}"/>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46" name="Picture 45">
              <a:extLst>
                <a:ext uri="{FF2B5EF4-FFF2-40B4-BE49-F238E27FC236}">
                  <a16:creationId xmlns:a16="http://schemas.microsoft.com/office/drawing/2014/main" id="{77DB7F75-2F48-4E1E-4108-E32D3A97862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20" name="Group 19">
            <a:extLst>
              <a:ext uri="{FF2B5EF4-FFF2-40B4-BE49-F238E27FC236}">
                <a16:creationId xmlns:a16="http://schemas.microsoft.com/office/drawing/2014/main" id="{023F9234-73A9-7273-CBD6-9C19CC832320}"/>
              </a:ext>
            </a:extLst>
          </p:cNvPr>
          <p:cNvGrpSpPr/>
          <p:nvPr/>
        </p:nvGrpSpPr>
        <p:grpSpPr>
          <a:xfrm>
            <a:off x="3584304" y="2592451"/>
            <a:ext cx="1036839" cy="1036839"/>
            <a:chOff x="4792341" y="3221263"/>
            <a:chExt cx="1036839" cy="1036839"/>
          </a:xfrm>
        </p:grpSpPr>
        <p:sp>
          <p:nvSpPr>
            <p:cNvPr id="43" name="Rounded Rectangle 11">
              <a:extLst>
                <a:ext uri="{FF2B5EF4-FFF2-40B4-BE49-F238E27FC236}">
                  <a16:creationId xmlns:a16="http://schemas.microsoft.com/office/drawing/2014/main" id="{1E7F8A12-9AF7-9261-E162-A0F94B71146D}"/>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855A7C59-966E-10D4-4E04-D24F1FDB82C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21" name="Rectangle 20">
            <a:extLst>
              <a:ext uri="{FF2B5EF4-FFF2-40B4-BE49-F238E27FC236}">
                <a16:creationId xmlns:a16="http://schemas.microsoft.com/office/drawing/2014/main" id="{535E8FAA-36CA-2A83-3BFF-BFA273A6C184}"/>
              </a:ext>
            </a:extLst>
          </p:cNvPr>
          <p:cNvSpPr/>
          <p:nvPr/>
        </p:nvSpPr>
        <p:spPr>
          <a:xfrm>
            <a:off x="8640606" y="2199617"/>
            <a:ext cx="2926080" cy="4159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23C62FA5-414A-8DCD-7673-978B627C4FB2}"/>
              </a:ext>
            </a:extLst>
          </p:cNvPr>
          <p:cNvSpPr/>
          <p:nvPr/>
        </p:nvSpPr>
        <p:spPr>
          <a:xfrm>
            <a:off x="8740686" y="2655698"/>
            <a:ext cx="2868858" cy="3139321"/>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Includes guidelines and models for introducing novel cloud-based solutions and moving workloads from on-premises systems to the Cloud</a:t>
            </a:r>
          </a:p>
          <a:p>
            <a:endParaRPr lang="en-US" dirty="0"/>
          </a:p>
          <a:p>
            <a:endParaRPr lang="en-US" dirty="0"/>
          </a:p>
          <a:p>
            <a:br>
              <a:rPr lang="en-US" dirty="0"/>
            </a:br>
            <a:endParaRPr lang="en-US" dirty="0"/>
          </a:p>
        </p:txBody>
      </p:sp>
      <p:sp>
        <p:nvSpPr>
          <p:cNvPr id="23" name="Rectangle 22">
            <a:extLst>
              <a:ext uri="{FF2B5EF4-FFF2-40B4-BE49-F238E27FC236}">
                <a16:creationId xmlns:a16="http://schemas.microsoft.com/office/drawing/2014/main" id="{AA3E752B-6B96-8FB5-BA95-ED8CF24F2AD2}"/>
              </a:ext>
            </a:extLst>
          </p:cNvPr>
          <p:cNvSpPr/>
          <p:nvPr/>
        </p:nvSpPr>
        <p:spPr>
          <a:xfrm>
            <a:off x="8711837" y="5034584"/>
            <a:ext cx="2832981" cy="1200329"/>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IT managers</a:t>
            </a:r>
          </a:p>
          <a:p>
            <a:pPr marL="285750" indent="-285750">
              <a:buFont typeface="Arial" panose="020B0604020202020204" pitchFamily="34" charset="0"/>
              <a:buChar char="•"/>
            </a:pPr>
            <a:r>
              <a:rPr lang="en-US" dirty="0"/>
              <a:t>Solutions architects</a:t>
            </a:r>
          </a:p>
          <a:p>
            <a:pPr marL="285750" indent="-285750">
              <a:buFont typeface="Arial" panose="020B0604020202020204" pitchFamily="34" charset="0"/>
              <a:buChar char="•"/>
            </a:pPr>
            <a:r>
              <a:rPr lang="en-US" dirty="0"/>
              <a:t>Chief technology officers (CTOs)</a:t>
            </a:r>
          </a:p>
        </p:txBody>
      </p:sp>
      <p:sp>
        <p:nvSpPr>
          <p:cNvPr id="24" name="TextBox 34">
            <a:extLst>
              <a:ext uri="{FF2B5EF4-FFF2-40B4-BE49-F238E27FC236}">
                <a16:creationId xmlns:a16="http://schemas.microsoft.com/office/drawing/2014/main" id="{6C38438C-4D78-CBAE-361D-8DE1C17909D4}"/>
              </a:ext>
            </a:extLst>
          </p:cNvPr>
          <p:cNvSpPr txBox="1"/>
          <p:nvPr/>
        </p:nvSpPr>
        <p:spPr>
          <a:xfrm>
            <a:off x="8711837" y="2238963"/>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25" name="TextBox 35">
            <a:extLst>
              <a:ext uri="{FF2B5EF4-FFF2-40B4-BE49-F238E27FC236}">
                <a16:creationId xmlns:a16="http://schemas.microsoft.com/office/drawing/2014/main" id="{A0779B23-A20A-D8EE-ACFD-9EC687FF24AE}"/>
              </a:ext>
            </a:extLst>
          </p:cNvPr>
          <p:cNvSpPr txBox="1"/>
          <p:nvPr/>
        </p:nvSpPr>
        <p:spPr>
          <a:xfrm>
            <a:off x="8740686" y="4611982"/>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26" name="Rectangle 25">
            <a:extLst>
              <a:ext uri="{FF2B5EF4-FFF2-40B4-BE49-F238E27FC236}">
                <a16:creationId xmlns:a16="http://schemas.microsoft.com/office/drawing/2014/main" id="{6A9F23FF-965A-8BAE-8A60-03CC86669BDA}"/>
              </a:ext>
            </a:extLst>
          </p:cNvPr>
          <p:cNvSpPr/>
          <p:nvPr/>
        </p:nvSpPr>
        <p:spPr>
          <a:xfrm>
            <a:off x="3123882" y="4119169"/>
            <a:ext cx="4246021"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Rectangle 26">
            <a:extLst>
              <a:ext uri="{FF2B5EF4-FFF2-40B4-BE49-F238E27FC236}">
                <a16:creationId xmlns:a16="http://schemas.microsoft.com/office/drawing/2014/main" id="{2DCEED68-7836-C8EE-682A-5E44E6EA4F3A}"/>
              </a:ext>
            </a:extLst>
          </p:cNvPr>
          <p:cNvSpPr/>
          <p:nvPr/>
        </p:nvSpPr>
        <p:spPr>
          <a:xfrm>
            <a:off x="1348753" y="2048247"/>
            <a:ext cx="6085526"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42" name="Elbow Connector 5">
            <a:extLst>
              <a:ext uri="{FF2B5EF4-FFF2-40B4-BE49-F238E27FC236}">
                <a16:creationId xmlns:a16="http://schemas.microsoft.com/office/drawing/2014/main" id="{259315E9-881E-3635-96B4-058D4B5B6BD6}"/>
              </a:ext>
            </a:extLst>
          </p:cNvPr>
          <p:cNvCxnSpPr>
            <a:stCxn id="47" idx="0"/>
          </p:cNvCxnSpPr>
          <p:nvPr/>
        </p:nvCxnSpPr>
        <p:spPr>
          <a:xfrm rot="5400000" flipH="1" flipV="1">
            <a:off x="5179280" y="802415"/>
            <a:ext cx="213812" cy="6708842"/>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45121"/>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2FBE4468-A3FC-36D6-0D58-B319C0FF7F8C}"/>
              </a:ext>
            </a:extLst>
          </p:cNvPr>
          <p:cNvSpPr>
            <a:spLocks noGrp="1"/>
          </p:cNvSpPr>
          <p:nvPr/>
        </p:nvSpPr>
        <p:spPr>
          <a:xfrm>
            <a:off x="564134" y="67055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dirty="0">
                <a:solidFill>
                  <a:schemeClr val="tx1"/>
                </a:solidFill>
                <a:latin typeface="+mj-lt"/>
              </a:rPr>
              <a:t>Security Perspective</a:t>
            </a:r>
          </a:p>
        </p:txBody>
      </p:sp>
      <p:sp>
        <p:nvSpPr>
          <p:cNvPr id="12" name="Freeform 10">
            <a:extLst>
              <a:ext uri="{FF2B5EF4-FFF2-40B4-BE49-F238E27FC236}">
                <a16:creationId xmlns:a16="http://schemas.microsoft.com/office/drawing/2014/main" id="{5EB74540-D385-4BF4-A2A6-2AFD9372042A}"/>
              </a:ext>
            </a:extLst>
          </p:cNvPr>
          <p:cNvSpPr/>
          <p:nvPr/>
        </p:nvSpPr>
        <p:spPr>
          <a:xfrm>
            <a:off x="952638" y="201098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13" name="Freeform 12">
            <a:extLst>
              <a:ext uri="{FF2B5EF4-FFF2-40B4-BE49-F238E27FC236}">
                <a16:creationId xmlns:a16="http://schemas.microsoft.com/office/drawing/2014/main" id="{DBF9D1A1-BD5A-3DFC-9934-AC9438487F5C}"/>
              </a:ext>
            </a:extLst>
          </p:cNvPr>
          <p:cNvSpPr/>
          <p:nvPr/>
        </p:nvSpPr>
        <p:spPr>
          <a:xfrm>
            <a:off x="3123083" y="201098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4" name="Freeform 14">
            <a:extLst>
              <a:ext uri="{FF2B5EF4-FFF2-40B4-BE49-F238E27FC236}">
                <a16:creationId xmlns:a16="http://schemas.microsoft.com/office/drawing/2014/main" id="{74F0AA20-327F-202A-DA13-1A774B9FD229}"/>
              </a:ext>
            </a:extLst>
          </p:cNvPr>
          <p:cNvSpPr/>
          <p:nvPr/>
        </p:nvSpPr>
        <p:spPr>
          <a:xfrm>
            <a:off x="5302241" y="2010985"/>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5" name="Freeform 16">
            <a:extLst>
              <a:ext uri="{FF2B5EF4-FFF2-40B4-BE49-F238E27FC236}">
                <a16:creationId xmlns:a16="http://schemas.microsoft.com/office/drawing/2014/main" id="{7E21DB72-95C9-DB14-83F1-67E55331F45B}"/>
              </a:ext>
            </a:extLst>
          </p:cNvPr>
          <p:cNvSpPr/>
          <p:nvPr/>
        </p:nvSpPr>
        <p:spPr>
          <a:xfrm>
            <a:off x="837404" y="54246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16" name="Freeform 18">
            <a:extLst>
              <a:ext uri="{FF2B5EF4-FFF2-40B4-BE49-F238E27FC236}">
                <a16:creationId xmlns:a16="http://schemas.microsoft.com/office/drawing/2014/main" id="{CD42CBC0-5DB1-D88B-E78C-FE347ABCF881}"/>
              </a:ext>
            </a:extLst>
          </p:cNvPr>
          <p:cNvSpPr/>
          <p:nvPr/>
        </p:nvSpPr>
        <p:spPr>
          <a:xfrm>
            <a:off x="3027731" y="54246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17" name="Freeform 20">
            <a:extLst>
              <a:ext uri="{FF2B5EF4-FFF2-40B4-BE49-F238E27FC236}">
                <a16:creationId xmlns:a16="http://schemas.microsoft.com/office/drawing/2014/main" id="{9D5DD833-7DF1-1BC0-5913-5E80E82A88E2}"/>
              </a:ext>
            </a:extLst>
          </p:cNvPr>
          <p:cNvSpPr/>
          <p:nvPr/>
        </p:nvSpPr>
        <p:spPr>
          <a:xfrm>
            <a:off x="5187007" y="5424634"/>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18" name="Group 17">
            <a:extLst>
              <a:ext uri="{FF2B5EF4-FFF2-40B4-BE49-F238E27FC236}">
                <a16:creationId xmlns:a16="http://schemas.microsoft.com/office/drawing/2014/main" id="{43BED3FE-E6AB-281C-D187-E2AECCB1C3AC}"/>
              </a:ext>
            </a:extLst>
          </p:cNvPr>
          <p:cNvGrpSpPr/>
          <p:nvPr/>
        </p:nvGrpSpPr>
        <p:grpSpPr>
          <a:xfrm>
            <a:off x="3597667" y="4255772"/>
            <a:ext cx="1120197" cy="1062974"/>
            <a:chOff x="6089845" y="3221263"/>
            <a:chExt cx="1120197" cy="1062974"/>
          </a:xfrm>
        </p:grpSpPr>
        <p:sp>
          <p:nvSpPr>
            <p:cNvPr id="43" name="Rounded Rectangle 17">
              <a:extLst>
                <a:ext uri="{FF2B5EF4-FFF2-40B4-BE49-F238E27FC236}">
                  <a16:creationId xmlns:a16="http://schemas.microsoft.com/office/drawing/2014/main" id="{68E8F184-7462-56F4-CEF9-E88CC5387B3F}"/>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C46DA2D9-E24A-A6BD-9C3E-9BD0D0AB70E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7527" y="3221722"/>
              <a:ext cx="1062515" cy="1062515"/>
            </a:xfrm>
            <a:prstGeom prst="rect">
              <a:avLst/>
            </a:prstGeom>
            <a:ln>
              <a:noFill/>
            </a:ln>
          </p:spPr>
        </p:pic>
      </p:grpSp>
      <p:grpSp>
        <p:nvGrpSpPr>
          <p:cNvPr id="19" name="Group 18">
            <a:extLst>
              <a:ext uri="{FF2B5EF4-FFF2-40B4-BE49-F238E27FC236}">
                <a16:creationId xmlns:a16="http://schemas.microsoft.com/office/drawing/2014/main" id="{F26B34BC-E0D9-6FB3-E8FF-439AC666BD90}"/>
              </a:ext>
            </a:extLst>
          </p:cNvPr>
          <p:cNvGrpSpPr/>
          <p:nvPr/>
        </p:nvGrpSpPr>
        <p:grpSpPr>
          <a:xfrm>
            <a:off x="5757482" y="2568402"/>
            <a:ext cx="1058062" cy="1063537"/>
            <a:chOff x="4792341" y="4406849"/>
            <a:chExt cx="1058062" cy="1063537"/>
          </a:xfrm>
        </p:grpSpPr>
        <p:sp>
          <p:nvSpPr>
            <p:cNvPr id="41" name="Rounded Rectangle 13">
              <a:extLst>
                <a:ext uri="{FF2B5EF4-FFF2-40B4-BE49-F238E27FC236}">
                  <a16:creationId xmlns:a16="http://schemas.microsoft.com/office/drawing/2014/main" id="{338C9F29-4B36-448A-FE76-A01FC0018184}"/>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42" name="Picture 41">
              <a:extLst>
                <a:ext uri="{FF2B5EF4-FFF2-40B4-BE49-F238E27FC236}">
                  <a16:creationId xmlns:a16="http://schemas.microsoft.com/office/drawing/2014/main" id="{67359580-A029-81E4-6637-FD8C07C8A5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20" name="Group 19">
            <a:extLst>
              <a:ext uri="{FF2B5EF4-FFF2-40B4-BE49-F238E27FC236}">
                <a16:creationId xmlns:a16="http://schemas.microsoft.com/office/drawing/2014/main" id="{C99E79A0-F371-04F2-CE53-68B8718E46CC}"/>
              </a:ext>
            </a:extLst>
          </p:cNvPr>
          <p:cNvGrpSpPr/>
          <p:nvPr/>
        </p:nvGrpSpPr>
        <p:grpSpPr>
          <a:xfrm>
            <a:off x="5756661" y="4261036"/>
            <a:ext cx="1040409" cy="1051505"/>
            <a:chOff x="6089845" y="4406849"/>
            <a:chExt cx="1040409" cy="1051505"/>
          </a:xfrm>
        </p:grpSpPr>
        <p:sp>
          <p:nvSpPr>
            <p:cNvPr id="39" name="Rounded Rectangle 19">
              <a:extLst>
                <a:ext uri="{FF2B5EF4-FFF2-40B4-BE49-F238E27FC236}">
                  <a16:creationId xmlns:a16="http://schemas.microsoft.com/office/drawing/2014/main" id="{8F307D90-21DE-FB18-25E0-745C4156D8CA}"/>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40" name="Picture 39">
              <a:extLst>
                <a:ext uri="{FF2B5EF4-FFF2-40B4-BE49-F238E27FC236}">
                  <a16:creationId xmlns:a16="http://schemas.microsoft.com/office/drawing/2014/main" id="{02F149DB-B670-CA0C-85EF-97E1433AEC9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21" name="Group 20">
            <a:extLst>
              <a:ext uri="{FF2B5EF4-FFF2-40B4-BE49-F238E27FC236}">
                <a16:creationId xmlns:a16="http://schemas.microsoft.com/office/drawing/2014/main" id="{CAC876BE-21E8-E7BA-CC8A-9596733D6FE2}"/>
              </a:ext>
            </a:extLst>
          </p:cNvPr>
          <p:cNvGrpSpPr/>
          <p:nvPr/>
        </p:nvGrpSpPr>
        <p:grpSpPr>
          <a:xfrm>
            <a:off x="1395023" y="4253042"/>
            <a:ext cx="1036839" cy="1036839"/>
            <a:chOff x="6089845" y="2000207"/>
            <a:chExt cx="1036839" cy="1036839"/>
          </a:xfrm>
        </p:grpSpPr>
        <p:sp>
          <p:nvSpPr>
            <p:cNvPr id="37" name="Rounded Rectangle 15">
              <a:extLst>
                <a:ext uri="{FF2B5EF4-FFF2-40B4-BE49-F238E27FC236}">
                  <a16:creationId xmlns:a16="http://schemas.microsoft.com/office/drawing/2014/main" id="{837E39A0-D053-A65E-290C-78698A7F4C46}"/>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38" name="Picture 37">
              <a:extLst>
                <a:ext uri="{FF2B5EF4-FFF2-40B4-BE49-F238E27FC236}">
                  <a16:creationId xmlns:a16="http://schemas.microsoft.com/office/drawing/2014/main" id="{B2D9FCFC-BBC0-9926-49DE-70E76CF583C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22" name="Group 21">
            <a:extLst>
              <a:ext uri="{FF2B5EF4-FFF2-40B4-BE49-F238E27FC236}">
                <a16:creationId xmlns:a16="http://schemas.microsoft.com/office/drawing/2014/main" id="{114B118B-207B-8F39-FD41-554B1F546B3D}"/>
              </a:ext>
            </a:extLst>
          </p:cNvPr>
          <p:cNvGrpSpPr/>
          <p:nvPr/>
        </p:nvGrpSpPr>
        <p:grpSpPr>
          <a:xfrm>
            <a:off x="1374482" y="2581751"/>
            <a:ext cx="1036839" cy="1036839"/>
            <a:chOff x="4792341" y="2000207"/>
            <a:chExt cx="1036839" cy="1036839"/>
          </a:xfrm>
        </p:grpSpPr>
        <p:sp>
          <p:nvSpPr>
            <p:cNvPr id="35" name="Rounded Rectangle 9">
              <a:extLst>
                <a:ext uri="{FF2B5EF4-FFF2-40B4-BE49-F238E27FC236}">
                  <a16:creationId xmlns:a16="http://schemas.microsoft.com/office/drawing/2014/main" id="{4525DFFB-8F52-7A91-AD87-35771E23AA65}"/>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36" name="Picture 35">
              <a:extLst>
                <a:ext uri="{FF2B5EF4-FFF2-40B4-BE49-F238E27FC236}">
                  <a16:creationId xmlns:a16="http://schemas.microsoft.com/office/drawing/2014/main" id="{E53B489C-819B-65E9-FFE6-5252F747D5C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23" name="Group 22">
            <a:extLst>
              <a:ext uri="{FF2B5EF4-FFF2-40B4-BE49-F238E27FC236}">
                <a16:creationId xmlns:a16="http://schemas.microsoft.com/office/drawing/2014/main" id="{3B892C66-7B9F-88DC-E853-1DEBF75AE139}"/>
              </a:ext>
            </a:extLst>
          </p:cNvPr>
          <p:cNvGrpSpPr/>
          <p:nvPr/>
        </p:nvGrpSpPr>
        <p:grpSpPr>
          <a:xfrm>
            <a:off x="3565982" y="2581751"/>
            <a:ext cx="1036839" cy="1036839"/>
            <a:chOff x="4792341" y="3221263"/>
            <a:chExt cx="1036839" cy="1036839"/>
          </a:xfrm>
        </p:grpSpPr>
        <p:sp>
          <p:nvSpPr>
            <p:cNvPr id="33" name="Rounded Rectangle 11">
              <a:extLst>
                <a:ext uri="{FF2B5EF4-FFF2-40B4-BE49-F238E27FC236}">
                  <a16:creationId xmlns:a16="http://schemas.microsoft.com/office/drawing/2014/main" id="{B13633CA-B1D3-F434-C037-3FB0C08EF86B}"/>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6318124D-B3AC-49DC-DE22-95649041906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24" name="Rectangle 23">
            <a:extLst>
              <a:ext uri="{FF2B5EF4-FFF2-40B4-BE49-F238E27FC236}">
                <a16:creationId xmlns:a16="http://schemas.microsoft.com/office/drawing/2014/main" id="{08909536-34A4-7B43-8DBA-1BBE32F33BE8}"/>
              </a:ext>
            </a:extLst>
          </p:cNvPr>
          <p:cNvSpPr/>
          <p:nvPr/>
        </p:nvSpPr>
        <p:spPr>
          <a:xfrm>
            <a:off x="8622284" y="2188918"/>
            <a:ext cx="2926080" cy="37856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a:extLst>
              <a:ext uri="{FF2B5EF4-FFF2-40B4-BE49-F238E27FC236}">
                <a16:creationId xmlns:a16="http://schemas.microsoft.com/office/drawing/2014/main" id="{005E6B9E-D16B-05C7-0005-D25BA31AE2D6}"/>
              </a:ext>
            </a:extLst>
          </p:cNvPr>
          <p:cNvSpPr/>
          <p:nvPr/>
        </p:nvSpPr>
        <p:spPr>
          <a:xfrm>
            <a:off x="8722364" y="2644998"/>
            <a:ext cx="2905502" cy="1754326"/>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Ensures that the company satisfies its security goals in terms of auditability, control, visibility and agility</a:t>
            </a:r>
          </a:p>
          <a:p>
            <a:br>
              <a:rPr lang="en-US"/>
            </a:br>
            <a:endParaRPr lang="en-US"/>
          </a:p>
        </p:txBody>
      </p:sp>
      <p:sp>
        <p:nvSpPr>
          <p:cNvPr id="26" name="Rectangle 25">
            <a:extLst>
              <a:ext uri="{FF2B5EF4-FFF2-40B4-BE49-F238E27FC236}">
                <a16:creationId xmlns:a16="http://schemas.microsoft.com/office/drawing/2014/main" id="{DBE0C0DF-A6A4-69D0-49D6-ADB5935306F0}"/>
              </a:ext>
            </a:extLst>
          </p:cNvPr>
          <p:cNvSpPr/>
          <p:nvPr/>
        </p:nvSpPr>
        <p:spPr>
          <a:xfrm>
            <a:off x="8678740" y="4524689"/>
            <a:ext cx="2832981" cy="1477328"/>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t>IT security managers</a:t>
            </a:r>
          </a:p>
          <a:p>
            <a:pPr marL="285750" indent="-285750">
              <a:buFont typeface="Arial" panose="020B0604020202020204" pitchFamily="34" charset="0"/>
              <a:buChar char="•"/>
            </a:pPr>
            <a:r>
              <a:rPr lang="en-US"/>
              <a:t>IT security analysts</a:t>
            </a:r>
          </a:p>
          <a:p>
            <a:pPr marL="285750" indent="-285750">
              <a:buFont typeface="Arial" panose="020B0604020202020204" pitchFamily="34" charset="0"/>
              <a:buChar char="•"/>
            </a:pPr>
            <a:r>
              <a:rPr lang="en-US"/>
              <a:t>Chief information security officers (CISOs)</a:t>
            </a:r>
          </a:p>
        </p:txBody>
      </p:sp>
      <p:sp>
        <p:nvSpPr>
          <p:cNvPr id="27" name="TextBox 34">
            <a:extLst>
              <a:ext uri="{FF2B5EF4-FFF2-40B4-BE49-F238E27FC236}">
                <a16:creationId xmlns:a16="http://schemas.microsoft.com/office/drawing/2014/main" id="{B5D399B5-3A5A-4053-ADDF-896B487DF508}"/>
              </a:ext>
            </a:extLst>
          </p:cNvPr>
          <p:cNvSpPr txBox="1"/>
          <p:nvPr/>
        </p:nvSpPr>
        <p:spPr>
          <a:xfrm>
            <a:off x="8693515" y="2228263"/>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28" name="TextBox 35">
            <a:extLst>
              <a:ext uri="{FF2B5EF4-FFF2-40B4-BE49-F238E27FC236}">
                <a16:creationId xmlns:a16="http://schemas.microsoft.com/office/drawing/2014/main" id="{EC7D5E22-C9EA-A0CB-EACC-2EF4F5787AC8}"/>
              </a:ext>
            </a:extLst>
          </p:cNvPr>
          <p:cNvSpPr txBox="1"/>
          <p:nvPr/>
        </p:nvSpPr>
        <p:spPr>
          <a:xfrm>
            <a:off x="8701786" y="4115388"/>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29" name="Rectangle 28">
            <a:extLst>
              <a:ext uri="{FF2B5EF4-FFF2-40B4-BE49-F238E27FC236}">
                <a16:creationId xmlns:a16="http://schemas.microsoft.com/office/drawing/2014/main" id="{31E33C40-F1AE-821D-34D6-183A07D65848}"/>
              </a:ext>
            </a:extLst>
          </p:cNvPr>
          <p:cNvSpPr/>
          <p:nvPr/>
        </p:nvSpPr>
        <p:spPr>
          <a:xfrm>
            <a:off x="868767" y="4019473"/>
            <a:ext cx="1981850"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ectangle 29">
            <a:extLst>
              <a:ext uri="{FF2B5EF4-FFF2-40B4-BE49-F238E27FC236}">
                <a16:creationId xmlns:a16="http://schemas.microsoft.com/office/drawing/2014/main" id="{D09EF835-7A21-437E-3153-F732EE9B13EA}"/>
              </a:ext>
            </a:extLst>
          </p:cNvPr>
          <p:cNvSpPr/>
          <p:nvPr/>
        </p:nvSpPr>
        <p:spPr>
          <a:xfrm>
            <a:off x="1229918" y="2040693"/>
            <a:ext cx="6085526"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1" name="Elbow Connector 5">
            <a:extLst>
              <a:ext uri="{FF2B5EF4-FFF2-40B4-BE49-F238E27FC236}">
                <a16:creationId xmlns:a16="http://schemas.microsoft.com/office/drawing/2014/main" id="{87C33C4B-6B04-44F6-7328-27A45C23AF64}"/>
              </a:ext>
            </a:extLst>
          </p:cNvPr>
          <p:cNvCxnSpPr>
            <a:stCxn id="43" idx="0"/>
            <a:endCxn id="24" idx="1"/>
          </p:cNvCxnSpPr>
          <p:nvPr/>
        </p:nvCxnSpPr>
        <p:spPr>
          <a:xfrm rot="5400000" flipH="1" flipV="1">
            <a:off x="6282162" y="1915651"/>
            <a:ext cx="174046" cy="450619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2454EAA-12B5-DDE5-DF8D-7BEDF8AB6511}"/>
              </a:ext>
            </a:extLst>
          </p:cNvPr>
          <p:cNvSpPr/>
          <p:nvPr/>
        </p:nvSpPr>
        <p:spPr>
          <a:xfrm>
            <a:off x="5333594" y="4129869"/>
            <a:ext cx="1981850"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220991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4">
            <a:extLst>
              <a:ext uri="{FF2B5EF4-FFF2-40B4-BE49-F238E27FC236}">
                <a16:creationId xmlns:a16="http://schemas.microsoft.com/office/drawing/2014/main" id="{0A24B5C0-2D70-F8DF-1D52-3B735D1B57B7}"/>
              </a:ext>
            </a:extLst>
          </p:cNvPr>
          <p:cNvSpPr>
            <a:spLocks noGrp="1"/>
          </p:cNvSpPr>
          <p:nvPr/>
        </p:nvSpPr>
        <p:spPr>
          <a:xfrm>
            <a:off x="603885" y="687458"/>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mj-lt"/>
              </a:rPr>
              <a:t>Operations Perspective</a:t>
            </a:r>
          </a:p>
        </p:txBody>
      </p:sp>
      <p:sp>
        <p:nvSpPr>
          <p:cNvPr id="10" name="Freeform 10">
            <a:extLst>
              <a:ext uri="{FF2B5EF4-FFF2-40B4-BE49-F238E27FC236}">
                <a16:creationId xmlns:a16="http://schemas.microsoft.com/office/drawing/2014/main" id="{94FFDAD5-1167-A831-A34A-6ACDE369DF1B}"/>
              </a:ext>
            </a:extLst>
          </p:cNvPr>
          <p:cNvSpPr/>
          <p:nvPr/>
        </p:nvSpPr>
        <p:spPr>
          <a:xfrm>
            <a:off x="992389" y="2027887"/>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chemeClr val="tx1"/>
                </a:solidFill>
                <a:latin typeface="Amazon Ember Light"/>
                <a:ea typeface="Amazon Ember" panose="02000000000000000000" pitchFamily="2" charset="0"/>
              </a:rPr>
              <a:t>Business</a:t>
            </a:r>
            <a:endParaRPr kumimoji="0" lang="en-US" sz="2400" b="0" i="0" u="none" strike="noStrike" kern="1200" cap="none" spc="0" normalizeH="0" baseline="0" noProof="0">
              <a:ln>
                <a:noFill/>
              </a:ln>
              <a:solidFill>
                <a:schemeClr val="tx1"/>
              </a:solidFill>
              <a:effectLst/>
              <a:uLnTx/>
              <a:uFillTx/>
              <a:latin typeface="Amazon Ember Light"/>
              <a:ea typeface="Amazon Ember" panose="02000000000000000000" pitchFamily="2" charset="0"/>
            </a:endParaRPr>
          </a:p>
        </p:txBody>
      </p:sp>
      <p:sp>
        <p:nvSpPr>
          <p:cNvPr id="11" name="Freeform 12">
            <a:extLst>
              <a:ext uri="{FF2B5EF4-FFF2-40B4-BE49-F238E27FC236}">
                <a16:creationId xmlns:a16="http://schemas.microsoft.com/office/drawing/2014/main" id="{674A805D-7962-878B-37B2-D16E81982382}"/>
              </a:ext>
            </a:extLst>
          </p:cNvPr>
          <p:cNvSpPr/>
          <p:nvPr/>
        </p:nvSpPr>
        <p:spPr>
          <a:xfrm>
            <a:off x="3162834" y="2027887"/>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People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12" name="Freeform 14">
            <a:extLst>
              <a:ext uri="{FF2B5EF4-FFF2-40B4-BE49-F238E27FC236}">
                <a16:creationId xmlns:a16="http://schemas.microsoft.com/office/drawing/2014/main" id="{4FE806AD-2CAB-78F0-97B9-D77334A7D2B6}"/>
              </a:ext>
            </a:extLst>
          </p:cNvPr>
          <p:cNvSpPr/>
          <p:nvPr/>
        </p:nvSpPr>
        <p:spPr>
          <a:xfrm>
            <a:off x="5341992" y="2027887"/>
            <a:ext cx="1958187"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lang="en-US" sz="2400">
                <a:solidFill>
                  <a:srgbClr val="232F3E"/>
                </a:solidFill>
                <a:latin typeface="Amazon Ember Light"/>
                <a:ea typeface="Amazon Ember" panose="02000000000000000000" pitchFamily="2" charset="0"/>
              </a:rPr>
              <a:t>Governance</a:t>
            </a:r>
            <a:endPar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endParaRPr>
          </a:p>
        </p:txBody>
      </p:sp>
      <p:sp>
        <p:nvSpPr>
          <p:cNvPr id="22" name="Freeform 16">
            <a:extLst>
              <a:ext uri="{FF2B5EF4-FFF2-40B4-BE49-F238E27FC236}">
                <a16:creationId xmlns:a16="http://schemas.microsoft.com/office/drawing/2014/main" id="{03E3D72F-BC02-2480-E208-C68C09E0C3E4}"/>
              </a:ext>
            </a:extLst>
          </p:cNvPr>
          <p:cNvSpPr/>
          <p:nvPr/>
        </p:nvSpPr>
        <p:spPr>
          <a:xfrm>
            <a:off x="877155" y="5441536"/>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Platform</a:t>
            </a:r>
          </a:p>
        </p:txBody>
      </p:sp>
      <p:sp>
        <p:nvSpPr>
          <p:cNvPr id="23" name="Freeform 18">
            <a:extLst>
              <a:ext uri="{FF2B5EF4-FFF2-40B4-BE49-F238E27FC236}">
                <a16:creationId xmlns:a16="http://schemas.microsoft.com/office/drawing/2014/main" id="{305410BA-51BF-88A2-4847-0C2FBE049624}"/>
              </a:ext>
            </a:extLst>
          </p:cNvPr>
          <p:cNvSpPr/>
          <p:nvPr/>
        </p:nvSpPr>
        <p:spPr>
          <a:xfrm>
            <a:off x="3067482" y="5441536"/>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Security</a:t>
            </a:r>
          </a:p>
        </p:txBody>
      </p:sp>
      <p:sp>
        <p:nvSpPr>
          <p:cNvPr id="24" name="Freeform 20">
            <a:extLst>
              <a:ext uri="{FF2B5EF4-FFF2-40B4-BE49-F238E27FC236}">
                <a16:creationId xmlns:a16="http://schemas.microsoft.com/office/drawing/2014/main" id="{A31DF8B5-8C98-7BF0-A109-EE2956169A59}"/>
              </a:ext>
            </a:extLst>
          </p:cNvPr>
          <p:cNvSpPr/>
          <p:nvPr/>
        </p:nvSpPr>
        <p:spPr>
          <a:xfrm>
            <a:off x="5226758" y="5441536"/>
            <a:ext cx="2188654" cy="462583"/>
          </a:xfrm>
          <a:custGeom>
            <a:avLst/>
            <a:gdLst>
              <a:gd name="connsiteX0" fmla="*/ 0 w 5671973"/>
              <a:gd name="connsiteY0" fmla="*/ 109313 h 655747"/>
              <a:gd name="connsiteX1" fmla="*/ 109313 w 5671973"/>
              <a:gd name="connsiteY1" fmla="*/ 0 h 655747"/>
              <a:gd name="connsiteX2" fmla="*/ 5562660 w 5671973"/>
              <a:gd name="connsiteY2" fmla="*/ 0 h 655747"/>
              <a:gd name="connsiteX3" fmla="*/ 5671973 w 5671973"/>
              <a:gd name="connsiteY3" fmla="*/ 109313 h 655747"/>
              <a:gd name="connsiteX4" fmla="*/ 5671973 w 5671973"/>
              <a:gd name="connsiteY4" fmla="*/ 546434 h 655747"/>
              <a:gd name="connsiteX5" fmla="*/ 5562660 w 5671973"/>
              <a:gd name="connsiteY5" fmla="*/ 655747 h 655747"/>
              <a:gd name="connsiteX6" fmla="*/ 109313 w 5671973"/>
              <a:gd name="connsiteY6" fmla="*/ 655747 h 655747"/>
              <a:gd name="connsiteX7" fmla="*/ 0 w 5671973"/>
              <a:gd name="connsiteY7" fmla="*/ 546434 h 655747"/>
              <a:gd name="connsiteX8" fmla="*/ 0 w 5671973"/>
              <a:gd name="connsiteY8" fmla="*/ 109313 h 65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1973" h="655747">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spcFirstLastPara="0" vert="horz" wrap="square" lIns="160033" tIns="160033" rIns="160033" bIns="160033"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a:ln>
                  <a:noFill/>
                </a:ln>
                <a:solidFill>
                  <a:srgbClr val="232F3E"/>
                </a:solidFill>
                <a:effectLst/>
                <a:uLnTx/>
                <a:uFillTx/>
                <a:latin typeface="Amazon Ember Light"/>
                <a:ea typeface="Amazon Ember" panose="02000000000000000000" pitchFamily="2" charset="0"/>
                <a:cs typeface="+mn-cs"/>
              </a:rPr>
              <a:t>Operations</a:t>
            </a:r>
          </a:p>
        </p:txBody>
      </p:sp>
      <p:grpSp>
        <p:nvGrpSpPr>
          <p:cNvPr id="25" name="Group 24">
            <a:extLst>
              <a:ext uri="{FF2B5EF4-FFF2-40B4-BE49-F238E27FC236}">
                <a16:creationId xmlns:a16="http://schemas.microsoft.com/office/drawing/2014/main" id="{6878059F-6150-997C-A38F-74E43E4E1D9C}"/>
              </a:ext>
            </a:extLst>
          </p:cNvPr>
          <p:cNvGrpSpPr/>
          <p:nvPr/>
        </p:nvGrpSpPr>
        <p:grpSpPr>
          <a:xfrm>
            <a:off x="3637418" y="4272674"/>
            <a:ext cx="1112988" cy="1065005"/>
            <a:chOff x="6089845" y="3221263"/>
            <a:chExt cx="1112988" cy="1065005"/>
          </a:xfrm>
        </p:grpSpPr>
        <p:sp>
          <p:nvSpPr>
            <p:cNvPr id="48" name="Rounded Rectangle 17">
              <a:extLst>
                <a:ext uri="{FF2B5EF4-FFF2-40B4-BE49-F238E27FC236}">
                  <a16:creationId xmlns:a16="http://schemas.microsoft.com/office/drawing/2014/main" id="{91593B2F-7E41-F7C0-25C2-EB94FE97407A}"/>
                </a:ext>
              </a:extLst>
            </p:cNvPr>
            <p:cNvSpPr/>
            <p:nvPr/>
          </p:nvSpPr>
          <p:spPr>
            <a:xfrm>
              <a:off x="6089845" y="3221263"/>
              <a:ext cx="1036839" cy="1036839"/>
            </a:xfrm>
            <a:prstGeom prst="roundRect">
              <a:avLst>
                <a:gd name="adj" fmla="val 16670"/>
              </a:avLst>
            </a:prstGeom>
            <a:solidFill>
              <a:schemeClr val="bg2"/>
            </a:solidFill>
            <a:ln>
              <a:solidFill>
                <a:schemeClr val="bg1">
                  <a:lumMod val="75000"/>
                </a:schemeClr>
              </a:solidFill>
            </a:ln>
          </p:spPr>
          <p:style>
            <a:lnRef idx="2">
              <a:schemeClr val="lt1">
                <a:hueOff val="0"/>
                <a:satOff val="0"/>
                <a:lumOff val="0"/>
                <a:alphaOff val="0"/>
              </a:schemeClr>
            </a:lnRef>
            <a:fillRef idx="1">
              <a:schemeClr val="accent3">
                <a:shade val="80000"/>
                <a:hueOff val="-121333"/>
                <a:satOff val="-11460"/>
                <a:lumOff val="22874"/>
                <a:alphaOff val="0"/>
              </a:schemeClr>
            </a:fillRef>
            <a:effectRef idx="0">
              <a:schemeClr val="accent3">
                <a:shade val="80000"/>
                <a:hueOff val="-121333"/>
                <a:satOff val="-11460"/>
                <a:lumOff val="22874"/>
                <a:alphaOff val="0"/>
              </a:schemeClr>
            </a:effectRef>
            <a:fontRef idx="minor">
              <a:schemeClr val="lt1"/>
            </a:fontRef>
          </p:style>
          <p:txBody>
            <a:bodyPr/>
            <a:lstStyle/>
            <a:p>
              <a:endParaRPr lang="en-US"/>
            </a:p>
          </p:txBody>
        </p:sp>
        <p:pic>
          <p:nvPicPr>
            <p:cNvPr id="49" name="Picture 48">
              <a:extLst>
                <a:ext uri="{FF2B5EF4-FFF2-40B4-BE49-F238E27FC236}">
                  <a16:creationId xmlns:a16="http://schemas.microsoft.com/office/drawing/2014/main" id="{A9CB37F7-ACA3-6D28-69CA-321918FA795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0318" y="3223753"/>
              <a:ext cx="1062515" cy="1062515"/>
            </a:xfrm>
            <a:prstGeom prst="rect">
              <a:avLst/>
            </a:prstGeom>
            <a:ln>
              <a:noFill/>
            </a:ln>
          </p:spPr>
        </p:pic>
      </p:grpSp>
      <p:grpSp>
        <p:nvGrpSpPr>
          <p:cNvPr id="26" name="Group 25">
            <a:extLst>
              <a:ext uri="{FF2B5EF4-FFF2-40B4-BE49-F238E27FC236}">
                <a16:creationId xmlns:a16="http://schemas.microsoft.com/office/drawing/2014/main" id="{946CDB3A-9F1D-3408-3338-EE03DA1BE510}"/>
              </a:ext>
            </a:extLst>
          </p:cNvPr>
          <p:cNvGrpSpPr/>
          <p:nvPr/>
        </p:nvGrpSpPr>
        <p:grpSpPr>
          <a:xfrm>
            <a:off x="5797233" y="2585304"/>
            <a:ext cx="1058062" cy="1063537"/>
            <a:chOff x="4792341" y="4406849"/>
            <a:chExt cx="1058062" cy="1063537"/>
          </a:xfrm>
        </p:grpSpPr>
        <p:sp>
          <p:nvSpPr>
            <p:cNvPr id="46" name="Rounded Rectangle 13">
              <a:extLst>
                <a:ext uri="{FF2B5EF4-FFF2-40B4-BE49-F238E27FC236}">
                  <a16:creationId xmlns:a16="http://schemas.microsoft.com/office/drawing/2014/main" id="{1FFCAC09-4D84-9D89-6A43-CB8D2780430A}"/>
                </a:ext>
              </a:extLst>
            </p:cNvPr>
            <p:cNvSpPr/>
            <p:nvPr/>
          </p:nvSpPr>
          <p:spPr>
            <a:xfrm>
              <a:off x="4792341"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60667"/>
                <a:satOff val="-5730"/>
                <a:lumOff val="11437"/>
                <a:alphaOff val="0"/>
              </a:schemeClr>
            </a:fillRef>
            <a:effectRef idx="0">
              <a:schemeClr val="accent3">
                <a:shade val="80000"/>
                <a:hueOff val="-60667"/>
                <a:satOff val="-5730"/>
                <a:lumOff val="11437"/>
                <a:alphaOff val="0"/>
              </a:schemeClr>
            </a:effectRef>
            <a:fontRef idx="minor">
              <a:schemeClr val="lt1"/>
            </a:fontRef>
          </p:style>
          <p:txBody>
            <a:bodyPr/>
            <a:lstStyle/>
            <a:p>
              <a:endParaRPr lang="en-US"/>
            </a:p>
          </p:txBody>
        </p:sp>
        <p:pic>
          <p:nvPicPr>
            <p:cNvPr id="47" name="Picture 46">
              <a:extLst>
                <a:ext uri="{FF2B5EF4-FFF2-40B4-BE49-F238E27FC236}">
                  <a16:creationId xmlns:a16="http://schemas.microsoft.com/office/drawing/2014/main" id="{6B52B86A-2C23-F81F-7CDE-5F4D990165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4117" y="4434100"/>
              <a:ext cx="1036286" cy="1036286"/>
            </a:xfrm>
            <a:prstGeom prst="rect">
              <a:avLst/>
            </a:prstGeom>
          </p:spPr>
        </p:pic>
      </p:grpSp>
      <p:grpSp>
        <p:nvGrpSpPr>
          <p:cNvPr id="27" name="Group 26">
            <a:extLst>
              <a:ext uri="{FF2B5EF4-FFF2-40B4-BE49-F238E27FC236}">
                <a16:creationId xmlns:a16="http://schemas.microsoft.com/office/drawing/2014/main" id="{F65FB843-4CBF-95BB-3241-0294D2CEB1A1}"/>
              </a:ext>
            </a:extLst>
          </p:cNvPr>
          <p:cNvGrpSpPr/>
          <p:nvPr/>
        </p:nvGrpSpPr>
        <p:grpSpPr>
          <a:xfrm>
            <a:off x="5796412" y="4277938"/>
            <a:ext cx="1040409" cy="1051505"/>
            <a:chOff x="6089845" y="4406849"/>
            <a:chExt cx="1040409" cy="1051505"/>
          </a:xfrm>
        </p:grpSpPr>
        <p:sp>
          <p:nvSpPr>
            <p:cNvPr id="44" name="Rounded Rectangle 19">
              <a:extLst>
                <a:ext uri="{FF2B5EF4-FFF2-40B4-BE49-F238E27FC236}">
                  <a16:creationId xmlns:a16="http://schemas.microsoft.com/office/drawing/2014/main" id="{5086B9B0-4168-BAEB-5ECF-6C0D473ACDBE}"/>
                </a:ext>
              </a:extLst>
            </p:cNvPr>
            <p:cNvSpPr/>
            <p:nvPr/>
          </p:nvSpPr>
          <p:spPr>
            <a:xfrm>
              <a:off x="6089845" y="4406849"/>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151666"/>
                <a:satOff val="-14325"/>
                <a:lumOff val="28593"/>
                <a:alphaOff val="0"/>
              </a:schemeClr>
            </a:fillRef>
            <a:effectRef idx="0">
              <a:schemeClr val="accent3">
                <a:shade val="80000"/>
                <a:hueOff val="-151666"/>
                <a:satOff val="-14325"/>
                <a:lumOff val="28593"/>
                <a:alphaOff val="0"/>
              </a:schemeClr>
            </a:effectRef>
            <a:fontRef idx="minor">
              <a:schemeClr val="lt1"/>
            </a:fontRef>
          </p:style>
          <p:txBody>
            <a:bodyPr/>
            <a:lstStyle/>
            <a:p>
              <a:endParaRPr lang="en-US"/>
            </a:p>
          </p:txBody>
        </p:sp>
        <p:pic>
          <p:nvPicPr>
            <p:cNvPr id="45" name="Picture 44">
              <a:extLst>
                <a:ext uri="{FF2B5EF4-FFF2-40B4-BE49-F238E27FC236}">
                  <a16:creationId xmlns:a16="http://schemas.microsoft.com/office/drawing/2014/main" id="{290D2636-2BE8-2607-2294-76679F33BEF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23694" y="4451794"/>
              <a:ext cx="1006560" cy="1006560"/>
            </a:xfrm>
            <a:prstGeom prst="rect">
              <a:avLst/>
            </a:prstGeom>
          </p:spPr>
        </p:pic>
      </p:grpSp>
      <p:grpSp>
        <p:nvGrpSpPr>
          <p:cNvPr id="28" name="Group 27">
            <a:extLst>
              <a:ext uri="{FF2B5EF4-FFF2-40B4-BE49-F238E27FC236}">
                <a16:creationId xmlns:a16="http://schemas.microsoft.com/office/drawing/2014/main" id="{459438DB-FC79-DCA4-E784-72D665130492}"/>
              </a:ext>
            </a:extLst>
          </p:cNvPr>
          <p:cNvGrpSpPr/>
          <p:nvPr/>
        </p:nvGrpSpPr>
        <p:grpSpPr>
          <a:xfrm>
            <a:off x="1434774" y="4269944"/>
            <a:ext cx="1036839" cy="1036839"/>
            <a:chOff x="6089845" y="2000207"/>
            <a:chExt cx="1036839" cy="1036839"/>
          </a:xfrm>
        </p:grpSpPr>
        <p:sp>
          <p:nvSpPr>
            <p:cNvPr id="42" name="Rounded Rectangle 15">
              <a:extLst>
                <a:ext uri="{FF2B5EF4-FFF2-40B4-BE49-F238E27FC236}">
                  <a16:creationId xmlns:a16="http://schemas.microsoft.com/office/drawing/2014/main" id="{A94A3DA9-53BF-AF88-8DA5-0015CEDAC499}"/>
                </a:ext>
              </a:extLst>
            </p:cNvPr>
            <p:cNvSpPr/>
            <p:nvPr/>
          </p:nvSpPr>
          <p:spPr>
            <a:xfrm>
              <a:off x="6089845"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91000"/>
                <a:satOff val="-8595"/>
                <a:lumOff val="17156"/>
                <a:alphaOff val="0"/>
              </a:schemeClr>
            </a:fillRef>
            <a:effectRef idx="0">
              <a:schemeClr val="accent3">
                <a:shade val="80000"/>
                <a:hueOff val="-91000"/>
                <a:satOff val="-8595"/>
                <a:lumOff val="17156"/>
                <a:alphaOff val="0"/>
              </a:schemeClr>
            </a:effectRef>
            <a:fontRef idx="minor">
              <a:schemeClr val="lt1"/>
            </a:fontRef>
          </p:style>
          <p:txBody>
            <a:bodyPr/>
            <a:lstStyle/>
            <a:p>
              <a:endParaRPr lang="en-US"/>
            </a:p>
          </p:txBody>
        </p:sp>
        <p:pic>
          <p:nvPicPr>
            <p:cNvPr id="43" name="Picture 42">
              <a:extLst>
                <a:ext uri="{FF2B5EF4-FFF2-40B4-BE49-F238E27FC236}">
                  <a16:creationId xmlns:a16="http://schemas.microsoft.com/office/drawing/2014/main" id="{04F86613-DCBA-4393-B6E8-80E50E1ECD2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72173" y="2058139"/>
              <a:ext cx="909603" cy="909603"/>
            </a:xfrm>
            <a:prstGeom prst="rect">
              <a:avLst/>
            </a:prstGeom>
          </p:spPr>
        </p:pic>
      </p:grpSp>
      <p:grpSp>
        <p:nvGrpSpPr>
          <p:cNvPr id="29" name="Group 28">
            <a:extLst>
              <a:ext uri="{FF2B5EF4-FFF2-40B4-BE49-F238E27FC236}">
                <a16:creationId xmlns:a16="http://schemas.microsoft.com/office/drawing/2014/main" id="{6840B108-07B1-D0A6-E51F-98C86465236F}"/>
              </a:ext>
            </a:extLst>
          </p:cNvPr>
          <p:cNvGrpSpPr/>
          <p:nvPr/>
        </p:nvGrpSpPr>
        <p:grpSpPr>
          <a:xfrm>
            <a:off x="1414233" y="2598653"/>
            <a:ext cx="1036839" cy="1036839"/>
            <a:chOff x="4792341" y="2000207"/>
            <a:chExt cx="1036839" cy="1036839"/>
          </a:xfrm>
        </p:grpSpPr>
        <p:sp>
          <p:nvSpPr>
            <p:cNvPr id="40" name="Rounded Rectangle 9">
              <a:extLst>
                <a:ext uri="{FF2B5EF4-FFF2-40B4-BE49-F238E27FC236}">
                  <a16:creationId xmlns:a16="http://schemas.microsoft.com/office/drawing/2014/main" id="{93F9EFB2-BCB4-E423-6FBC-0AC9BFC97B17}"/>
                </a:ext>
              </a:extLst>
            </p:cNvPr>
            <p:cNvSpPr/>
            <p:nvPr/>
          </p:nvSpPr>
          <p:spPr>
            <a:xfrm>
              <a:off x="4792341" y="2000207"/>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a:lstStyle/>
            <a:p>
              <a:endParaRPr lang="en-US"/>
            </a:p>
          </p:txBody>
        </p:sp>
        <p:pic>
          <p:nvPicPr>
            <p:cNvPr id="41" name="Picture 40">
              <a:extLst>
                <a:ext uri="{FF2B5EF4-FFF2-40B4-BE49-F238E27FC236}">
                  <a16:creationId xmlns:a16="http://schemas.microsoft.com/office/drawing/2014/main" id="{C877F02E-C145-76F5-2580-5CD09EEA64F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97497" y="2098215"/>
              <a:ext cx="869527" cy="869527"/>
            </a:xfrm>
            <a:prstGeom prst="rect">
              <a:avLst/>
            </a:prstGeom>
          </p:spPr>
        </p:pic>
      </p:grpSp>
      <p:grpSp>
        <p:nvGrpSpPr>
          <p:cNvPr id="30" name="Group 29">
            <a:extLst>
              <a:ext uri="{FF2B5EF4-FFF2-40B4-BE49-F238E27FC236}">
                <a16:creationId xmlns:a16="http://schemas.microsoft.com/office/drawing/2014/main" id="{5809A387-00F7-24A6-BA23-05C521CE18EF}"/>
              </a:ext>
            </a:extLst>
          </p:cNvPr>
          <p:cNvGrpSpPr/>
          <p:nvPr/>
        </p:nvGrpSpPr>
        <p:grpSpPr>
          <a:xfrm>
            <a:off x="3605733" y="2598653"/>
            <a:ext cx="1036839" cy="1036839"/>
            <a:chOff x="4792341" y="3221263"/>
            <a:chExt cx="1036839" cy="1036839"/>
          </a:xfrm>
        </p:grpSpPr>
        <p:sp>
          <p:nvSpPr>
            <p:cNvPr id="38" name="Rounded Rectangle 11">
              <a:extLst>
                <a:ext uri="{FF2B5EF4-FFF2-40B4-BE49-F238E27FC236}">
                  <a16:creationId xmlns:a16="http://schemas.microsoft.com/office/drawing/2014/main" id="{0CF61220-15C6-C84B-0D6F-227DABB4903F}"/>
                </a:ext>
              </a:extLst>
            </p:cNvPr>
            <p:cNvSpPr/>
            <p:nvPr/>
          </p:nvSpPr>
          <p:spPr>
            <a:xfrm>
              <a:off x="4792341" y="3221263"/>
              <a:ext cx="1036839" cy="1036839"/>
            </a:xfrm>
            <a:prstGeom prst="roundRect">
              <a:avLst>
                <a:gd name="adj" fmla="val 16670"/>
              </a:avLst>
            </a:prstGeom>
            <a:solidFill>
              <a:schemeClr val="bg2"/>
            </a:solidFill>
            <a:ln>
              <a:solidFill>
                <a:schemeClr val="bg2">
                  <a:lumMod val="75000"/>
                </a:schemeClr>
              </a:solidFill>
            </a:ln>
          </p:spPr>
          <p:style>
            <a:lnRef idx="2">
              <a:schemeClr val="lt1">
                <a:hueOff val="0"/>
                <a:satOff val="0"/>
                <a:lumOff val="0"/>
                <a:alphaOff val="0"/>
              </a:schemeClr>
            </a:lnRef>
            <a:fillRef idx="1">
              <a:schemeClr val="accent3">
                <a:shade val="80000"/>
                <a:hueOff val="-30333"/>
                <a:satOff val="-2865"/>
                <a:lumOff val="5719"/>
                <a:alphaOff val="0"/>
              </a:schemeClr>
            </a:fillRef>
            <a:effectRef idx="0">
              <a:schemeClr val="accent3">
                <a:shade val="80000"/>
                <a:hueOff val="-30333"/>
                <a:satOff val="-2865"/>
                <a:lumOff val="5719"/>
                <a:alphaOff val="0"/>
              </a:schemeClr>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6BC0BCBE-FA30-96E0-20AE-10B73C19EB8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62762" y="3284536"/>
              <a:ext cx="938997" cy="938997"/>
            </a:xfrm>
            <a:prstGeom prst="rect">
              <a:avLst/>
            </a:prstGeom>
          </p:spPr>
        </p:pic>
      </p:grpSp>
      <p:sp>
        <p:nvSpPr>
          <p:cNvPr id="31" name="Rectangle 30">
            <a:extLst>
              <a:ext uri="{FF2B5EF4-FFF2-40B4-BE49-F238E27FC236}">
                <a16:creationId xmlns:a16="http://schemas.microsoft.com/office/drawing/2014/main" id="{71299546-82E9-CF73-9F2E-1A960E8FC5F8}"/>
              </a:ext>
            </a:extLst>
          </p:cNvPr>
          <p:cNvSpPr/>
          <p:nvPr/>
        </p:nvSpPr>
        <p:spPr>
          <a:xfrm>
            <a:off x="8662035" y="2205820"/>
            <a:ext cx="2926080" cy="37856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2" name="Rectangle 31">
            <a:extLst>
              <a:ext uri="{FF2B5EF4-FFF2-40B4-BE49-F238E27FC236}">
                <a16:creationId xmlns:a16="http://schemas.microsoft.com/office/drawing/2014/main" id="{90F7237B-1AF6-8061-76C5-9174F3FCE5E8}"/>
              </a:ext>
            </a:extLst>
          </p:cNvPr>
          <p:cNvSpPr/>
          <p:nvPr/>
        </p:nvSpPr>
        <p:spPr>
          <a:xfrm>
            <a:off x="8762115" y="2661900"/>
            <a:ext cx="2745735" cy="2862322"/>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Assists you in enabling, using, recovering from and operating IT workloads to the degree that you and your business stakeholders have decided upon</a:t>
            </a:r>
          </a:p>
          <a:p>
            <a:endParaRPr lang="en-US"/>
          </a:p>
          <a:p>
            <a:br>
              <a:rPr lang="en-US"/>
            </a:br>
            <a:endParaRPr lang="en-US"/>
          </a:p>
        </p:txBody>
      </p:sp>
      <p:sp>
        <p:nvSpPr>
          <p:cNvPr id="33" name="Rectangle 32">
            <a:extLst>
              <a:ext uri="{FF2B5EF4-FFF2-40B4-BE49-F238E27FC236}">
                <a16:creationId xmlns:a16="http://schemas.microsoft.com/office/drawing/2014/main" id="{6DBA9CD9-71FD-C597-FCE8-0BAF0581653D}"/>
              </a:ext>
            </a:extLst>
          </p:cNvPr>
          <p:cNvSpPr/>
          <p:nvPr/>
        </p:nvSpPr>
        <p:spPr>
          <a:xfrm>
            <a:off x="8703827" y="4791093"/>
            <a:ext cx="2832981"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t>IT support managers</a:t>
            </a:r>
          </a:p>
          <a:p>
            <a:pPr marL="285750" indent="-285750">
              <a:buFont typeface="Arial" panose="020B0604020202020204" pitchFamily="34" charset="0"/>
              <a:buChar char="•"/>
            </a:pPr>
            <a:r>
              <a:rPr lang="en-US"/>
              <a:t>IT operations managers</a:t>
            </a:r>
          </a:p>
        </p:txBody>
      </p:sp>
      <p:sp>
        <p:nvSpPr>
          <p:cNvPr id="34" name="TextBox 34">
            <a:extLst>
              <a:ext uri="{FF2B5EF4-FFF2-40B4-BE49-F238E27FC236}">
                <a16:creationId xmlns:a16="http://schemas.microsoft.com/office/drawing/2014/main" id="{953DF600-4065-52AE-29B7-DABBE770484A}"/>
              </a:ext>
            </a:extLst>
          </p:cNvPr>
          <p:cNvSpPr txBox="1"/>
          <p:nvPr/>
        </p:nvSpPr>
        <p:spPr>
          <a:xfrm>
            <a:off x="8733266" y="2245165"/>
            <a:ext cx="143936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Goal</a:t>
            </a:r>
          </a:p>
        </p:txBody>
      </p:sp>
      <p:sp>
        <p:nvSpPr>
          <p:cNvPr id="35" name="TextBox 35">
            <a:extLst>
              <a:ext uri="{FF2B5EF4-FFF2-40B4-BE49-F238E27FC236}">
                <a16:creationId xmlns:a16="http://schemas.microsoft.com/office/drawing/2014/main" id="{9253EBBD-69A1-EFD3-B9E7-1B45589B3A6E}"/>
              </a:ext>
            </a:extLst>
          </p:cNvPr>
          <p:cNvSpPr txBox="1"/>
          <p:nvPr/>
        </p:nvSpPr>
        <p:spPr>
          <a:xfrm>
            <a:off x="8733157" y="4363704"/>
            <a:ext cx="23632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507EFF"/>
                </a:solidFill>
                <a:latin typeface="Amazon Ember Light" panose="020B0403020204020204" pitchFamily="34" charset="0"/>
                <a:ea typeface="Amazon Ember Light" panose="020B0403020204020204" pitchFamily="34" charset="0"/>
                <a:cs typeface="Amazon Ember Light" panose="020B0403020204020204" pitchFamily="34" charset="0"/>
              </a:rPr>
              <a:t>Common roles</a:t>
            </a:r>
          </a:p>
        </p:txBody>
      </p:sp>
      <p:sp>
        <p:nvSpPr>
          <p:cNvPr id="36" name="Rectangle 35">
            <a:extLst>
              <a:ext uri="{FF2B5EF4-FFF2-40B4-BE49-F238E27FC236}">
                <a16:creationId xmlns:a16="http://schemas.microsoft.com/office/drawing/2014/main" id="{ACAE151B-2A69-854B-A4B0-931D221C4CD8}"/>
              </a:ext>
            </a:extLst>
          </p:cNvPr>
          <p:cNvSpPr/>
          <p:nvPr/>
        </p:nvSpPr>
        <p:spPr>
          <a:xfrm>
            <a:off x="827565" y="4112968"/>
            <a:ext cx="4246021" cy="2057574"/>
          </a:xfrm>
          <a:prstGeom prst="rect">
            <a:avLst/>
          </a:prstGeom>
          <a:solidFill>
            <a:srgbClr val="FFFFFF">
              <a:alpha val="6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Elbow Connector 5">
            <a:extLst>
              <a:ext uri="{FF2B5EF4-FFF2-40B4-BE49-F238E27FC236}">
                <a16:creationId xmlns:a16="http://schemas.microsoft.com/office/drawing/2014/main" id="{A54A289D-5FDB-0B1B-5BC4-53DA13163C45}"/>
              </a:ext>
            </a:extLst>
          </p:cNvPr>
          <p:cNvCxnSpPr>
            <a:stCxn id="44" idx="0"/>
          </p:cNvCxnSpPr>
          <p:nvPr/>
        </p:nvCxnSpPr>
        <p:spPr>
          <a:xfrm rot="5400000" flipH="1" flipV="1">
            <a:off x="7377531" y="2993433"/>
            <a:ext cx="221806" cy="2347204"/>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397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Migration Strategies</a:t>
            </a: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4161596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DBD27B3B-4F10-4B7E-0418-7A02E3FD645A}"/>
              </a:ext>
            </a:extLst>
          </p:cNvPr>
          <p:cNvSpPr>
            <a:spLocks noGrp="1"/>
          </p:cNvSpPr>
          <p:nvPr/>
        </p:nvSpPr>
        <p:spPr>
          <a:xfrm>
            <a:off x="675253" y="295991"/>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Six Migration Strategies</a:t>
            </a:r>
          </a:p>
        </p:txBody>
      </p:sp>
      <p:pic>
        <p:nvPicPr>
          <p:cNvPr id="10" name="Picture 9">
            <a:extLst>
              <a:ext uri="{FF2B5EF4-FFF2-40B4-BE49-F238E27FC236}">
                <a16:creationId xmlns:a16="http://schemas.microsoft.com/office/drawing/2014/main" id="{24FD5D96-253C-A6E0-3B19-EFCD2981A40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31668" y="1487414"/>
            <a:ext cx="656567" cy="656567"/>
          </a:xfrm>
          <a:prstGeom prst="rect">
            <a:avLst/>
          </a:prstGeom>
        </p:spPr>
      </p:pic>
      <p:pic>
        <p:nvPicPr>
          <p:cNvPr id="11" name="Picture 10">
            <a:extLst>
              <a:ext uri="{FF2B5EF4-FFF2-40B4-BE49-F238E27FC236}">
                <a16:creationId xmlns:a16="http://schemas.microsoft.com/office/drawing/2014/main" id="{9D068743-A8FD-617A-5389-8AAE0E924EA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41653" y="2281963"/>
            <a:ext cx="658368" cy="658368"/>
          </a:xfrm>
          <a:prstGeom prst="rect">
            <a:avLst/>
          </a:prstGeom>
        </p:spPr>
      </p:pic>
      <p:pic>
        <p:nvPicPr>
          <p:cNvPr id="13" name="Picture 12">
            <a:extLst>
              <a:ext uri="{FF2B5EF4-FFF2-40B4-BE49-F238E27FC236}">
                <a16:creationId xmlns:a16="http://schemas.microsoft.com/office/drawing/2014/main" id="{F5E949D4-B1CD-A708-44C3-D11CDBF3F0D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63425" y="3087033"/>
            <a:ext cx="658368" cy="658368"/>
          </a:xfrm>
          <a:prstGeom prst="rect">
            <a:avLst/>
          </a:prstGeom>
        </p:spPr>
      </p:pic>
      <p:pic>
        <p:nvPicPr>
          <p:cNvPr id="17" name="Picture 16">
            <a:extLst>
              <a:ext uri="{FF2B5EF4-FFF2-40B4-BE49-F238E27FC236}">
                <a16:creationId xmlns:a16="http://schemas.microsoft.com/office/drawing/2014/main" id="{3404D9D1-D282-CD2E-73C7-4E286FF82D3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8329" y="3330536"/>
            <a:ext cx="1061371" cy="1061371"/>
          </a:xfrm>
          <a:prstGeom prst="rect">
            <a:avLst/>
          </a:prstGeom>
        </p:spPr>
      </p:pic>
      <p:pic>
        <p:nvPicPr>
          <p:cNvPr id="18" name="Picture 17">
            <a:extLst>
              <a:ext uri="{FF2B5EF4-FFF2-40B4-BE49-F238E27FC236}">
                <a16:creationId xmlns:a16="http://schemas.microsoft.com/office/drawing/2014/main" id="{62278302-933B-59D7-94DC-552234A8568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67146" y="4529342"/>
            <a:ext cx="1158360" cy="1158360"/>
          </a:xfrm>
          <a:prstGeom prst="rect">
            <a:avLst/>
          </a:prstGeom>
        </p:spPr>
      </p:pic>
      <p:pic>
        <p:nvPicPr>
          <p:cNvPr id="19" name="Picture 18">
            <a:extLst>
              <a:ext uri="{FF2B5EF4-FFF2-40B4-BE49-F238E27FC236}">
                <a16:creationId xmlns:a16="http://schemas.microsoft.com/office/drawing/2014/main" id="{997057AB-9744-1380-986E-480DC38299A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172260" y="1760615"/>
            <a:ext cx="1741122" cy="1741122"/>
          </a:xfrm>
          <a:prstGeom prst="rect">
            <a:avLst/>
          </a:prstGeom>
        </p:spPr>
      </p:pic>
      <p:grpSp>
        <p:nvGrpSpPr>
          <p:cNvPr id="20" name="Group 19">
            <a:extLst>
              <a:ext uri="{FF2B5EF4-FFF2-40B4-BE49-F238E27FC236}">
                <a16:creationId xmlns:a16="http://schemas.microsoft.com/office/drawing/2014/main" id="{E73C4A17-4833-116C-EC1E-F487CF3D2A67}"/>
              </a:ext>
            </a:extLst>
          </p:cNvPr>
          <p:cNvGrpSpPr/>
          <p:nvPr/>
        </p:nvGrpSpPr>
        <p:grpSpPr>
          <a:xfrm>
            <a:off x="5058909" y="3861349"/>
            <a:ext cx="780313" cy="786616"/>
            <a:chOff x="7310061" y="1551628"/>
            <a:chExt cx="1324412" cy="1345477"/>
          </a:xfrm>
        </p:grpSpPr>
        <p:pic>
          <p:nvPicPr>
            <p:cNvPr id="53" name="Picture 52">
              <a:extLst>
                <a:ext uri="{FF2B5EF4-FFF2-40B4-BE49-F238E27FC236}">
                  <a16:creationId xmlns:a16="http://schemas.microsoft.com/office/drawing/2014/main" id="{5A18F21F-82B9-D011-85C8-74BD9266C38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310061" y="1551628"/>
              <a:ext cx="1324412" cy="1324412"/>
            </a:xfrm>
            <a:prstGeom prst="rect">
              <a:avLst/>
            </a:prstGeom>
          </p:spPr>
        </p:pic>
        <p:grpSp>
          <p:nvGrpSpPr>
            <p:cNvPr id="54" name="Group 53">
              <a:extLst>
                <a:ext uri="{FF2B5EF4-FFF2-40B4-BE49-F238E27FC236}">
                  <a16:creationId xmlns:a16="http://schemas.microsoft.com/office/drawing/2014/main" id="{CA4EEACF-E813-0380-D6C8-C27FFFE781BC}"/>
                </a:ext>
              </a:extLst>
            </p:cNvPr>
            <p:cNvGrpSpPr/>
            <p:nvPr/>
          </p:nvGrpSpPr>
          <p:grpSpPr>
            <a:xfrm>
              <a:off x="7809727" y="2159013"/>
              <a:ext cx="738092" cy="738092"/>
              <a:chOff x="7775789" y="3169376"/>
              <a:chExt cx="738092" cy="738092"/>
            </a:xfrm>
          </p:grpSpPr>
          <p:sp>
            <p:nvSpPr>
              <p:cNvPr id="55" name="Oval 54">
                <a:extLst>
                  <a:ext uri="{FF2B5EF4-FFF2-40B4-BE49-F238E27FC236}">
                    <a16:creationId xmlns:a16="http://schemas.microsoft.com/office/drawing/2014/main" id="{279434F3-2A38-CC6B-FE4E-5DF2C84EA4C4}"/>
                  </a:ext>
                </a:extLst>
              </p:cNvPr>
              <p:cNvSpPr/>
              <p:nvPr/>
            </p:nvSpPr>
            <p:spPr>
              <a:xfrm>
                <a:off x="7859997" y="3253584"/>
                <a:ext cx="569676" cy="56967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6" name="Picture 55">
                <a:extLst>
                  <a:ext uri="{FF2B5EF4-FFF2-40B4-BE49-F238E27FC236}">
                    <a16:creationId xmlns:a16="http://schemas.microsoft.com/office/drawing/2014/main" id="{2617DE1C-A860-652F-52D7-C9A2E078949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75789" y="3169376"/>
                <a:ext cx="738092" cy="738092"/>
              </a:xfrm>
              <a:prstGeom prst="rect">
                <a:avLst/>
              </a:prstGeom>
              <a:noFill/>
            </p:spPr>
          </p:pic>
        </p:grpSp>
      </p:grpSp>
      <p:pic>
        <p:nvPicPr>
          <p:cNvPr id="21" name="Picture 20">
            <a:extLst>
              <a:ext uri="{FF2B5EF4-FFF2-40B4-BE49-F238E27FC236}">
                <a16:creationId xmlns:a16="http://schemas.microsoft.com/office/drawing/2014/main" id="{2DECBD75-225F-F120-D6A4-07E17C35A2A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117186" y="5618568"/>
            <a:ext cx="728142" cy="728142"/>
          </a:xfrm>
          <a:prstGeom prst="rect">
            <a:avLst/>
          </a:prstGeom>
        </p:spPr>
      </p:pic>
      <p:pic>
        <p:nvPicPr>
          <p:cNvPr id="22" name="Picture 21">
            <a:extLst>
              <a:ext uri="{FF2B5EF4-FFF2-40B4-BE49-F238E27FC236}">
                <a16:creationId xmlns:a16="http://schemas.microsoft.com/office/drawing/2014/main" id="{065FCEDA-0A9E-B909-FFC5-2B7E6DC8D5F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516702" y="5502762"/>
            <a:ext cx="1059248" cy="1059248"/>
          </a:xfrm>
          <a:prstGeom prst="rect">
            <a:avLst/>
          </a:prstGeom>
        </p:spPr>
      </p:pic>
      <p:sp>
        <p:nvSpPr>
          <p:cNvPr id="23" name="TextBox 57">
            <a:extLst>
              <a:ext uri="{FF2B5EF4-FFF2-40B4-BE49-F238E27FC236}">
                <a16:creationId xmlns:a16="http://schemas.microsoft.com/office/drawing/2014/main" id="{660F1F0D-B838-EA43-83F2-A70165A86BE0}"/>
              </a:ext>
            </a:extLst>
          </p:cNvPr>
          <p:cNvSpPr txBox="1"/>
          <p:nvPr/>
        </p:nvSpPr>
        <p:spPr>
          <a:xfrm>
            <a:off x="278618" y="4227187"/>
            <a:ext cx="163322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Applications to migrate</a:t>
            </a:r>
          </a:p>
        </p:txBody>
      </p:sp>
      <p:pic>
        <p:nvPicPr>
          <p:cNvPr id="24" name="Picture 23">
            <a:extLst>
              <a:ext uri="{FF2B5EF4-FFF2-40B4-BE49-F238E27FC236}">
                <a16:creationId xmlns:a16="http://schemas.microsoft.com/office/drawing/2014/main" id="{4C1A10BC-A39A-032B-C1C3-28A76485A4DB}"/>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188894" y="4844394"/>
            <a:ext cx="658368" cy="658368"/>
          </a:xfrm>
          <a:prstGeom prst="rect">
            <a:avLst/>
          </a:prstGeom>
        </p:spPr>
      </p:pic>
      <p:sp>
        <p:nvSpPr>
          <p:cNvPr id="25" name="TextBox 70">
            <a:extLst>
              <a:ext uri="{FF2B5EF4-FFF2-40B4-BE49-F238E27FC236}">
                <a16:creationId xmlns:a16="http://schemas.microsoft.com/office/drawing/2014/main" id="{660F1F0D-B838-EA43-83F2-A70165A86BE0}"/>
              </a:ext>
            </a:extLst>
          </p:cNvPr>
          <p:cNvSpPr txBox="1"/>
          <p:nvPr/>
        </p:nvSpPr>
        <p:spPr>
          <a:xfrm>
            <a:off x="5905238" y="1616844"/>
            <a:ext cx="1633220"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Rehost</a:t>
            </a:r>
          </a:p>
        </p:txBody>
      </p:sp>
      <p:sp>
        <p:nvSpPr>
          <p:cNvPr id="26" name="TextBox 71">
            <a:extLst>
              <a:ext uri="{FF2B5EF4-FFF2-40B4-BE49-F238E27FC236}">
                <a16:creationId xmlns:a16="http://schemas.microsoft.com/office/drawing/2014/main" id="{660F1F0D-B838-EA43-83F2-A70165A86BE0}"/>
              </a:ext>
            </a:extLst>
          </p:cNvPr>
          <p:cNvSpPr txBox="1"/>
          <p:nvPr/>
        </p:nvSpPr>
        <p:spPr>
          <a:xfrm>
            <a:off x="5905238" y="2435245"/>
            <a:ext cx="1633220"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Replatform</a:t>
            </a:r>
          </a:p>
        </p:txBody>
      </p:sp>
      <p:sp>
        <p:nvSpPr>
          <p:cNvPr id="27" name="TextBox 72">
            <a:extLst>
              <a:ext uri="{FF2B5EF4-FFF2-40B4-BE49-F238E27FC236}">
                <a16:creationId xmlns:a16="http://schemas.microsoft.com/office/drawing/2014/main" id="{660F1F0D-B838-EA43-83F2-A70165A86BE0}"/>
              </a:ext>
            </a:extLst>
          </p:cNvPr>
          <p:cNvSpPr txBox="1"/>
          <p:nvPr/>
        </p:nvSpPr>
        <p:spPr>
          <a:xfrm>
            <a:off x="5905238" y="3253646"/>
            <a:ext cx="2770116"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Refactor/Rearchitect</a:t>
            </a:r>
          </a:p>
        </p:txBody>
      </p:sp>
      <p:sp>
        <p:nvSpPr>
          <p:cNvPr id="28" name="TextBox 73">
            <a:extLst>
              <a:ext uri="{FF2B5EF4-FFF2-40B4-BE49-F238E27FC236}">
                <a16:creationId xmlns:a16="http://schemas.microsoft.com/office/drawing/2014/main" id="{660F1F0D-B838-EA43-83F2-A70165A86BE0}"/>
              </a:ext>
            </a:extLst>
          </p:cNvPr>
          <p:cNvSpPr txBox="1"/>
          <p:nvPr/>
        </p:nvSpPr>
        <p:spPr>
          <a:xfrm>
            <a:off x="5905238" y="4072047"/>
            <a:ext cx="2159016"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Repurchase</a:t>
            </a:r>
          </a:p>
        </p:txBody>
      </p:sp>
      <p:sp>
        <p:nvSpPr>
          <p:cNvPr id="29" name="TextBox 74">
            <a:extLst>
              <a:ext uri="{FF2B5EF4-FFF2-40B4-BE49-F238E27FC236}">
                <a16:creationId xmlns:a16="http://schemas.microsoft.com/office/drawing/2014/main" id="{660F1F0D-B838-EA43-83F2-A70165A86BE0}"/>
              </a:ext>
            </a:extLst>
          </p:cNvPr>
          <p:cNvSpPr txBox="1"/>
          <p:nvPr/>
        </p:nvSpPr>
        <p:spPr>
          <a:xfrm>
            <a:off x="5905238" y="4977536"/>
            <a:ext cx="1020272"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Retain</a:t>
            </a:r>
          </a:p>
        </p:txBody>
      </p:sp>
      <p:sp>
        <p:nvSpPr>
          <p:cNvPr id="30" name="TextBox 75">
            <a:extLst>
              <a:ext uri="{FF2B5EF4-FFF2-40B4-BE49-F238E27FC236}">
                <a16:creationId xmlns:a16="http://schemas.microsoft.com/office/drawing/2014/main" id="{660F1F0D-B838-EA43-83F2-A70165A86BE0}"/>
              </a:ext>
            </a:extLst>
          </p:cNvPr>
          <p:cNvSpPr txBox="1"/>
          <p:nvPr/>
        </p:nvSpPr>
        <p:spPr>
          <a:xfrm>
            <a:off x="5905238" y="5795939"/>
            <a:ext cx="1020272"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Retire</a:t>
            </a:r>
          </a:p>
        </p:txBody>
      </p:sp>
      <p:pic>
        <p:nvPicPr>
          <p:cNvPr id="31" name="Picture 30">
            <a:extLst>
              <a:ext uri="{FF2B5EF4-FFF2-40B4-BE49-F238E27FC236}">
                <a16:creationId xmlns:a16="http://schemas.microsoft.com/office/drawing/2014/main" id="{7F28745C-AF46-B3FD-816C-D0AF29AC0D2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316102" y="3379088"/>
            <a:ext cx="969211" cy="969211"/>
          </a:xfrm>
          <a:prstGeom prst="rect">
            <a:avLst/>
          </a:prstGeom>
        </p:spPr>
      </p:pic>
      <p:sp>
        <p:nvSpPr>
          <p:cNvPr id="32" name="TextBox 118">
            <a:extLst>
              <a:ext uri="{FF2B5EF4-FFF2-40B4-BE49-F238E27FC236}">
                <a16:creationId xmlns:a16="http://schemas.microsoft.com/office/drawing/2014/main" id="{660F1F0D-B838-EA43-83F2-A70165A86BE0}"/>
              </a:ext>
            </a:extLst>
          </p:cNvPr>
          <p:cNvSpPr txBox="1"/>
          <p:nvPr/>
        </p:nvSpPr>
        <p:spPr>
          <a:xfrm>
            <a:off x="1936634" y="4227926"/>
            <a:ext cx="163322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Discovery phase</a:t>
            </a:r>
          </a:p>
        </p:txBody>
      </p:sp>
      <p:cxnSp>
        <p:nvCxnSpPr>
          <p:cNvPr id="33" name="Straight Arrow Connector 32">
            <a:extLst>
              <a:ext uri="{FF2B5EF4-FFF2-40B4-BE49-F238E27FC236}">
                <a16:creationId xmlns:a16="http://schemas.microsoft.com/office/drawing/2014/main" id="{5D62CC9A-72DE-F2F3-9F45-79DBE57CD4CA}"/>
              </a:ext>
            </a:extLst>
          </p:cNvPr>
          <p:cNvCxnSpPr/>
          <p:nvPr/>
        </p:nvCxnSpPr>
        <p:spPr>
          <a:xfrm>
            <a:off x="6863784" y="1816899"/>
            <a:ext cx="3103488" cy="40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7CADB7D-F2C4-AFA7-3284-F5063123D8F5}"/>
              </a:ext>
            </a:extLst>
          </p:cNvPr>
          <p:cNvCxnSpPr/>
          <p:nvPr/>
        </p:nvCxnSpPr>
        <p:spPr>
          <a:xfrm flipV="1">
            <a:off x="7440608" y="2629656"/>
            <a:ext cx="2405861" cy="23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35AB597-0C07-1E2F-8A37-54F6DA5D0694}"/>
              </a:ext>
            </a:extLst>
          </p:cNvPr>
          <p:cNvCxnSpPr/>
          <p:nvPr/>
        </p:nvCxnSpPr>
        <p:spPr>
          <a:xfrm flipV="1">
            <a:off x="8471743" y="3036471"/>
            <a:ext cx="1374726" cy="367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78F5E7A-7A9F-9CCB-349D-E8F46C2C0855}"/>
              </a:ext>
            </a:extLst>
          </p:cNvPr>
          <p:cNvCxnSpPr/>
          <p:nvPr/>
        </p:nvCxnSpPr>
        <p:spPr>
          <a:xfrm flipV="1">
            <a:off x="7385393" y="3345508"/>
            <a:ext cx="2812144" cy="938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19A5EB2-3C26-2759-7A71-C791956C80AC}"/>
              </a:ext>
            </a:extLst>
          </p:cNvPr>
          <p:cNvCxnSpPr>
            <a:stCxn id="29" idx="3"/>
          </p:cNvCxnSpPr>
          <p:nvPr/>
        </p:nvCxnSpPr>
        <p:spPr>
          <a:xfrm>
            <a:off x="6925510" y="5177591"/>
            <a:ext cx="3355267"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6EDBBC8-8DFB-E808-5172-B29235D625E9}"/>
              </a:ext>
            </a:extLst>
          </p:cNvPr>
          <p:cNvCxnSpPr>
            <a:stCxn id="30" idx="3"/>
          </p:cNvCxnSpPr>
          <p:nvPr/>
        </p:nvCxnSpPr>
        <p:spPr>
          <a:xfrm flipV="1">
            <a:off x="6925510" y="5994714"/>
            <a:ext cx="3355267" cy="1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32DBDCD6-DBD0-FCBC-DC19-CD01212B4628}"/>
              </a:ext>
            </a:extLst>
          </p:cNvPr>
          <p:cNvSpPr/>
          <p:nvPr/>
        </p:nvSpPr>
        <p:spPr>
          <a:xfrm>
            <a:off x="4904353" y="1728610"/>
            <a:ext cx="150214" cy="150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40" name="Straight Connector 39">
            <a:extLst>
              <a:ext uri="{FF2B5EF4-FFF2-40B4-BE49-F238E27FC236}">
                <a16:creationId xmlns:a16="http://schemas.microsoft.com/office/drawing/2014/main" id="{8CBF9085-A06E-37C6-9D7A-3B3C52E74832}"/>
              </a:ext>
            </a:extLst>
          </p:cNvPr>
          <p:cNvCxnSpPr>
            <a:stCxn id="31" idx="3"/>
            <a:endCxn id="39" idx="3"/>
          </p:cNvCxnSpPr>
          <p:nvPr/>
        </p:nvCxnSpPr>
        <p:spPr>
          <a:xfrm flipV="1">
            <a:off x="3285313" y="1856826"/>
            <a:ext cx="1641038" cy="2006868"/>
          </a:xfrm>
          <a:prstGeom prst="line">
            <a:avLst/>
          </a:prstGeom>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236D070-36E4-E9F9-E0B3-3967EC698D3D}"/>
              </a:ext>
            </a:extLst>
          </p:cNvPr>
          <p:cNvSpPr/>
          <p:nvPr/>
        </p:nvSpPr>
        <p:spPr>
          <a:xfrm>
            <a:off x="4904353" y="2555922"/>
            <a:ext cx="150214" cy="150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Oval 41">
            <a:extLst>
              <a:ext uri="{FF2B5EF4-FFF2-40B4-BE49-F238E27FC236}">
                <a16:creationId xmlns:a16="http://schemas.microsoft.com/office/drawing/2014/main" id="{D7593210-477B-891C-5A9C-483FE496BA63}"/>
              </a:ext>
            </a:extLst>
          </p:cNvPr>
          <p:cNvSpPr/>
          <p:nvPr/>
        </p:nvSpPr>
        <p:spPr>
          <a:xfrm>
            <a:off x="4904353" y="3328808"/>
            <a:ext cx="150214" cy="150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Oval 42">
            <a:extLst>
              <a:ext uri="{FF2B5EF4-FFF2-40B4-BE49-F238E27FC236}">
                <a16:creationId xmlns:a16="http://schemas.microsoft.com/office/drawing/2014/main" id="{C7F63555-47AC-1350-2524-486D95DE0E73}"/>
              </a:ext>
            </a:extLst>
          </p:cNvPr>
          <p:cNvSpPr/>
          <p:nvPr/>
        </p:nvSpPr>
        <p:spPr>
          <a:xfrm>
            <a:off x="4904353" y="4188782"/>
            <a:ext cx="150214" cy="150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Oval 43">
            <a:extLst>
              <a:ext uri="{FF2B5EF4-FFF2-40B4-BE49-F238E27FC236}">
                <a16:creationId xmlns:a16="http://schemas.microsoft.com/office/drawing/2014/main" id="{D9A6927E-176C-6AC1-9295-4F2437CA10EF}"/>
              </a:ext>
            </a:extLst>
          </p:cNvPr>
          <p:cNvSpPr/>
          <p:nvPr/>
        </p:nvSpPr>
        <p:spPr>
          <a:xfrm>
            <a:off x="4904353" y="4972547"/>
            <a:ext cx="150214" cy="150214"/>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Oval 44">
            <a:extLst>
              <a:ext uri="{FF2B5EF4-FFF2-40B4-BE49-F238E27FC236}">
                <a16:creationId xmlns:a16="http://schemas.microsoft.com/office/drawing/2014/main" id="{9A5EB5CB-FBFE-380E-287C-DD9F3BCA5878}"/>
              </a:ext>
            </a:extLst>
          </p:cNvPr>
          <p:cNvSpPr/>
          <p:nvPr/>
        </p:nvSpPr>
        <p:spPr>
          <a:xfrm>
            <a:off x="4904353" y="5832519"/>
            <a:ext cx="150214" cy="150214"/>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46" name="Straight Connector 45">
            <a:extLst>
              <a:ext uri="{FF2B5EF4-FFF2-40B4-BE49-F238E27FC236}">
                <a16:creationId xmlns:a16="http://schemas.microsoft.com/office/drawing/2014/main" id="{E2F1ECC7-218B-7035-5564-6FFA042AE255}"/>
              </a:ext>
            </a:extLst>
          </p:cNvPr>
          <p:cNvCxnSpPr>
            <a:stCxn id="31" idx="3"/>
            <a:endCxn id="41" idx="3"/>
          </p:cNvCxnSpPr>
          <p:nvPr/>
        </p:nvCxnSpPr>
        <p:spPr>
          <a:xfrm flipV="1">
            <a:off x="3285313" y="2684138"/>
            <a:ext cx="1641038" cy="1179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F4DC9EB-3D94-78D5-9C8F-D67CF98570B6}"/>
              </a:ext>
            </a:extLst>
          </p:cNvPr>
          <p:cNvCxnSpPr>
            <a:stCxn id="31" idx="3"/>
            <a:endCxn id="42" idx="2"/>
          </p:cNvCxnSpPr>
          <p:nvPr/>
        </p:nvCxnSpPr>
        <p:spPr>
          <a:xfrm flipV="1">
            <a:off x="3285313" y="3403915"/>
            <a:ext cx="1619040" cy="45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48B3EE7-3F8E-F0D2-3701-2EAEC7856268}"/>
              </a:ext>
            </a:extLst>
          </p:cNvPr>
          <p:cNvCxnSpPr>
            <a:stCxn id="31" idx="3"/>
            <a:endCxn id="43" idx="2"/>
          </p:cNvCxnSpPr>
          <p:nvPr/>
        </p:nvCxnSpPr>
        <p:spPr>
          <a:xfrm>
            <a:off x="3285313" y="3863694"/>
            <a:ext cx="1619040" cy="400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A1B2C6-B6C5-4182-7B99-D0EE1CAD2B84}"/>
              </a:ext>
            </a:extLst>
          </p:cNvPr>
          <p:cNvCxnSpPr>
            <a:stCxn id="31" idx="3"/>
            <a:endCxn id="44" idx="2"/>
          </p:cNvCxnSpPr>
          <p:nvPr/>
        </p:nvCxnSpPr>
        <p:spPr>
          <a:xfrm>
            <a:off x="3285313" y="3863694"/>
            <a:ext cx="1619040" cy="1183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A0E4C9C-A5F3-7DB8-46CD-6FC8EB8BAE93}"/>
              </a:ext>
            </a:extLst>
          </p:cNvPr>
          <p:cNvCxnSpPr>
            <a:stCxn id="31" idx="3"/>
            <a:endCxn id="45" idx="1"/>
          </p:cNvCxnSpPr>
          <p:nvPr/>
        </p:nvCxnSpPr>
        <p:spPr>
          <a:xfrm>
            <a:off x="3285313" y="3863694"/>
            <a:ext cx="1641038" cy="19908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749BAFF-EF05-EEB0-E897-E7361016F871}"/>
              </a:ext>
            </a:extLst>
          </p:cNvPr>
          <p:cNvCxnSpPr/>
          <p:nvPr/>
        </p:nvCxnSpPr>
        <p:spPr>
          <a:xfrm flipV="1">
            <a:off x="4980779" y="4631392"/>
            <a:ext cx="6792460" cy="49231"/>
          </a:xfrm>
          <a:prstGeom prst="line">
            <a:avLst/>
          </a:prstGeom>
          <a:ln>
            <a:solidFill>
              <a:schemeClr val="bg1">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E1D1B20-DE92-1B84-4612-6C41E6233EEC}"/>
              </a:ext>
            </a:extLst>
          </p:cNvPr>
          <p:cNvCxnSpPr>
            <a:endCxn id="31" idx="1"/>
          </p:cNvCxnSpPr>
          <p:nvPr/>
        </p:nvCxnSpPr>
        <p:spPr>
          <a:xfrm flipV="1">
            <a:off x="1443790" y="3863694"/>
            <a:ext cx="872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212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AWS Snow Family</a:t>
            </a:r>
          </a:p>
          <a:p>
            <a:pPr marL="0" marR="0" lvl="0" indent="0" algn="ctr" rtl="0">
              <a:spcBef>
                <a:spcPts val="0"/>
              </a:spcBef>
              <a:spcAft>
                <a:spcPts val="0"/>
              </a:spcAft>
              <a:buNone/>
            </a:pPr>
            <a:endParaRPr lang="en-US" sz="320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4085047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CB9B4E19-5477-8443-9573-38E612D5BB31}"/>
              </a:ext>
            </a:extLst>
          </p:cNvPr>
          <p:cNvSpPr>
            <a:spLocks noGrp="1"/>
          </p:cNvSpPr>
          <p:nvPr/>
        </p:nvSpPr>
        <p:spPr>
          <a:xfrm>
            <a:off x="421560" y="509629"/>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AWS Snow Family</a:t>
            </a:r>
          </a:p>
        </p:txBody>
      </p:sp>
      <p:sp>
        <p:nvSpPr>
          <p:cNvPr id="10" name="Freeform 8">
            <a:extLst>
              <a:ext uri="{FF2B5EF4-FFF2-40B4-BE49-F238E27FC236}">
                <a16:creationId xmlns:a16="http://schemas.microsoft.com/office/drawing/2014/main" id="{5DCC10CF-FAC0-BE7A-AA41-B22ECE2739BC}"/>
              </a:ext>
            </a:extLst>
          </p:cNvPr>
          <p:cNvSpPr/>
          <p:nvPr/>
        </p:nvSpPr>
        <p:spPr>
          <a:xfrm>
            <a:off x="434199" y="1626728"/>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ln/>
        </p:spPr>
        <p:style>
          <a:lnRef idx="0">
            <a:schemeClr val="dk1"/>
          </a:lnRef>
          <a:fillRef idx="3">
            <a:schemeClr val="dk1"/>
          </a:fillRef>
          <a:effectRef idx="3">
            <a:schemeClr val="dk1"/>
          </a:effectRef>
          <a:fontRef idx="minor">
            <a:schemeClr val="lt1"/>
          </a:fontRef>
        </p:style>
        <p:txBody>
          <a:bodyPr spcFirstLastPara="0" vert="horz" wrap="square" lIns="295025" tIns="197489" rIns="295025" bIns="130048"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1422400">
              <a:lnSpc>
                <a:spcPct val="90000"/>
              </a:lnSpc>
              <a:spcBef>
                <a:spcPct val="0"/>
              </a:spcBef>
              <a:spcAft>
                <a:spcPct val="35000"/>
              </a:spcAft>
            </a:pPr>
            <a:r>
              <a:rPr lang="en-US" sz="2800" kern="1200">
                <a:latin typeface="Amazon Ember" panose="020B0603020204020204" pitchFamily="34" charset="0"/>
                <a:ea typeface="Amazon Ember" panose="020B0603020204020204" pitchFamily="34" charset="0"/>
                <a:cs typeface="Amazon Ember" panose="020B0603020204020204" pitchFamily="34" charset="0"/>
              </a:rPr>
              <a:t>AWS Snowcone</a:t>
            </a:r>
          </a:p>
        </p:txBody>
      </p:sp>
      <p:sp>
        <p:nvSpPr>
          <p:cNvPr id="13" name="Freeform 10">
            <a:extLst>
              <a:ext uri="{FF2B5EF4-FFF2-40B4-BE49-F238E27FC236}">
                <a16:creationId xmlns:a16="http://schemas.microsoft.com/office/drawing/2014/main" id="{D4F17619-E183-9E49-F672-ABAD6F29DAE7}"/>
              </a:ext>
            </a:extLst>
          </p:cNvPr>
          <p:cNvSpPr/>
          <p:nvPr/>
        </p:nvSpPr>
        <p:spPr>
          <a:xfrm>
            <a:off x="4379270" y="1626728"/>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ln/>
        </p:spPr>
        <p:style>
          <a:lnRef idx="0">
            <a:schemeClr val="accent5"/>
          </a:lnRef>
          <a:fillRef idx="3">
            <a:schemeClr val="accent5"/>
          </a:fillRef>
          <a:effectRef idx="3">
            <a:schemeClr val="accent5"/>
          </a:effectRef>
          <a:fontRef idx="minor">
            <a:schemeClr val="lt1"/>
          </a:fontRef>
        </p:style>
        <p:txBody>
          <a:bodyPr spcFirstLastPara="0" vert="horz" wrap="square" lIns="295025" tIns="197489" rIns="295025" bIns="130048"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1422400">
              <a:lnSpc>
                <a:spcPct val="90000"/>
              </a:lnSpc>
              <a:spcBef>
                <a:spcPct val="0"/>
              </a:spcBef>
              <a:spcAft>
                <a:spcPct val="35000"/>
              </a:spcAft>
            </a:pPr>
            <a:r>
              <a:rPr lang="en-US" sz="2800" kern="1200">
                <a:latin typeface="Amazon Ember" panose="020B0603020204020204" pitchFamily="34" charset="0"/>
                <a:ea typeface="Amazon Ember" panose="020B0603020204020204" pitchFamily="34" charset="0"/>
                <a:cs typeface="Amazon Ember" panose="020B0603020204020204" pitchFamily="34" charset="0"/>
              </a:rPr>
              <a:t>AWS Snowball devices</a:t>
            </a:r>
          </a:p>
        </p:txBody>
      </p:sp>
      <p:sp>
        <p:nvSpPr>
          <p:cNvPr id="14" name="Freeform 12">
            <a:extLst>
              <a:ext uri="{FF2B5EF4-FFF2-40B4-BE49-F238E27FC236}">
                <a16:creationId xmlns:a16="http://schemas.microsoft.com/office/drawing/2014/main" id="{C9C88247-8AEC-36F8-2F6C-D2FAAFC3B044}"/>
              </a:ext>
            </a:extLst>
          </p:cNvPr>
          <p:cNvSpPr/>
          <p:nvPr/>
        </p:nvSpPr>
        <p:spPr>
          <a:xfrm>
            <a:off x="8316622" y="1626728"/>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gradFill>
            <a:gsLst>
              <a:gs pos="0">
                <a:schemeClr val="accent6">
                  <a:lumMod val="75000"/>
                </a:schemeClr>
              </a:gs>
              <a:gs pos="50000">
                <a:schemeClr val="accent6">
                  <a:lumMod val="50000"/>
                </a:schemeClr>
              </a:gs>
              <a:gs pos="100000">
                <a:schemeClr val="accent6">
                  <a:lumMod val="50000"/>
                </a:schemeClr>
              </a:gs>
            </a:gsLst>
          </a:gradFill>
          <a:ln/>
        </p:spPr>
        <p:style>
          <a:lnRef idx="0">
            <a:schemeClr val="accent3"/>
          </a:lnRef>
          <a:fillRef idx="3">
            <a:schemeClr val="accent3"/>
          </a:fillRef>
          <a:effectRef idx="3">
            <a:schemeClr val="accent3"/>
          </a:effectRef>
          <a:fontRef idx="minor">
            <a:schemeClr val="lt1"/>
          </a:fontRef>
        </p:style>
        <p:txBody>
          <a:bodyPr spcFirstLastPara="0" vert="horz" wrap="square" lIns="295025" tIns="197489" rIns="295025" bIns="130048"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1422400">
              <a:lnSpc>
                <a:spcPct val="90000"/>
              </a:lnSpc>
              <a:spcBef>
                <a:spcPct val="0"/>
              </a:spcBef>
              <a:spcAft>
                <a:spcPct val="35000"/>
              </a:spcAft>
            </a:pPr>
            <a:r>
              <a:rPr lang="en-US" sz="2800" kern="1200">
                <a:latin typeface="Amazon Ember" panose="020B0603020204020204" pitchFamily="34" charset="0"/>
                <a:ea typeface="Amazon Ember" panose="020B0603020204020204" pitchFamily="34" charset="0"/>
                <a:cs typeface="Amazon Ember" panose="020B0603020204020204" pitchFamily="34" charset="0"/>
              </a:rPr>
              <a:t>AWS Snowmobile</a:t>
            </a:r>
          </a:p>
        </p:txBody>
      </p:sp>
      <p:grpSp>
        <p:nvGrpSpPr>
          <p:cNvPr id="15" name="Group 14">
            <a:extLst>
              <a:ext uri="{FF2B5EF4-FFF2-40B4-BE49-F238E27FC236}">
                <a16:creationId xmlns:a16="http://schemas.microsoft.com/office/drawing/2014/main" id="{5C3E5AA5-2D22-783E-4FAB-EF2457B45756}"/>
              </a:ext>
            </a:extLst>
          </p:cNvPr>
          <p:cNvGrpSpPr/>
          <p:nvPr/>
        </p:nvGrpSpPr>
        <p:grpSpPr>
          <a:xfrm>
            <a:off x="422923" y="3018869"/>
            <a:ext cx="3469255" cy="3329501"/>
            <a:chOff x="420463" y="2874365"/>
            <a:chExt cx="3469255" cy="3329501"/>
          </a:xfrm>
        </p:grpSpPr>
        <p:sp>
          <p:nvSpPr>
            <p:cNvPr id="22" name="Freeform 9">
              <a:extLst>
                <a:ext uri="{FF2B5EF4-FFF2-40B4-BE49-F238E27FC236}">
                  <a16:creationId xmlns:a16="http://schemas.microsoft.com/office/drawing/2014/main" id="{B472DB5F-7C44-99C1-0BA2-BEF0A5D5FD0D}"/>
                </a:ext>
              </a:extLst>
            </p:cNvPr>
            <p:cNvSpPr/>
            <p:nvPr/>
          </p:nvSpPr>
          <p:spPr>
            <a:xfrm rot="10800000">
              <a:off x="420463" y="2874365"/>
              <a:ext cx="3469255" cy="3289882"/>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285750" lvl="1" indent="-285750" algn="l" defTabSz="2266950">
                <a:lnSpc>
                  <a:spcPct val="90000"/>
                </a:lnSpc>
                <a:spcBef>
                  <a:spcPct val="0"/>
                </a:spcBef>
                <a:spcAft>
                  <a:spcPts val="600"/>
                </a:spcAft>
                <a:buChar char="••"/>
              </a:pPr>
              <a:endParaRPr lang="en-US" sz="2400" kern="1200"/>
            </a:p>
            <a:p>
              <a:pPr marL="285750" lvl="1" indent="-285750" algn="l" defTabSz="2266950">
                <a:lnSpc>
                  <a:spcPct val="90000"/>
                </a:lnSpc>
                <a:spcBef>
                  <a:spcPct val="0"/>
                </a:spcBef>
                <a:spcAft>
                  <a:spcPts val="600"/>
                </a:spcAft>
                <a:buChar char="••"/>
              </a:pPr>
              <a:endParaRPr lang="en-US" sz="2400" kern="1200"/>
            </a:p>
            <a:p>
              <a:pPr marL="285750" lvl="1" indent="-285750" algn="l" defTabSz="2266950">
                <a:lnSpc>
                  <a:spcPct val="90000"/>
                </a:lnSpc>
                <a:spcBef>
                  <a:spcPct val="0"/>
                </a:spcBef>
                <a:spcAft>
                  <a:spcPts val="600"/>
                </a:spcAft>
                <a:buChar char="••"/>
              </a:pPr>
              <a:endParaRPr lang="en-US" sz="2400" kern="1200"/>
            </a:p>
          </p:txBody>
        </p:sp>
        <p:sp>
          <p:nvSpPr>
            <p:cNvPr id="23" name="TextBox 5">
              <a:extLst>
                <a:ext uri="{FF2B5EF4-FFF2-40B4-BE49-F238E27FC236}">
                  <a16:creationId xmlns:a16="http://schemas.microsoft.com/office/drawing/2014/main" id="{A0452BB7-1453-3841-BBE7-D8E6E3B34AE6}"/>
                </a:ext>
              </a:extLst>
            </p:cNvPr>
            <p:cNvSpPr txBox="1"/>
            <p:nvPr/>
          </p:nvSpPr>
          <p:spPr>
            <a:xfrm>
              <a:off x="599975" y="3002990"/>
              <a:ext cx="2956020" cy="320087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Aft>
                  <a:spcPts val="600"/>
                </a:spcAft>
                <a:buFont typeface="Arial" panose="020B0604020202020204" pitchFamily="34" charset="0"/>
                <a:buChar char="•"/>
              </a:pPr>
              <a:r>
                <a:rPr lang="en-US" sz="2400"/>
                <a:t>A compact, sturdy and safe edge computing and data transmission apparatus</a:t>
              </a:r>
            </a:p>
            <a:p>
              <a:pPr marL="285750" indent="-285750">
                <a:spcAft>
                  <a:spcPts val="600"/>
                </a:spcAft>
                <a:buFont typeface="Arial" panose="020B0604020202020204" pitchFamily="34" charset="0"/>
                <a:buChar char="•"/>
              </a:pPr>
              <a:r>
                <a:rPr lang="en-US" sz="2400"/>
                <a:t>Features 8 TB of usable storage</a:t>
              </a:r>
            </a:p>
            <a:p>
              <a:pPr>
                <a:spcAft>
                  <a:spcPts val="600"/>
                </a:spcAft>
              </a:pP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16" name="Group 15">
            <a:extLst>
              <a:ext uri="{FF2B5EF4-FFF2-40B4-BE49-F238E27FC236}">
                <a16:creationId xmlns:a16="http://schemas.microsoft.com/office/drawing/2014/main" id="{3CBD2243-27A4-2042-EAD5-BF2925B4F2A7}"/>
              </a:ext>
            </a:extLst>
          </p:cNvPr>
          <p:cNvGrpSpPr/>
          <p:nvPr/>
        </p:nvGrpSpPr>
        <p:grpSpPr>
          <a:xfrm>
            <a:off x="4379270" y="3008254"/>
            <a:ext cx="3453817" cy="3289883"/>
            <a:chOff x="4376810" y="2863750"/>
            <a:chExt cx="3453817" cy="3289883"/>
          </a:xfrm>
        </p:grpSpPr>
        <p:sp>
          <p:nvSpPr>
            <p:cNvPr id="20" name="Freeform 11">
              <a:extLst>
                <a:ext uri="{FF2B5EF4-FFF2-40B4-BE49-F238E27FC236}">
                  <a16:creationId xmlns:a16="http://schemas.microsoft.com/office/drawing/2014/main" id="{365B2B19-3971-FDED-84CC-EBF831D6F47E}"/>
                </a:ext>
              </a:extLst>
            </p:cNvPr>
            <p:cNvSpPr/>
            <p:nvPr/>
          </p:nvSpPr>
          <p:spPr>
            <a:xfrm rot="10800000">
              <a:off x="4376810" y="2863750"/>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228600" lvl="1" indent="-228600" algn="l" defTabSz="1066800">
                <a:lnSpc>
                  <a:spcPct val="90000"/>
                </a:lnSpc>
                <a:spcBef>
                  <a:spcPct val="0"/>
                </a:spcBef>
                <a:spcAft>
                  <a:spcPts val="600"/>
                </a:spcAft>
                <a:buChar char="••"/>
              </a:pPr>
              <a:endParaRPr lang="en-US" sz="2400" kern="1200"/>
            </a:p>
          </p:txBody>
        </p:sp>
        <p:sp>
          <p:nvSpPr>
            <p:cNvPr id="21" name="TextBox 6">
              <a:extLst>
                <a:ext uri="{FF2B5EF4-FFF2-40B4-BE49-F238E27FC236}">
                  <a16:creationId xmlns:a16="http://schemas.microsoft.com/office/drawing/2014/main" id="{61147582-EF8A-B14A-847B-CD18AA68A59C}"/>
                </a:ext>
              </a:extLst>
            </p:cNvPr>
            <p:cNvSpPr txBox="1"/>
            <p:nvPr/>
          </p:nvSpPr>
          <p:spPr>
            <a:xfrm>
              <a:off x="4458210" y="3014807"/>
              <a:ext cx="3275580" cy="16466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Font typeface="Arial" panose="020B0604020202020204" pitchFamily="34" charset="0"/>
                <a:buChar char="•"/>
              </a:pPr>
              <a:r>
                <a:rPr lang="en-US" sz="2400"/>
                <a:t>AWS Snowball Edge Storage Optimized</a:t>
              </a:r>
            </a:p>
            <a:p>
              <a:pPr marL="342900" indent="-342900">
                <a:spcAft>
                  <a:spcPts val="600"/>
                </a:spcAft>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AWS Snowball Edge Compute Optimized</a:t>
              </a:r>
            </a:p>
          </p:txBody>
        </p:sp>
      </p:grpSp>
      <p:grpSp>
        <p:nvGrpSpPr>
          <p:cNvPr id="17" name="Group 16">
            <a:extLst>
              <a:ext uri="{FF2B5EF4-FFF2-40B4-BE49-F238E27FC236}">
                <a16:creationId xmlns:a16="http://schemas.microsoft.com/office/drawing/2014/main" id="{F5EC4311-4D9F-359E-BE11-7231BC3889DF}"/>
              </a:ext>
            </a:extLst>
          </p:cNvPr>
          <p:cNvGrpSpPr/>
          <p:nvPr/>
        </p:nvGrpSpPr>
        <p:grpSpPr>
          <a:xfrm>
            <a:off x="8316622" y="3008255"/>
            <a:ext cx="3453817" cy="3289883"/>
            <a:chOff x="8314162" y="2863751"/>
            <a:chExt cx="3453817" cy="3289883"/>
          </a:xfrm>
        </p:grpSpPr>
        <p:sp>
          <p:nvSpPr>
            <p:cNvPr id="18" name="Freeform 13">
              <a:extLst>
                <a:ext uri="{FF2B5EF4-FFF2-40B4-BE49-F238E27FC236}">
                  <a16:creationId xmlns:a16="http://schemas.microsoft.com/office/drawing/2014/main" id="{C7AF8A22-2C42-4BFA-0320-3489C5AC530A}"/>
                </a:ext>
              </a:extLst>
            </p:cNvPr>
            <p:cNvSpPr/>
            <p:nvPr/>
          </p:nvSpPr>
          <p:spPr>
            <a:xfrm rot="10800000">
              <a:off x="8314162" y="2863751"/>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228600" lvl="1" indent="-228600" algn="l" defTabSz="1066800">
                <a:lnSpc>
                  <a:spcPct val="90000"/>
                </a:lnSpc>
                <a:spcBef>
                  <a:spcPct val="0"/>
                </a:spcBef>
                <a:spcAft>
                  <a:spcPts val="600"/>
                </a:spcAft>
                <a:buChar char="••"/>
              </a:pPr>
              <a:endParaRPr lang="en-US" sz="2400" kern="1200"/>
            </a:p>
          </p:txBody>
        </p:sp>
        <p:sp>
          <p:nvSpPr>
            <p:cNvPr id="19" name="TextBox 7">
              <a:extLst>
                <a:ext uri="{FF2B5EF4-FFF2-40B4-BE49-F238E27FC236}">
                  <a16:creationId xmlns:a16="http://schemas.microsoft.com/office/drawing/2014/main" id="{E79CC236-C9E8-F646-A595-D860BBD4853E}"/>
                </a:ext>
              </a:extLst>
            </p:cNvPr>
            <p:cNvSpPr txBox="1"/>
            <p:nvPr/>
          </p:nvSpPr>
          <p:spPr>
            <a:xfrm>
              <a:off x="8513965" y="3005422"/>
              <a:ext cx="3078060" cy="27546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Font typeface="Arial" panose="020B0604020202020204" pitchFamily="34" charset="0"/>
                <a:buChar char="•"/>
              </a:pPr>
              <a:r>
                <a:rPr lang="en-US" sz="2400"/>
                <a:t>AWS data transfer service on an exabyte scale for transferring massive volumes of data</a:t>
              </a:r>
            </a:p>
            <a:p>
              <a:pPr marL="342900" indent="-342900">
                <a:spcAft>
                  <a:spcPts val="600"/>
                </a:spcAft>
                <a:buFont typeface="Arial" panose="020B0604020202020204" pitchFamily="34" charset="0"/>
                <a:buChar char="•"/>
              </a:pPr>
              <a:r>
                <a:rPr lang="en-US" sz="2400"/>
                <a:t>Transfers up to 100 PB of data</a:t>
              </a:r>
            </a:p>
          </p:txBody>
        </p:sp>
      </p:grpSp>
    </p:spTree>
    <p:extLst>
      <p:ext uri="{BB962C8B-B14F-4D97-AF65-F5344CB8AC3E}">
        <p14:creationId xmlns:p14="http://schemas.microsoft.com/office/powerpoint/2010/main" val="2748799460"/>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Innovation With AWS</a:t>
            </a:r>
          </a:p>
          <a:p>
            <a:pPr marL="0" marR="0" lvl="0" indent="0" algn="ctr" rtl="0">
              <a:spcBef>
                <a:spcPts val="0"/>
              </a:spcBef>
              <a:spcAft>
                <a:spcPts val="0"/>
              </a:spcAft>
              <a:buNone/>
            </a:pPr>
            <a:endParaRPr lang="en-US" sz="320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3703198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D75E7542-3727-B54A-8079-E68DE22B9669}"/>
              </a:ext>
            </a:extLst>
          </p:cNvPr>
          <p:cNvSpPr>
            <a:spLocks noGrp="1"/>
          </p:cNvSpPr>
          <p:nvPr/>
        </p:nvSpPr>
        <p:spPr>
          <a:xfrm>
            <a:off x="1578864" y="1567818"/>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Innovation With AWS</a:t>
            </a:r>
          </a:p>
        </p:txBody>
      </p:sp>
      <p:sp>
        <p:nvSpPr>
          <p:cNvPr id="10" name="Text Placeholder 6">
            <a:extLst>
              <a:ext uri="{FF2B5EF4-FFF2-40B4-BE49-F238E27FC236}">
                <a16:creationId xmlns:a16="http://schemas.microsoft.com/office/drawing/2014/main" id="{34EC3B3B-8ED3-AA41-9FC2-23F502DA4C6F}"/>
              </a:ext>
            </a:extLst>
          </p:cNvPr>
          <p:cNvSpPr>
            <a:spLocks noGrp="1"/>
          </p:cNvSpPr>
          <p:nvPr/>
        </p:nvSpPr>
        <p:spPr>
          <a:xfrm>
            <a:off x="1578864" y="1591738"/>
            <a:ext cx="7290238" cy="4729162"/>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dirty="0">
                <a:latin typeface="Amazon Ember Light"/>
              </a:rPr>
              <a:t>Clarifying the following requirements is essential for fostering innovation in the Cloud:</a:t>
            </a:r>
          </a:p>
          <a:p>
            <a:pPr>
              <a:lnSpc>
                <a:spcPct val="100000"/>
              </a:lnSpc>
            </a:pPr>
            <a:r>
              <a:rPr lang="en-US" sz="2400" dirty="0">
                <a:latin typeface="+mn-lt"/>
              </a:rPr>
              <a:t>Desired state</a:t>
            </a:r>
            <a:endParaRPr lang="en-US" sz="2400" dirty="0"/>
          </a:p>
          <a:p>
            <a:pPr>
              <a:lnSpc>
                <a:spcPct val="100000"/>
              </a:lnSpc>
            </a:pPr>
            <a:r>
              <a:rPr lang="en-US" sz="2400" dirty="0">
                <a:latin typeface="+mn-lt"/>
              </a:rPr>
              <a:t>Problems you are trying to solve</a:t>
            </a:r>
          </a:p>
          <a:p>
            <a:pPr>
              <a:lnSpc>
                <a:spcPct val="100000"/>
              </a:lnSpc>
            </a:pPr>
            <a:r>
              <a:rPr lang="en-US" sz="2400" dirty="0"/>
              <a:t>Current state</a:t>
            </a:r>
          </a:p>
        </p:txBody>
      </p:sp>
    </p:spTree>
    <p:extLst>
      <p:ext uri="{BB962C8B-B14F-4D97-AF65-F5344CB8AC3E}">
        <p14:creationId xmlns:p14="http://schemas.microsoft.com/office/powerpoint/2010/main" val="3274777208"/>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D4EE731-7F54-2945-9683-F8C0FF95E617}"/>
              </a:ext>
            </a:extLst>
          </p:cNvPr>
          <p:cNvSpPr>
            <a:spLocks noGrp="1"/>
          </p:cNvSpPr>
          <p:nvPr/>
        </p:nvSpPr>
        <p:spPr>
          <a:xfrm>
            <a:off x="586861" y="768945"/>
            <a:ext cx="9063026"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Innovation Paths</a:t>
            </a:r>
            <a:endParaRPr lang="en-US">
              <a:solidFill>
                <a:schemeClr val="tx1"/>
              </a:solidFill>
            </a:endParaRPr>
          </a:p>
        </p:txBody>
      </p:sp>
      <p:sp>
        <p:nvSpPr>
          <p:cNvPr id="10" name="TextBox 4">
            <a:extLst>
              <a:ext uri="{FF2B5EF4-FFF2-40B4-BE49-F238E27FC236}">
                <a16:creationId xmlns:a16="http://schemas.microsoft.com/office/drawing/2014/main" id="{EED4773F-2BFE-8D4D-89CD-3C7CEEF22D9F}"/>
              </a:ext>
            </a:extLst>
          </p:cNvPr>
          <p:cNvSpPr txBox="1"/>
          <p:nvPr/>
        </p:nvSpPr>
        <p:spPr>
          <a:xfrm>
            <a:off x="922384" y="5258057"/>
            <a:ext cx="29464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Serverless applications</a:t>
            </a:r>
          </a:p>
        </p:txBody>
      </p:sp>
      <p:sp>
        <p:nvSpPr>
          <p:cNvPr id="14" name="TextBox 5">
            <a:extLst>
              <a:ext uri="{FF2B5EF4-FFF2-40B4-BE49-F238E27FC236}">
                <a16:creationId xmlns:a16="http://schemas.microsoft.com/office/drawing/2014/main" id="{7499544A-64C8-AA4B-9178-DB98CB3F84F8}"/>
              </a:ext>
            </a:extLst>
          </p:cNvPr>
          <p:cNvSpPr txBox="1"/>
          <p:nvPr/>
        </p:nvSpPr>
        <p:spPr>
          <a:xfrm>
            <a:off x="4684951" y="5258057"/>
            <a:ext cx="315762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Artificial intelligence (AI)</a:t>
            </a:r>
          </a:p>
        </p:txBody>
      </p:sp>
      <p:sp>
        <p:nvSpPr>
          <p:cNvPr id="15" name="TextBox 6">
            <a:extLst>
              <a:ext uri="{FF2B5EF4-FFF2-40B4-BE49-F238E27FC236}">
                <a16:creationId xmlns:a16="http://schemas.microsoft.com/office/drawing/2014/main" id="{E462A08D-0DA9-DF42-B4EC-4099AE43A95B}"/>
              </a:ext>
            </a:extLst>
          </p:cNvPr>
          <p:cNvSpPr txBox="1"/>
          <p:nvPr/>
        </p:nvSpPr>
        <p:spPr>
          <a:xfrm>
            <a:off x="8658739" y="5258057"/>
            <a:ext cx="29464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Machine learning (ML)</a:t>
            </a:r>
          </a:p>
        </p:txBody>
      </p:sp>
      <p:sp>
        <p:nvSpPr>
          <p:cNvPr id="16" name="TextBox 9">
            <a:extLst>
              <a:ext uri="{FF2B5EF4-FFF2-40B4-BE49-F238E27FC236}">
                <a16:creationId xmlns:a16="http://schemas.microsoft.com/office/drawing/2014/main" id="{3FC7EB6A-6D57-AB41-91F9-33B729EDEA17}"/>
              </a:ext>
            </a:extLst>
          </p:cNvPr>
          <p:cNvSpPr txBox="1"/>
          <p:nvPr/>
        </p:nvSpPr>
        <p:spPr>
          <a:xfrm>
            <a:off x="586861" y="1767758"/>
            <a:ext cx="11018278" cy="138499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latin typeface="Amazon Ember Light"/>
                <a:ea typeface="Amazon Ember Light" panose="020B0403020204020204" pitchFamily="34" charset="0"/>
                <a:cs typeface="Amazon Ember Light" panose="020B0403020204020204" pitchFamily="34" charset="0"/>
              </a:rPr>
              <a:t>As you proceed on your cloud journey, consider some of these innovation pathways</a:t>
            </a:r>
          </a:p>
          <a:p>
            <a:endParaRPr lang="en-US" sz="28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7" name="Picture 16">
            <a:extLst>
              <a:ext uri="{FF2B5EF4-FFF2-40B4-BE49-F238E27FC236}">
                <a16:creationId xmlns:a16="http://schemas.microsoft.com/office/drawing/2014/main" id="{AAEAD3BA-C241-8E46-9729-C46C99386974}"/>
              </a:ext>
            </a:extLst>
          </p:cNvPr>
          <p:cNvPicPr>
            <a:picLocks noChangeAspect="1"/>
          </p:cNvPicPr>
          <p:nvPr/>
        </p:nvPicPr>
        <p:blipFill>
          <a:blip r:embed="rId7"/>
          <a:stretch>
            <a:fillRect/>
          </a:stretch>
        </p:blipFill>
        <p:spPr>
          <a:xfrm>
            <a:off x="9281045" y="3396377"/>
            <a:ext cx="1701792" cy="1655975"/>
          </a:xfrm>
          <a:prstGeom prst="rect">
            <a:avLst/>
          </a:prstGeom>
        </p:spPr>
      </p:pic>
      <p:pic>
        <p:nvPicPr>
          <p:cNvPr id="18" name="Picture 17">
            <a:extLst>
              <a:ext uri="{FF2B5EF4-FFF2-40B4-BE49-F238E27FC236}">
                <a16:creationId xmlns:a16="http://schemas.microsoft.com/office/drawing/2014/main" id="{9CC9306A-78FD-7E41-9932-05E49D056C35}"/>
              </a:ext>
            </a:extLst>
          </p:cNvPr>
          <p:cNvPicPr>
            <a:picLocks noChangeAspect="1"/>
          </p:cNvPicPr>
          <p:nvPr/>
        </p:nvPicPr>
        <p:blipFill>
          <a:blip r:embed="rId8"/>
          <a:stretch>
            <a:fillRect/>
          </a:stretch>
        </p:blipFill>
        <p:spPr>
          <a:xfrm>
            <a:off x="5146629" y="3321468"/>
            <a:ext cx="2234264" cy="1714813"/>
          </a:xfrm>
          <a:prstGeom prst="rect">
            <a:avLst/>
          </a:prstGeom>
        </p:spPr>
      </p:pic>
      <p:pic>
        <p:nvPicPr>
          <p:cNvPr id="19" name="Picture 18">
            <a:extLst>
              <a:ext uri="{FF2B5EF4-FFF2-40B4-BE49-F238E27FC236}">
                <a16:creationId xmlns:a16="http://schemas.microsoft.com/office/drawing/2014/main" id="{EBB04D64-879F-6E4E-898E-7DBC993BB8A3}"/>
              </a:ext>
            </a:extLst>
          </p:cNvPr>
          <p:cNvPicPr>
            <a:picLocks noChangeAspect="1"/>
          </p:cNvPicPr>
          <p:nvPr/>
        </p:nvPicPr>
        <p:blipFill>
          <a:blip r:embed="rId9"/>
          <a:stretch>
            <a:fillRect/>
          </a:stretch>
        </p:blipFill>
        <p:spPr>
          <a:xfrm>
            <a:off x="1278452" y="3467060"/>
            <a:ext cx="2234264" cy="1704737"/>
          </a:xfrm>
          <a:prstGeom prst="rect">
            <a:avLst/>
          </a:prstGeom>
        </p:spPr>
      </p:pic>
    </p:spTree>
    <p:extLst>
      <p:ext uri="{BB962C8B-B14F-4D97-AF65-F5344CB8AC3E}">
        <p14:creationId xmlns:p14="http://schemas.microsoft.com/office/powerpoint/2010/main" val="3172333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AWS Well-Architected Framework</a:t>
            </a:r>
          </a:p>
          <a:p>
            <a:pPr marL="0" marR="0" lvl="0" indent="0" algn="ctr" rtl="0">
              <a:spcBef>
                <a:spcPts val="0"/>
              </a:spcBef>
              <a:spcAft>
                <a:spcPts val="0"/>
              </a:spcAft>
              <a:buNone/>
            </a:pPr>
            <a:endParaRPr lang="en-US" sz="320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789192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5">
            <a:extLst>
              <a:ext uri="{FF2B5EF4-FFF2-40B4-BE49-F238E27FC236}">
                <a16:creationId xmlns:a16="http://schemas.microsoft.com/office/drawing/2014/main" id="{24FA8EE9-51FF-5F4B-9EA1-5FD49918A49E}"/>
              </a:ext>
            </a:extLst>
          </p:cNvPr>
          <p:cNvSpPr>
            <a:spLocks noGrp="1"/>
          </p:cNvSpPr>
          <p:nvPr/>
        </p:nvSpPr>
        <p:spPr>
          <a:xfrm>
            <a:off x="1397127" y="918854"/>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Well-Architected Framework</a:t>
            </a:r>
          </a:p>
        </p:txBody>
      </p:sp>
      <p:sp>
        <p:nvSpPr>
          <p:cNvPr id="10" name="Text Placeholder 6">
            <a:extLst>
              <a:ext uri="{FF2B5EF4-FFF2-40B4-BE49-F238E27FC236}">
                <a16:creationId xmlns:a16="http://schemas.microsoft.com/office/drawing/2014/main" id="{D3DC7726-2BC8-CA51-A753-6BDDE4E3F92A}"/>
              </a:ext>
            </a:extLst>
          </p:cNvPr>
          <p:cNvSpPr>
            <a:spLocks noGrp="1"/>
          </p:cNvSpPr>
          <p:nvPr/>
        </p:nvSpPr>
        <p:spPr>
          <a:xfrm>
            <a:off x="1578864" y="1686131"/>
            <a:ext cx="7732123" cy="4648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000"/>
              </a:spcAft>
              <a:buNone/>
            </a:pPr>
            <a:r>
              <a:rPr lang="en-US">
                <a:latin typeface="Amazon Ember Light"/>
              </a:rPr>
              <a:t>With the aid of the Well-Architected Framework, you can create and manage dependable, safe, economical and efficient systems in AWS Cloud </a:t>
            </a:r>
          </a:p>
          <a:p>
            <a:pPr marL="0" indent="0">
              <a:spcAft>
                <a:spcPts val="1000"/>
              </a:spcAft>
              <a:buNone/>
            </a:pPr>
            <a:r>
              <a:rPr lang="en-US">
                <a:latin typeface="Amazon Ember Light"/>
              </a:rPr>
              <a:t>It is based on these five pillars:</a:t>
            </a:r>
          </a:p>
          <a:p>
            <a:pPr lvl="1"/>
            <a:r>
              <a:rPr lang="en-US"/>
              <a:t>Reliability</a:t>
            </a:r>
          </a:p>
          <a:p>
            <a:pPr lvl="1"/>
            <a:r>
              <a:rPr lang="en-US"/>
              <a:t>Security</a:t>
            </a:r>
          </a:p>
          <a:p>
            <a:pPr lvl="1"/>
            <a:r>
              <a:rPr lang="en-US">
                <a:latin typeface="Amazon Ember Light"/>
              </a:rPr>
              <a:t>Cost </a:t>
            </a:r>
            <a:r>
              <a:rPr lang="en-US" err="1">
                <a:latin typeface="Amazon Ember Light"/>
              </a:rPr>
              <a:t>optimisation</a:t>
            </a:r>
            <a:endParaRPr lang="en-US" err="1"/>
          </a:p>
          <a:p>
            <a:pPr lvl="1"/>
            <a:r>
              <a:rPr lang="en-US"/>
              <a:t>Performance efficiency</a:t>
            </a:r>
          </a:p>
          <a:p>
            <a:pPr lvl="1"/>
            <a:r>
              <a:rPr lang="en-US"/>
              <a:t>Operational excellence</a:t>
            </a:r>
          </a:p>
        </p:txBody>
      </p:sp>
    </p:spTree>
    <p:extLst>
      <p:ext uri="{BB962C8B-B14F-4D97-AF65-F5344CB8AC3E}">
        <p14:creationId xmlns:p14="http://schemas.microsoft.com/office/powerpoint/2010/main" val="3627177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C868C5C3-110F-1F5F-E5B3-1453852C8ABE}"/>
              </a:ext>
            </a:extLst>
          </p:cNvPr>
          <p:cNvSpPr>
            <a:spLocks noGrp="1"/>
          </p:cNvSpPr>
          <p:nvPr/>
        </p:nvSpPr>
        <p:spPr>
          <a:xfrm>
            <a:off x="1372138" y="784648"/>
            <a:ext cx="9223664"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Operational Excellence</a:t>
            </a:r>
            <a:endParaRPr lang="en-US">
              <a:solidFill>
                <a:schemeClr val="tx1"/>
              </a:solidFill>
            </a:endParaRPr>
          </a:p>
        </p:txBody>
      </p:sp>
      <p:sp>
        <p:nvSpPr>
          <p:cNvPr id="10" name="Content Placeholder 2">
            <a:extLst>
              <a:ext uri="{FF2B5EF4-FFF2-40B4-BE49-F238E27FC236}">
                <a16:creationId xmlns:a16="http://schemas.microsoft.com/office/drawing/2014/main" id="{748D482D-AADD-13A2-8713-D15DAE04B26B}"/>
              </a:ext>
            </a:extLst>
          </p:cNvPr>
          <p:cNvSpPr txBox="1">
            <a:spLocks/>
          </p:cNvSpPr>
          <p:nvPr/>
        </p:nvSpPr>
        <p:spPr>
          <a:xfrm>
            <a:off x="2177889" y="2962570"/>
            <a:ext cx="7612162" cy="3289824"/>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75615" indent="-475615">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Annotate documentation</a:t>
            </a:r>
            <a:endParaRPr lang="en-US"/>
          </a:p>
          <a:p>
            <a:pPr marL="475615" marR="0" lvl="0" indent="-475615" algn="l" defTabSz="914400" rtl="0" eaLnBrk="1" fontAlgn="auto" latinLnBrk="0" hangingPunct="1">
              <a:lnSpc>
                <a:spcPct val="90000"/>
              </a:lnSpc>
              <a:spcBef>
                <a:spcPts val="16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Perform operations as code</a:t>
            </a:r>
            <a:endParaRPr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475615" indent="-475615">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Refine operations procedures frequently</a:t>
            </a:r>
            <a:endParaRPr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475615" marR="0" lvl="0" indent="-475615" algn="l" defTabSz="914400" rtl="0" eaLnBrk="1" fontAlgn="auto" latinLnBrk="0" hangingPunct="1">
              <a:lnSpc>
                <a:spcPct val="90000"/>
              </a:lnSpc>
              <a:spcBef>
                <a:spcPts val="16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Anticipate failure</a:t>
            </a:r>
            <a:endParaRPr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475615" indent="-475615">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rPr>
              <a:t>Make frequent, small</a:t>
            </a:r>
            <a:r>
              <a:rPr lang="en-US" sz="2800">
                <a:solidFill>
                  <a:srgbClr val="000000"/>
                </a:solidFill>
                <a:latin typeface="Amazon Ember Light"/>
                <a:ea typeface="Amazon Ember Light" panose="020B0403020204020204" pitchFamily="34" charset="0"/>
                <a:cs typeface="Amazon Ember Light" panose="020B0403020204020204" pitchFamily="34" charset="0"/>
              </a:rPr>
              <a:t> and</a:t>
            </a:r>
            <a:r>
              <a:rPr kumimoji="0"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rPr>
              <a:t> reversible changes</a:t>
            </a:r>
            <a:endParaRPr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endParaRPr>
          </a:p>
        </p:txBody>
      </p:sp>
      <p:sp>
        <p:nvSpPr>
          <p:cNvPr id="14" name="Rectangle 13">
            <a:extLst>
              <a:ext uri="{FF2B5EF4-FFF2-40B4-BE49-F238E27FC236}">
                <a16:creationId xmlns:a16="http://schemas.microsoft.com/office/drawing/2014/main" id="{BCEDEB50-CAEE-6C06-6BF2-615516E988C9}"/>
              </a:ext>
            </a:extLst>
          </p:cNvPr>
          <p:cNvSpPr/>
          <p:nvPr/>
        </p:nvSpPr>
        <p:spPr>
          <a:xfrm>
            <a:off x="271813" y="1567836"/>
            <a:ext cx="9060295" cy="1200329"/>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mazon Ember Light"/>
                <a:ea typeface="+mn-ea"/>
                <a:cs typeface="+mn-cs"/>
              </a:rPr>
              <a:t>Manage and </a:t>
            </a:r>
            <a:r>
              <a:rPr lang="en-US" sz="2400">
                <a:solidFill>
                  <a:srgbClr val="000000"/>
                </a:solidFill>
                <a:latin typeface="Amazon Ember Light"/>
              </a:rPr>
              <a:t>track</a:t>
            </a:r>
            <a:r>
              <a:rPr kumimoji="0" lang="en-US" sz="2400" b="0" i="0" u="none" strike="noStrike" kern="1200" cap="none" spc="0" normalizeH="0" baseline="0" noProof="0">
                <a:ln>
                  <a:noFill/>
                </a:ln>
                <a:solidFill>
                  <a:srgbClr val="000000"/>
                </a:solidFill>
                <a:effectLst/>
                <a:uLnTx/>
                <a:uFillTx/>
                <a:latin typeface="Amazon Ember Light"/>
                <a:ea typeface="+mn-ea"/>
                <a:cs typeface="+mn-cs"/>
              </a:rPr>
              <a:t> systems to provide value to the business and continuously enhance related processes and procedures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mazon Ember Light"/>
              <a:ea typeface="+mn-ea"/>
              <a:cs typeface="+mn-cs"/>
            </a:endParaRPr>
          </a:p>
        </p:txBody>
      </p:sp>
    </p:spTree>
    <p:extLst>
      <p:ext uri="{BB962C8B-B14F-4D97-AF65-F5344CB8AC3E}">
        <p14:creationId xmlns:p14="http://schemas.microsoft.com/office/powerpoint/2010/main" val="929449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5941C185-DC25-0CFD-8D31-EF0C105A0161}"/>
              </a:ext>
            </a:extLst>
          </p:cNvPr>
          <p:cNvSpPr>
            <a:spLocks noGrp="1"/>
          </p:cNvSpPr>
          <p:nvPr/>
        </p:nvSpPr>
        <p:spPr>
          <a:xfrm>
            <a:off x="923003" y="955654"/>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Security</a:t>
            </a:r>
          </a:p>
        </p:txBody>
      </p:sp>
      <p:sp>
        <p:nvSpPr>
          <p:cNvPr id="10" name="Content Placeholder 2">
            <a:extLst>
              <a:ext uri="{FF2B5EF4-FFF2-40B4-BE49-F238E27FC236}">
                <a16:creationId xmlns:a16="http://schemas.microsoft.com/office/drawing/2014/main" id="{2301AA45-4A07-1662-22B0-D504874AD0F8}"/>
              </a:ext>
            </a:extLst>
          </p:cNvPr>
          <p:cNvSpPr txBox="1">
            <a:spLocks/>
          </p:cNvSpPr>
          <p:nvPr/>
        </p:nvSpPr>
        <p:spPr>
          <a:xfrm>
            <a:off x="2243958" y="3429000"/>
            <a:ext cx="6899148" cy="1965113"/>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76231" indent="-476231">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Automate security best practices</a:t>
            </a:r>
          </a:p>
          <a:p>
            <a:pPr marL="476231" indent="-476231">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Apply security at all layers</a:t>
            </a:r>
          </a:p>
          <a:p>
            <a:pPr marL="476231" indent="-476231">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Protect data in transit and at rest</a:t>
            </a:r>
          </a:p>
        </p:txBody>
      </p:sp>
      <p:sp>
        <p:nvSpPr>
          <p:cNvPr id="11" name="Rectangle 10">
            <a:extLst>
              <a:ext uri="{FF2B5EF4-FFF2-40B4-BE49-F238E27FC236}">
                <a16:creationId xmlns:a16="http://schemas.microsoft.com/office/drawing/2014/main" id="{351AECDE-125C-3901-6D85-569FA69DBBF3}"/>
              </a:ext>
            </a:extLst>
          </p:cNvPr>
          <p:cNvSpPr/>
          <p:nvPr/>
        </p:nvSpPr>
        <p:spPr>
          <a:xfrm>
            <a:off x="628429" y="1900414"/>
            <a:ext cx="9060295" cy="120032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mazon Ember Light"/>
                <a:ea typeface="+mn-ea"/>
                <a:cs typeface="+mn-cs"/>
              </a:rPr>
              <a:t>Delivering company value while safeguarding data, systems, and assets via risk assessments and mitigation techniques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mazon Ember Light"/>
              <a:ea typeface="+mn-ea"/>
              <a:cs typeface="+mn-cs"/>
            </a:endParaRPr>
          </a:p>
        </p:txBody>
      </p:sp>
    </p:spTree>
    <p:extLst>
      <p:ext uri="{BB962C8B-B14F-4D97-AF65-F5344CB8AC3E}">
        <p14:creationId xmlns:p14="http://schemas.microsoft.com/office/powerpoint/2010/main" val="959087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3988B89E-9457-8A91-1CAA-BB94CEC55D5C}"/>
              </a:ext>
            </a:extLst>
          </p:cNvPr>
          <p:cNvSpPr>
            <a:spLocks noGrp="1"/>
          </p:cNvSpPr>
          <p:nvPr/>
        </p:nvSpPr>
        <p:spPr>
          <a:xfrm>
            <a:off x="566387" y="487886"/>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rPr>
              <a:t>Reliability</a:t>
            </a:r>
          </a:p>
        </p:txBody>
      </p:sp>
      <p:sp>
        <p:nvSpPr>
          <p:cNvPr id="10" name="Content Placeholder 2">
            <a:extLst>
              <a:ext uri="{FF2B5EF4-FFF2-40B4-BE49-F238E27FC236}">
                <a16:creationId xmlns:a16="http://schemas.microsoft.com/office/drawing/2014/main" id="{F03AEECA-D2F8-62E5-1C30-77C9F3283AB2}"/>
              </a:ext>
            </a:extLst>
          </p:cNvPr>
          <p:cNvSpPr>
            <a:spLocks noGrp="1"/>
          </p:cNvSpPr>
          <p:nvPr/>
        </p:nvSpPr>
        <p:spPr>
          <a:xfrm>
            <a:off x="1250439" y="2734110"/>
            <a:ext cx="7666168" cy="3635829"/>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31" indent="-476231">
              <a:spcBef>
                <a:spcPts val="1600"/>
              </a:spcBef>
            </a:pPr>
            <a:r>
              <a:rPr lang="en-US"/>
              <a:t>Mitigate disruptions such as misconfigurations or transient network issues</a:t>
            </a:r>
          </a:p>
          <a:p>
            <a:pPr marL="476231" indent="-476231">
              <a:spcBef>
                <a:spcPts val="1600"/>
              </a:spcBef>
            </a:pPr>
            <a:r>
              <a:rPr lang="en-US"/>
              <a:t>Dynamically acquire computing resources to meet demand</a:t>
            </a:r>
          </a:p>
          <a:p>
            <a:pPr marL="476231" indent="-476231">
              <a:spcBef>
                <a:spcPts val="1600"/>
              </a:spcBef>
            </a:pPr>
            <a:r>
              <a:rPr lang="en-US"/>
              <a:t>Recover from infrastructure or service disruptions</a:t>
            </a:r>
          </a:p>
        </p:txBody>
      </p:sp>
      <p:sp>
        <p:nvSpPr>
          <p:cNvPr id="55" name="Rectangle 54">
            <a:extLst>
              <a:ext uri="{FF2B5EF4-FFF2-40B4-BE49-F238E27FC236}">
                <a16:creationId xmlns:a16="http://schemas.microsoft.com/office/drawing/2014/main" id="{96F3BC0C-D1FF-74D1-A18E-BCBE05035485}"/>
              </a:ext>
            </a:extLst>
          </p:cNvPr>
          <p:cNvSpPr/>
          <p:nvPr/>
        </p:nvSpPr>
        <p:spPr>
          <a:xfrm>
            <a:off x="1041471" y="1413553"/>
            <a:ext cx="9060295" cy="1200329"/>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srgbClr val="000000"/>
                </a:solidFill>
                <a:latin typeface="Amazon Ember Light"/>
              </a:rPr>
              <a:t>Testing</a:t>
            </a:r>
            <a:r>
              <a:rPr kumimoji="0" lang="en-US" sz="2400" b="0" i="0" u="none" strike="noStrike" kern="1200" cap="none" spc="0" normalizeH="0" baseline="0" noProof="0">
                <a:ln>
                  <a:noFill/>
                </a:ln>
                <a:solidFill>
                  <a:srgbClr val="000000"/>
                </a:solidFill>
                <a:effectLst/>
                <a:uLnTx/>
                <a:uFillTx/>
                <a:latin typeface="Amazon Ember Light"/>
                <a:ea typeface="+mn-ea"/>
                <a:cs typeface="+mn-cs"/>
              </a:rPr>
              <a:t> recovery procedures, </a:t>
            </a:r>
            <a:r>
              <a:rPr lang="en-US" sz="2400">
                <a:solidFill>
                  <a:srgbClr val="000000"/>
                </a:solidFill>
                <a:latin typeface="Amazon Ember Light"/>
              </a:rPr>
              <a:t>expanding</a:t>
            </a:r>
            <a:r>
              <a:rPr kumimoji="0" lang="en-US" sz="2400" b="0" i="0" u="none" strike="noStrike" kern="1200" cap="none" spc="0" normalizeH="0" baseline="0" noProof="0">
                <a:ln>
                  <a:noFill/>
                </a:ln>
                <a:solidFill>
                  <a:srgbClr val="000000"/>
                </a:solidFill>
                <a:effectLst/>
                <a:uLnTx/>
                <a:uFillTx/>
                <a:latin typeface="Amazon Ember Light"/>
                <a:ea typeface="+mn-ea"/>
                <a:cs typeface="+mn-cs"/>
              </a:rPr>
              <a:t> horizontally to boost overall system availability and automatically </a:t>
            </a:r>
            <a:r>
              <a:rPr lang="en-US" sz="2400">
                <a:solidFill>
                  <a:srgbClr val="000000"/>
                </a:solidFill>
                <a:latin typeface="Amazon Ember Light"/>
              </a:rPr>
              <a:t>recovering</a:t>
            </a:r>
            <a:r>
              <a:rPr kumimoji="0" lang="en-US" sz="2400" b="0" i="0" u="none" strike="noStrike" kern="1200" cap="none" spc="0" normalizeH="0" baseline="0" noProof="0">
                <a:ln>
                  <a:noFill/>
                </a:ln>
                <a:solidFill>
                  <a:srgbClr val="000000"/>
                </a:solidFill>
                <a:effectLst/>
                <a:uLnTx/>
                <a:uFillTx/>
                <a:latin typeface="Amazon Ember Light"/>
                <a:ea typeface="+mn-ea"/>
                <a:cs typeface="+mn-cs"/>
              </a:rPr>
              <a:t> from errors </a:t>
            </a:r>
            <a:endParaRPr lang="en-US" sz="2400" b="0" i="0" u="none" strike="noStrike" kern="1200" cap="none" spc="0" normalizeH="0" baseline="0" noProof="0">
              <a:ln>
                <a:noFill/>
              </a:ln>
              <a:solidFill>
                <a:srgbClr val="000000"/>
              </a:solidFill>
              <a:effectLst/>
              <a:uLnTx/>
              <a:uFillTx/>
              <a:latin typeface="Amazon Ember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mazon Ember Light"/>
              <a:ea typeface="+mn-ea"/>
              <a:cs typeface="+mn-cs"/>
            </a:endParaRPr>
          </a:p>
        </p:txBody>
      </p:sp>
    </p:spTree>
    <p:extLst>
      <p:ext uri="{BB962C8B-B14F-4D97-AF65-F5344CB8AC3E}">
        <p14:creationId xmlns:p14="http://schemas.microsoft.com/office/powerpoint/2010/main" val="1030757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3454C462-273E-DF35-5468-D896D41101C9}"/>
              </a:ext>
            </a:extLst>
          </p:cNvPr>
          <p:cNvSpPr>
            <a:spLocks noGrp="1"/>
          </p:cNvSpPr>
          <p:nvPr/>
        </p:nvSpPr>
        <p:spPr>
          <a:xfrm>
            <a:off x="950218" y="705277"/>
            <a:ext cx="9237518"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Performance Efficiency</a:t>
            </a:r>
            <a:endParaRPr lang="en-US">
              <a:solidFill>
                <a:schemeClr val="tx1"/>
              </a:solidFill>
            </a:endParaRPr>
          </a:p>
        </p:txBody>
      </p:sp>
      <p:sp>
        <p:nvSpPr>
          <p:cNvPr id="10" name="Content Placeholder 2">
            <a:extLst>
              <a:ext uri="{FF2B5EF4-FFF2-40B4-BE49-F238E27FC236}">
                <a16:creationId xmlns:a16="http://schemas.microsoft.com/office/drawing/2014/main" id="{B00B2ABD-B156-93FB-6E0D-079936165C45}"/>
              </a:ext>
            </a:extLst>
          </p:cNvPr>
          <p:cNvSpPr txBox="1">
            <a:spLocks/>
          </p:cNvSpPr>
          <p:nvPr/>
        </p:nvSpPr>
        <p:spPr>
          <a:xfrm>
            <a:off x="2243958" y="2635201"/>
            <a:ext cx="6899148" cy="296878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76231" indent="-476231">
              <a:lnSpc>
                <a:spcPct val="90000"/>
              </a:lnSpc>
              <a:spcBef>
                <a:spcPts val="1600"/>
              </a:spcBef>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Go global in minutes</a:t>
            </a:r>
          </a:p>
          <a:p>
            <a:pPr marL="476231" indent="-476231">
              <a:lnSpc>
                <a:spcPct val="90000"/>
              </a:lnSpc>
              <a:spcBef>
                <a:spcPts val="1600"/>
              </a:spcBef>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Use serverless architectures</a:t>
            </a:r>
          </a:p>
          <a:p>
            <a:pPr marL="476231" marR="0" lvl="0" indent="-476231" algn="l" defTabSz="914400" rtl="0" eaLnBrk="1" fontAlgn="auto" latinLnBrk="0" hangingPunct="1">
              <a:lnSpc>
                <a:spcPct val="90000"/>
              </a:lnSpc>
              <a:spcBef>
                <a:spcPts val="16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Experiment frequently</a:t>
            </a:r>
          </a:p>
        </p:txBody>
      </p:sp>
      <p:sp>
        <p:nvSpPr>
          <p:cNvPr id="16" name="Rectangle 15">
            <a:extLst>
              <a:ext uri="{FF2B5EF4-FFF2-40B4-BE49-F238E27FC236}">
                <a16:creationId xmlns:a16="http://schemas.microsoft.com/office/drawing/2014/main" id="{A23E5F3D-4E8B-7FF1-6F85-7E1131830A84}"/>
              </a:ext>
            </a:extLst>
          </p:cNvPr>
          <p:cNvSpPr/>
          <p:nvPr/>
        </p:nvSpPr>
        <p:spPr>
          <a:xfrm>
            <a:off x="601214" y="1879723"/>
            <a:ext cx="9586522" cy="830997"/>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solidFill>
                  <a:srgbClr val="000000"/>
                </a:solidFill>
                <a:latin typeface="Amazon Ember Light"/>
              </a:rPr>
              <a:t>Utilise</a:t>
            </a:r>
            <a:r>
              <a:rPr kumimoji="0" lang="en-US" sz="2400" b="0" i="0" u="none" strike="noStrike" kern="1200" cap="none" spc="0" normalizeH="0" baseline="0" noProof="0" dirty="0">
                <a:ln>
                  <a:noFill/>
                </a:ln>
                <a:solidFill>
                  <a:srgbClr val="000000"/>
                </a:solidFill>
                <a:effectLst/>
                <a:uLnTx/>
                <a:uFillTx/>
                <a:latin typeface="Amazon Ember Light"/>
                <a:ea typeface="+mn-ea"/>
                <a:cs typeface="+mn-cs"/>
              </a:rPr>
              <a:t> computer resources effectively to </a:t>
            </a:r>
            <a:r>
              <a:rPr lang="en-US" sz="2400" dirty="0">
                <a:solidFill>
                  <a:srgbClr val="000000"/>
                </a:solidFill>
                <a:latin typeface="Amazon Ember Light"/>
              </a:rPr>
              <a:t>fulfil</a:t>
            </a:r>
            <a:r>
              <a:rPr kumimoji="0" lang="en-US" sz="2400" b="0" i="0" u="none" strike="noStrike" kern="1200" cap="none" spc="0" normalizeH="0" baseline="0" noProof="0" dirty="0">
                <a:ln>
                  <a:noFill/>
                </a:ln>
                <a:solidFill>
                  <a:srgbClr val="000000"/>
                </a:solidFill>
                <a:effectLst/>
                <a:uLnTx/>
                <a:uFillTx/>
                <a:latin typeface="Amazon Ember Light"/>
                <a:ea typeface="+mn-ea"/>
                <a:cs typeface="+mn-cs"/>
              </a:rPr>
              <a:t> system needs, and continue </a:t>
            </a:r>
            <a:r>
              <a:rPr lang="en-US" sz="2400" dirty="0">
                <a:solidFill>
                  <a:srgbClr val="000000"/>
                </a:solidFill>
                <a:latin typeface="Amazon Ember Light"/>
              </a:rPr>
              <a:t>this</a:t>
            </a:r>
            <a:r>
              <a:rPr kumimoji="0" lang="en-US" sz="2400" b="0" i="0" u="none" strike="noStrike" kern="1200" cap="none" spc="0" normalizeH="0" baseline="0" noProof="0" dirty="0">
                <a:ln>
                  <a:noFill/>
                </a:ln>
                <a:solidFill>
                  <a:srgbClr val="000000"/>
                </a:solidFill>
                <a:effectLst/>
                <a:uLnTx/>
                <a:uFillTx/>
                <a:latin typeface="Amazon Ember Light"/>
                <a:ea typeface="+mn-ea"/>
                <a:cs typeface="+mn-cs"/>
              </a:rPr>
              <a:t> even as demands change and technologies evolves?</a:t>
            </a:r>
            <a:endParaRPr lang="en-US" sz="2400" b="0" i="0" u="none" strike="noStrike" kern="1200" cap="none" spc="0" normalizeH="0" baseline="0" noProof="0" dirty="0">
              <a:ln>
                <a:noFill/>
              </a:ln>
              <a:solidFill>
                <a:srgbClr val="000000"/>
              </a:solidFill>
              <a:effectLst/>
              <a:uLnTx/>
              <a:uFillTx/>
              <a:latin typeface="Amazon Ember Light"/>
            </a:endParaRPr>
          </a:p>
        </p:txBody>
      </p:sp>
    </p:spTree>
    <p:extLst>
      <p:ext uri="{BB962C8B-B14F-4D97-AF65-F5344CB8AC3E}">
        <p14:creationId xmlns:p14="http://schemas.microsoft.com/office/powerpoint/2010/main" val="2996289519"/>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56709C9E-68C9-094B-A19D-7C5207376448}"/>
              </a:ext>
            </a:extLst>
          </p:cNvPr>
          <p:cNvSpPr>
            <a:spLocks noGrp="1"/>
          </p:cNvSpPr>
          <p:nvPr/>
        </p:nvSpPr>
        <p:spPr>
          <a:xfrm>
            <a:off x="923003" y="822325"/>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gn="ctr"/>
            <a:r>
              <a:rPr lang="en-US">
                <a:solidFill>
                  <a:schemeClr val="tx1"/>
                </a:solidFill>
                <a:latin typeface="Amazon Ember Light"/>
              </a:rPr>
              <a:t>Cost </a:t>
            </a:r>
            <a:r>
              <a:rPr lang="en-US" err="1">
                <a:solidFill>
                  <a:schemeClr val="tx1"/>
                </a:solidFill>
                <a:latin typeface="Amazon Ember Light"/>
              </a:rPr>
              <a:t>Optimisation</a:t>
            </a:r>
            <a:endParaRPr lang="en-US" err="1">
              <a:solidFill>
                <a:schemeClr val="tx1"/>
              </a:solidFill>
            </a:endParaRPr>
          </a:p>
        </p:txBody>
      </p:sp>
      <p:sp>
        <p:nvSpPr>
          <p:cNvPr id="12" name="Content Placeholder 2">
            <a:extLst>
              <a:ext uri="{FF2B5EF4-FFF2-40B4-BE49-F238E27FC236}">
                <a16:creationId xmlns:a16="http://schemas.microsoft.com/office/drawing/2014/main" id="{DFA43D43-451A-8E13-3377-4FB231A8DFE6}"/>
              </a:ext>
            </a:extLst>
          </p:cNvPr>
          <p:cNvSpPr txBox="1">
            <a:spLocks/>
          </p:cNvSpPr>
          <p:nvPr/>
        </p:nvSpPr>
        <p:spPr>
          <a:xfrm>
            <a:off x="2243958" y="3139646"/>
            <a:ext cx="6899148" cy="2492832"/>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75615" indent="-475615">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rPr>
              <a:t>Use managed services to reduce </a:t>
            </a:r>
            <a:r>
              <a:rPr lang="en-US" sz="2800">
                <a:solidFill>
                  <a:srgbClr val="000000"/>
                </a:solidFill>
                <a:latin typeface="Amazon Ember Light"/>
                <a:ea typeface="Amazon Ember Light" panose="020B0403020204020204" pitchFamily="34" charset="0"/>
                <a:cs typeface="Amazon Ember Light" panose="020B0403020204020204" pitchFamily="34" charset="0"/>
              </a:rPr>
              <a:t>the </a:t>
            </a:r>
            <a:r>
              <a:rPr kumimoji="0"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rPr>
              <a:t>cost of ownership</a:t>
            </a:r>
            <a:endParaRPr lang="en-US">
              <a:latin typeface="Amazon Ember Light"/>
            </a:endParaRPr>
          </a:p>
          <a:p>
            <a:pPr marL="475615" marR="0" lvl="0" indent="-475615" algn="l" defTabSz="914400" rtl="0" eaLnBrk="1" fontAlgn="auto" latinLnBrk="0" hangingPunct="1">
              <a:lnSpc>
                <a:spcPct val="90000"/>
              </a:lnSpc>
              <a:spcBef>
                <a:spcPts val="1600"/>
              </a:spcBef>
              <a:spcAft>
                <a:spcPts val="0"/>
              </a:spcAft>
              <a:buClrTx/>
              <a:buSzTx/>
              <a:buFont typeface="Arial" panose="020B0604020202020204" pitchFamily="34" charset="0"/>
              <a:buChar char="•"/>
              <a:tabLst/>
              <a:defRPr/>
            </a:pPr>
            <a:r>
              <a:rPr lang="en-US" sz="2800">
                <a:solidFill>
                  <a:srgbClr val="000000"/>
                </a:solidFill>
                <a:latin typeface="Amazon Ember Light"/>
                <a:ea typeface="Amazon Ember Light" panose="020B0403020204020204" pitchFamily="34" charset="0"/>
                <a:cs typeface="Amazon Ember Light" panose="020B0403020204020204" pitchFamily="34" charset="0"/>
              </a:rPr>
              <a:t>Analyse</a:t>
            </a:r>
            <a:r>
              <a:rPr kumimoji="0"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rPr>
              <a:t> and attribute expenditure</a:t>
            </a:r>
            <a:endParaRPr lang="en-US" sz="2800" b="0" i="0" u="none" strike="noStrike" kern="1200" cap="none" spc="0" normalizeH="0" baseline="0" noProof="0">
              <a:ln>
                <a:noFill/>
              </a:ln>
              <a:solidFill>
                <a:srgbClr val="000000"/>
              </a:solidFill>
              <a:effectLst/>
              <a:uLnTx/>
              <a:uFillTx/>
              <a:latin typeface="Amazon Ember Light"/>
              <a:ea typeface="Amazon Ember Light" panose="020B0403020204020204" pitchFamily="34" charset="0"/>
              <a:cs typeface="Amazon Ember Light" panose="020B0403020204020204" pitchFamily="34" charset="0"/>
            </a:endParaRPr>
          </a:p>
          <a:p>
            <a:pPr marL="475615" indent="-475615">
              <a:lnSpc>
                <a:spcPct val="90000"/>
              </a:lnSpc>
              <a:spcBef>
                <a:spcPts val="1600"/>
              </a:spcBef>
              <a:buFont typeface="Arial" panose="020B0604020202020204" pitchFamily="34" charset="0"/>
              <a:buChar char="•"/>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Adopt a consumption model</a:t>
            </a:r>
            <a:endParaRPr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Rectangle 12">
            <a:extLst>
              <a:ext uri="{FF2B5EF4-FFF2-40B4-BE49-F238E27FC236}">
                <a16:creationId xmlns:a16="http://schemas.microsoft.com/office/drawing/2014/main" id="{4A615034-16A4-2F47-D909-9866D4CDF475}"/>
              </a:ext>
            </a:extLst>
          </p:cNvPr>
          <p:cNvSpPr/>
          <p:nvPr/>
        </p:nvSpPr>
        <p:spPr>
          <a:xfrm>
            <a:off x="628428" y="1951751"/>
            <a:ext cx="9060295" cy="461665"/>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0" lang="en-US" sz="2400" b="0" i="0" u="none" strike="noStrike" kern="1200" cap="none" spc="0" normalizeH="0" baseline="0" noProof="0">
                <a:ln>
                  <a:noFill/>
                </a:ln>
                <a:solidFill>
                  <a:srgbClr val="000000"/>
                </a:solidFill>
                <a:effectLst/>
                <a:uLnTx/>
                <a:uFillTx/>
                <a:latin typeface="Amazon Ember Light"/>
                <a:ea typeface="+mn-ea"/>
                <a:cs typeface="+mn-cs"/>
              </a:rPr>
              <a:t>Run systems to deliver business value at the lowest price point</a:t>
            </a:r>
          </a:p>
        </p:txBody>
      </p:sp>
    </p:spTree>
    <p:extLst>
      <p:ext uri="{BB962C8B-B14F-4D97-AF65-F5344CB8AC3E}">
        <p14:creationId xmlns:p14="http://schemas.microsoft.com/office/powerpoint/2010/main" val="283852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Deploying With Amazon MQ</a:t>
            </a:r>
          </a:p>
          <a:p>
            <a:pPr marL="0" marR="0" lvl="0" indent="0" algn="ctr" rtl="0">
              <a:spcBef>
                <a:spcPts val="0"/>
              </a:spcBef>
              <a:spcAft>
                <a:spcPts val="0"/>
              </a:spcAft>
              <a:buNone/>
            </a:pPr>
            <a:endParaRPr lang="en-US" sz="320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907695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864AFEA-EBDA-5DBD-AAE1-BEB4F01BB597}"/>
              </a:ext>
            </a:extLst>
          </p:cNvPr>
          <p:cNvSpPr>
            <a:spLocks noGrp="1"/>
          </p:cNvSpPr>
          <p:nvPr/>
        </p:nvSpPr>
        <p:spPr>
          <a:xfrm>
            <a:off x="420711" y="450853"/>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a:solidFill>
                  <a:schemeClr val="tx1"/>
                </a:solidFill>
              </a:rPr>
              <a:t>Amazon MQ</a:t>
            </a:r>
          </a:p>
        </p:txBody>
      </p:sp>
      <p:sp>
        <p:nvSpPr>
          <p:cNvPr id="10" name="Content Placeholder 2">
            <a:extLst>
              <a:ext uri="{FF2B5EF4-FFF2-40B4-BE49-F238E27FC236}">
                <a16:creationId xmlns:a16="http://schemas.microsoft.com/office/drawing/2014/main" id="{B441378A-4546-4280-2523-A30ACBBC8762}"/>
              </a:ext>
            </a:extLst>
          </p:cNvPr>
          <p:cNvSpPr>
            <a:spLocks noGrp="1"/>
          </p:cNvSpPr>
          <p:nvPr/>
        </p:nvSpPr>
        <p:spPr>
          <a:xfrm>
            <a:off x="420711" y="1627627"/>
            <a:ext cx="11350578" cy="4779520"/>
          </a:xfrm>
          <a:prstGeom prst="rect">
            <a:avLst/>
          </a:prstGeom>
        </p:spPr>
        <p:txBody>
          <a:bodyPr vert="horz" lIns="91440" tIns="45720" rIns="91440" bIns="45720" rtlCol="0" anchor="t">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750" dirty="0">
                <a:latin typeface="Amazon Ember Light"/>
              </a:rPr>
              <a:t>A managed message broker service for Apache </a:t>
            </a:r>
            <a:r>
              <a:rPr lang="en-US" sz="2750" dirty="0">
                <a:solidFill>
                  <a:srgbClr val="000000"/>
                </a:solidFill>
                <a:latin typeface="Amazon Ember Light"/>
              </a:rPr>
              <a:t>MQ</a:t>
            </a:r>
            <a:endParaRPr lang="en-US" sz="2750" dirty="0">
              <a:latin typeface="Amazon Ember Light"/>
            </a:endParaRPr>
          </a:p>
          <a:p>
            <a:pPr marL="227965" indent="-319405"/>
            <a:endParaRPr lang="en-US" dirty="0"/>
          </a:p>
          <a:p>
            <a:pPr marL="227965" indent="-319405"/>
            <a:r>
              <a:rPr lang="en-US" sz="2750" dirty="0">
                <a:latin typeface="Amazon Ember Light"/>
              </a:rPr>
              <a:t>Is compatible with </a:t>
            </a:r>
            <a:r>
              <a:rPr lang="en-US" sz="2750" dirty="0">
                <a:solidFill>
                  <a:srgbClr val="000000"/>
                </a:solidFill>
                <a:latin typeface="Amazon Ember Light"/>
              </a:rPr>
              <a:t>open standard</a:t>
            </a:r>
            <a:r>
              <a:rPr lang="en-US" sz="2750" dirty="0">
                <a:latin typeface="Amazon Ember Light"/>
              </a:rPr>
              <a:t> </a:t>
            </a:r>
            <a:r>
              <a:rPr lang="en-US" sz="2750" dirty="0">
                <a:solidFill>
                  <a:srgbClr val="000000"/>
                </a:solidFill>
                <a:latin typeface="Amazon Ember Light"/>
              </a:rPr>
              <a:t>APIs</a:t>
            </a:r>
            <a:r>
              <a:rPr lang="en-US" sz="2750" dirty="0">
                <a:latin typeface="Amazon Ember Light"/>
              </a:rPr>
              <a:t> and protocols</a:t>
            </a:r>
          </a:p>
          <a:p>
            <a:pPr marL="685165" lvl="1" indent="-319405"/>
            <a:r>
              <a:rPr lang="en-US" sz="2350" dirty="0">
                <a:latin typeface="Amazon Ember Light"/>
              </a:rPr>
              <a:t>Including JMS, NMS, AMQP, STOMP, MQTT and WebSocket</a:t>
            </a:r>
          </a:p>
          <a:p>
            <a:pPr marL="0" indent="0">
              <a:buNone/>
            </a:pPr>
            <a:endParaRPr lang="en-US" dirty="0"/>
          </a:p>
          <a:p>
            <a:pPr marL="227965" indent="-319405"/>
            <a:r>
              <a:rPr lang="en-US" sz="2750" dirty="0">
                <a:latin typeface="Amazon Ember Light"/>
              </a:rPr>
              <a:t>Provides direct access to the ActiveMQ console</a:t>
            </a:r>
          </a:p>
          <a:p>
            <a:pPr marL="0" indent="0">
              <a:buNone/>
            </a:pPr>
            <a:endParaRPr lang="en-US" dirty="0"/>
          </a:p>
          <a:p>
            <a:pPr marL="227965" indent="-319405"/>
            <a:r>
              <a:rPr lang="en-US" sz="2750" dirty="0">
                <a:latin typeface="Amazon Ember Light"/>
              </a:rPr>
              <a:t>Makes it </a:t>
            </a:r>
            <a:r>
              <a:rPr lang="en-US" sz="2750" dirty="0">
                <a:solidFill>
                  <a:srgbClr val="000000"/>
                </a:solidFill>
                <a:latin typeface="Amazon Ember Light"/>
              </a:rPr>
              <a:t>easy</a:t>
            </a:r>
            <a:r>
              <a:rPr lang="en-US" sz="2750" dirty="0">
                <a:latin typeface="Amazon Ember Light"/>
              </a:rPr>
              <a:t> to set up and operate message brokers in the Cloud</a:t>
            </a:r>
          </a:p>
          <a:p>
            <a:pPr marL="227965" indent="-319405"/>
            <a:endParaRPr lang="en-US" dirty="0"/>
          </a:p>
          <a:p>
            <a:pPr marL="227965" indent="-319405"/>
            <a:endParaRPr lang="en-US" dirty="0"/>
          </a:p>
          <a:p>
            <a:pPr marL="0" indent="0">
              <a:buNone/>
            </a:pPr>
            <a:endParaRPr lang="en-US" dirty="0"/>
          </a:p>
        </p:txBody>
      </p:sp>
    </p:spTree>
    <p:extLst>
      <p:ext uri="{BB962C8B-B14F-4D97-AF65-F5344CB8AC3E}">
        <p14:creationId xmlns:p14="http://schemas.microsoft.com/office/powerpoint/2010/main" val="741519097"/>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EF1534B0-FCE6-12CB-5683-453E84A1A988}"/>
              </a:ext>
            </a:extLst>
          </p:cNvPr>
          <p:cNvSpPr>
            <a:spLocks noGrp="1"/>
          </p:cNvSpPr>
          <p:nvPr/>
        </p:nvSpPr>
        <p:spPr>
          <a:xfrm>
            <a:off x="776085" y="568845"/>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a:solidFill>
                  <a:schemeClr val="tx1"/>
                </a:solidFill>
              </a:rPr>
              <a:t>High Availability and Durability</a:t>
            </a:r>
          </a:p>
        </p:txBody>
      </p:sp>
      <p:grpSp>
        <p:nvGrpSpPr>
          <p:cNvPr id="10" name="Group 9">
            <a:extLst>
              <a:ext uri="{FF2B5EF4-FFF2-40B4-BE49-F238E27FC236}">
                <a16:creationId xmlns:a16="http://schemas.microsoft.com/office/drawing/2014/main" id="{0D15B3C6-985A-28F2-68E4-A26575DDE93D}"/>
              </a:ext>
            </a:extLst>
          </p:cNvPr>
          <p:cNvGrpSpPr/>
          <p:nvPr/>
        </p:nvGrpSpPr>
        <p:grpSpPr>
          <a:xfrm>
            <a:off x="1195076" y="2105350"/>
            <a:ext cx="10220839" cy="4183805"/>
            <a:chOff x="838201" y="1799612"/>
            <a:chExt cx="10223500" cy="4184894"/>
          </a:xfrm>
        </p:grpSpPr>
        <p:sp>
          <p:nvSpPr>
            <p:cNvPr id="14" name="Rounded Rectangle 5">
              <a:extLst>
                <a:ext uri="{FF2B5EF4-FFF2-40B4-BE49-F238E27FC236}">
                  <a16:creationId xmlns:a16="http://schemas.microsoft.com/office/drawing/2014/main" id="{C6A93FC2-2E4D-ED47-F8F0-B31FCBCBCC19}"/>
                </a:ext>
              </a:extLst>
            </p:cNvPr>
            <p:cNvSpPr/>
            <p:nvPr/>
          </p:nvSpPr>
          <p:spPr>
            <a:xfrm>
              <a:off x="838201" y="1799612"/>
              <a:ext cx="4870808" cy="3445249"/>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defTabSz="914126">
                <a:defRPr/>
              </a:pPr>
              <a:endParaRPr lang="en-US" sz="2399">
                <a:solidFill>
                  <a:prstClr val="black"/>
                </a:solidFill>
                <a:latin typeface="Helvetica Neue"/>
                <a:cs typeface="Helvetica Neue"/>
              </a:endParaRPr>
            </a:p>
          </p:txBody>
        </p:sp>
        <p:sp>
          <p:nvSpPr>
            <p:cNvPr id="15" name="TextBox 32">
              <a:extLst>
                <a:ext uri="{FF2B5EF4-FFF2-40B4-BE49-F238E27FC236}">
                  <a16:creationId xmlns:a16="http://schemas.microsoft.com/office/drawing/2014/main" id="{4D78FD80-82BF-659F-1B24-8A3DC4C0D75A}"/>
                </a:ext>
              </a:extLst>
            </p:cNvPr>
            <p:cNvSpPr txBox="1">
              <a:spLocks noChangeArrowheads="1"/>
            </p:cNvSpPr>
            <p:nvPr/>
          </p:nvSpPr>
          <p:spPr bwMode="auto">
            <a:xfrm>
              <a:off x="2070190" y="4829150"/>
              <a:ext cx="2406829" cy="420564"/>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32" b="1">
                  <a:solidFill>
                    <a:srgbClr val="F7981F"/>
                  </a:solidFill>
                  <a:latin typeface="Arial" panose="020B0604020202020204"/>
                  <a:ea typeface="Verdana" pitchFamily="34" charset="0"/>
                  <a:cs typeface="Helvetica Neue"/>
                </a:rPr>
                <a:t>Availability Zone</a:t>
              </a:r>
            </a:p>
          </p:txBody>
        </p:sp>
        <p:sp>
          <p:nvSpPr>
            <p:cNvPr id="16" name="Rounded Rectangle 7">
              <a:extLst>
                <a:ext uri="{FF2B5EF4-FFF2-40B4-BE49-F238E27FC236}">
                  <a16:creationId xmlns:a16="http://schemas.microsoft.com/office/drawing/2014/main" id="{47DA3A2A-EB22-7107-29A6-2A6E9CC8DA04}"/>
                </a:ext>
              </a:extLst>
            </p:cNvPr>
            <p:cNvSpPr/>
            <p:nvPr/>
          </p:nvSpPr>
          <p:spPr>
            <a:xfrm>
              <a:off x="6029465" y="1799612"/>
              <a:ext cx="5032236" cy="3445249"/>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defTabSz="914126">
                <a:defRPr/>
              </a:pPr>
              <a:endParaRPr lang="en-US" sz="2399">
                <a:solidFill>
                  <a:prstClr val="black"/>
                </a:solidFill>
                <a:latin typeface="Helvetica Neue"/>
                <a:cs typeface="Helvetica Neue"/>
              </a:endParaRPr>
            </a:p>
          </p:txBody>
        </p:sp>
        <p:sp>
          <p:nvSpPr>
            <p:cNvPr id="17" name="TextBox 32">
              <a:extLst>
                <a:ext uri="{FF2B5EF4-FFF2-40B4-BE49-F238E27FC236}">
                  <a16:creationId xmlns:a16="http://schemas.microsoft.com/office/drawing/2014/main" id="{BCC64BC6-2BAE-82DF-6F15-AAB61F9B1B78}"/>
                </a:ext>
              </a:extLst>
            </p:cNvPr>
            <p:cNvSpPr txBox="1">
              <a:spLocks noChangeArrowheads="1"/>
            </p:cNvSpPr>
            <p:nvPr/>
          </p:nvSpPr>
          <p:spPr bwMode="auto">
            <a:xfrm>
              <a:off x="7342166" y="4793456"/>
              <a:ext cx="2406829" cy="420564"/>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32" b="1">
                  <a:solidFill>
                    <a:srgbClr val="F7981F"/>
                  </a:solidFill>
                  <a:latin typeface="Arial" panose="020B0604020202020204"/>
                  <a:ea typeface="Verdana" pitchFamily="34" charset="0"/>
                  <a:cs typeface="Helvetica Neue"/>
                </a:rPr>
                <a:t>Availability Zone</a:t>
              </a:r>
            </a:p>
          </p:txBody>
        </p:sp>
        <p:sp>
          <p:nvSpPr>
            <p:cNvPr id="18" name="TextBox 9">
              <a:extLst>
                <a:ext uri="{FF2B5EF4-FFF2-40B4-BE49-F238E27FC236}">
                  <a16:creationId xmlns:a16="http://schemas.microsoft.com/office/drawing/2014/main" id="{F5B10BE7-5CF2-F2AE-AEAE-0943D1233803}"/>
                </a:ext>
              </a:extLst>
            </p:cNvPr>
            <p:cNvSpPr txBox="1"/>
            <p:nvPr/>
          </p:nvSpPr>
          <p:spPr>
            <a:xfrm>
              <a:off x="3933999" y="5406828"/>
              <a:ext cx="3841631" cy="420564"/>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32">
                  <a:solidFill>
                    <a:prstClr val="white"/>
                  </a:solidFill>
                  <a:latin typeface="Arial" panose="020B0604020202020204"/>
                </a:rPr>
                <a:t>Replicated Message Store</a:t>
              </a:r>
            </a:p>
          </p:txBody>
        </p:sp>
        <p:sp>
          <p:nvSpPr>
            <p:cNvPr id="19" name="TextBox 10">
              <a:extLst>
                <a:ext uri="{FF2B5EF4-FFF2-40B4-BE49-F238E27FC236}">
                  <a16:creationId xmlns:a16="http://schemas.microsoft.com/office/drawing/2014/main" id="{B4121887-E225-F635-9AC0-C711425D39FE}"/>
                </a:ext>
              </a:extLst>
            </p:cNvPr>
            <p:cNvSpPr txBox="1"/>
            <p:nvPr/>
          </p:nvSpPr>
          <p:spPr>
            <a:xfrm>
              <a:off x="2483723" y="2140485"/>
              <a:ext cx="1579763" cy="74879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00">
                  <a:solidFill>
                    <a:prstClr val="black"/>
                  </a:solidFill>
                  <a:latin typeface="Arial" panose="020B0604020202020204"/>
                </a:rPr>
                <a:t>Active broker</a:t>
              </a:r>
              <a:endParaRPr lang="en-US" sz="2132">
                <a:solidFill>
                  <a:prstClr val="black"/>
                </a:solidFill>
                <a:latin typeface="Arial" panose="020B0604020202020204"/>
              </a:endParaRPr>
            </a:p>
          </p:txBody>
        </p:sp>
        <p:sp>
          <p:nvSpPr>
            <p:cNvPr id="20" name="TextBox 11">
              <a:extLst>
                <a:ext uri="{FF2B5EF4-FFF2-40B4-BE49-F238E27FC236}">
                  <a16:creationId xmlns:a16="http://schemas.microsoft.com/office/drawing/2014/main" id="{AF96C961-52F1-77AA-0090-61CA178D35E9}"/>
                </a:ext>
              </a:extLst>
            </p:cNvPr>
            <p:cNvSpPr txBox="1"/>
            <p:nvPr/>
          </p:nvSpPr>
          <p:spPr>
            <a:xfrm>
              <a:off x="7700515" y="2140484"/>
              <a:ext cx="1690131" cy="74879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00">
                  <a:solidFill>
                    <a:prstClr val="black"/>
                  </a:solidFill>
                  <a:latin typeface="Arial" panose="020B0604020202020204"/>
                </a:rPr>
                <a:t>Standby broker</a:t>
              </a:r>
              <a:endParaRPr lang="en-US" sz="2132">
                <a:solidFill>
                  <a:prstClr val="black"/>
                </a:solidFill>
                <a:latin typeface="Arial" panose="020B0604020202020204"/>
              </a:endParaRPr>
            </a:p>
          </p:txBody>
        </p:sp>
        <p:pic>
          <p:nvPicPr>
            <p:cNvPr id="21" name="Picture 20">
              <a:extLst>
                <a:ext uri="{FF2B5EF4-FFF2-40B4-BE49-F238E27FC236}">
                  <a16:creationId xmlns:a16="http://schemas.microsoft.com/office/drawing/2014/main" id="{CFD136F6-C6FD-FB9B-3A1A-1E623E1D50B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40796" y="4494497"/>
              <a:ext cx="628037" cy="876636"/>
            </a:xfrm>
            <a:prstGeom prst="rect">
              <a:avLst/>
            </a:prstGeom>
          </p:spPr>
        </p:pic>
        <p:pic>
          <p:nvPicPr>
            <p:cNvPr id="22" name="Picture 21">
              <a:extLst>
                <a:ext uri="{FF2B5EF4-FFF2-40B4-BE49-F238E27FC236}">
                  <a16:creationId xmlns:a16="http://schemas.microsoft.com/office/drawing/2014/main" id="{5D2166BD-5C67-D2EB-658D-EB81EB95D36F}"/>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a:stretch/>
          </p:blipFill>
          <p:spPr>
            <a:xfrm>
              <a:off x="2548053" y="2849831"/>
              <a:ext cx="1451105" cy="1347455"/>
            </a:xfrm>
            <a:prstGeom prst="rect">
              <a:avLst/>
            </a:prstGeom>
          </p:spPr>
        </p:pic>
        <p:pic>
          <p:nvPicPr>
            <p:cNvPr id="23" name="Picture 22">
              <a:extLst>
                <a:ext uri="{FF2B5EF4-FFF2-40B4-BE49-F238E27FC236}">
                  <a16:creationId xmlns:a16="http://schemas.microsoft.com/office/drawing/2014/main" id="{D91B204E-051E-E684-12E6-C2BBF8D35B93}"/>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a:stretch/>
          </p:blipFill>
          <p:spPr>
            <a:xfrm>
              <a:off x="7820029" y="2849831"/>
              <a:ext cx="1451105" cy="1347455"/>
            </a:xfrm>
            <a:prstGeom prst="rect">
              <a:avLst/>
            </a:prstGeom>
          </p:spPr>
        </p:pic>
        <p:sp>
          <p:nvSpPr>
            <p:cNvPr id="24" name="TextBox 15">
              <a:extLst>
                <a:ext uri="{FF2B5EF4-FFF2-40B4-BE49-F238E27FC236}">
                  <a16:creationId xmlns:a16="http://schemas.microsoft.com/office/drawing/2014/main" id="{4BCF888C-1DD4-78CA-9C5C-602876B6368F}"/>
                </a:ext>
              </a:extLst>
            </p:cNvPr>
            <p:cNvSpPr txBox="1"/>
            <p:nvPr/>
          </p:nvSpPr>
          <p:spPr>
            <a:xfrm>
              <a:off x="4144464" y="5563942"/>
              <a:ext cx="3420700" cy="420564"/>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defTabSz="914126"/>
              <a:r>
                <a:rPr lang="en-US" sz="2132">
                  <a:solidFill>
                    <a:prstClr val="black"/>
                  </a:solidFill>
                  <a:latin typeface="Arial" panose="020B0604020202020204"/>
                </a:rPr>
                <a:t>Replicated Message Store</a:t>
              </a:r>
            </a:p>
          </p:txBody>
        </p:sp>
      </p:grpSp>
    </p:spTree>
    <p:extLst>
      <p:ext uri="{BB962C8B-B14F-4D97-AF65-F5344CB8AC3E}">
        <p14:creationId xmlns:p14="http://schemas.microsoft.com/office/powerpoint/2010/main" val="3847836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9B9ADA4-93E7-54BD-5A76-C897466CDA64}"/>
              </a:ext>
            </a:extLst>
          </p:cNvPr>
          <p:cNvSpPr>
            <a:spLocks noGrp="1"/>
          </p:cNvSpPr>
          <p:nvPr/>
        </p:nvSpPr>
        <p:spPr>
          <a:xfrm>
            <a:off x="815001" y="737747"/>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a:solidFill>
                  <a:schemeClr val="tx1"/>
                </a:solidFill>
              </a:rPr>
              <a:t>Use Case: Hybrid Integration</a:t>
            </a:r>
          </a:p>
        </p:txBody>
      </p:sp>
      <p:pic>
        <p:nvPicPr>
          <p:cNvPr id="10" name="Content Placeholder 5">
            <a:extLst>
              <a:ext uri="{FF2B5EF4-FFF2-40B4-BE49-F238E27FC236}">
                <a16:creationId xmlns:a16="http://schemas.microsoft.com/office/drawing/2014/main" id="{A09472EB-3F66-FC50-FC2C-AEB489D1D420}"/>
              </a:ext>
            </a:extLst>
          </p:cNvPr>
          <p:cNvPicPr>
            <a:picLocks noGrp="1" noChangeAspect="1"/>
          </p:cNvPicPr>
          <p:nvPr/>
        </p:nvPicPr>
        <p:blipFill>
          <a:blip r:embed="rId8">
            <a:extLst>
              <a:ext uri="{28A0092B-C50C-407E-A947-70E740481C1C}">
                <a14:useLocalDpi xmlns:a14="http://schemas.microsoft.com/office/drawing/2010/main" val="0"/>
              </a:ext>
            </a:extLst>
          </a:blip>
          <a:stretch>
            <a:fillRect/>
          </a:stretch>
        </p:blipFill>
        <p:spPr>
          <a:xfrm>
            <a:off x="1603846" y="2487866"/>
            <a:ext cx="9773152" cy="3632387"/>
          </a:xfrm>
          <a:prstGeom prst="rect">
            <a:avLst/>
          </a:prstGeom>
        </p:spPr>
      </p:pic>
    </p:spTree>
    <p:extLst>
      <p:ext uri="{BB962C8B-B14F-4D97-AF65-F5344CB8AC3E}">
        <p14:creationId xmlns:p14="http://schemas.microsoft.com/office/powerpoint/2010/main" val="2283516920"/>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11" name="Title 5">
            <a:extLst>
              <a:ext uri="{FF2B5EF4-FFF2-40B4-BE49-F238E27FC236}">
                <a16:creationId xmlns:a16="http://schemas.microsoft.com/office/drawing/2014/main" id="{6E26D106-DF67-0A94-9D44-87E43888196B}"/>
              </a:ext>
            </a:extLst>
          </p:cNvPr>
          <p:cNvSpPr>
            <a:spLocks noGrp="1"/>
          </p:cNvSpPr>
          <p:nvPr/>
        </p:nvSpPr>
        <p:spPr>
          <a:xfrm>
            <a:off x="1124516" y="779075"/>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a:solidFill>
                  <a:schemeClr val="tx1"/>
                </a:solidFill>
                <a:latin typeface="Amazon Ember Light"/>
              </a:rPr>
              <a:t>When to Use MQ vs SQS or SNS</a:t>
            </a:r>
          </a:p>
        </p:txBody>
      </p:sp>
      <p:pic>
        <p:nvPicPr>
          <p:cNvPr id="12" name="table">
            <a:extLst>
              <a:ext uri="{FF2B5EF4-FFF2-40B4-BE49-F238E27FC236}">
                <a16:creationId xmlns:a16="http://schemas.microsoft.com/office/drawing/2014/main" id="{7F3D15F2-D6DB-81D8-AB81-8900FFB25717}"/>
              </a:ext>
            </a:extLst>
          </p:cNvPr>
          <p:cNvPicPr>
            <a:picLocks noChangeAspect="1"/>
          </p:cNvPicPr>
          <p:nvPr/>
        </p:nvPicPr>
        <p:blipFill>
          <a:blip r:embed="rId8"/>
          <a:stretch>
            <a:fillRect/>
          </a:stretch>
        </p:blipFill>
        <p:spPr>
          <a:xfrm>
            <a:off x="420428" y="1924285"/>
            <a:ext cx="11351253" cy="4185762"/>
          </a:xfrm>
          <a:prstGeom prst="rect">
            <a:avLst/>
          </a:prstGeom>
        </p:spPr>
      </p:pic>
    </p:spTree>
    <p:extLst>
      <p:ext uri="{BB962C8B-B14F-4D97-AF65-F5344CB8AC3E}">
        <p14:creationId xmlns:p14="http://schemas.microsoft.com/office/powerpoint/2010/main" val="2291401921"/>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35</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303C1C7C00F045B33B06D7CDCE8711" ma:contentTypeVersion="6" ma:contentTypeDescription="Create a new document." ma:contentTypeScope="" ma:versionID="d2955efeaedeea000cf8c17f03f58435">
  <xsd:schema xmlns:xsd="http://www.w3.org/2001/XMLSchema" xmlns:xs="http://www.w3.org/2001/XMLSchema" xmlns:p="http://schemas.microsoft.com/office/2006/metadata/properties" xmlns:ns3="9b18da4c-8642-4680-9c2c-33eac315f718" targetNamespace="http://schemas.microsoft.com/office/2006/metadata/properties" ma:root="true" ma:fieldsID="5414c9e87e62002766041a340a06b184" ns3:_="">
    <xsd:import namespace="9b18da4c-8642-4680-9c2c-33eac315f71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18da4c-8642-4680-9c2c-33eac315f71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b18da4c-8642-4680-9c2c-33eac315f71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63F32B-DB27-4772-A99D-8D401B0B7788}">
  <ds:schemaRefs>
    <ds:schemaRef ds:uri="9b18da4c-8642-4680-9c2c-33eac315f7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A1D77A6-2E04-4FBF-B8B1-91FE70016759}">
  <ds:schemaRefs>
    <ds:schemaRef ds:uri="9b18da4c-8642-4680-9c2c-33eac315f7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932C887-964E-4E2A-B167-32B304D2C0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4746</Words>
  <Application>Microsoft Office PowerPoint</Application>
  <PresentationFormat>Widescreen</PresentationFormat>
  <Paragraphs>464</Paragraphs>
  <Slides>35</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Amazon Ember</vt:lpstr>
      <vt:lpstr>Amazon Ember Light</vt:lpstr>
      <vt:lpstr>Aptos</vt:lpstr>
      <vt:lpstr>Aptos Display</vt:lpstr>
      <vt:lpstr>Arial</vt:lpstr>
      <vt:lpstr>Calibri</vt:lpstr>
      <vt:lpstr>Helvetica Neue</vt:lpstr>
      <vt:lpstr>Lato</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Nikunj Singhal</dc:creator>
  <cp:lastModifiedBy>Nikunj Singhal</cp:lastModifiedBy>
  <cp:revision>6</cp:revision>
  <dcterms:created xsi:type="dcterms:W3CDTF">2024-09-17T07:16:25Z</dcterms:created>
  <dcterms:modified xsi:type="dcterms:W3CDTF">2024-09-27T10:02:56Z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0x01010096303C1C7C00F045B33B06D7CDCE8711</vt:lpwstr>
  </property>
</Properties>
</file>