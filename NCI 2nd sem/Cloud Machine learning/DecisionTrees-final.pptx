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8" r:id="rId2"/>
    <p:sldId id="259" r:id="rId3"/>
    <p:sldId id="260" r:id="rId4"/>
    <p:sldId id="29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01" r:id="rId21"/>
    <p:sldId id="296" r:id="rId22"/>
    <p:sldId id="292" r:id="rId23"/>
    <p:sldId id="293" r:id="rId24"/>
    <p:sldId id="297" r:id="rId25"/>
    <p:sldId id="298" r:id="rId26"/>
    <p:sldId id="302" r:id="rId27"/>
    <p:sldId id="299" r:id="rId28"/>
    <p:sldId id="300" r:id="rId29"/>
    <p:sldId id="294" r:id="rId3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37"/>
  </p:normalViewPr>
  <p:slideViewPr>
    <p:cSldViewPr>
      <p:cViewPr varScale="1">
        <p:scale>
          <a:sx n="203" d="100"/>
          <a:sy n="203" d="100"/>
        </p:scale>
        <p:origin x="168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4789E-7302-2C44-B8F9-722E1C49F82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86463-1B43-4642-A572-6E4052817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4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08004" cy="34559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2302" y="919386"/>
            <a:ext cx="132397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71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7AEE-02AD-6D41-9758-C898C04CAB38}" type="datetime1">
              <a:rPr lang="en-IN" smtClean="0"/>
              <a:t>25/03/26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874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71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5FA79-4C19-6C49-B66F-7703040ECB8C}" type="datetime1">
              <a:rPr lang="en-IN" smtClean="0"/>
              <a:t>25/03/26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874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71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923C9-3D7F-FD41-BE2E-1C8D5682F888}" type="datetime1">
              <a:rPr lang="en-IN" smtClean="0"/>
              <a:t>25/03/26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874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71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01F26-ED0F-9548-81C6-F4DAE5308462}" type="datetime1">
              <a:rPr lang="en-IN" smtClean="0"/>
              <a:t>25/03/26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874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B98FE-1784-C94D-9570-EE39BCD72677}" type="datetime1">
              <a:rPr lang="en-IN" smtClean="0"/>
              <a:t>25/03/26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874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608004" cy="34559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44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71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2302" y="884891"/>
            <a:ext cx="3796029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0F5EA-72DC-7046-A181-3B5B22CB07BF}" type="datetime1">
              <a:rPr lang="en-IN" smtClean="0"/>
              <a:t>25/03/26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19918" y="3200220"/>
            <a:ext cx="238125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874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8948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What</a:t>
            </a:r>
            <a:r>
              <a:rPr spc="-80" dirty="0"/>
              <a:t> </a:t>
            </a:r>
            <a:r>
              <a:rPr spc="-45" dirty="0"/>
              <a:t>are</a:t>
            </a:r>
            <a:r>
              <a:rPr spc="-75" dirty="0"/>
              <a:t> </a:t>
            </a:r>
            <a:r>
              <a:rPr spc="-35" dirty="0"/>
              <a:t>Decision</a:t>
            </a:r>
            <a:r>
              <a:rPr spc="-75" dirty="0"/>
              <a:t> </a:t>
            </a:r>
            <a:r>
              <a:rPr spc="-45" dirty="0"/>
              <a:t>Trees?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3364" y="3200220"/>
            <a:ext cx="194945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2/38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277" y="975206"/>
            <a:ext cx="3799840" cy="183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  <a:p>
            <a:pPr marL="289560" indent="-137795">
              <a:lnSpc>
                <a:spcPct val="100000"/>
              </a:lnSpc>
              <a:spcBef>
                <a:spcPts val="915"/>
              </a:spcBef>
              <a:buClr>
                <a:srgbClr val="0071B2"/>
              </a:buClr>
              <a:buFont typeface="Yu Gothic UI"/>
              <a:buChar char="•"/>
              <a:tabLst>
                <a:tab pos="290195" algn="l"/>
              </a:tabLst>
            </a:pPr>
            <a:r>
              <a:rPr sz="1100" spc="-40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machine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applies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divide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and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75" dirty="0">
                <a:solidFill>
                  <a:srgbClr val="6393ED"/>
                </a:solidFill>
                <a:latin typeface="Tahoma"/>
                <a:cs typeface="Tahoma"/>
              </a:rPr>
              <a:t>conquer</a:t>
            </a:r>
            <a:endParaRPr sz="1100">
              <a:latin typeface="Tahoma"/>
              <a:cs typeface="Tahoma"/>
            </a:endParaRPr>
          </a:p>
          <a:p>
            <a:pPr marL="293370" marR="217804">
              <a:lnSpc>
                <a:spcPct val="118000"/>
              </a:lnSpc>
            </a:pPr>
            <a:r>
              <a:rPr sz="1100" spc="-55" dirty="0">
                <a:latin typeface="Tahoma"/>
                <a:cs typeface="Tahoma"/>
              </a:rPr>
              <a:t>approach,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spitting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data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smaller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smaller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35" dirty="0">
                <a:latin typeface="Tahoma"/>
                <a:cs typeface="Tahoma"/>
              </a:rPr>
              <a:t>identify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patterns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used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prediction.</a:t>
            </a:r>
            <a:endParaRPr sz="1100">
              <a:latin typeface="Tahoma"/>
              <a:cs typeface="Tahoma"/>
            </a:endParaRPr>
          </a:p>
          <a:p>
            <a:pPr marL="293370" marR="180340" indent="-141605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290195" algn="l"/>
              </a:tabLst>
            </a:pPr>
            <a:r>
              <a:rPr sz="1100" spc="-45" dirty="0">
                <a:latin typeface="Tahoma"/>
                <a:cs typeface="Tahoma"/>
              </a:rPr>
              <a:t>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inductive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learning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task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where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features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used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form </a:t>
            </a:r>
            <a:r>
              <a:rPr sz="1100" spc="-50" dirty="0">
                <a:latin typeface="Tahoma"/>
                <a:cs typeface="Tahoma"/>
              </a:rPr>
              <a:t>generalised</a:t>
            </a:r>
            <a:r>
              <a:rPr sz="1100" spc="-10" dirty="0">
                <a:latin typeface="Tahoma"/>
                <a:cs typeface="Tahoma"/>
              </a:rPr>
              <a:t> conclusions.</a:t>
            </a:r>
            <a:endParaRPr sz="1100">
              <a:latin typeface="Tahoma"/>
              <a:cs typeface="Tahoma"/>
            </a:endParaRPr>
          </a:p>
          <a:p>
            <a:pPr marL="293370" marR="5080" indent="-141605">
              <a:lnSpc>
                <a:spcPct val="118000"/>
              </a:lnSpc>
              <a:spcBef>
                <a:spcPts val="675"/>
              </a:spcBef>
              <a:buClr>
                <a:srgbClr val="0071B2"/>
              </a:buClr>
              <a:buFont typeface="Yu Gothic UI"/>
              <a:buChar char="•"/>
              <a:tabLst>
                <a:tab pos="290195" algn="l"/>
              </a:tabLst>
            </a:pPr>
            <a:r>
              <a:rPr sz="1100" spc="-40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predictive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based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</a:t>
            </a:r>
            <a:r>
              <a:rPr sz="1100" spc="-65" dirty="0">
                <a:latin typeface="Tahoma"/>
                <a:cs typeface="Tahoma"/>
              </a:rPr>
              <a:t> a </a:t>
            </a:r>
            <a:r>
              <a:rPr sz="1100" spc="-45" dirty="0">
                <a:latin typeface="Tahoma"/>
                <a:cs typeface="Tahoma"/>
              </a:rPr>
              <a:t>series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branching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85" dirty="0">
                <a:solidFill>
                  <a:srgbClr val="6393ED"/>
                </a:solidFill>
                <a:latin typeface="Tahoma"/>
                <a:cs typeface="Tahoma"/>
              </a:rPr>
              <a:t>conditional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tests</a:t>
            </a:r>
            <a:r>
              <a:rPr sz="1100" spc="-114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essentially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representing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logical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structures.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35" dirty="0"/>
              <a:t>Decision</a:t>
            </a:r>
            <a:r>
              <a:rPr spc="-45" dirty="0"/>
              <a:t> </a:t>
            </a:r>
            <a:r>
              <a:rPr spc="-10" dirty="0"/>
              <a:t>Trees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45" dirty="0">
                <a:solidFill>
                  <a:srgbClr val="3F3F3F"/>
                </a:solidFill>
                <a:latin typeface="Verdana"/>
                <a:cs typeface="Verdana"/>
              </a:rPr>
              <a:t>Inductive</a:t>
            </a:r>
            <a:r>
              <a:rPr sz="1200" i="1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20" dirty="0">
                <a:solidFill>
                  <a:srgbClr val="3F3F3F"/>
                </a:solidFill>
                <a:latin typeface="Verdana"/>
                <a:cs typeface="Verdana"/>
              </a:rPr>
              <a:t>Learning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3364" y="3200220"/>
            <a:ext cx="194945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3/38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281" y="942947"/>
            <a:ext cx="3664585" cy="990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236854" indent="-141605">
              <a:lnSpc>
                <a:spcPct val="1180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5" dirty="0">
                <a:latin typeface="Tahoma"/>
                <a:cs typeface="Tahoma"/>
              </a:rPr>
              <a:t>Inductive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learning,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also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learning</a:t>
            </a:r>
            <a:r>
              <a:rPr sz="1100" spc="-60" dirty="0">
                <a:latin typeface="Tahoma"/>
                <a:cs typeface="Tahoma"/>
              </a:rPr>
              <a:t> by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example </a:t>
            </a:r>
            <a:r>
              <a:rPr sz="1100" spc="-25" dirty="0">
                <a:latin typeface="Tahoma"/>
                <a:cs typeface="Tahoma"/>
              </a:rPr>
              <a:t>or </a:t>
            </a:r>
            <a:r>
              <a:rPr sz="1100" spc="-50" dirty="0">
                <a:latin typeface="Tahoma"/>
                <a:cs typeface="Tahoma"/>
              </a:rPr>
              <a:t>discovery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learning,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process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where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rules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 </a:t>
            </a:r>
            <a:r>
              <a:rPr sz="1100" spc="-50" dirty="0">
                <a:latin typeface="Tahoma"/>
                <a:cs typeface="Tahoma"/>
              </a:rPr>
              <a:t>observing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examples.</a:t>
            </a:r>
            <a:endParaRPr sz="1100" dirty="0">
              <a:latin typeface="Tahoma"/>
              <a:cs typeface="Tahoma"/>
            </a:endParaRPr>
          </a:p>
          <a:p>
            <a:pPr marL="153670" marR="70485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80" dirty="0">
                <a:latin typeface="Tahoma"/>
                <a:cs typeface="Tahoma"/>
              </a:rPr>
              <a:t>Trees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place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high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information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5" dirty="0">
                <a:solidFill>
                  <a:srgbClr val="6393ED"/>
                </a:solidFill>
                <a:latin typeface="Tahoma"/>
                <a:cs typeface="Tahoma"/>
              </a:rPr>
              <a:t>gain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attributes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close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the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root</a:t>
            </a:r>
            <a:r>
              <a:rPr sz="1100" b="1" spc="-6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also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preferred.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35" dirty="0"/>
              <a:t>Decision</a:t>
            </a:r>
            <a:r>
              <a:rPr spc="-45" dirty="0"/>
              <a:t> </a:t>
            </a:r>
            <a:r>
              <a:rPr spc="-10" dirty="0"/>
              <a:t>Trees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65" dirty="0">
                <a:solidFill>
                  <a:srgbClr val="3F3F3F"/>
                </a:solidFill>
                <a:latin typeface="Verdana"/>
                <a:cs typeface="Verdana"/>
              </a:rPr>
              <a:t>Why</a:t>
            </a:r>
            <a:r>
              <a:rPr sz="12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0" dirty="0">
                <a:solidFill>
                  <a:srgbClr val="3F3F3F"/>
                </a:solidFill>
                <a:latin typeface="Verdana"/>
                <a:cs typeface="Verdana"/>
              </a:rPr>
              <a:t>prefer</a:t>
            </a:r>
            <a:r>
              <a:rPr sz="12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shorter</a:t>
            </a:r>
            <a:r>
              <a:rPr sz="12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0" dirty="0">
                <a:solidFill>
                  <a:srgbClr val="3F3F3F"/>
                </a:solidFill>
                <a:latin typeface="Verdana"/>
                <a:cs typeface="Verdana"/>
              </a:rPr>
              <a:t>hypotheses?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3364" y="3200220"/>
            <a:ext cx="194945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4/38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281" y="1258554"/>
            <a:ext cx="3630295" cy="14109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53670" indent="-141605">
              <a:lnSpc>
                <a:spcPct val="100000"/>
              </a:lnSpc>
              <a:spcBef>
                <a:spcPts val="34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0" dirty="0">
                <a:latin typeface="Tahoma"/>
                <a:cs typeface="Tahoma"/>
              </a:rPr>
              <a:t>Smaller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trees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preferred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trees.</a:t>
            </a:r>
            <a:endParaRPr sz="1100">
              <a:latin typeface="Tahoma"/>
              <a:cs typeface="Tahoma"/>
            </a:endParaRPr>
          </a:p>
          <a:p>
            <a:pPr marL="153670" marR="71755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60" dirty="0">
                <a:latin typeface="Tahoma"/>
                <a:cs typeface="Tahoma"/>
              </a:rPr>
              <a:t>Occam’s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Razor </a:t>
            </a:r>
            <a:r>
              <a:rPr sz="1100" spc="-75" dirty="0">
                <a:latin typeface="Tahoma"/>
                <a:cs typeface="Tahoma"/>
              </a:rPr>
              <a:t>-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prefer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simplest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hypothesis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explains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  <a:p>
            <a:pPr marL="153670" marR="5080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0" dirty="0">
                <a:latin typeface="Tahoma"/>
                <a:cs typeface="Tahoma"/>
              </a:rPr>
              <a:t>For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example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two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trees,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with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50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nodes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other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with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5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nodes,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second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should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</a:t>
            </a:r>
            <a:endParaRPr sz="110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240"/>
              </a:spcBef>
            </a:pPr>
            <a:r>
              <a:rPr sz="1100" spc="-10" dirty="0">
                <a:latin typeface="Tahoma"/>
                <a:cs typeface="Tahoma"/>
              </a:rPr>
              <a:t>preferred.</a:t>
            </a:r>
            <a:endParaRPr sz="1100">
              <a:latin typeface="Tahoma"/>
              <a:cs typeface="Tahoma"/>
            </a:endParaRPr>
          </a:p>
          <a:p>
            <a:pPr marL="149860" indent="-137795">
              <a:lnSpc>
                <a:spcPct val="100000"/>
              </a:lnSpc>
              <a:spcBef>
                <a:spcPts val="235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60" dirty="0">
                <a:latin typeface="Tahoma"/>
                <a:cs typeface="Tahoma"/>
              </a:rPr>
              <a:t>This</a:t>
            </a:r>
            <a:r>
              <a:rPr sz="1100" spc="-65" dirty="0">
                <a:latin typeface="Tahoma"/>
                <a:cs typeface="Tahoma"/>
              </a:rPr>
              <a:t> gives us a </a:t>
            </a:r>
            <a:r>
              <a:rPr sz="1100" spc="-40" dirty="0">
                <a:latin typeface="Tahoma"/>
                <a:cs typeface="Tahoma"/>
              </a:rPr>
              <a:t>better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chance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avoid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over-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fitting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2302" y="278281"/>
            <a:ext cx="2911475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lang="en-US" sz="1400" spc="-70" dirty="0">
                <a:solidFill>
                  <a:srgbClr val="0071B2"/>
                </a:solidFill>
                <a:latin typeface="Tahoma"/>
                <a:cs typeface="Tahoma"/>
              </a:rPr>
              <a:t>Decision Tree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60" dirty="0">
                <a:solidFill>
                  <a:srgbClr val="3F3F3F"/>
                </a:solidFill>
                <a:latin typeface="Verdana"/>
                <a:cs typeface="Verdana"/>
              </a:rPr>
              <a:t>Example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9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using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Information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75" dirty="0">
                <a:solidFill>
                  <a:srgbClr val="3F3F3F"/>
                </a:solidFill>
                <a:latin typeface="Verdana"/>
                <a:cs typeface="Verdana"/>
              </a:rPr>
              <a:t>Gain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0623" y="3200220"/>
            <a:ext cx="227329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ahoma"/>
                <a:cs typeface="Tahoma"/>
              </a:rPr>
              <a:t>11/38</a:t>
            </a:r>
            <a:endParaRPr sz="6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38707" y="899706"/>
          <a:ext cx="1930398" cy="2214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454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70" dirty="0">
                          <a:latin typeface="Tahoma"/>
                          <a:cs typeface="Tahoma"/>
                        </a:rPr>
                        <a:t>Day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Outlook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Humidity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Wind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50" dirty="0">
                          <a:latin typeface="Tahoma"/>
                          <a:cs typeface="Tahoma"/>
                        </a:rPr>
                        <a:t>Play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469721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6802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Decision</a:t>
            </a:r>
            <a:r>
              <a:rPr spc="-70" dirty="0"/>
              <a:t> </a:t>
            </a:r>
            <a:r>
              <a:rPr spc="-80" dirty="0"/>
              <a:t>Tree</a:t>
            </a:r>
            <a:r>
              <a:rPr spc="-65" dirty="0"/>
              <a:t> </a:t>
            </a:r>
            <a:r>
              <a:rPr spc="-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302" y="518055"/>
            <a:ext cx="14262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65" dirty="0">
                <a:solidFill>
                  <a:srgbClr val="3F3F3F"/>
                </a:solidFill>
                <a:latin typeface="Verdana"/>
                <a:cs typeface="Verdana"/>
              </a:rPr>
              <a:t>Should</a:t>
            </a:r>
            <a:r>
              <a:rPr sz="12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45" dirty="0">
                <a:solidFill>
                  <a:srgbClr val="3F3F3F"/>
                </a:solidFill>
                <a:latin typeface="Verdana"/>
                <a:cs typeface="Verdana"/>
              </a:rPr>
              <a:t>we</a:t>
            </a:r>
            <a:r>
              <a:rPr sz="1200" i="1" spc="-125" dirty="0">
                <a:solidFill>
                  <a:srgbClr val="3F3F3F"/>
                </a:solidFill>
                <a:latin typeface="Verdana"/>
                <a:cs typeface="Verdana"/>
              </a:rPr>
              <a:t> play 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tennis?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7431" y="869130"/>
            <a:ext cx="3193415" cy="954405"/>
            <a:chOff x="707431" y="869130"/>
            <a:chExt cx="3193415" cy="954405"/>
          </a:xfrm>
        </p:grpSpPr>
        <p:sp>
          <p:nvSpPr>
            <p:cNvPr id="5" name="object 5"/>
            <p:cNvSpPr/>
            <p:nvPr/>
          </p:nvSpPr>
          <p:spPr>
            <a:xfrm>
              <a:off x="1350151" y="871670"/>
              <a:ext cx="1937385" cy="396875"/>
            </a:xfrm>
            <a:custGeom>
              <a:avLst/>
              <a:gdLst/>
              <a:ahLst/>
              <a:cxnLst/>
              <a:rect l="l" t="t" r="r" b="b"/>
              <a:pathLst>
                <a:path w="1937385" h="396875">
                  <a:moveTo>
                    <a:pt x="953888" y="0"/>
                  </a:moveTo>
                  <a:lnTo>
                    <a:pt x="1937271" y="392999"/>
                  </a:lnTo>
                </a:path>
                <a:path w="1937385" h="396875">
                  <a:moveTo>
                    <a:pt x="953888" y="0"/>
                  </a:moveTo>
                  <a:lnTo>
                    <a:pt x="0" y="39686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4045" y="871670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5">
                  <a:moveTo>
                    <a:pt x="0" y="290529"/>
                  </a:moveTo>
                  <a:lnTo>
                    <a:pt x="0" y="437060"/>
                  </a:lnTo>
                </a:path>
                <a:path h="437515">
                  <a:moveTo>
                    <a:pt x="0" y="0"/>
                  </a:moveTo>
                  <a:lnTo>
                    <a:pt x="0" y="110527"/>
                  </a:lnTo>
                </a:path>
              </a:pathLst>
            </a:custGeom>
            <a:ln w="5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9971" y="1444319"/>
              <a:ext cx="3188335" cy="376555"/>
            </a:xfrm>
            <a:custGeom>
              <a:avLst/>
              <a:gdLst/>
              <a:ahLst/>
              <a:cxnLst/>
              <a:rect l="l" t="t" r="r" b="b"/>
              <a:pathLst>
                <a:path w="3188335" h="376555">
                  <a:moveTo>
                    <a:pt x="640179" y="0"/>
                  </a:moveTo>
                  <a:lnTo>
                    <a:pt x="0" y="353415"/>
                  </a:lnTo>
                </a:path>
                <a:path w="3188335" h="376555">
                  <a:moveTo>
                    <a:pt x="640179" y="0"/>
                  </a:moveTo>
                  <a:lnTo>
                    <a:pt x="1339164" y="361570"/>
                  </a:lnTo>
                </a:path>
                <a:path w="3188335" h="376555">
                  <a:moveTo>
                    <a:pt x="2577451" y="13568"/>
                  </a:moveTo>
                  <a:lnTo>
                    <a:pt x="1980772" y="366984"/>
                  </a:lnTo>
                </a:path>
                <a:path w="3188335" h="376555">
                  <a:moveTo>
                    <a:pt x="2577451" y="13568"/>
                  </a:moveTo>
                  <a:lnTo>
                    <a:pt x="3188320" y="37642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34030" y="698417"/>
            <a:ext cx="540385" cy="17081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Tahoma"/>
                <a:cs typeface="Tahoma"/>
              </a:rPr>
              <a:t>Outlook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7032" y="976023"/>
            <a:ext cx="1183640" cy="1885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40"/>
              </a:spcBef>
            </a:pPr>
            <a:r>
              <a:rPr sz="1350" spc="-15" baseline="3086" dirty="0">
                <a:latin typeface="Tahoma"/>
                <a:cs typeface="Tahoma"/>
              </a:rPr>
              <a:t>Rainy</a:t>
            </a:r>
            <a:r>
              <a:rPr sz="1350" spc="247" baseline="3086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Overcast</a:t>
            </a:r>
            <a:r>
              <a:rPr sz="900" spc="165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Sunny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7410" y="1267199"/>
            <a:ext cx="540385" cy="18859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Tahoma"/>
                <a:cs typeface="Tahoma"/>
              </a:rPr>
              <a:t>Humidity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0145" y="1271065"/>
            <a:ext cx="540385" cy="17081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75"/>
              </a:spcBef>
            </a:pPr>
            <a:r>
              <a:rPr sz="900" spc="-20" dirty="0">
                <a:latin typeface="Tahoma"/>
                <a:cs typeface="Tahoma"/>
              </a:rPr>
              <a:t>Wind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3040" y="1548673"/>
            <a:ext cx="391160" cy="1885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52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Tahoma"/>
                <a:cs typeface="Tahoma"/>
              </a:rPr>
              <a:t>Windy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547" y="1548673"/>
            <a:ext cx="325120" cy="180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97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10"/>
              </a:spcBef>
            </a:pPr>
            <a:r>
              <a:rPr sz="900" spc="-20" dirty="0">
                <a:latin typeface="Tahoma"/>
                <a:cs typeface="Tahoma"/>
              </a:rPr>
              <a:t>Calm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73307" y="1562242"/>
            <a:ext cx="281305" cy="180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Low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0311" y="1562242"/>
            <a:ext cx="302895" cy="189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0"/>
              </a:spcBef>
            </a:pPr>
            <a:r>
              <a:rPr sz="900" spc="-20" dirty="0">
                <a:latin typeface="Tahoma"/>
                <a:cs typeface="Tahoma"/>
              </a:rPr>
              <a:t>High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38541" y="1823267"/>
            <a:ext cx="320040" cy="236220"/>
          </a:xfrm>
          <a:custGeom>
            <a:avLst/>
            <a:gdLst/>
            <a:ahLst/>
            <a:cxnLst/>
            <a:rect l="l" t="t" r="r" b="b"/>
            <a:pathLst>
              <a:path w="320039" h="236219">
                <a:moveTo>
                  <a:pt x="319479" y="117985"/>
                </a:moveTo>
                <a:lnTo>
                  <a:pt x="311336" y="80692"/>
                </a:lnTo>
                <a:lnTo>
                  <a:pt x="288659" y="48304"/>
                </a:lnTo>
                <a:lnTo>
                  <a:pt x="254080" y="22764"/>
                </a:lnTo>
                <a:lnTo>
                  <a:pt x="210230" y="6014"/>
                </a:lnTo>
                <a:lnTo>
                  <a:pt x="159740" y="0"/>
                </a:lnTo>
                <a:lnTo>
                  <a:pt x="109249" y="6014"/>
                </a:lnTo>
                <a:lnTo>
                  <a:pt x="65399" y="22764"/>
                </a:lnTo>
                <a:lnTo>
                  <a:pt x="30820" y="48304"/>
                </a:lnTo>
                <a:lnTo>
                  <a:pt x="8143" y="80692"/>
                </a:lnTo>
                <a:lnTo>
                  <a:pt x="0" y="117985"/>
                </a:lnTo>
                <a:lnTo>
                  <a:pt x="8143" y="155278"/>
                </a:lnTo>
                <a:lnTo>
                  <a:pt x="30820" y="187666"/>
                </a:lnTo>
                <a:lnTo>
                  <a:pt x="65399" y="213206"/>
                </a:lnTo>
                <a:lnTo>
                  <a:pt x="109249" y="229955"/>
                </a:lnTo>
                <a:lnTo>
                  <a:pt x="159740" y="235970"/>
                </a:lnTo>
                <a:lnTo>
                  <a:pt x="210230" y="229955"/>
                </a:lnTo>
                <a:lnTo>
                  <a:pt x="254080" y="213206"/>
                </a:lnTo>
                <a:lnTo>
                  <a:pt x="288659" y="187666"/>
                </a:lnTo>
                <a:lnTo>
                  <a:pt x="311336" y="155278"/>
                </a:lnTo>
                <a:lnTo>
                  <a:pt x="319479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18763" y="1851083"/>
            <a:ext cx="1593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No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20416" y="1813831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4" h="236219">
                <a:moveTo>
                  <a:pt x="340640" y="117985"/>
                </a:moveTo>
                <a:lnTo>
                  <a:pt x="331957" y="80692"/>
                </a:lnTo>
                <a:lnTo>
                  <a:pt x="307778" y="48304"/>
                </a:lnTo>
                <a:lnTo>
                  <a:pt x="270909" y="22764"/>
                </a:lnTo>
                <a:lnTo>
                  <a:pt x="224155" y="6014"/>
                </a:lnTo>
                <a:lnTo>
                  <a:pt x="170320" y="0"/>
                </a:lnTo>
                <a:lnTo>
                  <a:pt x="116485" y="6014"/>
                </a:lnTo>
                <a:lnTo>
                  <a:pt x="69730" y="22764"/>
                </a:lnTo>
                <a:lnTo>
                  <a:pt x="32861" y="48304"/>
                </a:lnTo>
                <a:lnTo>
                  <a:pt x="8682" y="80692"/>
                </a:lnTo>
                <a:lnTo>
                  <a:pt x="0" y="117985"/>
                </a:lnTo>
                <a:lnTo>
                  <a:pt x="8682" y="155278"/>
                </a:lnTo>
                <a:lnTo>
                  <a:pt x="32861" y="187666"/>
                </a:lnTo>
                <a:lnTo>
                  <a:pt x="69730" y="213206"/>
                </a:lnTo>
                <a:lnTo>
                  <a:pt x="116485" y="229956"/>
                </a:lnTo>
                <a:lnTo>
                  <a:pt x="170320" y="235970"/>
                </a:lnTo>
                <a:lnTo>
                  <a:pt x="224155" y="229956"/>
                </a:lnTo>
                <a:lnTo>
                  <a:pt x="270909" y="213206"/>
                </a:lnTo>
                <a:lnTo>
                  <a:pt x="307778" y="187666"/>
                </a:lnTo>
                <a:lnTo>
                  <a:pt x="331957" y="155278"/>
                </a:lnTo>
                <a:lnTo>
                  <a:pt x="340640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03754" y="1841647"/>
            <a:ext cx="17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latin typeface="Tahoma"/>
                <a:cs typeface="Tahoma"/>
              </a:rPr>
              <a:t>Yes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89391" y="1808418"/>
            <a:ext cx="320040" cy="236220"/>
          </a:xfrm>
          <a:custGeom>
            <a:avLst/>
            <a:gdLst/>
            <a:ahLst/>
            <a:cxnLst/>
            <a:rect l="l" t="t" r="r" b="b"/>
            <a:pathLst>
              <a:path w="320039" h="236219">
                <a:moveTo>
                  <a:pt x="319479" y="117985"/>
                </a:moveTo>
                <a:lnTo>
                  <a:pt x="311336" y="80692"/>
                </a:lnTo>
                <a:lnTo>
                  <a:pt x="288659" y="48304"/>
                </a:lnTo>
                <a:lnTo>
                  <a:pt x="254080" y="22764"/>
                </a:lnTo>
                <a:lnTo>
                  <a:pt x="210230" y="6014"/>
                </a:lnTo>
                <a:lnTo>
                  <a:pt x="159739" y="0"/>
                </a:lnTo>
                <a:lnTo>
                  <a:pt x="109249" y="6014"/>
                </a:lnTo>
                <a:lnTo>
                  <a:pt x="65399" y="22764"/>
                </a:lnTo>
                <a:lnTo>
                  <a:pt x="30820" y="48304"/>
                </a:lnTo>
                <a:lnTo>
                  <a:pt x="8143" y="80692"/>
                </a:lnTo>
                <a:lnTo>
                  <a:pt x="0" y="117985"/>
                </a:lnTo>
                <a:lnTo>
                  <a:pt x="8143" y="155277"/>
                </a:lnTo>
                <a:lnTo>
                  <a:pt x="30820" y="187666"/>
                </a:lnTo>
                <a:lnTo>
                  <a:pt x="65399" y="213206"/>
                </a:lnTo>
                <a:lnTo>
                  <a:pt x="109249" y="229955"/>
                </a:lnTo>
                <a:lnTo>
                  <a:pt x="159739" y="235970"/>
                </a:lnTo>
                <a:lnTo>
                  <a:pt x="210230" y="229955"/>
                </a:lnTo>
                <a:lnTo>
                  <a:pt x="254080" y="213206"/>
                </a:lnTo>
                <a:lnTo>
                  <a:pt x="288659" y="187666"/>
                </a:lnTo>
                <a:lnTo>
                  <a:pt x="311336" y="155277"/>
                </a:lnTo>
                <a:lnTo>
                  <a:pt x="319479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69630" y="1836237"/>
            <a:ext cx="1593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No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9650" y="1800263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4" h="236219">
                <a:moveTo>
                  <a:pt x="340640" y="117985"/>
                </a:moveTo>
                <a:lnTo>
                  <a:pt x="331957" y="80692"/>
                </a:lnTo>
                <a:lnTo>
                  <a:pt x="307778" y="48304"/>
                </a:lnTo>
                <a:lnTo>
                  <a:pt x="270909" y="22764"/>
                </a:lnTo>
                <a:lnTo>
                  <a:pt x="224155" y="6014"/>
                </a:lnTo>
                <a:lnTo>
                  <a:pt x="170320" y="0"/>
                </a:lnTo>
                <a:lnTo>
                  <a:pt x="116485" y="6014"/>
                </a:lnTo>
                <a:lnTo>
                  <a:pt x="69730" y="22764"/>
                </a:lnTo>
                <a:lnTo>
                  <a:pt x="32861" y="48304"/>
                </a:lnTo>
                <a:lnTo>
                  <a:pt x="8682" y="80692"/>
                </a:lnTo>
                <a:lnTo>
                  <a:pt x="0" y="117985"/>
                </a:lnTo>
                <a:lnTo>
                  <a:pt x="8682" y="155278"/>
                </a:lnTo>
                <a:lnTo>
                  <a:pt x="32861" y="187666"/>
                </a:lnTo>
                <a:lnTo>
                  <a:pt x="69730" y="213206"/>
                </a:lnTo>
                <a:lnTo>
                  <a:pt x="116485" y="229955"/>
                </a:lnTo>
                <a:lnTo>
                  <a:pt x="170320" y="235970"/>
                </a:lnTo>
                <a:lnTo>
                  <a:pt x="224155" y="229955"/>
                </a:lnTo>
                <a:lnTo>
                  <a:pt x="270909" y="213206"/>
                </a:lnTo>
                <a:lnTo>
                  <a:pt x="307778" y="187666"/>
                </a:lnTo>
                <a:lnTo>
                  <a:pt x="331957" y="155278"/>
                </a:lnTo>
                <a:lnTo>
                  <a:pt x="340640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3011" y="1828083"/>
            <a:ext cx="17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latin typeface="Tahoma"/>
                <a:cs typeface="Tahoma"/>
              </a:rPr>
              <a:t>Yes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33725" y="1311260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4" h="236219">
                <a:moveTo>
                  <a:pt x="340640" y="117985"/>
                </a:moveTo>
                <a:lnTo>
                  <a:pt x="331957" y="80692"/>
                </a:lnTo>
                <a:lnTo>
                  <a:pt x="307779" y="48304"/>
                </a:lnTo>
                <a:lnTo>
                  <a:pt x="270909" y="22764"/>
                </a:lnTo>
                <a:lnTo>
                  <a:pt x="224155" y="6014"/>
                </a:lnTo>
                <a:lnTo>
                  <a:pt x="170320" y="0"/>
                </a:lnTo>
                <a:lnTo>
                  <a:pt x="116485" y="6014"/>
                </a:lnTo>
                <a:lnTo>
                  <a:pt x="69730" y="22764"/>
                </a:lnTo>
                <a:lnTo>
                  <a:pt x="32861" y="48304"/>
                </a:lnTo>
                <a:lnTo>
                  <a:pt x="8682" y="80692"/>
                </a:lnTo>
                <a:lnTo>
                  <a:pt x="0" y="117985"/>
                </a:lnTo>
                <a:lnTo>
                  <a:pt x="8682" y="155278"/>
                </a:lnTo>
                <a:lnTo>
                  <a:pt x="32861" y="187666"/>
                </a:lnTo>
                <a:lnTo>
                  <a:pt x="69730" y="213206"/>
                </a:lnTo>
                <a:lnTo>
                  <a:pt x="116485" y="229956"/>
                </a:lnTo>
                <a:lnTo>
                  <a:pt x="170320" y="235970"/>
                </a:lnTo>
                <a:lnTo>
                  <a:pt x="224155" y="229956"/>
                </a:lnTo>
                <a:lnTo>
                  <a:pt x="270909" y="213206"/>
                </a:lnTo>
                <a:lnTo>
                  <a:pt x="307779" y="187666"/>
                </a:lnTo>
                <a:lnTo>
                  <a:pt x="331957" y="155278"/>
                </a:lnTo>
                <a:lnTo>
                  <a:pt x="340640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217064" y="1339082"/>
            <a:ext cx="17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latin typeface="Tahoma"/>
                <a:cs typeface="Tahoma"/>
              </a:rPr>
              <a:t>Yes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9267" y="2213234"/>
            <a:ext cx="3227070" cy="848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8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This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decision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tree</a:t>
            </a:r>
            <a:r>
              <a:rPr sz="1000" spc="-55" dirty="0">
                <a:latin typeface="Tahoma"/>
                <a:cs typeface="Tahoma"/>
              </a:rPr>
              <a:t> can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decomposed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into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following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rules:</a:t>
            </a:r>
            <a:endParaRPr sz="1000">
              <a:latin typeface="Tahoma"/>
              <a:cs typeface="Tahoma"/>
            </a:endParaRPr>
          </a:p>
          <a:p>
            <a:pPr marL="292735" indent="-135890">
              <a:lnSpc>
                <a:spcPts val="1180"/>
              </a:lnSpc>
              <a:buClr>
                <a:srgbClr val="0071B2"/>
              </a:buClr>
              <a:buFont typeface="Yu Gothic UI"/>
              <a:buChar char="•"/>
              <a:tabLst>
                <a:tab pos="293370" algn="l"/>
              </a:tabLst>
            </a:pPr>
            <a:r>
              <a:rPr sz="1000" spc="-30" dirty="0">
                <a:latin typeface="Tahoma"/>
                <a:cs typeface="Tahoma"/>
              </a:rPr>
              <a:t>Outlook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Overcast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⇒</a:t>
            </a:r>
            <a:r>
              <a:rPr sz="1000" b="1" spc="5" dirty="0">
                <a:latin typeface="Yu Gothic UI"/>
                <a:cs typeface="Yu Gothic UI"/>
              </a:rPr>
              <a:t> </a:t>
            </a:r>
            <a:r>
              <a:rPr sz="1000" spc="-20" dirty="0">
                <a:latin typeface="Tahoma"/>
                <a:cs typeface="Tahoma"/>
              </a:rPr>
              <a:t>Yes;</a:t>
            </a:r>
            <a:endParaRPr sz="1000">
              <a:latin typeface="Tahoma"/>
              <a:cs typeface="Tahoma"/>
            </a:endParaRPr>
          </a:p>
          <a:p>
            <a:pPr marL="292735" indent="-135890">
              <a:lnSpc>
                <a:spcPct val="100000"/>
              </a:lnSpc>
              <a:spcBef>
                <a:spcPts val="175"/>
              </a:spcBef>
              <a:buClr>
                <a:srgbClr val="0071B2"/>
              </a:buClr>
              <a:buFont typeface="Yu Gothic UI"/>
              <a:buChar char="•"/>
              <a:tabLst>
                <a:tab pos="293370" algn="l"/>
              </a:tabLst>
            </a:pPr>
            <a:r>
              <a:rPr sz="1000" spc="-30" dirty="0">
                <a:latin typeface="Tahoma"/>
                <a:cs typeface="Tahoma"/>
              </a:rPr>
              <a:t>Outlook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Sunny</a:t>
            </a:r>
            <a:r>
              <a:rPr sz="1000" spc="-8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∧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spc="-40" dirty="0">
                <a:latin typeface="Tahoma"/>
                <a:cs typeface="Tahoma"/>
              </a:rPr>
              <a:t>(Humidity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Low)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⇒</a:t>
            </a:r>
            <a:r>
              <a:rPr sz="1000" b="1" spc="10" dirty="0">
                <a:latin typeface="Yu Gothic UI"/>
                <a:cs typeface="Yu Gothic UI"/>
              </a:rPr>
              <a:t> </a:t>
            </a:r>
            <a:r>
              <a:rPr sz="1000" spc="-20" dirty="0">
                <a:latin typeface="Tahoma"/>
                <a:cs typeface="Tahoma"/>
              </a:rPr>
              <a:t>Yes;</a:t>
            </a:r>
            <a:endParaRPr sz="1000">
              <a:latin typeface="Tahoma"/>
              <a:cs typeface="Tahoma"/>
            </a:endParaRPr>
          </a:p>
          <a:p>
            <a:pPr marL="292735" indent="-135890">
              <a:lnSpc>
                <a:spcPct val="100000"/>
              </a:lnSpc>
              <a:spcBef>
                <a:spcPts val="175"/>
              </a:spcBef>
              <a:buClr>
                <a:srgbClr val="0071B2"/>
              </a:buClr>
              <a:buFont typeface="Yu Gothic UI"/>
              <a:buChar char="•"/>
              <a:tabLst>
                <a:tab pos="293370" algn="l"/>
              </a:tabLst>
            </a:pPr>
            <a:r>
              <a:rPr sz="1000" spc="-30" dirty="0">
                <a:latin typeface="Tahoma"/>
                <a:cs typeface="Tahoma"/>
              </a:rPr>
              <a:t>Outlook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Rain</a:t>
            </a:r>
            <a:r>
              <a:rPr sz="1000" spc="-90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∧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spc="-45" dirty="0">
                <a:latin typeface="Tahoma"/>
                <a:cs typeface="Tahoma"/>
              </a:rPr>
              <a:t>(Wind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Calm)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⇒</a:t>
            </a:r>
            <a:r>
              <a:rPr sz="1000" b="1" spc="5" dirty="0">
                <a:latin typeface="Yu Gothic UI"/>
                <a:cs typeface="Yu Gothic UI"/>
              </a:rPr>
              <a:t> </a:t>
            </a:r>
            <a:r>
              <a:rPr sz="1000" spc="-20" dirty="0">
                <a:latin typeface="Tahoma"/>
                <a:cs typeface="Tahoma"/>
              </a:rPr>
              <a:t>Yes;</a:t>
            </a:r>
            <a:endParaRPr sz="1000">
              <a:latin typeface="Tahoma"/>
              <a:cs typeface="Tahoma"/>
            </a:endParaRPr>
          </a:p>
          <a:p>
            <a:pPr marL="292735" indent="-135890">
              <a:lnSpc>
                <a:spcPct val="100000"/>
              </a:lnSpc>
              <a:spcBef>
                <a:spcPts val="175"/>
              </a:spcBef>
              <a:buClr>
                <a:srgbClr val="0071B2"/>
              </a:buClr>
              <a:buFont typeface="Yu Gothic UI"/>
              <a:buChar char="•"/>
              <a:tabLst>
                <a:tab pos="293370" algn="l"/>
              </a:tabLst>
            </a:pPr>
            <a:r>
              <a:rPr sz="1000" spc="-40" dirty="0">
                <a:latin typeface="Tahoma"/>
                <a:cs typeface="Tahoma"/>
              </a:rPr>
              <a:t>Otherwise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2302" y="3209301"/>
            <a:ext cx="1249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45" dirty="0">
                <a:latin typeface="Tahoma"/>
                <a:cs typeface="Tahoma"/>
              </a:rPr>
              <a:t>Example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from </a:t>
            </a:r>
            <a:r>
              <a:rPr sz="800" spc="-10" dirty="0">
                <a:latin typeface="Tahoma"/>
                <a:cs typeface="Tahoma"/>
              </a:rPr>
              <a:t>Mitchell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spc="-60" dirty="0">
                <a:latin typeface="Tahoma"/>
                <a:cs typeface="Tahoma"/>
              </a:rPr>
              <a:t>(1997).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89539" y="3201332"/>
            <a:ext cx="1689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latin typeface="Tahoma"/>
                <a:cs typeface="Tahoma"/>
              </a:rPr>
              <a:t>5/38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0915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Decision</a:t>
            </a:r>
            <a:r>
              <a:rPr spc="-45" dirty="0"/>
              <a:t> </a:t>
            </a:r>
            <a:r>
              <a:rPr spc="-35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281" y="1021586"/>
            <a:ext cx="3599179" cy="173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9225" indent="-137160">
              <a:lnSpc>
                <a:spcPct val="100000"/>
              </a:lnSpc>
              <a:spcBef>
                <a:spcPts val="90"/>
              </a:spcBef>
              <a:buClr>
                <a:srgbClr val="0071B2"/>
              </a:buClr>
              <a:buFont typeface="Yu Gothic UI"/>
              <a:buChar char="•"/>
              <a:tabLst>
                <a:tab pos="149860" algn="l"/>
              </a:tabLst>
            </a:pPr>
            <a:r>
              <a:rPr sz="1100" spc="-40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decomposed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decision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rules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49225" indent="-137160">
              <a:lnSpc>
                <a:spcPct val="100000"/>
              </a:lnSpc>
              <a:spcBef>
                <a:spcPts val="915"/>
              </a:spcBef>
              <a:buClr>
                <a:srgbClr val="0071B2"/>
              </a:buClr>
              <a:buFont typeface="Yu Gothic UI"/>
              <a:buChar char="•"/>
              <a:tabLst>
                <a:tab pos="149860" algn="l"/>
              </a:tabLst>
            </a:pPr>
            <a:r>
              <a:rPr sz="1100" spc="-40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rule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takes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if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antecedent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14" dirty="0">
                <a:latin typeface="Tahoma"/>
                <a:cs typeface="Tahoma"/>
              </a:rPr>
              <a:t>then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consequent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53670" marR="5080" indent="-141605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slide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could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decomposed </a:t>
            </a:r>
            <a:r>
              <a:rPr sz="1100" spc="-10" dirty="0">
                <a:latin typeface="Tahoma"/>
                <a:cs typeface="Tahoma"/>
              </a:rPr>
              <a:t>into:</a:t>
            </a:r>
            <a:endParaRPr sz="1100">
              <a:latin typeface="Tahoma"/>
              <a:cs typeface="Tahoma"/>
            </a:endParaRPr>
          </a:p>
          <a:p>
            <a:pPr marL="430530" lvl="1" indent="-132715">
              <a:lnSpc>
                <a:spcPct val="100000"/>
              </a:lnSpc>
              <a:spcBef>
                <a:spcPts val="830"/>
              </a:spcBef>
              <a:buClr>
                <a:srgbClr val="0071B2"/>
              </a:buClr>
              <a:buFont typeface="Tahoma"/>
              <a:buChar char="–"/>
              <a:tabLst>
                <a:tab pos="431165" algn="l"/>
              </a:tabLst>
            </a:pPr>
            <a:r>
              <a:rPr sz="1000" b="1" spc="-70" dirty="0">
                <a:latin typeface="Tahoma"/>
                <a:cs typeface="Tahoma"/>
              </a:rPr>
              <a:t>if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Outlook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Overcast}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b="1" spc="-105" dirty="0">
                <a:latin typeface="Tahoma"/>
                <a:cs typeface="Tahoma"/>
              </a:rPr>
              <a:t>then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Yes;</a:t>
            </a:r>
            <a:endParaRPr sz="1000">
              <a:latin typeface="Tahoma"/>
              <a:cs typeface="Tahoma"/>
            </a:endParaRPr>
          </a:p>
          <a:p>
            <a:pPr marL="430530" lvl="1" indent="-132715">
              <a:lnSpc>
                <a:spcPct val="100000"/>
              </a:lnSpc>
              <a:spcBef>
                <a:spcPts val="175"/>
              </a:spcBef>
              <a:buClr>
                <a:srgbClr val="0071B2"/>
              </a:buClr>
              <a:buFont typeface="Tahoma"/>
              <a:buChar char="–"/>
              <a:tabLst>
                <a:tab pos="431165" algn="l"/>
              </a:tabLst>
            </a:pPr>
            <a:r>
              <a:rPr sz="1000" b="1" spc="-90" dirty="0">
                <a:latin typeface="Tahoma"/>
                <a:cs typeface="Tahoma"/>
              </a:rPr>
              <a:t>elseif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Outlook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Sunny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Humidity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Low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b="1" spc="-105" dirty="0">
                <a:latin typeface="Tahoma"/>
                <a:cs typeface="Tahoma"/>
              </a:rPr>
              <a:t>then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Yes;</a:t>
            </a:r>
            <a:endParaRPr sz="1000">
              <a:latin typeface="Tahoma"/>
              <a:cs typeface="Tahoma"/>
            </a:endParaRPr>
          </a:p>
          <a:p>
            <a:pPr marL="430530" lvl="1" indent="-132715">
              <a:lnSpc>
                <a:spcPct val="100000"/>
              </a:lnSpc>
              <a:spcBef>
                <a:spcPts val="175"/>
              </a:spcBef>
              <a:buClr>
                <a:srgbClr val="0071B2"/>
              </a:buClr>
              <a:buFont typeface="Tahoma"/>
              <a:buChar char="–"/>
              <a:tabLst>
                <a:tab pos="431165" algn="l"/>
              </a:tabLst>
            </a:pPr>
            <a:r>
              <a:rPr sz="1000" b="1" spc="-90" dirty="0">
                <a:latin typeface="Tahoma"/>
                <a:cs typeface="Tahoma"/>
              </a:rPr>
              <a:t>elseif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Outlook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Rain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Wind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0" dirty="0">
                <a:latin typeface="Tahoma"/>
                <a:cs typeface="Tahoma"/>
              </a:rPr>
              <a:t> Calm) </a:t>
            </a:r>
            <a:r>
              <a:rPr sz="1000" b="1" spc="-105" dirty="0">
                <a:latin typeface="Tahoma"/>
                <a:cs typeface="Tahoma"/>
              </a:rPr>
              <a:t>then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Yes;</a:t>
            </a:r>
            <a:endParaRPr sz="1000">
              <a:latin typeface="Tahoma"/>
              <a:cs typeface="Tahoma"/>
            </a:endParaRPr>
          </a:p>
          <a:p>
            <a:pPr marL="430530" lvl="1" indent="-132715">
              <a:lnSpc>
                <a:spcPct val="100000"/>
              </a:lnSpc>
              <a:spcBef>
                <a:spcPts val="175"/>
              </a:spcBef>
              <a:buClr>
                <a:srgbClr val="0071B2"/>
              </a:buClr>
              <a:buFont typeface="Tahoma"/>
              <a:buChar char="–"/>
              <a:tabLst>
                <a:tab pos="431165" algn="l"/>
              </a:tabLst>
            </a:pPr>
            <a:r>
              <a:rPr sz="1000" b="1" spc="-95" dirty="0">
                <a:latin typeface="Tahoma"/>
                <a:cs typeface="Tahoma"/>
              </a:rPr>
              <a:t>else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78281"/>
            <a:ext cx="1084580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35" dirty="0"/>
              <a:t>Decision</a:t>
            </a:r>
            <a:r>
              <a:rPr spc="-45" dirty="0"/>
              <a:t> </a:t>
            </a:r>
            <a:r>
              <a:rPr spc="-65" dirty="0"/>
              <a:t>Trees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25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281" y="1102014"/>
            <a:ext cx="3689985" cy="180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177165" indent="-141605">
              <a:lnSpc>
                <a:spcPct val="1180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challenge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trees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determine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which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feature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should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be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used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for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a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split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53670" marR="7620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60" dirty="0">
                <a:latin typeface="Tahoma"/>
                <a:cs typeface="Tahoma"/>
              </a:rPr>
              <a:t>Feature </a:t>
            </a:r>
            <a:r>
              <a:rPr sz="1100" spc="-65" dirty="0">
                <a:latin typeface="Tahoma"/>
                <a:cs typeface="Tahoma"/>
              </a:rPr>
              <a:t>values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that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split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data so </a:t>
            </a:r>
            <a:r>
              <a:rPr sz="1100" spc="-45" dirty="0">
                <a:latin typeface="Tahoma"/>
                <a:cs typeface="Tahoma"/>
              </a:rPr>
              <a:t>that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partitions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only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contain </a:t>
            </a:r>
            <a:r>
              <a:rPr sz="1100" spc="-60" dirty="0">
                <a:latin typeface="Tahoma"/>
                <a:cs typeface="Tahoma"/>
              </a:rPr>
              <a:t>examples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single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class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 </a:t>
            </a:r>
            <a:r>
              <a:rPr sz="1100" spc="-60" dirty="0">
                <a:latin typeface="Tahoma"/>
                <a:cs typeface="Tahoma"/>
              </a:rPr>
              <a:t>such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considered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6393ED"/>
                </a:solidFill>
                <a:latin typeface="Tahoma"/>
                <a:cs typeface="Tahoma"/>
              </a:rPr>
              <a:t>pure</a:t>
            </a:r>
            <a:r>
              <a:rPr sz="1100" spc="-2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50495" marR="5080" indent="-138430" algn="just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0" dirty="0">
                <a:latin typeface="Tahoma"/>
                <a:cs typeface="Tahoma"/>
              </a:rPr>
              <a:t>Categorical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features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split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according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their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discrete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values. </a:t>
            </a:r>
            <a:r>
              <a:rPr sz="1100" spc="-65" dirty="0">
                <a:latin typeface="Tahoma"/>
                <a:cs typeface="Tahoma"/>
              </a:rPr>
              <a:t>Real-valued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features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generally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split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at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particular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percentile values.</a:t>
            </a:r>
            <a:endParaRPr sz="1100">
              <a:latin typeface="Tahoma"/>
              <a:cs typeface="Tahoma"/>
            </a:endParaRPr>
          </a:p>
          <a:p>
            <a:pPr marL="153670" marR="48260" indent="-141605" algn="just">
              <a:lnSpc>
                <a:spcPct val="118000"/>
              </a:lnSpc>
              <a:spcBef>
                <a:spcPts val="5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are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many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measures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purity.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114" dirty="0">
                <a:latin typeface="Tahoma"/>
                <a:cs typeface="Tahoma"/>
              </a:rPr>
              <a:t>The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most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commonly-</a:t>
            </a:r>
            <a:r>
              <a:rPr sz="1100" spc="-25" dirty="0">
                <a:latin typeface="Tahoma"/>
                <a:cs typeface="Tahoma"/>
              </a:rPr>
              <a:t>used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entropy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Gini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Impurity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3677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281" y="986267"/>
            <a:ext cx="3689985" cy="180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257175" indent="-141605">
              <a:lnSpc>
                <a:spcPct val="1180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Iterative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Dichotomiser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3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algorithm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(Quinlan, </a:t>
            </a:r>
            <a:r>
              <a:rPr sz="1100" spc="-85" dirty="0">
                <a:latin typeface="Tahoma"/>
                <a:cs typeface="Tahoma"/>
              </a:rPr>
              <a:t>1986)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a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greedy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search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algorithm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trees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0" dirty="0">
                <a:latin typeface="Tahoma"/>
                <a:cs typeface="Tahoma"/>
              </a:rPr>
              <a:t>top-</a:t>
            </a:r>
            <a:r>
              <a:rPr sz="1100" spc="-50" dirty="0">
                <a:latin typeface="Tahoma"/>
                <a:cs typeface="Tahoma"/>
              </a:rPr>
              <a:t>down </a:t>
            </a:r>
            <a:r>
              <a:rPr sz="1100" spc="-10" dirty="0">
                <a:latin typeface="Tahoma"/>
                <a:cs typeface="Tahoma"/>
              </a:rPr>
              <a:t>manner.</a:t>
            </a:r>
            <a:endParaRPr sz="1100">
              <a:latin typeface="Tahoma"/>
              <a:cs typeface="Tahoma"/>
            </a:endParaRPr>
          </a:p>
          <a:p>
            <a:pPr marL="153670" marR="13335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0" dirty="0">
                <a:latin typeface="Tahoma"/>
                <a:cs typeface="Tahoma"/>
              </a:rPr>
              <a:t>Greedy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search </a:t>
            </a:r>
            <a:r>
              <a:rPr sz="1100" spc="-45" dirty="0">
                <a:latin typeface="Tahoma"/>
                <a:cs typeface="Tahoma"/>
              </a:rPr>
              <a:t>algorithms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locally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optimal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choice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 </a:t>
            </a:r>
            <a:r>
              <a:rPr sz="1100" spc="-55" dirty="0">
                <a:latin typeface="Tahoma"/>
                <a:cs typeface="Tahoma"/>
              </a:rPr>
              <a:t>each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step,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backtrack.</a:t>
            </a:r>
            <a:endParaRPr sz="1100">
              <a:latin typeface="Tahoma"/>
              <a:cs typeface="Tahoma"/>
            </a:endParaRPr>
          </a:p>
          <a:p>
            <a:pPr marL="153670" marR="5080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85" dirty="0">
                <a:latin typeface="Tahoma"/>
                <a:cs typeface="Tahoma"/>
              </a:rPr>
              <a:t>It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will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find</a:t>
            </a:r>
            <a:r>
              <a:rPr sz="1100" spc="-70" dirty="0">
                <a:latin typeface="Tahoma"/>
                <a:cs typeface="Tahoma"/>
              </a:rPr>
              <a:t> a </a:t>
            </a:r>
            <a:r>
              <a:rPr sz="1100" spc="-45" dirty="0">
                <a:latin typeface="Tahoma"/>
                <a:cs typeface="Tahoma"/>
              </a:rPr>
              <a:t>short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tree,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but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not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necessarily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shortest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tree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nor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optimum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one.</a:t>
            </a:r>
            <a:endParaRPr sz="1100">
              <a:latin typeface="Tahoma"/>
              <a:cs typeface="Tahoma"/>
            </a:endParaRPr>
          </a:p>
          <a:p>
            <a:pPr marL="153670" marR="175895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80" dirty="0">
                <a:latin typeface="Tahoma"/>
                <a:cs typeface="Tahoma"/>
              </a:rPr>
              <a:t>It</a:t>
            </a:r>
            <a:r>
              <a:rPr sz="1100" spc="-50" dirty="0">
                <a:latin typeface="Tahoma"/>
                <a:cs typeface="Tahoma"/>
              </a:rPr>
              <a:t> employs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simultaneous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covering</a:t>
            </a:r>
            <a:r>
              <a:rPr sz="1100" spc="-12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training </a:t>
            </a:r>
            <a:r>
              <a:rPr sz="1100" spc="-60" dirty="0">
                <a:latin typeface="Tahoma"/>
                <a:cs typeface="Tahoma"/>
              </a:rPr>
              <a:t>examples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considered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same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3677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602" y="518055"/>
            <a:ext cx="3752215" cy="148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85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2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0" dirty="0">
                <a:solidFill>
                  <a:srgbClr val="3F3F3F"/>
                </a:solidFill>
                <a:latin typeface="Verdana"/>
                <a:cs typeface="Verdana"/>
              </a:rPr>
              <a:t>Entropy</a:t>
            </a:r>
            <a:endParaRPr sz="1200" dirty="0">
              <a:latin typeface="Verdana"/>
              <a:cs typeface="Verdana"/>
            </a:endParaRPr>
          </a:p>
          <a:p>
            <a:pPr marL="302260" marR="153035" indent="-141605">
              <a:lnSpc>
                <a:spcPct val="118000"/>
              </a:lnSpc>
              <a:spcBef>
                <a:spcPts val="685"/>
              </a:spcBef>
              <a:buClr>
                <a:srgbClr val="0071B2"/>
              </a:buClr>
              <a:buFont typeface="Yu Gothic UI"/>
              <a:buChar char="•"/>
              <a:tabLst>
                <a:tab pos="302895" algn="l"/>
              </a:tabLst>
            </a:pPr>
            <a:r>
              <a:rPr sz="1100" spc="-50" dirty="0">
                <a:latin typeface="Tahoma"/>
                <a:cs typeface="Tahoma"/>
              </a:rPr>
              <a:t>Entropy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measure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how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mixed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80" dirty="0">
                <a:solidFill>
                  <a:srgbClr val="6393ED"/>
                </a:solidFill>
                <a:latin typeface="Tahoma"/>
                <a:cs typeface="Tahoma"/>
              </a:rPr>
              <a:t>with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respect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the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target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class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302260" marR="370840" indent="-141605">
              <a:lnSpc>
                <a:spcPct val="118000"/>
              </a:lnSpc>
              <a:buClr>
                <a:srgbClr val="0071B2"/>
              </a:buClr>
              <a:buFont typeface="Yu Gothic UI"/>
              <a:buChar char="•"/>
              <a:tabLst>
                <a:tab pos="302895" algn="l"/>
              </a:tabLst>
            </a:pPr>
            <a:r>
              <a:rPr sz="1100" spc="-80" dirty="0">
                <a:latin typeface="Tahoma"/>
                <a:cs typeface="Tahoma"/>
              </a:rPr>
              <a:t>It </a:t>
            </a:r>
            <a:r>
              <a:rPr sz="1100" spc="-60" dirty="0">
                <a:latin typeface="Tahoma"/>
                <a:cs typeface="Tahoma"/>
              </a:rPr>
              <a:t>can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considered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measure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amount</a:t>
            </a:r>
            <a:r>
              <a:rPr sz="1100" b="1" spc="-6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6393ED"/>
                </a:solidFill>
                <a:latin typeface="Tahoma"/>
                <a:cs typeface="Tahoma"/>
              </a:rPr>
              <a:t>of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uncertainty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given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node.</a:t>
            </a:r>
            <a:endParaRPr sz="1100" dirty="0">
              <a:latin typeface="Tahoma"/>
              <a:cs typeface="Tahoma"/>
            </a:endParaRPr>
          </a:p>
          <a:p>
            <a:pPr marL="302260" indent="-141605">
              <a:lnSpc>
                <a:spcPct val="100000"/>
              </a:lnSpc>
              <a:spcBef>
                <a:spcPts val="235"/>
              </a:spcBef>
              <a:buClr>
                <a:srgbClr val="0071B2"/>
              </a:buClr>
              <a:buFont typeface="Yu Gothic UI"/>
              <a:buChar char="•"/>
              <a:tabLst>
                <a:tab pos="302895" algn="l"/>
              </a:tabLst>
            </a:pPr>
            <a:r>
              <a:rPr sz="1100" spc="-80" dirty="0">
                <a:latin typeface="Tahoma"/>
                <a:cs typeface="Tahoma"/>
              </a:rPr>
              <a:t>It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calculated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50" dirty="0">
                <a:latin typeface="Tahoma"/>
                <a:cs typeface="Tahoma"/>
                <a:hlinkClick r:id="rId2" action="ppaction://hlinksldjump"/>
              </a:rPr>
              <a:t>1,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where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900" i="1" spc="105" dirty="0">
                <a:latin typeface="Trebuchet MS"/>
                <a:cs typeface="Trebuchet MS"/>
              </a:rPr>
              <a:t>C</a:t>
            </a:r>
            <a:r>
              <a:rPr sz="900" i="1" spc="1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endParaRPr sz="1100" dirty="0">
              <a:latin typeface="Tahoma"/>
              <a:cs typeface="Tahoma"/>
            </a:endParaRPr>
          </a:p>
          <a:p>
            <a:pPr marL="302260">
              <a:lnSpc>
                <a:spcPct val="100000"/>
              </a:lnSpc>
              <a:spcBef>
                <a:spcPts val="240"/>
              </a:spcBef>
            </a:pPr>
            <a:r>
              <a:rPr sz="1100" spc="-55" dirty="0">
                <a:latin typeface="Tahoma"/>
                <a:cs typeface="Tahoma"/>
              </a:rPr>
              <a:t>classes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900" i="1" dirty="0">
                <a:latin typeface="Trebuchet MS"/>
                <a:cs typeface="Trebuchet MS"/>
              </a:rPr>
              <a:t>p</a:t>
            </a:r>
            <a:r>
              <a:rPr sz="975" i="1" baseline="-12820" dirty="0">
                <a:latin typeface="Trebuchet MS"/>
                <a:cs typeface="Trebuchet MS"/>
              </a:rPr>
              <a:t>i</a:t>
            </a:r>
            <a:r>
              <a:rPr sz="975" i="1" spc="225" baseline="-128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probability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class </a:t>
            </a:r>
            <a:r>
              <a:rPr sz="900" i="1" dirty="0">
                <a:latin typeface="Trebuchet MS"/>
                <a:cs typeface="Trebuchet MS"/>
              </a:rPr>
              <a:t>i</a:t>
            </a:r>
            <a:r>
              <a:rPr sz="900" i="1" spc="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could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picked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391" y="2005900"/>
            <a:ext cx="501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random.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0361" y="2085764"/>
            <a:ext cx="8572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i="1" spc="80" dirty="0">
                <a:latin typeface="Trebuchet MS"/>
                <a:cs typeface="Trebuchet MS"/>
              </a:rPr>
              <a:t>C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7942" y="2208391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5" dirty="0">
                <a:latin typeface="Arial MT"/>
                <a:cs typeface="Arial MT"/>
              </a:rPr>
              <a:t>∑︁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1447" y="2285268"/>
            <a:ext cx="260350" cy="128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  <a:tabLst>
                <a:tab pos="222885" algn="l"/>
              </a:tabLst>
            </a:pPr>
            <a:r>
              <a:rPr sz="800" spc="-50" dirty="0">
                <a:latin typeface="Lucida Sans Unicode"/>
                <a:cs typeface="Lucida Sans Unicode"/>
              </a:rPr>
              <a:t>2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650" i="1" spc="-50" dirty="0">
                <a:latin typeface="Trebuchet MS"/>
                <a:cs typeface="Trebuchet MS"/>
              </a:rPr>
              <a:t>i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0497" y="2211843"/>
            <a:ext cx="2534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04190" algn="l"/>
                <a:tab pos="2388235" algn="l"/>
              </a:tabLst>
            </a:pPr>
            <a:r>
              <a:rPr sz="900" i="1" spc="105" dirty="0">
                <a:latin typeface="Trebuchet MS"/>
                <a:cs typeface="Trebuchet MS"/>
              </a:rPr>
              <a:t>H</a:t>
            </a:r>
            <a:r>
              <a:rPr sz="900" i="1" spc="15" dirty="0">
                <a:latin typeface="Trebuchet MS"/>
                <a:cs typeface="Trebuchet MS"/>
              </a:rPr>
              <a:t> </a:t>
            </a:r>
            <a:r>
              <a:rPr sz="1100" b="1" spc="-50" dirty="0">
                <a:latin typeface="Tahoma"/>
                <a:cs typeface="Tahoma"/>
              </a:rPr>
              <a:t>=</a:t>
            </a:r>
            <a:r>
              <a:rPr sz="1100" b="1" dirty="0">
                <a:latin typeface="Tahoma"/>
                <a:cs typeface="Tahoma"/>
              </a:rPr>
              <a:t>	</a:t>
            </a:r>
            <a:r>
              <a:rPr sz="1100" b="1" spc="-75" dirty="0">
                <a:latin typeface="Yu Gothic UI"/>
                <a:cs typeface="Yu Gothic UI"/>
              </a:rPr>
              <a:t>−</a:t>
            </a:r>
            <a:r>
              <a:rPr sz="900" i="1" spc="-75" dirty="0">
                <a:latin typeface="Trebuchet MS"/>
                <a:cs typeface="Trebuchet MS"/>
              </a:rPr>
              <a:t>p</a:t>
            </a:r>
            <a:r>
              <a:rPr sz="900" i="1" spc="5" dirty="0">
                <a:latin typeface="Trebuchet MS"/>
                <a:cs typeface="Trebuchet MS"/>
              </a:rPr>
              <a:t> </a:t>
            </a:r>
            <a:r>
              <a:rPr sz="900" i="1" spc="75" dirty="0">
                <a:latin typeface="Trebuchet MS"/>
                <a:cs typeface="Trebuchet MS"/>
              </a:rPr>
              <a:t>log</a:t>
            </a:r>
            <a:r>
              <a:rPr sz="900" i="1" spc="36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ahoma"/>
                <a:cs typeface="Tahoma"/>
              </a:rPr>
              <a:t>(</a:t>
            </a:r>
            <a:r>
              <a:rPr sz="900" i="1" dirty="0">
                <a:latin typeface="Trebuchet MS"/>
                <a:cs typeface="Trebuchet MS"/>
              </a:rPr>
              <a:t>p</a:t>
            </a:r>
            <a:r>
              <a:rPr sz="900" i="1" spc="20" dirty="0">
                <a:latin typeface="Trebuchet MS"/>
                <a:cs typeface="Trebuchet MS"/>
              </a:rPr>
              <a:t> </a:t>
            </a:r>
            <a:r>
              <a:rPr sz="1100" b="1" spc="-50" dirty="0">
                <a:latin typeface="Tahoma"/>
                <a:cs typeface="Tahoma"/>
              </a:rPr>
              <a:t>)</a:t>
            </a:r>
            <a:r>
              <a:rPr sz="1100" b="1" dirty="0">
                <a:latin typeface="Tahoma"/>
                <a:cs typeface="Tahoma"/>
              </a:rPr>
              <a:t>	</a:t>
            </a:r>
            <a:r>
              <a:rPr sz="1100" spc="-120" dirty="0">
                <a:latin typeface="Tahoma"/>
                <a:cs typeface="Tahoma"/>
              </a:rPr>
              <a:t>(1)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117" y="2348435"/>
            <a:ext cx="3732529" cy="97536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R="596265" algn="ctr">
              <a:lnSpc>
                <a:spcPct val="100000"/>
              </a:lnSpc>
              <a:spcBef>
                <a:spcPts val="630"/>
              </a:spcBef>
            </a:pPr>
            <a:r>
              <a:rPr sz="650" i="1" spc="-25" dirty="0">
                <a:latin typeface="Trebuchet MS"/>
                <a:cs typeface="Trebuchet MS"/>
              </a:rPr>
              <a:t>i</a:t>
            </a:r>
            <a:r>
              <a:rPr sz="800" b="1" spc="-25" dirty="0">
                <a:latin typeface="Tahoma"/>
                <a:cs typeface="Tahoma"/>
              </a:rPr>
              <a:t>=</a:t>
            </a:r>
            <a:r>
              <a:rPr sz="800" spc="-25" dirty="0">
                <a:latin typeface="Lucida Sans Unicode"/>
                <a:cs typeface="Lucida Sans Unicode"/>
              </a:rPr>
              <a:t>1</a:t>
            </a:r>
            <a:endParaRPr sz="800" dirty="0">
              <a:latin typeface="Lucida Sans Unicode"/>
              <a:cs typeface="Lucida Sans Unicode"/>
            </a:endParaRPr>
          </a:p>
          <a:p>
            <a:pPr marL="168275" marR="202565" indent="-130810">
              <a:lnSpc>
                <a:spcPct val="114599"/>
              </a:lnSpc>
              <a:spcBef>
                <a:spcPts val="489"/>
              </a:spcBef>
              <a:buClr>
                <a:srgbClr val="0071B2"/>
              </a:buClr>
              <a:buFont typeface="Yu Gothic UI"/>
              <a:buChar char="•"/>
              <a:tabLst>
                <a:tab pos="173355" algn="l"/>
              </a:tabLst>
            </a:pPr>
            <a:r>
              <a:rPr sz="1000" spc="-45" dirty="0">
                <a:latin typeface="Tahoma"/>
                <a:cs typeface="Tahoma"/>
              </a:rPr>
              <a:t>For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a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dichotomous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classification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entropy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ranges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between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1, </a:t>
            </a:r>
            <a:r>
              <a:rPr sz="1000" spc="-40" dirty="0">
                <a:latin typeface="Tahoma"/>
                <a:cs typeface="Tahoma"/>
              </a:rPr>
              <a:t>where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is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homogeneous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10" dirty="0">
                <a:latin typeface="Tahoma"/>
                <a:cs typeface="Tahoma"/>
              </a:rPr>
              <a:t>1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is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hetrogeneous.</a:t>
            </a:r>
            <a:endParaRPr sz="1000" dirty="0">
              <a:latin typeface="Tahoma"/>
              <a:cs typeface="Tahoma"/>
            </a:endParaRPr>
          </a:p>
          <a:p>
            <a:pPr marL="172720" marR="30480" indent="-135255">
              <a:lnSpc>
                <a:spcPct val="114599"/>
              </a:lnSpc>
              <a:buClr>
                <a:srgbClr val="0071B2"/>
              </a:buClr>
              <a:buFont typeface="Yu Gothic UI"/>
              <a:buChar char="•"/>
              <a:tabLst>
                <a:tab pos="173355" algn="l"/>
              </a:tabLst>
            </a:pPr>
            <a:r>
              <a:rPr sz="1000" spc="-55" dirty="0">
                <a:latin typeface="Tahoma"/>
                <a:cs typeface="Tahoma"/>
              </a:rPr>
              <a:t>For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multi-class</a:t>
            </a:r>
            <a:r>
              <a:rPr sz="1000" spc="-45" dirty="0">
                <a:latin typeface="Tahoma"/>
                <a:cs typeface="Tahoma"/>
              </a:rPr>
              <a:t> classification</a:t>
            </a:r>
            <a:r>
              <a:rPr sz="1000" spc="-40" dirty="0">
                <a:latin typeface="Tahoma"/>
                <a:cs typeface="Tahoma"/>
              </a:rPr>
              <a:t> the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maximum</a:t>
            </a:r>
            <a:r>
              <a:rPr sz="1000" spc="-45" dirty="0">
                <a:latin typeface="Tahoma"/>
                <a:cs typeface="Tahoma"/>
              </a:rPr>
              <a:t> 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850" i="1" dirty="0">
                <a:latin typeface="Trebuchet MS"/>
                <a:cs typeface="Trebuchet MS"/>
              </a:rPr>
              <a:t>log</a:t>
            </a:r>
            <a:r>
              <a:rPr sz="1050" baseline="-11904" dirty="0">
                <a:latin typeface="Lucida Sans Unicode"/>
                <a:cs typeface="Lucida Sans Unicode"/>
              </a:rPr>
              <a:t>2</a:t>
            </a:r>
            <a:r>
              <a:rPr sz="1050" spc="-209" baseline="-11904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Tahoma"/>
                <a:cs typeface="Tahoma"/>
              </a:rPr>
              <a:t>(</a:t>
            </a:r>
            <a:r>
              <a:rPr sz="850" i="1" dirty="0">
                <a:latin typeface="Trebuchet MS"/>
                <a:cs typeface="Trebuchet MS"/>
              </a:rPr>
              <a:t>C</a:t>
            </a:r>
            <a:r>
              <a:rPr sz="1000" b="1" dirty="0">
                <a:latin typeface="Tahoma"/>
                <a:cs typeface="Tahoma"/>
              </a:rPr>
              <a:t>)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where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850" i="1" spc="80" dirty="0">
                <a:latin typeface="Trebuchet MS"/>
                <a:cs typeface="Trebuchet MS"/>
              </a:rPr>
              <a:t>C</a:t>
            </a:r>
            <a:r>
              <a:rPr sz="850" i="1" spc="20" dirty="0">
                <a:latin typeface="Trebuchet MS"/>
                <a:cs typeface="Trebuchet MS"/>
              </a:rPr>
              <a:t> </a:t>
            </a:r>
            <a:r>
              <a:rPr sz="1000" spc="-45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spc="-40" dirty="0">
                <a:latin typeface="Tahoma"/>
                <a:cs typeface="Tahoma"/>
              </a:rPr>
              <a:t>number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of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classes.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6681" y="3201332"/>
            <a:ext cx="1714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latin typeface="Tahoma"/>
                <a:cs typeface="Tahoma"/>
              </a:rPr>
              <a:t>9/38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78281"/>
            <a:ext cx="1917064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85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Information</a:t>
            </a:r>
            <a:r>
              <a:rPr sz="1200" i="1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80" dirty="0">
                <a:solidFill>
                  <a:srgbClr val="3F3F3F"/>
                </a:solidFill>
                <a:latin typeface="Verdana"/>
                <a:cs typeface="Verdana"/>
              </a:rPr>
              <a:t>Gain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0623" y="3200220"/>
            <a:ext cx="227329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ahoma"/>
                <a:cs typeface="Tahoma"/>
              </a:rPr>
              <a:t>10/38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902" y="990001"/>
            <a:ext cx="3874770" cy="110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81635">
              <a:lnSpc>
                <a:spcPct val="118000"/>
              </a:lnSpc>
              <a:spcBef>
                <a:spcPts val="100"/>
              </a:spcBef>
            </a:pPr>
            <a:r>
              <a:rPr sz="1100" spc="-50" dirty="0">
                <a:latin typeface="Tahoma"/>
                <a:cs typeface="Tahoma"/>
              </a:rPr>
              <a:t>Information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Gain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measure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6393ED"/>
                </a:solidFill>
                <a:latin typeface="Tahoma"/>
                <a:cs typeface="Tahoma"/>
              </a:rPr>
              <a:t>how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45" dirty="0">
                <a:solidFill>
                  <a:srgbClr val="6393ED"/>
                </a:solidFill>
                <a:latin typeface="Tahoma"/>
                <a:cs typeface="Tahoma"/>
              </a:rPr>
              <a:t>much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a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split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will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85" dirty="0">
                <a:solidFill>
                  <a:srgbClr val="6393ED"/>
                </a:solidFill>
                <a:latin typeface="Tahoma"/>
                <a:cs typeface="Tahoma"/>
              </a:rPr>
              <a:t>lower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entropy</a:t>
            </a:r>
            <a:r>
              <a:rPr sz="1100" spc="-105" dirty="0">
                <a:latin typeface="Tahoma"/>
                <a:cs typeface="Tahoma"/>
              </a:rPr>
              <a:t>.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effectively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measure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95" dirty="0">
                <a:solidFill>
                  <a:srgbClr val="6393ED"/>
                </a:solidFill>
                <a:latin typeface="Tahoma"/>
                <a:cs typeface="Tahoma"/>
              </a:rPr>
              <a:t>of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the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quality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95" dirty="0">
                <a:solidFill>
                  <a:srgbClr val="6393ED"/>
                </a:solidFill>
                <a:latin typeface="Tahoma"/>
                <a:cs typeface="Tahoma"/>
              </a:rPr>
              <a:t>of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a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split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18000"/>
              </a:lnSpc>
              <a:spcBef>
                <a:spcPts val="680"/>
              </a:spcBef>
            </a:pPr>
            <a:r>
              <a:rPr sz="1100" spc="-80" dirty="0">
                <a:latin typeface="Tahoma"/>
                <a:cs typeface="Tahoma"/>
              </a:rPr>
              <a:t>It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given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  <a:hlinkClick r:id="rId2" action="ppaction://hlinksldjump"/>
              </a:rPr>
              <a:t>2,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where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900" i="1" spc="70" dirty="0">
                <a:latin typeface="Trebuchet MS"/>
                <a:cs typeface="Trebuchet MS"/>
              </a:rPr>
              <a:t>E</a:t>
            </a:r>
            <a:r>
              <a:rPr sz="975" i="1" spc="104" baseline="-12820" dirty="0">
                <a:latin typeface="Trebuchet MS"/>
                <a:cs typeface="Trebuchet MS"/>
              </a:rPr>
              <a:t>parent</a:t>
            </a:r>
            <a:r>
              <a:rPr sz="975" i="1" spc="240" baseline="-128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entropy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parent </a:t>
            </a:r>
            <a:r>
              <a:rPr sz="1100" spc="-55" dirty="0">
                <a:latin typeface="Tahoma"/>
                <a:cs typeface="Tahoma"/>
              </a:rPr>
              <a:t>node,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900" i="1" spc="105" dirty="0">
                <a:latin typeface="Trebuchet MS"/>
                <a:cs typeface="Trebuchet MS"/>
              </a:rPr>
              <a:t>C</a:t>
            </a:r>
            <a:r>
              <a:rPr sz="900" i="1" spc="1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ahoma"/>
                <a:cs typeface="Tahoma"/>
              </a:rPr>
              <a:t>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child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after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split,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900" i="1" dirty="0">
                <a:latin typeface="Trebuchet MS"/>
                <a:cs typeface="Trebuchet MS"/>
              </a:rPr>
              <a:t>F</a:t>
            </a:r>
            <a:r>
              <a:rPr sz="975" i="1" baseline="-12820" dirty="0">
                <a:latin typeface="Trebuchet MS"/>
                <a:cs typeface="Trebuchet MS"/>
              </a:rPr>
              <a:t>i</a:t>
            </a:r>
            <a:r>
              <a:rPr sz="975" i="1" spc="209" baseline="-1282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fraction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observations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child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900" i="1" dirty="0">
                <a:latin typeface="Trebuchet MS"/>
                <a:cs typeface="Trebuchet MS"/>
              </a:rPr>
              <a:t>i</a:t>
            </a:r>
            <a:r>
              <a:rPr sz="900" i="1" spc="10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900" i="1" spc="50" dirty="0">
                <a:latin typeface="Trebuchet MS"/>
                <a:cs typeface="Trebuchet MS"/>
              </a:rPr>
              <a:t>E</a:t>
            </a:r>
            <a:r>
              <a:rPr sz="975" i="1" spc="75" baseline="-12820" dirty="0">
                <a:latin typeface="Trebuchet MS"/>
                <a:cs typeface="Trebuchet MS"/>
              </a:rPr>
              <a:t>i</a:t>
            </a:r>
            <a:r>
              <a:rPr sz="975" i="1" spc="202" baseline="-128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entropy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child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302" y="2097098"/>
            <a:ext cx="4152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900" i="1" spc="-25" dirty="0">
                <a:latin typeface="Trebuchet MS"/>
                <a:cs typeface="Trebuchet MS"/>
              </a:rPr>
              <a:t>i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1854" y="2176963"/>
            <a:ext cx="8572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i="1" spc="80" dirty="0">
                <a:latin typeface="Trebuchet MS"/>
                <a:cs typeface="Trebuchet MS"/>
              </a:rPr>
              <a:t>C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4549" y="2286652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5" dirty="0">
                <a:latin typeface="Arial MT"/>
                <a:cs typeface="Arial MT"/>
              </a:rPr>
              <a:t>∑︁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7911" y="2303042"/>
            <a:ext cx="141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8680" algn="l"/>
                <a:tab pos="1228090" algn="l"/>
              </a:tabLst>
            </a:pPr>
            <a:r>
              <a:rPr sz="1100" spc="-40" dirty="0">
                <a:latin typeface="Tahoma"/>
                <a:cs typeface="Tahoma"/>
              </a:rPr>
              <a:t>Gain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=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900" i="1" spc="50" dirty="0">
                <a:latin typeface="Trebuchet MS"/>
                <a:cs typeface="Trebuchet MS"/>
              </a:rPr>
              <a:t>E</a:t>
            </a:r>
            <a:r>
              <a:rPr sz="900" i="1" dirty="0">
                <a:latin typeface="Trebuchet MS"/>
                <a:cs typeface="Trebuchet MS"/>
              </a:rPr>
              <a:t>	</a:t>
            </a:r>
            <a:r>
              <a:rPr sz="1100" b="1" spc="-360" dirty="0">
                <a:latin typeface="Yu Gothic UI"/>
                <a:cs typeface="Yu Gothic UI"/>
              </a:rPr>
              <a:t>−</a:t>
            </a:r>
            <a:r>
              <a:rPr sz="1100" b="1" dirty="0">
                <a:latin typeface="Yu Gothic UI"/>
                <a:cs typeface="Yu Gothic UI"/>
              </a:rPr>
              <a:t>	</a:t>
            </a:r>
            <a:r>
              <a:rPr sz="900" i="1" spc="55" dirty="0">
                <a:latin typeface="Trebuchet MS"/>
                <a:cs typeface="Trebuchet MS"/>
              </a:rPr>
              <a:t>F</a:t>
            </a:r>
            <a:r>
              <a:rPr sz="900" i="1" spc="5" dirty="0">
                <a:latin typeface="Trebuchet MS"/>
                <a:cs typeface="Trebuchet MS"/>
              </a:rPr>
              <a:t> </a:t>
            </a:r>
            <a:r>
              <a:rPr sz="900" i="1" spc="50" dirty="0">
                <a:latin typeface="Trebuchet MS"/>
                <a:cs typeface="Trebuchet MS"/>
              </a:rPr>
              <a:t>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4522" y="2376467"/>
            <a:ext cx="92836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81685" algn="l"/>
              </a:tabLst>
            </a:pPr>
            <a:r>
              <a:rPr sz="650" i="1" spc="55" dirty="0">
                <a:latin typeface="Trebuchet MS"/>
                <a:cs typeface="Trebuchet MS"/>
              </a:rPr>
              <a:t>parent</a:t>
            </a:r>
            <a:r>
              <a:rPr sz="650" i="1" dirty="0">
                <a:latin typeface="Trebuchet MS"/>
                <a:cs typeface="Trebuchet MS"/>
              </a:rPr>
              <a:t>	i</a:t>
            </a:r>
            <a:r>
              <a:rPr sz="650" i="1" spc="459" dirty="0">
                <a:latin typeface="Trebuchet MS"/>
                <a:cs typeface="Trebuchet MS"/>
              </a:rPr>
              <a:t> </a:t>
            </a:r>
            <a:r>
              <a:rPr sz="650" i="1" spc="-50" dirty="0">
                <a:latin typeface="Trebuchet MS"/>
                <a:cs typeface="Trebuchet MS"/>
              </a:rPr>
              <a:t>i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6829" y="2303042"/>
            <a:ext cx="177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Tahoma"/>
                <a:cs typeface="Tahoma"/>
              </a:rPr>
              <a:t>(2)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975" y="2465419"/>
            <a:ext cx="3588385" cy="6108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02665" algn="ctr">
              <a:lnSpc>
                <a:spcPct val="100000"/>
              </a:lnSpc>
              <a:spcBef>
                <a:spcPts val="425"/>
              </a:spcBef>
            </a:pPr>
            <a:r>
              <a:rPr sz="650" i="1" spc="-25" dirty="0">
                <a:latin typeface="Trebuchet MS"/>
                <a:cs typeface="Trebuchet MS"/>
              </a:rPr>
              <a:t>i</a:t>
            </a:r>
            <a:r>
              <a:rPr sz="800" b="1" spc="-25" dirty="0">
                <a:latin typeface="Tahoma"/>
                <a:cs typeface="Tahoma"/>
              </a:rPr>
              <a:t>=</a:t>
            </a:r>
            <a:r>
              <a:rPr sz="800" spc="-25" dirty="0">
                <a:latin typeface="Lucida Sans Unicode"/>
                <a:cs typeface="Lucida Sans Unicode"/>
              </a:rPr>
              <a:t>1</a:t>
            </a:r>
            <a:endParaRPr sz="800">
              <a:latin typeface="Lucida Sans Unicode"/>
              <a:cs typeface="Lucida Sans Unicode"/>
            </a:endParaRPr>
          </a:p>
          <a:p>
            <a:pPr marL="15875" marR="5080" indent="-3810">
              <a:lnSpc>
                <a:spcPct val="118000"/>
              </a:lnSpc>
              <a:spcBef>
                <a:spcPts val="209"/>
              </a:spcBef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greater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information</a:t>
            </a:r>
            <a:r>
              <a:rPr sz="1100" spc="-65" dirty="0">
                <a:latin typeface="Tahoma"/>
                <a:cs typeface="Tahoma"/>
              </a:rPr>
              <a:t> gain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from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 </a:t>
            </a:r>
            <a:r>
              <a:rPr sz="1100" spc="-40" dirty="0">
                <a:latin typeface="Tahoma"/>
                <a:cs typeface="Tahoma"/>
              </a:rPr>
              <a:t>split,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more </a:t>
            </a:r>
            <a:r>
              <a:rPr sz="1100" spc="-40" dirty="0">
                <a:latin typeface="Tahoma"/>
                <a:cs typeface="Tahoma"/>
              </a:rPr>
              <a:t>uncertainty</a:t>
            </a:r>
            <a:r>
              <a:rPr sz="1100" spc="-60" dirty="0">
                <a:latin typeface="Tahoma"/>
                <a:cs typeface="Tahoma"/>
              </a:rPr>
              <a:t> (entropy)</a:t>
            </a:r>
            <a:r>
              <a:rPr sz="1100" spc="-55" dirty="0">
                <a:latin typeface="Tahoma"/>
                <a:cs typeface="Tahoma"/>
              </a:rPr>
              <a:t> removed, and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more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suitable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split.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2302" y="278281"/>
            <a:ext cx="2911475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400" spc="-70" dirty="0">
                <a:solidFill>
                  <a:srgbClr val="0071B2"/>
                </a:solidFill>
                <a:latin typeface="Tahoma"/>
                <a:cs typeface="Tahoma"/>
              </a:rPr>
              <a:t>The</a:t>
            </a:r>
            <a:r>
              <a:rPr sz="1400" spc="-95" dirty="0">
                <a:solidFill>
                  <a:srgbClr val="0071B2"/>
                </a:solidFill>
                <a:latin typeface="Tahoma"/>
                <a:cs typeface="Tahoma"/>
              </a:rPr>
              <a:t> </a:t>
            </a:r>
            <a:r>
              <a:rPr sz="1400" i="1" spc="-210" dirty="0">
                <a:solidFill>
                  <a:srgbClr val="0071B2"/>
                </a:solidFill>
                <a:latin typeface="Verdana"/>
                <a:cs typeface="Verdana"/>
              </a:rPr>
              <a:t>ID3</a:t>
            </a:r>
            <a:r>
              <a:rPr sz="1400" i="1" spc="-135" dirty="0">
                <a:solidFill>
                  <a:srgbClr val="0071B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0071B2"/>
                </a:solidFill>
                <a:latin typeface="Tahoma"/>
                <a:cs typeface="Tahoma"/>
              </a:rPr>
              <a:t>Algorithm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60" dirty="0">
                <a:solidFill>
                  <a:srgbClr val="3F3F3F"/>
                </a:solidFill>
                <a:latin typeface="Verdana"/>
                <a:cs typeface="Verdana"/>
              </a:rPr>
              <a:t>Example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9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using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Information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75" dirty="0">
                <a:solidFill>
                  <a:srgbClr val="3F3F3F"/>
                </a:solidFill>
                <a:latin typeface="Verdana"/>
                <a:cs typeface="Verdana"/>
              </a:rPr>
              <a:t>Gain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0623" y="3200220"/>
            <a:ext cx="227329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ahoma"/>
                <a:cs typeface="Tahoma"/>
              </a:rPr>
              <a:t>11/38</a:t>
            </a:r>
            <a:endParaRPr sz="6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38707" y="899706"/>
          <a:ext cx="1930398" cy="2214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454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70" dirty="0">
                          <a:latin typeface="Tahoma"/>
                          <a:cs typeface="Tahoma"/>
                        </a:rPr>
                        <a:t>Day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Outlook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Humidity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Wind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50" dirty="0">
                          <a:latin typeface="Tahoma"/>
                          <a:cs typeface="Tahoma"/>
                        </a:rPr>
                        <a:t>Play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30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87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Sunny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67945" algn="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Overcast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Calm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44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Yes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Rainy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High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Windy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No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60" dirty="0">
                <a:solidFill>
                  <a:srgbClr val="3F3F3F"/>
                </a:solidFill>
                <a:latin typeface="Verdana"/>
                <a:cs typeface="Verdana"/>
              </a:rPr>
              <a:t>Example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9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using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Information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75" dirty="0">
                <a:solidFill>
                  <a:srgbClr val="3F3F3F"/>
                </a:solidFill>
                <a:latin typeface="Verdana"/>
                <a:cs typeface="Verdana"/>
              </a:rPr>
              <a:t>Gain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27276" y="1270774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06955" y="1270774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74925" y="1270774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2302" y="856632"/>
            <a:ext cx="2674620" cy="3873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100" spc="-50" dirty="0">
                <a:latin typeface="Tahoma"/>
                <a:cs typeface="Tahoma"/>
              </a:rPr>
              <a:t>Entropy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900" i="1" spc="55" dirty="0">
                <a:latin typeface="Trebuchet MS"/>
                <a:cs typeface="Trebuchet MS"/>
              </a:rPr>
              <a:t>Play</a:t>
            </a:r>
            <a:endParaRPr sz="900">
              <a:latin typeface="Trebuchet MS"/>
              <a:cs typeface="Trebuchet MS"/>
            </a:endParaRPr>
          </a:p>
          <a:p>
            <a:pPr marL="1269365">
              <a:lnSpc>
                <a:spcPct val="100000"/>
              </a:lnSpc>
              <a:spcBef>
                <a:spcPts val="240"/>
              </a:spcBef>
              <a:tabLst>
                <a:tab pos="1748789" algn="l"/>
                <a:tab pos="2117090" algn="l"/>
                <a:tab pos="2596515" algn="l"/>
              </a:tabLst>
            </a:pPr>
            <a:r>
              <a:rPr sz="800" spc="-50" dirty="0">
                <a:latin typeface="Lucida Sans Unicode"/>
                <a:cs typeface="Lucida Sans Unicode"/>
              </a:rPr>
              <a:t>9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9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5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5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54616" y="1270774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1083" y="2159343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73858" y="2159343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74925" y="2159343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49653" y="1985389"/>
            <a:ext cx="1216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4815" algn="l"/>
                <a:tab pos="726440" algn="l"/>
                <a:tab pos="1139190" algn="l"/>
              </a:tabLst>
            </a:pPr>
            <a:r>
              <a:rPr sz="800" spc="-50" dirty="0">
                <a:latin typeface="Lucida Sans Unicode"/>
                <a:cs typeface="Lucida Sans Unicode"/>
              </a:rPr>
              <a:t>6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6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2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2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87700" y="2159343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6902" y="1186115"/>
            <a:ext cx="3202305" cy="16725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1830" algn="ctr">
              <a:lnSpc>
                <a:spcPts val="805"/>
              </a:lnSpc>
              <a:spcBef>
                <a:spcPts val="95"/>
              </a:spcBef>
              <a:tabLst>
                <a:tab pos="1391920" algn="l"/>
                <a:tab pos="1871345" algn="l"/>
                <a:tab pos="2239645" algn="l"/>
                <a:tab pos="2724150" algn="l"/>
              </a:tabLst>
            </a:pPr>
            <a:r>
              <a:rPr sz="650" i="1" spc="-10" dirty="0">
                <a:latin typeface="Trebuchet MS"/>
                <a:cs typeface="Trebuchet MS"/>
              </a:rPr>
              <a:t>H</a:t>
            </a:r>
            <a:r>
              <a:rPr sz="800" b="1" spc="-10" dirty="0">
                <a:latin typeface="Tahoma"/>
                <a:cs typeface="Tahoma"/>
              </a:rPr>
              <a:t>(</a:t>
            </a:r>
            <a:r>
              <a:rPr sz="800" spc="-10" dirty="0">
                <a:latin typeface="Tahoma"/>
                <a:cs typeface="Tahoma"/>
              </a:rPr>
              <a:t>Play</a:t>
            </a:r>
            <a:r>
              <a:rPr sz="800" b="1" spc="-10" dirty="0">
                <a:latin typeface="Tahoma"/>
                <a:cs typeface="Tahoma"/>
              </a:rPr>
              <a:t>)</a:t>
            </a:r>
            <a:r>
              <a:rPr sz="800" b="1" spc="-50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50" dirty="0">
                <a:latin typeface="Tahoma"/>
                <a:cs typeface="Tahoma"/>
              </a:rPr>
              <a:t> </a:t>
            </a:r>
            <a:r>
              <a:rPr sz="800" b="1" spc="-50" dirty="0">
                <a:latin typeface="Yu Gothic UI"/>
                <a:cs typeface="Yu Gothic UI"/>
              </a:rPr>
              <a:t>−</a:t>
            </a:r>
            <a:r>
              <a:rPr sz="800" b="1" dirty="0">
                <a:latin typeface="Yu Gothic UI"/>
                <a:cs typeface="Yu Gothic UI"/>
              </a:rPr>
              <a:t>	×</a:t>
            </a:r>
            <a:r>
              <a:rPr sz="800" b="1" spc="20" dirty="0">
                <a:latin typeface="Yu Gothic UI"/>
                <a:cs typeface="Yu Gothic UI"/>
              </a:rPr>
              <a:t> </a:t>
            </a:r>
            <a:r>
              <a:rPr sz="650" i="1" spc="-20" dirty="0">
                <a:latin typeface="Trebuchet MS"/>
                <a:cs typeface="Trebuchet MS"/>
              </a:rPr>
              <a:t>log</a:t>
            </a:r>
            <a:r>
              <a:rPr sz="900" spc="-30" baseline="-9259" dirty="0">
                <a:latin typeface="Lucida Sans Unicode"/>
                <a:cs typeface="Lucida Sans Unicode"/>
              </a:rPr>
              <a:t>2</a:t>
            </a:r>
            <a:r>
              <a:rPr sz="900" baseline="-9259" dirty="0">
                <a:latin typeface="Lucida Sans Unicode"/>
                <a:cs typeface="Lucida Sans Unicode"/>
              </a:rPr>
              <a:t>	</a:t>
            </a:r>
            <a:r>
              <a:rPr sz="800" b="1" spc="-80" dirty="0">
                <a:latin typeface="Tahoma"/>
                <a:cs typeface="Tahoma"/>
              </a:rPr>
              <a:t>+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50" dirty="0">
                <a:latin typeface="Yu Gothic UI"/>
                <a:cs typeface="Yu Gothic UI"/>
              </a:rPr>
              <a:t>−</a:t>
            </a:r>
            <a:r>
              <a:rPr sz="800" b="1" dirty="0">
                <a:latin typeface="Yu Gothic UI"/>
                <a:cs typeface="Yu Gothic UI"/>
              </a:rPr>
              <a:t>	×</a:t>
            </a:r>
            <a:r>
              <a:rPr sz="800" b="1" spc="20" dirty="0">
                <a:latin typeface="Yu Gothic UI"/>
                <a:cs typeface="Yu Gothic UI"/>
              </a:rPr>
              <a:t> </a:t>
            </a:r>
            <a:r>
              <a:rPr sz="650" i="1" spc="-20" dirty="0">
                <a:latin typeface="Trebuchet MS"/>
                <a:cs typeface="Trebuchet MS"/>
              </a:rPr>
              <a:t>log</a:t>
            </a:r>
            <a:r>
              <a:rPr sz="900" spc="-30" baseline="-9259" dirty="0">
                <a:latin typeface="Lucida Sans Unicode"/>
                <a:cs typeface="Lucida Sans Unicode"/>
              </a:rPr>
              <a:t>2</a:t>
            </a:r>
            <a:r>
              <a:rPr sz="900" baseline="-9259" dirty="0">
                <a:latin typeface="Lucida Sans Unicode"/>
                <a:cs typeface="Lucida Sans Unicode"/>
              </a:rPr>
              <a:t>	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55" dirty="0">
                <a:latin typeface="Tahoma"/>
                <a:cs typeface="Tahoma"/>
              </a:rPr>
              <a:t> </a:t>
            </a:r>
            <a:r>
              <a:rPr sz="800" spc="-20" dirty="0">
                <a:latin typeface="Lucida Sans Unicode"/>
                <a:cs typeface="Lucida Sans Unicode"/>
              </a:rPr>
              <a:t>0</a:t>
            </a:r>
            <a:r>
              <a:rPr sz="650" i="1" spc="-20" dirty="0">
                <a:latin typeface="Trebuchet MS"/>
                <a:cs typeface="Trebuchet MS"/>
              </a:rPr>
              <a:t>.</a:t>
            </a:r>
            <a:r>
              <a:rPr sz="800" spc="-20" dirty="0">
                <a:latin typeface="Lucida Sans Unicode"/>
                <a:cs typeface="Lucida Sans Unicode"/>
              </a:rPr>
              <a:t>940</a:t>
            </a:r>
            <a:endParaRPr sz="800">
              <a:latin typeface="Lucida Sans Unicode"/>
              <a:cs typeface="Lucida Sans Unicode"/>
            </a:endParaRPr>
          </a:p>
          <a:p>
            <a:pPr marL="1261110">
              <a:lnSpc>
                <a:spcPts val="805"/>
              </a:lnSpc>
              <a:tabLst>
                <a:tab pos="1741170" algn="l"/>
                <a:tab pos="2108835" algn="l"/>
                <a:tab pos="2588895" algn="l"/>
              </a:tabLst>
            </a:pPr>
            <a:r>
              <a:rPr sz="800" spc="-25" dirty="0">
                <a:latin typeface="Lucida Sans Unicode"/>
                <a:cs typeface="Lucida Sans Unicode"/>
              </a:rPr>
              <a:t>14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25" dirty="0">
                <a:latin typeface="Lucida Sans Unicode"/>
                <a:cs typeface="Lucida Sans Unicode"/>
              </a:rPr>
              <a:t>14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25" dirty="0">
                <a:latin typeface="Lucida Sans Unicode"/>
                <a:cs typeface="Lucida Sans Unicode"/>
              </a:rPr>
              <a:t>14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25" dirty="0">
                <a:latin typeface="Lucida Sans Unicode"/>
                <a:cs typeface="Lucida Sans Unicode"/>
              </a:rPr>
              <a:t>14</a:t>
            </a:r>
            <a:endParaRPr sz="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65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</a:pPr>
            <a:r>
              <a:rPr sz="1100" spc="-50" dirty="0">
                <a:latin typeface="Tahoma"/>
                <a:cs typeface="Tahoma"/>
              </a:rPr>
              <a:t>Entropy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900" i="1" spc="95" dirty="0">
                <a:latin typeface="Trebuchet MS"/>
                <a:cs typeface="Trebuchet MS"/>
              </a:rPr>
              <a:t>Wind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1100" b="1" spc="-310" dirty="0">
                <a:latin typeface="Yu Gothic UI"/>
                <a:cs typeface="Yu Gothic UI"/>
              </a:rPr>
              <a:t>−</a:t>
            </a:r>
            <a:r>
              <a:rPr sz="1100" b="1" spc="15" dirty="0">
                <a:latin typeface="Yu Gothic UI"/>
                <a:cs typeface="Yu Gothic UI"/>
              </a:rPr>
              <a:t> </a:t>
            </a:r>
            <a:r>
              <a:rPr sz="900" i="1" spc="75" dirty="0">
                <a:latin typeface="Trebuchet MS"/>
                <a:cs typeface="Trebuchet MS"/>
              </a:rPr>
              <a:t>Calm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835"/>
              </a:spcBef>
            </a:pPr>
            <a:r>
              <a:rPr sz="1000" spc="-30" dirty="0">
                <a:latin typeface="Tahoma"/>
                <a:cs typeface="Tahoma"/>
              </a:rPr>
              <a:t>6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Play=Yes,</a:t>
            </a:r>
            <a:r>
              <a:rPr sz="1000" spc="-70" dirty="0">
                <a:latin typeface="Tahoma"/>
                <a:cs typeface="Tahoma"/>
              </a:rPr>
              <a:t> 2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Play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</a:t>
            </a:r>
            <a:endParaRPr sz="1000">
              <a:latin typeface="Tahoma"/>
              <a:cs typeface="Tahoma"/>
            </a:endParaRPr>
          </a:p>
          <a:p>
            <a:pPr marL="671830" algn="ctr">
              <a:lnSpc>
                <a:spcPts val="805"/>
              </a:lnSpc>
              <a:spcBef>
                <a:spcPts val="960"/>
              </a:spcBef>
              <a:tabLst>
                <a:tab pos="2456180" algn="l"/>
              </a:tabLst>
            </a:pPr>
            <a:r>
              <a:rPr sz="650" i="1" spc="-10" dirty="0">
                <a:latin typeface="Trebuchet MS"/>
                <a:cs typeface="Trebuchet MS"/>
              </a:rPr>
              <a:t>H</a:t>
            </a:r>
            <a:r>
              <a:rPr sz="800" b="1" spc="-10" dirty="0">
                <a:latin typeface="Tahoma"/>
                <a:cs typeface="Tahoma"/>
              </a:rPr>
              <a:t>(</a:t>
            </a:r>
            <a:r>
              <a:rPr sz="800" spc="-10" dirty="0">
                <a:latin typeface="Tahoma"/>
                <a:cs typeface="Tahoma"/>
              </a:rPr>
              <a:t>Play</a:t>
            </a:r>
            <a:r>
              <a:rPr sz="800" b="1" spc="-10" dirty="0">
                <a:latin typeface="Tahoma"/>
                <a:cs typeface="Tahoma"/>
              </a:rPr>
              <a:t>)</a:t>
            </a:r>
            <a:r>
              <a:rPr sz="800" b="1" spc="-50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dirty="0">
                <a:latin typeface="Yu Gothic UI"/>
                <a:cs typeface="Yu Gothic UI"/>
              </a:rPr>
              <a:t>−</a:t>
            </a:r>
            <a:r>
              <a:rPr sz="800" b="1" spc="235" dirty="0">
                <a:latin typeface="Yu Gothic UI"/>
                <a:cs typeface="Yu Gothic UI"/>
              </a:rPr>
              <a:t>  </a:t>
            </a:r>
            <a:r>
              <a:rPr sz="800" b="1" dirty="0">
                <a:latin typeface="Yu Gothic UI"/>
                <a:cs typeface="Yu Gothic UI"/>
              </a:rPr>
              <a:t>×</a:t>
            </a:r>
            <a:r>
              <a:rPr sz="800" b="1" spc="-15" dirty="0">
                <a:latin typeface="Yu Gothic UI"/>
                <a:cs typeface="Yu Gothic UI"/>
              </a:rPr>
              <a:t> </a:t>
            </a:r>
            <a:r>
              <a:rPr sz="650" i="1" dirty="0">
                <a:latin typeface="Trebuchet MS"/>
                <a:cs typeface="Trebuchet MS"/>
              </a:rPr>
              <a:t>log</a:t>
            </a:r>
            <a:r>
              <a:rPr sz="900" baseline="-9259" dirty="0">
                <a:latin typeface="Lucida Sans Unicode"/>
                <a:cs typeface="Lucida Sans Unicode"/>
              </a:rPr>
              <a:t>2</a:t>
            </a:r>
            <a:r>
              <a:rPr sz="900" spc="397" baseline="-9259" dirty="0">
                <a:latin typeface="Lucida Sans Unicode"/>
                <a:cs typeface="Lucida Sans Unicode"/>
              </a:rPr>
              <a:t>  </a:t>
            </a:r>
            <a:r>
              <a:rPr sz="800" b="1" spc="-80" dirty="0">
                <a:latin typeface="Tahoma"/>
                <a:cs typeface="Tahoma"/>
              </a:rPr>
              <a:t>+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dirty="0">
                <a:latin typeface="Yu Gothic UI"/>
                <a:cs typeface="Yu Gothic UI"/>
              </a:rPr>
              <a:t>−</a:t>
            </a:r>
            <a:r>
              <a:rPr sz="800" b="1" spc="235" dirty="0">
                <a:latin typeface="Yu Gothic UI"/>
                <a:cs typeface="Yu Gothic UI"/>
              </a:rPr>
              <a:t>  </a:t>
            </a:r>
            <a:r>
              <a:rPr sz="800" b="1" dirty="0">
                <a:latin typeface="Yu Gothic UI"/>
                <a:cs typeface="Yu Gothic UI"/>
              </a:rPr>
              <a:t>×</a:t>
            </a:r>
            <a:r>
              <a:rPr sz="800" b="1" spc="-10" dirty="0">
                <a:latin typeface="Yu Gothic UI"/>
                <a:cs typeface="Yu Gothic UI"/>
              </a:rPr>
              <a:t> </a:t>
            </a:r>
            <a:r>
              <a:rPr sz="650" i="1" spc="-20" dirty="0">
                <a:latin typeface="Trebuchet MS"/>
                <a:cs typeface="Trebuchet MS"/>
              </a:rPr>
              <a:t>log</a:t>
            </a:r>
            <a:r>
              <a:rPr sz="900" spc="-30" baseline="-9259" dirty="0">
                <a:latin typeface="Lucida Sans Unicode"/>
                <a:cs typeface="Lucida Sans Unicode"/>
              </a:rPr>
              <a:t>2</a:t>
            </a:r>
            <a:r>
              <a:rPr sz="900" baseline="-9259" dirty="0">
                <a:latin typeface="Lucida Sans Unicode"/>
                <a:cs typeface="Lucida Sans Unicode"/>
              </a:rPr>
              <a:t>	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55" dirty="0">
                <a:latin typeface="Tahoma"/>
                <a:cs typeface="Tahoma"/>
              </a:rPr>
              <a:t> </a:t>
            </a:r>
            <a:r>
              <a:rPr sz="800" spc="-20" dirty="0">
                <a:latin typeface="Lucida Sans Unicode"/>
                <a:cs typeface="Lucida Sans Unicode"/>
              </a:rPr>
              <a:t>0</a:t>
            </a:r>
            <a:r>
              <a:rPr sz="650" i="1" spc="-20" dirty="0">
                <a:latin typeface="Trebuchet MS"/>
                <a:cs typeface="Trebuchet MS"/>
              </a:rPr>
              <a:t>.</a:t>
            </a:r>
            <a:r>
              <a:rPr sz="800" spc="-20" dirty="0">
                <a:latin typeface="Lucida Sans Unicode"/>
                <a:cs typeface="Lucida Sans Unicode"/>
              </a:rPr>
              <a:t>811</a:t>
            </a:r>
            <a:endParaRPr sz="800">
              <a:latin typeface="Lucida Sans Unicode"/>
              <a:cs typeface="Lucida Sans Unicode"/>
            </a:endParaRPr>
          </a:p>
          <a:p>
            <a:pPr marL="1395095">
              <a:lnSpc>
                <a:spcPts val="805"/>
              </a:lnSpc>
              <a:tabLst>
                <a:tab pos="1807845" algn="l"/>
                <a:tab pos="2108835" algn="l"/>
                <a:tab pos="2521585" algn="l"/>
              </a:tabLst>
            </a:pPr>
            <a:r>
              <a:rPr sz="800" spc="-50" dirty="0">
                <a:latin typeface="Lucida Sans Unicode"/>
                <a:cs typeface="Lucida Sans Unicode"/>
              </a:rPr>
              <a:t>8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8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8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8</a:t>
            </a:r>
            <a:endParaRPr sz="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</a:pPr>
            <a:r>
              <a:rPr sz="1100" spc="-50" dirty="0">
                <a:latin typeface="Tahoma"/>
                <a:cs typeface="Tahoma"/>
              </a:rPr>
              <a:t>Entropy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900" i="1" spc="95" dirty="0">
                <a:latin typeface="Trebuchet MS"/>
                <a:cs typeface="Trebuchet MS"/>
              </a:rPr>
              <a:t>Wind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1100" b="1" spc="-310" dirty="0">
                <a:latin typeface="Yu Gothic UI"/>
                <a:cs typeface="Yu Gothic UI"/>
              </a:rPr>
              <a:t>−</a:t>
            </a:r>
            <a:r>
              <a:rPr sz="1100" b="1" spc="15" dirty="0">
                <a:latin typeface="Yu Gothic UI"/>
                <a:cs typeface="Yu Gothic UI"/>
              </a:rPr>
              <a:t> </a:t>
            </a:r>
            <a:r>
              <a:rPr sz="900" i="1" spc="80" dirty="0">
                <a:latin typeface="Trebuchet MS"/>
                <a:cs typeface="Trebuchet MS"/>
              </a:rPr>
              <a:t>Windy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1000" spc="-70" dirty="0">
                <a:latin typeface="Tahoma"/>
                <a:cs typeface="Tahoma"/>
              </a:rPr>
              <a:t>3 </a:t>
            </a:r>
            <a:r>
              <a:rPr sz="1000" spc="-85" dirty="0">
                <a:latin typeface="Tahoma"/>
                <a:cs typeface="Tahoma"/>
              </a:rPr>
              <a:t>Play=Yes,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3 </a:t>
            </a:r>
            <a:r>
              <a:rPr sz="1000" spc="-50" dirty="0">
                <a:latin typeface="Tahoma"/>
                <a:cs typeface="Tahoma"/>
              </a:rPr>
              <a:t>Play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76158" y="3040621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88933" y="3040621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89999" y="3040621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64728" y="2866681"/>
            <a:ext cx="1216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4815" algn="l"/>
                <a:tab pos="726440" algn="l"/>
                <a:tab pos="1139190" algn="l"/>
              </a:tabLst>
            </a:pPr>
            <a:r>
              <a:rPr sz="800" spc="-50" dirty="0">
                <a:latin typeface="Lucida Sans Unicode"/>
                <a:cs typeface="Lucida Sans Unicode"/>
              </a:rPr>
              <a:t>3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3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3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3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02775" y="3040621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>
                <a:moveTo>
                  <a:pt x="0" y="0"/>
                </a:moveTo>
                <a:lnTo>
                  <a:pt x="66903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13154" y="2954479"/>
            <a:ext cx="198183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805"/>
              </a:lnSpc>
              <a:spcBef>
                <a:spcPts val="105"/>
              </a:spcBef>
              <a:tabLst>
                <a:tab pos="1797050" algn="l"/>
              </a:tabLst>
            </a:pPr>
            <a:r>
              <a:rPr sz="650" i="1" spc="-10" dirty="0">
                <a:latin typeface="Trebuchet MS"/>
                <a:cs typeface="Trebuchet MS"/>
              </a:rPr>
              <a:t>H</a:t>
            </a:r>
            <a:r>
              <a:rPr sz="800" b="1" spc="-10" dirty="0">
                <a:latin typeface="Tahoma"/>
                <a:cs typeface="Tahoma"/>
              </a:rPr>
              <a:t>(</a:t>
            </a:r>
            <a:r>
              <a:rPr sz="800" spc="-10" dirty="0">
                <a:latin typeface="Tahoma"/>
                <a:cs typeface="Tahoma"/>
              </a:rPr>
              <a:t>Play</a:t>
            </a:r>
            <a:r>
              <a:rPr sz="800" b="1" spc="-10" dirty="0">
                <a:latin typeface="Tahoma"/>
                <a:cs typeface="Tahoma"/>
              </a:rPr>
              <a:t>)</a:t>
            </a:r>
            <a:r>
              <a:rPr sz="800" b="1" spc="-50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dirty="0">
                <a:latin typeface="Yu Gothic UI"/>
                <a:cs typeface="Yu Gothic UI"/>
              </a:rPr>
              <a:t>−</a:t>
            </a:r>
            <a:r>
              <a:rPr sz="800" b="1" spc="235" dirty="0">
                <a:latin typeface="Yu Gothic UI"/>
                <a:cs typeface="Yu Gothic UI"/>
              </a:rPr>
              <a:t>  </a:t>
            </a:r>
            <a:r>
              <a:rPr sz="800" b="1" dirty="0">
                <a:latin typeface="Yu Gothic UI"/>
                <a:cs typeface="Yu Gothic UI"/>
              </a:rPr>
              <a:t>×</a:t>
            </a:r>
            <a:r>
              <a:rPr sz="800" b="1" spc="-15" dirty="0">
                <a:latin typeface="Yu Gothic UI"/>
                <a:cs typeface="Yu Gothic UI"/>
              </a:rPr>
              <a:t> </a:t>
            </a:r>
            <a:r>
              <a:rPr sz="650" i="1" dirty="0">
                <a:latin typeface="Trebuchet MS"/>
                <a:cs typeface="Trebuchet MS"/>
              </a:rPr>
              <a:t>log</a:t>
            </a:r>
            <a:r>
              <a:rPr sz="900" baseline="-9259" dirty="0">
                <a:latin typeface="Lucida Sans Unicode"/>
                <a:cs typeface="Lucida Sans Unicode"/>
              </a:rPr>
              <a:t>2</a:t>
            </a:r>
            <a:r>
              <a:rPr sz="900" spc="397" baseline="-9259" dirty="0">
                <a:latin typeface="Lucida Sans Unicode"/>
                <a:cs typeface="Lucida Sans Unicode"/>
              </a:rPr>
              <a:t>  </a:t>
            </a:r>
            <a:r>
              <a:rPr sz="800" b="1" spc="-80" dirty="0">
                <a:latin typeface="Tahoma"/>
                <a:cs typeface="Tahoma"/>
              </a:rPr>
              <a:t>+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dirty="0">
                <a:latin typeface="Yu Gothic UI"/>
                <a:cs typeface="Yu Gothic UI"/>
              </a:rPr>
              <a:t>−</a:t>
            </a:r>
            <a:r>
              <a:rPr sz="800" b="1" spc="235" dirty="0">
                <a:latin typeface="Yu Gothic UI"/>
                <a:cs typeface="Yu Gothic UI"/>
              </a:rPr>
              <a:t>  </a:t>
            </a:r>
            <a:r>
              <a:rPr sz="800" b="1" dirty="0">
                <a:latin typeface="Yu Gothic UI"/>
                <a:cs typeface="Yu Gothic UI"/>
              </a:rPr>
              <a:t>×</a:t>
            </a:r>
            <a:r>
              <a:rPr sz="800" b="1" spc="-10" dirty="0">
                <a:latin typeface="Yu Gothic UI"/>
                <a:cs typeface="Yu Gothic UI"/>
              </a:rPr>
              <a:t> </a:t>
            </a:r>
            <a:r>
              <a:rPr sz="650" i="1" spc="-20" dirty="0">
                <a:latin typeface="Trebuchet MS"/>
                <a:cs typeface="Trebuchet MS"/>
              </a:rPr>
              <a:t>log</a:t>
            </a:r>
            <a:r>
              <a:rPr sz="900" spc="-30" baseline="-9259" dirty="0">
                <a:latin typeface="Lucida Sans Unicode"/>
                <a:cs typeface="Lucida Sans Unicode"/>
              </a:rPr>
              <a:t>2</a:t>
            </a:r>
            <a:r>
              <a:rPr sz="900" baseline="-9259" dirty="0">
                <a:latin typeface="Lucida Sans Unicode"/>
                <a:cs typeface="Lucida Sans Unicode"/>
              </a:rPr>
              <a:t>	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55" dirty="0">
                <a:latin typeface="Tahoma"/>
                <a:cs typeface="Tahoma"/>
              </a:rPr>
              <a:t> </a:t>
            </a:r>
            <a:r>
              <a:rPr sz="800" spc="-50" dirty="0">
                <a:latin typeface="Lucida Sans Unicode"/>
                <a:cs typeface="Lucida Sans Unicode"/>
              </a:rPr>
              <a:t>1</a:t>
            </a:r>
            <a:endParaRPr sz="800">
              <a:latin typeface="Lucida Sans Unicode"/>
              <a:cs typeface="Lucida Sans Unicode"/>
            </a:endParaRPr>
          </a:p>
          <a:p>
            <a:pPr marL="563880">
              <a:lnSpc>
                <a:spcPts val="805"/>
              </a:lnSpc>
              <a:tabLst>
                <a:tab pos="976630" algn="l"/>
                <a:tab pos="1277620" algn="l"/>
                <a:tab pos="1690370" algn="l"/>
              </a:tabLst>
            </a:pPr>
            <a:r>
              <a:rPr sz="800" spc="-50" dirty="0">
                <a:latin typeface="Lucida Sans Unicode"/>
                <a:cs typeface="Lucida Sans Unicode"/>
              </a:rPr>
              <a:t>6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6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6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50" dirty="0">
                <a:latin typeface="Lucida Sans Unicode"/>
                <a:cs typeface="Lucida Sans Unicode"/>
              </a:rPr>
              <a:t>6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6859" y="3200220"/>
            <a:ext cx="221615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35" dirty="0">
                <a:latin typeface="Tahoma"/>
                <a:cs typeface="Tahoma"/>
              </a:rPr>
              <a:t>12/38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60" dirty="0">
                <a:solidFill>
                  <a:srgbClr val="3F3F3F"/>
                </a:solidFill>
                <a:latin typeface="Verdana"/>
                <a:cs typeface="Verdana"/>
              </a:rPr>
              <a:t>Example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9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using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Information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75" dirty="0">
                <a:solidFill>
                  <a:srgbClr val="3F3F3F"/>
                </a:solidFill>
                <a:latin typeface="Verdana"/>
                <a:cs typeface="Verdana"/>
              </a:rPr>
              <a:t>Gain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75955" y="1094282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0021" y="1094282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7631" y="1503387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32062" y="1503387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5">
                <a:moveTo>
                  <a:pt x="0" y="0"/>
                </a:moveTo>
                <a:lnTo>
                  <a:pt x="133807" y="0"/>
                </a:lnTo>
              </a:path>
            </a:pathLst>
          </a:custGeom>
          <a:ln w="40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1662" y="1009610"/>
            <a:ext cx="3703320" cy="897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ts val="805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Gain</a:t>
            </a:r>
            <a:r>
              <a:rPr sz="800" b="1" dirty="0">
                <a:latin typeface="Tahoma"/>
                <a:cs typeface="Tahoma"/>
              </a:rPr>
              <a:t>(</a:t>
            </a:r>
            <a:r>
              <a:rPr sz="650" i="1" dirty="0">
                <a:latin typeface="Trebuchet MS"/>
                <a:cs typeface="Trebuchet MS"/>
              </a:rPr>
              <a:t>Play,</a:t>
            </a:r>
            <a:r>
              <a:rPr sz="650" i="1" spc="-65" dirty="0">
                <a:latin typeface="Trebuchet MS"/>
                <a:cs typeface="Trebuchet MS"/>
              </a:rPr>
              <a:t> </a:t>
            </a:r>
            <a:r>
              <a:rPr sz="650" i="1" spc="55" dirty="0">
                <a:latin typeface="Trebuchet MS"/>
                <a:cs typeface="Trebuchet MS"/>
              </a:rPr>
              <a:t>Wind</a:t>
            </a:r>
            <a:r>
              <a:rPr sz="800" b="1" spc="55" dirty="0">
                <a:latin typeface="Tahoma"/>
                <a:cs typeface="Tahoma"/>
              </a:rPr>
              <a:t>)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650" i="1" dirty="0">
                <a:latin typeface="Trebuchet MS"/>
                <a:cs typeface="Trebuchet MS"/>
              </a:rPr>
              <a:t>H</a:t>
            </a:r>
            <a:r>
              <a:rPr sz="800" b="1" dirty="0">
                <a:latin typeface="Tahoma"/>
                <a:cs typeface="Tahoma"/>
              </a:rPr>
              <a:t>(</a:t>
            </a:r>
            <a:r>
              <a:rPr sz="650" i="1" dirty="0">
                <a:latin typeface="Trebuchet MS"/>
                <a:cs typeface="Trebuchet MS"/>
              </a:rPr>
              <a:t>Play</a:t>
            </a:r>
            <a:r>
              <a:rPr sz="800" b="1" dirty="0">
                <a:latin typeface="Tahoma"/>
                <a:cs typeface="Tahoma"/>
              </a:rPr>
              <a:t>)</a:t>
            </a:r>
            <a:r>
              <a:rPr sz="800" b="1" spc="-6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Yu Gothic UI"/>
                <a:cs typeface="Yu Gothic UI"/>
              </a:rPr>
              <a:t>−</a:t>
            </a:r>
            <a:r>
              <a:rPr sz="800" b="1" spc="385" dirty="0">
                <a:latin typeface="Yu Gothic UI"/>
                <a:cs typeface="Yu Gothic UI"/>
              </a:rPr>
              <a:t> </a:t>
            </a:r>
            <a:r>
              <a:rPr sz="1200" baseline="48611" dirty="0">
                <a:latin typeface="Lucida Sans Unicode"/>
                <a:cs typeface="Lucida Sans Unicode"/>
              </a:rPr>
              <a:t>8</a:t>
            </a:r>
            <a:r>
              <a:rPr sz="1200" spc="457" baseline="48611" dirty="0">
                <a:latin typeface="Lucida Sans Unicode"/>
                <a:cs typeface="Lucida Sans Unicode"/>
              </a:rPr>
              <a:t> </a:t>
            </a:r>
            <a:r>
              <a:rPr sz="800" b="1" dirty="0">
                <a:latin typeface="Yu Gothic UI"/>
                <a:cs typeface="Yu Gothic UI"/>
              </a:rPr>
              <a:t>× </a:t>
            </a:r>
            <a:r>
              <a:rPr sz="650" i="1" spc="60" dirty="0">
                <a:latin typeface="Trebuchet MS"/>
                <a:cs typeface="Trebuchet MS"/>
              </a:rPr>
              <a:t>H</a:t>
            </a:r>
            <a:r>
              <a:rPr sz="800" b="1" spc="60" dirty="0">
                <a:latin typeface="Tahoma"/>
                <a:cs typeface="Tahoma"/>
              </a:rPr>
              <a:t>(</a:t>
            </a:r>
            <a:r>
              <a:rPr sz="650" i="1" spc="60" dirty="0">
                <a:latin typeface="Trebuchet MS"/>
                <a:cs typeface="Trebuchet MS"/>
              </a:rPr>
              <a:t>Wind</a:t>
            </a:r>
            <a:r>
              <a:rPr sz="650" i="1" spc="-20" dirty="0">
                <a:latin typeface="Trebuchet MS"/>
                <a:cs typeface="Trebuchet MS"/>
              </a:rPr>
              <a:t> </a:t>
            </a:r>
            <a:r>
              <a:rPr sz="800" b="1" spc="-229" dirty="0">
                <a:latin typeface="Yu Gothic UI"/>
                <a:cs typeface="Yu Gothic UI"/>
              </a:rPr>
              <a:t>−</a:t>
            </a:r>
            <a:r>
              <a:rPr sz="800" b="1" dirty="0">
                <a:latin typeface="Yu Gothic UI"/>
                <a:cs typeface="Yu Gothic UI"/>
              </a:rPr>
              <a:t> </a:t>
            </a:r>
            <a:r>
              <a:rPr sz="650" i="1" spc="55" dirty="0">
                <a:latin typeface="Trebuchet MS"/>
                <a:cs typeface="Trebuchet MS"/>
              </a:rPr>
              <a:t>Calm</a:t>
            </a:r>
            <a:r>
              <a:rPr sz="800" b="1" spc="55" dirty="0">
                <a:latin typeface="Tahoma"/>
                <a:cs typeface="Tahoma"/>
              </a:rPr>
              <a:t>)</a:t>
            </a:r>
            <a:r>
              <a:rPr sz="800" b="1" spc="-5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Yu Gothic UI"/>
                <a:cs typeface="Yu Gothic UI"/>
              </a:rPr>
              <a:t>−</a:t>
            </a:r>
            <a:r>
              <a:rPr sz="800" b="1" spc="380" dirty="0">
                <a:latin typeface="Yu Gothic UI"/>
                <a:cs typeface="Yu Gothic UI"/>
              </a:rPr>
              <a:t> </a:t>
            </a:r>
            <a:r>
              <a:rPr sz="1200" baseline="48611" dirty="0">
                <a:latin typeface="Lucida Sans Unicode"/>
                <a:cs typeface="Lucida Sans Unicode"/>
              </a:rPr>
              <a:t>6</a:t>
            </a:r>
            <a:r>
              <a:rPr sz="1200" spc="457" baseline="48611" dirty="0">
                <a:latin typeface="Lucida Sans Unicode"/>
                <a:cs typeface="Lucida Sans Unicode"/>
              </a:rPr>
              <a:t> </a:t>
            </a:r>
            <a:r>
              <a:rPr sz="800" b="1" dirty="0">
                <a:latin typeface="Yu Gothic UI"/>
                <a:cs typeface="Yu Gothic UI"/>
              </a:rPr>
              <a:t>× </a:t>
            </a:r>
            <a:r>
              <a:rPr sz="650" i="1" spc="60" dirty="0">
                <a:latin typeface="Trebuchet MS"/>
                <a:cs typeface="Trebuchet MS"/>
              </a:rPr>
              <a:t>H</a:t>
            </a:r>
            <a:r>
              <a:rPr sz="800" b="1" spc="60" dirty="0">
                <a:latin typeface="Tahoma"/>
                <a:cs typeface="Tahoma"/>
              </a:rPr>
              <a:t>(</a:t>
            </a:r>
            <a:r>
              <a:rPr sz="650" i="1" spc="60" dirty="0">
                <a:latin typeface="Trebuchet MS"/>
                <a:cs typeface="Trebuchet MS"/>
              </a:rPr>
              <a:t>Wind</a:t>
            </a:r>
            <a:r>
              <a:rPr sz="650" i="1" spc="-20" dirty="0">
                <a:latin typeface="Trebuchet MS"/>
                <a:cs typeface="Trebuchet MS"/>
              </a:rPr>
              <a:t> </a:t>
            </a:r>
            <a:r>
              <a:rPr sz="800" b="1" spc="-229" dirty="0">
                <a:latin typeface="Yu Gothic UI"/>
                <a:cs typeface="Yu Gothic UI"/>
              </a:rPr>
              <a:t>−</a:t>
            </a:r>
            <a:r>
              <a:rPr sz="800" b="1" spc="5" dirty="0">
                <a:latin typeface="Yu Gothic UI"/>
                <a:cs typeface="Yu Gothic UI"/>
              </a:rPr>
              <a:t> </a:t>
            </a:r>
            <a:r>
              <a:rPr sz="650" i="1" spc="50" dirty="0">
                <a:latin typeface="Trebuchet MS"/>
                <a:cs typeface="Trebuchet MS"/>
              </a:rPr>
              <a:t>Windy</a:t>
            </a:r>
            <a:r>
              <a:rPr sz="800" b="1" spc="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  <a:p>
            <a:pPr marL="1424940">
              <a:lnSpc>
                <a:spcPts val="805"/>
              </a:lnSpc>
              <a:tabLst>
                <a:tab pos="2569210" algn="l"/>
              </a:tabLst>
            </a:pPr>
            <a:r>
              <a:rPr sz="800" spc="-25" dirty="0">
                <a:latin typeface="Lucida Sans Unicode"/>
                <a:cs typeface="Lucida Sans Unicode"/>
              </a:rPr>
              <a:t>14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25" dirty="0">
                <a:latin typeface="Lucida Sans Unicode"/>
                <a:cs typeface="Lucida Sans Unicode"/>
              </a:rPr>
              <a:t>14</a:t>
            </a:r>
            <a:endParaRPr sz="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Lucida Sans Unicode"/>
              <a:cs typeface="Lucida Sans Unicode"/>
            </a:endParaRPr>
          </a:p>
          <a:p>
            <a:pPr marL="76200">
              <a:lnSpc>
                <a:spcPts val="805"/>
              </a:lnSpc>
            </a:pPr>
            <a:r>
              <a:rPr sz="800" dirty="0">
                <a:latin typeface="Tahoma"/>
                <a:cs typeface="Tahoma"/>
              </a:rPr>
              <a:t>Gain</a:t>
            </a:r>
            <a:r>
              <a:rPr sz="800" b="1" dirty="0">
                <a:latin typeface="Tahoma"/>
                <a:cs typeface="Tahoma"/>
              </a:rPr>
              <a:t>(</a:t>
            </a:r>
            <a:r>
              <a:rPr sz="650" i="1" dirty="0">
                <a:latin typeface="Trebuchet MS"/>
                <a:cs typeface="Trebuchet MS"/>
              </a:rPr>
              <a:t>Play,</a:t>
            </a:r>
            <a:r>
              <a:rPr sz="650" i="1" spc="-65" dirty="0">
                <a:latin typeface="Trebuchet MS"/>
                <a:cs typeface="Trebuchet MS"/>
              </a:rPr>
              <a:t> </a:t>
            </a:r>
            <a:r>
              <a:rPr sz="650" i="1" spc="55" dirty="0">
                <a:latin typeface="Trebuchet MS"/>
                <a:cs typeface="Trebuchet MS"/>
              </a:rPr>
              <a:t>Wind</a:t>
            </a:r>
            <a:r>
              <a:rPr sz="800" b="1" spc="55" dirty="0">
                <a:latin typeface="Tahoma"/>
                <a:cs typeface="Tahoma"/>
              </a:rPr>
              <a:t>)</a:t>
            </a:r>
            <a:r>
              <a:rPr sz="800" b="1" spc="-60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45" dirty="0">
                <a:latin typeface="Tahoma"/>
                <a:cs typeface="Tahoma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0</a:t>
            </a:r>
            <a:r>
              <a:rPr sz="650" i="1" dirty="0">
                <a:latin typeface="Trebuchet MS"/>
                <a:cs typeface="Trebuchet MS"/>
              </a:rPr>
              <a:t>.</a:t>
            </a:r>
            <a:r>
              <a:rPr sz="800" dirty="0">
                <a:latin typeface="Lucida Sans Unicode"/>
                <a:cs typeface="Lucida Sans Unicode"/>
              </a:rPr>
              <a:t>940</a:t>
            </a:r>
            <a:r>
              <a:rPr sz="800" spc="-80" dirty="0">
                <a:latin typeface="Lucida Sans Unicode"/>
                <a:cs typeface="Lucida Sans Unicode"/>
              </a:rPr>
              <a:t> </a:t>
            </a:r>
            <a:r>
              <a:rPr sz="800" b="1" spc="-20" dirty="0">
                <a:latin typeface="Yu Gothic UI"/>
                <a:cs typeface="Yu Gothic UI"/>
              </a:rPr>
              <a:t>−</a:t>
            </a:r>
            <a:r>
              <a:rPr sz="800" b="1" spc="335" dirty="0">
                <a:latin typeface="Yu Gothic UI"/>
                <a:cs typeface="Yu Gothic UI"/>
              </a:rPr>
              <a:t> </a:t>
            </a:r>
            <a:r>
              <a:rPr sz="1200" baseline="48611" dirty="0">
                <a:latin typeface="Lucida Sans Unicode"/>
                <a:cs typeface="Lucida Sans Unicode"/>
              </a:rPr>
              <a:t>8</a:t>
            </a:r>
            <a:r>
              <a:rPr sz="1200" spc="390" baseline="48611" dirty="0">
                <a:latin typeface="Lucida Sans Unicode"/>
                <a:cs typeface="Lucida Sans Unicode"/>
              </a:rPr>
              <a:t> </a:t>
            </a:r>
            <a:r>
              <a:rPr sz="800" b="1" dirty="0">
                <a:latin typeface="Yu Gothic UI"/>
                <a:cs typeface="Yu Gothic UI"/>
              </a:rPr>
              <a:t>×</a:t>
            </a:r>
            <a:r>
              <a:rPr sz="800" b="1" spc="-15" dirty="0">
                <a:latin typeface="Yu Gothic UI"/>
                <a:cs typeface="Yu Gothic UI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0</a:t>
            </a:r>
            <a:r>
              <a:rPr sz="650" i="1" dirty="0">
                <a:latin typeface="Trebuchet MS"/>
                <a:cs typeface="Trebuchet MS"/>
              </a:rPr>
              <a:t>.</a:t>
            </a:r>
            <a:r>
              <a:rPr sz="800" dirty="0">
                <a:latin typeface="Lucida Sans Unicode"/>
                <a:cs typeface="Lucida Sans Unicode"/>
              </a:rPr>
              <a:t>811</a:t>
            </a:r>
            <a:r>
              <a:rPr sz="800" spc="-80" dirty="0">
                <a:latin typeface="Lucida Sans Unicode"/>
                <a:cs typeface="Lucida Sans Unicode"/>
              </a:rPr>
              <a:t> </a:t>
            </a:r>
            <a:r>
              <a:rPr sz="800" b="1" spc="-20" dirty="0">
                <a:latin typeface="Yu Gothic UI"/>
                <a:cs typeface="Yu Gothic UI"/>
              </a:rPr>
              <a:t>−</a:t>
            </a:r>
            <a:r>
              <a:rPr sz="800" b="1" spc="335" dirty="0">
                <a:latin typeface="Yu Gothic UI"/>
                <a:cs typeface="Yu Gothic UI"/>
              </a:rPr>
              <a:t> </a:t>
            </a:r>
            <a:r>
              <a:rPr sz="1200" baseline="48611" dirty="0">
                <a:latin typeface="Lucida Sans Unicode"/>
                <a:cs typeface="Lucida Sans Unicode"/>
              </a:rPr>
              <a:t>6</a:t>
            </a:r>
            <a:r>
              <a:rPr sz="1200" spc="390" baseline="48611" dirty="0">
                <a:latin typeface="Lucida Sans Unicode"/>
                <a:cs typeface="Lucida Sans Unicode"/>
              </a:rPr>
              <a:t> </a:t>
            </a:r>
            <a:r>
              <a:rPr sz="800" b="1" dirty="0">
                <a:latin typeface="Yu Gothic UI"/>
                <a:cs typeface="Yu Gothic UI"/>
              </a:rPr>
              <a:t>×</a:t>
            </a:r>
            <a:r>
              <a:rPr sz="800" b="1" spc="-15" dirty="0">
                <a:latin typeface="Yu Gothic UI"/>
                <a:cs typeface="Yu Gothic UI"/>
              </a:rPr>
              <a:t> </a:t>
            </a:r>
            <a:r>
              <a:rPr sz="800" spc="-50" dirty="0">
                <a:latin typeface="Lucida Sans Unicode"/>
                <a:cs typeface="Lucida Sans Unicode"/>
              </a:rPr>
              <a:t>1</a:t>
            </a:r>
            <a:endParaRPr sz="800">
              <a:latin typeface="Lucida Sans Unicode"/>
              <a:cs typeface="Lucida Sans Unicode"/>
            </a:endParaRPr>
          </a:p>
          <a:p>
            <a:pPr marL="1376680">
              <a:lnSpc>
                <a:spcPts val="805"/>
              </a:lnSpc>
              <a:tabLst>
                <a:tab pos="2081530" algn="l"/>
              </a:tabLst>
            </a:pPr>
            <a:r>
              <a:rPr sz="800" spc="-25" dirty="0">
                <a:latin typeface="Lucida Sans Unicode"/>
                <a:cs typeface="Lucida Sans Unicode"/>
              </a:rPr>
              <a:t>14</a:t>
            </a:r>
            <a:r>
              <a:rPr sz="800" dirty="0">
                <a:latin typeface="Lucida Sans Unicode"/>
                <a:cs typeface="Lucida Sans Unicode"/>
              </a:rPr>
              <a:t>	</a:t>
            </a:r>
            <a:r>
              <a:rPr sz="800" spc="-25" dirty="0">
                <a:latin typeface="Lucida Sans Unicode"/>
                <a:cs typeface="Lucida Sans Unicode"/>
              </a:rPr>
              <a:t>14</a:t>
            </a:r>
            <a:endParaRPr sz="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700">
              <a:latin typeface="Lucida Sans Unicode"/>
              <a:cs typeface="Lucida Sans Unicode"/>
            </a:endParaRPr>
          </a:p>
          <a:p>
            <a:pPr marL="75565">
              <a:lnSpc>
                <a:spcPct val="100000"/>
              </a:lnSpc>
            </a:pPr>
            <a:r>
              <a:rPr sz="800" dirty="0">
                <a:latin typeface="Tahoma"/>
                <a:cs typeface="Tahoma"/>
              </a:rPr>
              <a:t>Gain</a:t>
            </a:r>
            <a:r>
              <a:rPr sz="800" b="1" dirty="0">
                <a:latin typeface="Tahoma"/>
                <a:cs typeface="Tahoma"/>
              </a:rPr>
              <a:t>(</a:t>
            </a:r>
            <a:r>
              <a:rPr sz="650" i="1" dirty="0">
                <a:latin typeface="Trebuchet MS"/>
                <a:cs typeface="Trebuchet MS"/>
              </a:rPr>
              <a:t>Play,</a:t>
            </a:r>
            <a:r>
              <a:rPr sz="650" i="1" spc="-60" dirty="0">
                <a:latin typeface="Trebuchet MS"/>
                <a:cs typeface="Trebuchet MS"/>
              </a:rPr>
              <a:t> </a:t>
            </a:r>
            <a:r>
              <a:rPr sz="650" i="1" spc="55" dirty="0">
                <a:latin typeface="Trebuchet MS"/>
                <a:cs typeface="Trebuchet MS"/>
              </a:rPr>
              <a:t>Wind</a:t>
            </a:r>
            <a:r>
              <a:rPr sz="800" b="1" spc="55" dirty="0">
                <a:latin typeface="Tahoma"/>
                <a:cs typeface="Tahoma"/>
              </a:rPr>
              <a:t>)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=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Lucida Sans Unicode"/>
                <a:cs typeface="Lucida Sans Unicode"/>
              </a:rPr>
              <a:t>0</a:t>
            </a:r>
            <a:r>
              <a:rPr sz="650" i="1" spc="-20" dirty="0">
                <a:latin typeface="Trebuchet MS"/>
                <a:cs typeface="Trebuchet MS"/>
              </a:rPr>
              <a:t>.</a:t>
            </a:r>
            <a:r>
              <a:rPr sz="800" spc="-20" dirty="0">
                <a:latin typeface="Lucida Sans Unicode"/>
                <a:cs typeface="Lucida Sans Unicode"/>
              </a:rPr>
              <a:t>048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975" y="2166910"/>
            <a:ext cx="3594100" cy="1108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Information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gains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other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features:</a:t>
            </a:r>
            <a:endParaRPr sz="1100">
              <a:latin typeface="Tahoma"/>
              <a:cs typeface="Tahoma"/>
            </a:endParaRPr>
          </a:p>
          <a:p>
            <a:pPr marL="15875">
              <a:lnSpc>
                <a:spcPct val="100000"/>
              </a:lnSpc>
              <a:spcBef>
                <a:spcPts val="830"/>
              </a:spcBef>
            </a:pPr>
            <a:r>
              <a:rPr sz="1000" spc="-50" dirty="0">
                <a:latin typeface="Tahoma"/>
                <a:cs typeface="Tahoma"/>
              </a:rPr>
              <a:t>Gain(Play,Outlook)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0.246</a:t>
            </a:r>
            <a:endParaRPr sz="1000">
              <a:latin typeface="Tahoma"/>
              <a:cs typeface="Tahoma"/>
            </a:endParaRPr>
          </a:p>
          <a:p>
            <a:pPr marL="15875">
              <a:lnSpc>
                <a:spcPct val="100000"/>
              </a:lnSpc>
              <a:spcBef>
                <a:spcPts val="175"/>
              </a:spcBef>
            </a:pPr>
            <a:r>
              <a:rPr sz="1000" spc="-50" dirty="0">
                <a:latin typeface="Tahoma"/>
                <a:cs typeface="Tahoma"/>
              </a:rPr>
              <a:t>Gain(Play,Humidity)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40" dirty="0">
                <a:latin typeface="Tahoma"/>
                <a:cs typeface="Tahoma"/>
              </a:rPr>
              <a:t>=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0.151</a:t>
            </a:r>
            <a:endParaRPr sz="1000">
              <a:latin typeface="Tahoma"/>
              <a:cs typeface="Tahoma"/>
            </a:endParaRPr>
          </a:p>
          <a:p>
            <a:pPr marL="15875" marR="5080" indent="-3810">
              <a:lnSpc>
                <a:spcPct val="118000"/>
              </a:lnSpc>
              <a:spcBef>
                <a:spcPts val="700"/>
              </a:spcBef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Outlook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produces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most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information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5" dirty="0">
                <a:solidFill>
                  <a:srgbClr val="6393ED"/>
                </a:solidFill>
                <a:latin typeface="Tahoma"/>
                <a:cs typeface="Tahoma"/>
              </a:rPr>
              <a:t>gain</a:t>
            </a:r>
            <a:r>
              <a:rPr sz="1100" b="1" spc="-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45" dirty="0">
                <a:latin typeface="Tahoma"/>
                <a:cs typeface="Tahoma"/>
              </a:rPr>
              <a:t>selected</a:t>
            </a:r>
            <a:r>
              <a:rPr sz="1100" spc="-70" dirty="0">
                <a:latin typeface="Tahoma"/>
                <a:cs typeface="Tahoma"/>
              </a:rPr>
              <a:t> as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root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node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2259" y="3201332"/>
            <a:ext cx="196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5" dirty="0">
                <a:latin typeface="Tahoma"/>
                <a:cs typeface="Tahoma"/>
              </a:rPr>
              <a:t>13/38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60" dirty="0">
                <a:solidFill>
                  <a:srgbClr val="3F3F3F"/>
                </a:solidFill>
                <a:latin typeface="Verdana"/>
                <a:cs typeface="Verdana"/>
              </a:rPr>
              <a:t>Example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9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Partitioning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using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Information</a:t>
            </a:r>
            <a:r>
              <a:rPr sz="12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75" dirty="0">
                <a:solidFill>
                  <a:srgbClr val="3F3F3F"/>
                </a:solidFill>
                <a:latin typeface="Verdana"/>
                <a:cs typeface="Verdana"/>
              </a:rPr>
              <a:t>Gain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4637" y="3200220"/>
            <a:ext cx="223520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35" dirty="0">
                <a:latin typeface="Tahoma"/>
                <a:cs typeface="Tahoma"/>
              </a:rPr>
              <a:t>14/38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281" y="1023566"/>
            <a:ext cx="3710940" cy="121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238125" indent="-141605">
              <a:lnSpc>
                <a:spcPct val="1180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0" dirty="0">
                <a:latin typeface="Tahoma"/>
                <a:cs typeface="Tahoma"/>
              </a:rPr>
              <a:t>Next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branches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created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below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root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each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Outlook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53670" indent="-141605">
              <a:lnSpc>
                <a:spcPct val="100000"/>
              </a:lnSpc>
              <a:spcBef>
                <a:spcPts val="24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60" dirty="0">
                <a:latin typeface="Tahoma"/>
                <a:cs typeface="Tahoma"/>
              </a:rPr>
              <a:t>Because </a:t>
            </a:r>
            <a:r>
              <a:rPr sz="1100" spc="-55" dirty="0">
                <a:latin typeface="Tahoma"/>
                <a:cs typeface="Tahoma"/>
              </a:rPr>
              <a:t>every</a:t>
            </a:r>
            <a:r>
              <a:rPr sz="1100" spc="-60" dirty="0">
                <a:latin typeface="Tahoma"/>
                <a:cs typeface="Tahoma"/>
              </a:rPr>
              <a:t> example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Outlook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2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Overcast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same</a:t>
            </a:r>
            <a:endParaRPr sz="110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235"/>
              </a:spcBef>
            </a:pPr>
            <a:r>
              <a:rPr sz="1100" spc="-60" dirty="0">
                <a:latin typeface="Tahoma"/>
                <a:cs typeface="Tahoma"/>
              </a:rPr>
              <a:t>class,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becomes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outputting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class </a:t>
            </a:r>
            <a:r>
              <a:rPr sz="1100" spc="-35" dirty="0">
                <a:latin typeface="Tahoma"/>
                <a:cs typeface="Tahoma"/>
              </a:rPr>
              <a:t>“Yes”.</a:t>
            </a:r>
            <a:endParaRPr sz="1100">
              <a:latin typeface="Tahoma"/>
              <a:cs typeface="Tahoma"/>
            </a:endParaRPr>
          </a:p>
          <a:p>
            <a:pPr marL="153670" marR="27940" indent="-141605">
              <a:lnSpc>
                <a:spcPct val="118000"/>
              </a:lnSpc>
              <a:spcBef>
                <a:spcPts val="5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other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branches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still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heterogeneous,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 </a:t>
            </a:r>
            <a:r>
              <a:rPr sz="1100" spc="-35" dirty="0">
                <a:latin typeface="Tahoma"/>
                <a:cs typeface="Tahoma"/>
              </a:rPr>
              <a:t>further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decision </a:t>
            </a:r>
            <a:r>
              <a:rPr sz="1100" spc="-50" dirty="0">
                <a:latin typeface="Tahoma"/>
                <a:cs typeface="Tahoma"/>
              </a:rPr>
              <a:t>nodes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required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branches.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8663" y="2387831"/>
            <a:ext cx="558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8950" algn="l"/>
              </a:tabLst>
            </a:pPr>
            <a:r>
              <a:rPr sz="700" spc="-50" dirty="0">
                <a:latin typeface="Lucida Sans Unicode"/>
                <a:cs typeface="Lucida Sans Unicode"/>
              </a:rPr>
              <a:t>5</a:t>
            </a:r>
            <a:r>
              <a:rPr sz="700" dirty="0">
                <a:latin typeface="Lucida Sans Unicode"/>
                <a:cs typeface="Lucida Sans Unicode"/>
              </a:rPr>
              <a:t>	</a:t>
            </a:r>
            <a:r>
              <a:rPr sz="700" spc="-50" dirty="0">
                <a:latin typeface="Lucida Sans Unicode"/>
                <a:cs typeface="Lucida Sans Unicode"/>
              </a:rPr>
              <a:t>5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797" y="2300521"/>
            <a:ext cx="3349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71B2"/>
                </a:solidFill>
                <a:latin typeface="Tahoma"/>
                <a:cs typeface="Tahoma"/>
              </a:rPr>
              <a:t>–</a:t>
            </a:r>
            <a:r>
              <a:rPr sz="1000" spc="229" dirty="0">
                <a:solidFill>
                  <a:srgbClr val="0071B2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Gain(Sunny,Humidity) </a:t>
            </a:r>
            <a:r>
              <a:rPr sz="1000" b="1" dirty="0">
                <a:latin typeface="Tahoma"/>
                <a:cs typeface="Tahoma"/>
              </a:rPr>
              <a:t>=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0</a:t>
            </a:r>
            <a:r>
              <a:rPr sz="850" i="1" dirty="0">
                <a:latin typeface="Trebuchet MS"/>
                <a:cs typeface="Trebuchet MS"/>
              </a:rPr>
              <a:t>.</a:t>
            </a:r>
            <a:r>
              <a:rPr sz="1000" dirty="0">
                <a:latin typeface="Lucida Sans Unicode"/>
                <a:cs typeface="Lucida Sans Unicode"/>
              </a:rPr>
              <a:t>970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b="1" spc="-280" dirty="0">
                <a:latin typeface="Yu Gothic UI"/>
                <a:cs typeface="Yu Gothic UI"/>
              </a:rPr>
              <a:t>−</a:t>
            </a:r>
            <a:r>
              <a:rPr sz="1000" b="1" spc="120" dirty="0">
                <a:latin typeface="Yu Gothic UI"/>
                <a:cs typeface="Yu Gothic UI"/>
              </a:rPr>
              <a:t> </a:t>
            </a:r>
            <a:r>
              <a:rPr sz="1050" u="sng" baseline="39682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3</a:t>
            </a:r>
            <a:r>
              <a:rPr sz="1050" spc="172" baseline="39682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× </a:t>
            </a:r>
            <a:r>
              <a:rPr sz="1000" dirty="0">
                <a:latin typeface="Lucida Sans Unicode"/>
                <a:cs typeface="Lucida Sans Unicode"/>
              </a:rPr>
              <a:t>0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Tahoma"/>
                <a:cs typeface="Tahoma"/>
              </a:rPr>
              <a:t>+</a:t>
            </a:r>
            <a:r>
              <a:rPr sz="1000" b="1" spc="105" dirty="0">
                <a:latin typeface="Tahoma"/>
                <a:cs typeface="Tahoma"/>
              </a:rPr>
              <a:t> </a:t>
            </a:r>
            <a:r>
              <a:rPr sz="1050" u="sng" baseline="39682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2</a:t>
            </a:r>
            <a:r>
              <a:rPr sz="1050" spc="165" baseline="39682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×</a:t>
            </a:r>
            <a:r>
              <a:rPr sz="1000" b="1" spc="5" dirty="0">
                <a:latin typeface="Yu Gothic UI"/>
                <a:cs typeface="Yu Gothic UI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0</a:t>
            </a:r>
            <a:r>
              <a:rPr sz="1000" spc="-50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Tahoma"/>
                <a:cs typeface="Tahoma"/>
              </a:rPr>
              <a:t>=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0</a:t>
            </a:r>
            <a:r>
              <a:rPr sz="850" i="1" spc="-10" dirty="0">
                <a:latin typeface="Trebuchet MS"/>
                <a:cs typeface="Trebuchet MS"/>
              </a:rPr>
              <a:t>.</a:t>
            </a:r>
            <a:r>
              <a:rPr sz="1000" spc="-10" dirty="0">
                <a:latin typeface="Lucida Sans Unicode"/>
                <a:cs typeface="Lucida Sans Unicode"/>
              </a:rPr>
              <a:t>970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3380" y="2579626"/>
            <a:ext cx="5588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8950" algn="l"/>
              </a:tabLst>
            </a:pPr>
            <a:r>
              <a:rPr sz="700" spc="-50" dirty="0">
                <a:latin typeface="Lucida Sans Unicode"/>
                <a:cs typeface="Lucida Sans Unicode"/>
              </a:rPr>
              <a:t>5</a:t>
            </a:r>
            <a:r>
              <a:rPr sz="700" dirty="0">
                <a:latin typeface="Lucida Sans Unicode"/>
                <a:cs typeface="Lucida Sans Unicode"/>
              </a:rPr>
              <a:t>	</a:t>
            </a:r>
            <a:r>
              <a:rPr sz="700" spc="-50" dirty="0">
                <a:latin typeface="Lucida Sans Unicode"/>
                <a:cs typeface="Lucida Sans Unicode"/>
              </a:rPr>
              <a:t>5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8797" y="2492316"/>
            <a:ext cx="3432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71B2"/>
                </a:solidFill>
                <a:latin typeface="Tahoma"/>
                <a:cs typeface="Tahoma"/>
              </a:rPr>
              <a:t>–</a:t>
            </a:r>
            <a:r>
              <a:rPr sz="1000" spc="220" dirty="0">
                <a:solidFill>
                  <a:srgbClr val="0071B2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Gain(Sunny,Wind) </a:t>
            </a:r>
            <a:r>
              <a:rPr sz="1000" b="1" dirty="0">
                <a:latin typeface="Tahoma"/>
                <a:cs typeface="Tahoma"/>
              </a:rPr>
              <a:t>=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0</a:t>
            </a:r>
            <a:r>
              <a:rPr sz="850" i="1" dirty="0">
                <a:latin typeface="Trebuchet MS"/>
                <a:cs typeface="Trebuchet MS"/>
              </a:rPr>
              <a:t>.</a:t>
            </a:r>
            <a:r>
              <a:rPr sz="1000" dirty="0">
                <a:latin typeface="Lucida Sans Unicode"/>
                <a:cs typeface="Lucida Sans Unicode"/>
              </a:rPr>
              <a:t>970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b="1" spc="-280" dirty="0">
                <a:latin typeface="Yu Gothic UI"/>
                <a:cs typeface="Yu Gothic UI"/>
              </a:rPr>
              <a:t>−</a:t>
            </a:r>
            <a:r>
              <a:rPr sz="1000" b="1" spc="114" dirty="0">
                <a:latin typeface="Yu Gothic UI"/>
                <a:cs typeface="Yu Gothic UI"/>
              </a:rPr>
              <a:t> </a:t>
            </a:r>
            <a:r>
              <a:rPr sz="1050" u="sng" baseline="39682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2</a:t>
            </a:r>
            <a:r>
              <a:rPr sz="1050" spc="165" baseline="39682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×</a:t>
            </a:r>
            <a:r>
              <a:rPr sz="1000" b="1" spc="-5" dirty="0">
                <a:latin typeface="Yu Gothic UI"/>
                <a:cs typeface="Yu Gothic UI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1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Tahoma"/>
                <a:cs typeface="Tahoma"/>
              </a:rPr>
              <a:t>+</a:t>
            </a:r>
            <a:r>
              <a:rPr sz="1000" b="1" spc="100" dirty="0">
                <a:latin typeface="Tahoma"/>
                <a:cs typeface="Tahoma"/>
              </a:rPr>
              <a:t> </a:t>
            </a:r>
            <a:r>
              <a:rPr sz="1050" u="sng" baseline="39682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3</a:t>
            </a:r>
            <a:r>
              <a:rPr sz="1050" spc="165" baseline="39682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Yu Gothic UI"/>
                <a:cs typeface="Yu Gothic UI"/>
              </a:rPr>
              <a:t>×</a:t>
            </a:r>
            <a:r>
              <a:rPr sz="1000" b="1" spc="-5" dirty="0">
                <a:latin typeface="Yu Gothic UI"/>
                <a:cs typeface="Yu Gothic UI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0</a:t>
            </a:r>
            <a:r>
              <a:rPr sz="850" i="1" dirty="0">
                <a:latin typeface="Trebuchet MS"/>
                <a:cs typeface="Trebuchet MS"/>
              </a:rPr>
              <a:t>.</a:t>
            </a:r>
            <a:r>
              <a:rPr sz="1000" dirty="0">
                <a:latin typeface="Lucida Sans Unicode"/>
                <a:cs typeface="Lucida Sans Unicode"/>
              </a:rPr>
              <a:t>918</a:t>
            </a:r>
            <a:r>
              <a:rPr sz="1000" spc="-50" dirty="0">
                <a:latin typeface="Lucida Sans Unicode"/>
                <a:cs typeface="Lucida Sans Unicode"/>
              </a:rPr>
              <a:t> </a:t>
            </a:r>
            <a:r>
              <a:rPr sz="1000" b="1" dirty="0">
                <a:latin typeface="Tahoma"/>
                <a:cs typeface="Tahoma"/>
              </a:rPr>
              <a:t>=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0</a:t>
            </a:r>
            <a:r>
              <a:rPr sz="850" i="1" spc="-10" dirty="0">
                <a:latin typeface="Trebuchet MS"/>
                <a:cs typeface="Trebuchet MS"/>
              </a:rPr>
              <a:t>.</a:t>
            </a:r>
            <a:r>
              <a:rPr sz="1000" spc="-10" dirty="0">
                <a:latin typeface="Lucida Sans Unicode"/>
                <a:cs typeface="Lucida Sans Unicode"/>
              </a:rPr>
              <a:t>019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4197" y="2644159"/>
            <a:ext cx="267144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5080" indent="-132715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0071B2"/>
                </a:solidFill>
                <a:latin typeface="Tahoma"/>
                <a:cs typeface="Tahoma"/>
              </a:rPr>
              <a:t>–</a:t>
            </a:r>
            <a:r>
              <a:rPr sz="1000" spc="250" dirty="0">
                <a:solidFill>
                  <a:srgbClr val="0071B2"/>
                </a:solidFill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The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Humidity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feature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will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next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split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on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Outlook=Sunny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branch.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78281"/>
            <a:ext cx="1367790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210" dirty="0">
                <a:latin typeface="Verdana"/>
                <a:cs typeface="Verdana"/>
              </a:rPr>
              <a:t>ID3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Final</a:t>
            </a:r>
            <a:r>
              <a:rPr sz="1200" i="1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35" dirty="0">
                <a:solidFill>
                  <a:srgbClr val="3F3F3F"/>
                </a:solidFill>
                <a:latin typeface="Verdana"/>
                <a:cs typeface="Verdana"/>
              </a:rPr>
              <a:t>Decision</a:t>
            </a:r>
            <a:r>
              <a:rPr sz="1200" i="1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20" dirty="0">
                <a:solidFill>
                  <a:srgbClr val="3F3F3F"/>
                </a:solidFill>
                <a:latin typeface="Verdana"/>
                <a:cs typeface="Verdana"/>
              </a:rPr>
              <a:t>Tree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7413" y="1122165"/>
            <a:ext cx="3193415" cy="954405"/>
            <a:chOff x="707413" y="1122165"/>
            <a:chExt cx="3193415" cy="954405"/>
          </a:xfrm>
        </p:grpSpPr>
        <p:sp>
          <p:nvSpPr>
            <p:cNvPr id="4" name="object 4"/>
            <p:cNvSpPr/>
            <p:nvPr/>
          </p:nvSpPr>
          <p:spPr>
            <a:xfrm>
              <a:off x="1350134" y="1124705"/>
              <a:ext cx="1937385" cy="396875"/>
            </a:xfrm>
            <a:custGeom>
              <a:avLst/>
              <a:gdLst/>
              <a:ahLst/>
              <a:cxnLst/>
              <a:rect l="l" t="t" r="r" b="b"/>
              <a:pathLst>
                <a:path w="1937385" h="396875">
                  <a:moveTo>
                    <a:pt x="953894" y="0"/>
                  </a:moveTo>
                  <a:lnTo>
                    <a:pt x="1937259" y="392998"/>
                  </a:lnTo>
                </a:path>
                <a:path w="1937385" h="396875">
                  <a:moveTo>
                    <a:pt x="953894" y="0"/>
                  </a:moveTo>
                  <a:lnTo>
                    <a:pt x="0" y="39686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04028" y="1124705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5">
                  <a:moveTo>
                    <a:pt x="0" y="290529"/>
                  </a:moveTo>
                  <a:lnTo>
                    <a:pt x="0" y="437059"/>
                  </a:lnTo>
                </a:path>
                <a:path h="437515">
                  <a:moveTo>
                    <a:pt x="0" y="0"/>
                  </a:moveTo>
                  <a:lnTo>
                    <a:pt x="0" y="11052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9953" y="1697353"/>
              <a:ext cx="3188335" cy="376555"/>
            </a:xfrm>
            <a:custGeom>
              <a:avLst/>
              <a:gdLst/>
              <a:ahLst/>
              <a:cxnLst/>
              <a:rect l="l" t="t" r="r" b="b"/>
              <a:pathLst>
                <a:path w="3188335" h="376555">
                  <a:moveTo>
                    <a:pt x="640180" y="0"/>
                  </a:moveTo>
                  <a:lnTo>
                    <a:pt x="0" y="353410"/>
                  </a:lnTo>
                </a:path>
                <a:path w="3188335" h="376555">
                  <a:moveTo>
                    <a:pt x="640180" y="0"/>
                  </a:moveTo>
                  <a:lnTo>
                    <a:pt x="1339155" y="361565"/>
                  </a:lnTo>
                </a:path>
                <a:path w="3188335" h="376555">
                  <a:moveTo>
                    <a:pt x="2577440" y="13568"/>
                  </a:moveTo>
                  <a:lnTo>
                    <a:pt x="1980748" y="366979"/>
                  </a:lnTo>
                </a:path>
                <a:path w="3188335" h="376555">
                  <a:moveTo>
                    <a:pt x="2577440" y="13568"/>
                  </a:moveTo>
                  <a:lnTo>
                    <a:pt x="3188287" y="37641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34025" y="951452"/>
            <a:ext cx="540385" cy="17081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Tahoma"/>
                <a:cs typeface="Tahoma"/>
              </a:rPr>
              <a:t>Outlook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7021" y="1229059"/>
            <a:ext cx="1183640" cy="1885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841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sz="1350" spc="-15" baseline="3086" dirty="0">
                <a:latin typeface="Tahoma"/>
                <a:cs typeface="Tahoma"/>
              </a:rPr>
              <a:t>Rainy</a:t>
            </a:r>
            <a:r>
              <a:rPr sz="1350" spc="247" baseline="3086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Overcast</a:t>
            </a:r>
            <a:r>
              <a:rPr sz="900" spc="165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Sunny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7390" y="1520234"/>
            <a:ext cx="540385" cy="18859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Tahoma"/>
                <a:cs typeface="Tahoma"/>
              </a:rPr>
              <a:t>Humidity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0130" y="1524100"/>
            <a:ext cx="540385" cy="17081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75"/>
              </a:spcBef>
            </a:pPr>
            <a:r>
              <a:rPr sz="900" spc="-20" dirty="0">
                <a:latin typeface="Tahoma"/>
                <a:cs typeface="Tahoma"/>
              </a:rPr>
              <a:t>Wind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3021" y="1801706"/>
            <a:ext cx="391160" cy="1885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52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Tahoma"/>
                <a:cs typeface="Tahoma"/>
              </a:rPr>
              <a:t>Windy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531" y="1801706"/>
            <a:ext cx="325120" cy="180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97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10"/>
              </a:spcBef>
            </a:pPr>
            <a:r>
              <a:rPr sz="900" spc="-20" dirty="0">
                <a:latin typeface="Tahoma"/>
                <a:cs typeface="Tahoma"/>
              </a:rPr>
              <a:t>Calm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3279" y="1815275"/>
            <a:ext cx="281305" cy="180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Low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0281" y="1815275"/>
            <a:ext cx="302895" cy="189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52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75"/>
              </a:spcBef>
            </a:pPr>
            <a:r>
              <a:rPr sz="900" spc="-20" dirty="0">
                <a:latin typeface="Tahoma"/>
                <a:cs typeface="Tahoma"/>
              </a:rPr>
              <a:t>High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38500" y="2076298"/>
            <a:ext cx="320040" cy="236220"/>
          </a:xfrm>
          <a:custGeom>
            <a:avLst/>
            <a:gdLst/>
            <a:ahLst/>
            <a:cxnLst/>
            <a:rect l="l" t="t" r="r" b="b"/>
            <a:pathLst>
              <a:path w="320039" h="236219">
                <a:moveTo>
                  <a:pt x="319479" y="117985"/>
                </a:moveTo>
                <a:lnTo>
                  <a:pt x="311336" y="80692"/>
                </a:lnTo>
                <a:lnTo>
                  <a:pt x="288659" y="48304"/>
                </a:lnTo>
                <a:lnTo>
                  <a:pt x="254080" y="22764"/>
                </a:lnTo>
                <a:lnTo>
                  <a:pt x="210230" y="6014"/>
                </a:lnTo>
                <a:lnTo>
                  <a:pt x="159740" y="0"/>
                </a:lnTo>
                <a:lnTo>
                  <a:pt x="109249" y="6014"/>
                </a:lnTo>
                <a:lnTo>
                  <a:pt x="65399" y="22764"/>
                </a:lnTo>
                <a:lnTo>
                  <a:pt x="30820" y="48304"/>
                </a:lnTo>
                <a:lnTo>
                  <a:pt x="8143" y="80692"/>
                </a:lnTo>
                <a:lnTo>
                  <a:pt x="0" y="117985"/>
                </a:lnTo>
                <a:lnTo>
                  <a:pt x="8143" y="155278"/>
                </a:lnTo>
                <a:lnTo>
                  <a:pt x="30820" y="187666"/>
                </a:lnTo>
                <a:lnTo>
                  <a:pt x="65399" y="213206"/>
                </a:lnTo>
                <a:lnTo>
                  <a:pt x="109249" y="229955"/>
                </a:lnTo>
                <a:lnTo>
                  <a:pt x="159740" y="235970"/>
                </a:lnTo>
                <a:lnTo>
                  <a:pt x="210230" y="229955"/>
                </a:lnTo>
                <a:lnTo>
                  <a:pt x="254080" y="213206"/>
                </a:lnTo>
                <a:lnTo>
                  <a:pt x="288659" y="187666"/>
                </a:lnTo>
                <a:lnTo>
                  <a:pt x="311336" y="155278"/>
                </a:lnTo>
                <a:lnTo>
                  <a:pt x="319479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18712" y="2104131"/>
            <a:ext cx="1593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No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20381" y="2066862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4" h="236219">
                <a:moveTo>
                  <a:pt x="340640" y="117985"/>
                </a:moveTo>
                <a:lnTo>
                  <a:pt x="331957" y="80692"/>
                </a:lnTo>
                <a:lnTo>
                  <a:pt x="307778" y="48304"/>
                </a:lnTo>
                <a:lnTo>
                  <a:pt x="270909" y="22764"/>
                </a:lnTo>
                <a:lnTo>
                  <a:pt x="224155" y="6014"/>
                </a:lnTo>
                <a:lnTo>
                  <a:pt x="170320" y="0"/>
                </a:lnTo>
                <a:lnTo>
                  <a:pt x="116485" y="6014"/>
                </a:lnTo>
                <a:lnTo>
                  <a:pt x="69730" y="22764"/>
                </a:lnTo>
                <a:lnTo>
                  <a:pt x="32861" y="48304"/>
                </a:lnTo>
                <a:lnTo>
                  <a:pt x="8682" y="80692"/>
                </a:lnTo>
                <a:lnTo>
                  <a:pt x="0" y="117985"/>
                </a:lnTo>
                <a:lnTo>
                  <a:pt x="8682" y="155278"/>
                </a:lnTo>
                <a:lnTo>
                  <a:pt x="32861" y="187666"/>
                </a:lnTo>
                <a:lnTo>
                  <a:pt x="69730" y="213206"/>
                </a:lnTo>
                <a:lnTo>
                  <a:pt x="116485" y="229955"/>
                </a:lnTo>
                <a:lnTo>
                  <a:pt x="170320" y="235970"/>
                </a:lnTo>
                <a:lnTo>
                  <a:pt x="224155" y="229955"/>
                </a:lnTo>
                <a:lnTo>
                  <a:pt x="270909" y="213206"/>
                </a:lnTo>
                <a:lnTo>
                  <a:pt x="307778" y="187666"/>
                </a:lnTo>
                <a:lnTo>
                  <a:pt x="331957" y="155278"/>
                </a:lnTo>
                <a:lnTo>
                  <a:pt x="340640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03715" y="2094695"/>
            <a:ext cx="17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latin typeface="Tahoma"/>
                <a:cs typeface="Tahoma"/>
              </a:rPr>
              <a:t>Yes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89368" y="2061449"/>
            <a:ext cx="320040" cy="236220"/>
          </a:xfrm>
          <a:custGeom>
            <a:avLst/>
            <a:gdLst/>
            <a:ahLst/>
            <a:cxnLst/>
            <a:rect l="l" t="t" r="r" b="b"/>
            <a:pathLst>
              <a:path w="320039" h="236219">
                <a:moveTo>
                  <a:pt x="319479" y="117985"/>
                </a:moveTo>
                <a:lnTo>
                  <a:pt x="311336" y="80692"/>
                </a:lnTo>
                <a:lnTo>
                  <a:pt x="288659" y="48304"/>
                </a:lnTo>
                <a:lnTo>
                  <a:pt x="254080" y="22764"/>
                </a:lnTo>
                <a:lnTo>
                  <a:pt x="210230" y="6014"/>
                </a:lnTo>
                <a:lnTo>
                  <a:pt x="159739" y="0"/>
                </a:lnTo>
                <a:lnTo>
                  <a:pt x="109249" y="6014"/>
                </a:lnTo>
                <a:lnTo>
                  <a:pt x="65399" y="22764"/>
                </a:lnTo>
                <a:lnTo>
                  <a:pt x="30820" y="48304"/>
                </a:lnTo>
                <a:lnTo>
                  <a:pt x="8143" y="80692"/>
                </a:lnTo>
                <a:lnTo>
                  <a:pt x="0" y="117985"/>
                </a:lnTo>
                <a:lnTo>
                  <a:pt x="8143" y="155278"/>
                </a:lnTo>
                <a:lnTo>
                  <a:pt x="30820" y="187666"/>
                </a:lnTo>
                <a:lnTo>
                  <a:pt x="65399" y="213206"/>
                </a:lnTo>
                <a:lnTo>
                  <a:pt x="109249" y="229955"/>
                </a:lnTo>
                <a:lnTo>
                  <a:pt x="159739" y="235970"/>
                </a:lnTo>
                <a:lnTo>
                  <a:pt x="210230" y="229955"/>
                </a:lnTo>
                <a:lnTo>
                  <a:pt x="254080" y="213206"/>
                </a:lnTo>
                <a:lnTo>
                  <a:pt x="288659" y="187666"/>
                </a:lnTo>
                <a:lnTo>
                  <a:pt x="311336" y="155278"/>
                </a:lnTo>
                <a:lnTo>
                  <a:pt x="319479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969604" y="2089284"/>
            <a:ext cx="1593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No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9632" y="2053294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4" h="236219">
                <a:moveTo>
                  <a:pt x="340640" y="117985"/>
                </a:moveTo>
                <a:lnTo>
                  <a:pt x="331957" y="80692"/>
                </a:lnTo>
                <a:lnTo>
                  <a:pt x="307779" y="48304"/>
                </a:lnTo>
                <a:lnTo>
                  <a:pt x="270909" y="22764"/>
                </a:lnTo>
                <a:lnTo>
                  <a:pt x="224155" y="6014"/>
                </a:lnTo>
                <a:lnTo>
                  <a:pt x="170320" y="0"/>
                </a:lnTo>
                <a:lnTo>
                  <a:pt x="116485" y="6014"/>
                </a:lnTo>
                <a:lnTo>
                  <a:pt x="69730" y="22764"/>
                </a:lnTo>
                <a:lnTo>
                  <a:pt x="32861" y="48304"/>
                </a:lnTo>
                <a:lnTo>
                  <a:pt x="8682" y="80692"/>
                </a:lnTo>
                <a:lnTo>
                  <a:pt x="0" y="117985"/>
                </a:lnTo>
                <a:lnTo>
                  <a:pt x="8682" y="155278"/>
                </a:lnTo>
                <a:lnTo>
                  <a:pt x="32861" y="187666"/>
                </a:lnTo>
                <a:lnTo>
                  <a:pt x="69730" y="213206"/>
                </a:lnTo>
                <a:lnTo>
                  <a:pt x="116485" y="229956"/>
                </a:lnTo>
                <a:lnTo>
                  <a:pt x="170320" y="235970"/>
                </a:lnTo>
                <a:lnTo>
                  <a:pt x="224155" y="229956"/>
                </a:lnTo>
                <a:lnTo>
                  <a:pt x="270909" y="213206"/>
                </a:lnTo>
                <a:lnTo>
                  <a:pt x="307779" y="187666"/>
                </a:lnTo>
                <a:lnTo>
                  <a:pt x="331957" y="155278"/>
                </a:lnTo>
                <a:lnTo>
                  <a:pt x="340640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2985" y="2081131"/>
            <a:ext cx="17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latin typeface="Tahoma"/>
                <a:cs typeface="Tahoma"/>
              </a:rPr>
              <a:t>Yes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33707" y="1564295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4" h="236219">
                <a:moveTo>
                  <a:pt x="340640" y="117985"/>
                </a:moveTo>
                <a:lnTo>
                  <a:pt x="331957" y="80692"/>
                </a:lnTo>
                <a:lnTo>
                  <a:pt x="307779" y="48304"/>
                </a:lnTo>
                <a:lnTo>
                  <a:pt x="270909" y="22764"/>
                </a:lnTo>
                <a:lnTo>
                  <a:pt x="224155" y="6014"/>
                </a:lnTo>
                <a:lnTo>
                  <a:pt x="170320" y="0"/>
                </a:lnTo>
                <a:lnTo>
                  <a:pt x="116485" y="6014"/>
                </a:lnTo>
                <a:lnTo>
                  <a:pt x="69730" y="22764"/>
                </a:lnTo>
                <a:lnTo>
                  <a:pt x="32861" y="48304"/>
                </a:lnTo>
                <a:lnTo>
                  <a:pt x="8682" y="80692"/>
                </a:lnTo>
                <a:lnTo>
                  <a:pt x="0" y="117985"/>
                </a:lnTo>
                <a:lnTo>
                  <a:pt x="8682" y="155278"/>
                </a:lnTo>
                <a:lnTo>
                  <a:pt x="32861" y="187666"/>
                </a:lnTo>
                <a:lnTo>
                  <a:pt x="69730" y="213206"/>
                </a:lnTo>
                <a:lnTo>
                  <a:pt x="116485" y="229955"/>
                </a:lnTo>
                <a:lnTo>
                  <a:pt x="170320" y="235970"/>
                </a:lnTo>
                <a:lnTo>
                  <a:pt x="224155" y="229955"/>
                </a:lnTo>
                <a:lnTo>
                  <a:pt x="270909" y="213206"/>
                </a:lnTo>
                <a:lnTo>
                  <a:pt x="307779" y="187666"/>
                </a:lnTo>
                <a:lnTo>
                  <a:pt x="331957" y="155278"/>
                </a:lnTo>
                <a:lnTo>
                  <a:pt x="340640" y="11798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217039" y="1592130"/>
            <a:ext cx="1739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latin typeface="Tahoma"/>
                <a:cs typeface="Tahoma"/>
              </a:rPr>
              <a:t>Yes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200220"/>
            <a:ext cx="223520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35" dirty="0">
                <a:latin typeface="Tahoma"/>
                <a:cs typeface="Tahoma"/>
              </a:rPr>
              <a:t>15/38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4497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180" dirty="0">
                <a:latin typeface="Verdana"/>
                <a:cs typeface="Verdana"/>
              </a:rPr>
              <a:t>C4.5</a:t>
            </a:r>
            <a:r>
              <a:rPr i="1" spc="-114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281" y="645564"/>
            <a:ext cx="3689350" cy="265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266700" indent="-141605">
              <a:lnSpc>
                <a:spcPct val="1180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C4.5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algorithm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(Quinlan,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1993)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improves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upon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ID3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algorithm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several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ways.</a:t>
            </a:r>
            <a:endParaRPr sz="1100" dirty="0">
              <a:latin typeface="Tahoma"/>
              <a:cs typeface="Tahoma"/>
            </a:endParaRPr>
          </a:p>
          <a:p>
            <a:pPr marL="153670" marR="6350" indent="-141605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55" dirty="0">
                <a:latin typeface="Tahoma"/>
                <a:cs typeface="Tahoma"/>
              </a:rPr>
              <a:t>One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major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improvement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addition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discrete-</a:t>
            </a:r>
            <a:r>
              <a:rPr sz="1100" spc="-10" dirty="0">
                <a:latin typeface="Tahoma"/>
                <a:cs typeface="Tahoma"/>
              </a:rPr>
              <a:t>valued </a:t>
            </a:r>
            <a:r>
              <a:rPr sz="1100" spc="-55" dirty="0">
                <a:latin typeface="Tahoma"/>
                <a:cs typeface="Tahoma"/>
              </a:rPr>
              <a:t>features,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C4.5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also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</a:t>
            </a:r>
            <a:r>
              <a:rPr sz="1100" spc="-55" dirty="0">
                <a:latin typeface="Tahoma"/>
                <a:cs typeface="Tahoma"/>
              </a:rPr>
              <a:t> real-valued </a:t>
            </a:r>
            <a:r>
              <a:rPr sz="1100" spc="-50" dirty="0">
                <a:latin typeface="Tahoma"/>
                <a:cs typeface="Tahoma"/>
              </a:rPr>
              <a:t>features.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It</a:t>
            </a:r>
            <a:r>
              <a:rPr sz="1100" spc="-55" dirty="0">
                <a:latin typeface="Tahoma"/>
                <a:cs typeface="Tahoma"/>
              </a:rPr>
              <a:t> establishes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5" dirty="0">
                <a:latin typeface="Tahoma"/>
                <a:cs typeface="Tahoma"/>
              </a:rPr>
              <a:t>threshold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value</a:t>
            </a:r>
            <a:r>
              <a:rPr sz="1100" spc="-60" dirty="0">
                <a:latin typeface="Tahoma"/>
                <a:cs typeface="Tahoma"/>
              </a:rPr>
              <a:t> and </a:t>
            </a:r>
            <a:r>
              <a:rPr sz="1100" spc="-45" dirty="0">
                <a:latin typeface="Tahoma"/>
                <a:cs typeface="Tahoma"/>
              </a:rPr>
              <a:t>then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partitions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observations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above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threshold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those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</a:t>
            </a:r>
            <a:endParaRPr sz="1100" dirty="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235"/>
              </a:spcBef>
            </a:pPr>
            <a:r>
              <a:rPr sz="1100" spc="-35" dirty="0">
                <a:latin typeface="Tahoma"/>
                <a:cs typeface="Tahoma"/>
              </a:rPr>
              <a:t>below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it.</a:t>
            </a:r>
            <a:endParaRPr sz="1100" dirty="0">
              <a:latin typeface="Tahoma"/>
              <a:cs typeface="Tahoma"/>
            </a:endParaRPr>
          </a:p>
          <a:p>
            <a:pPr marL="148590" marR="167005" indent="-136525" algn="just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35" dirty="0">
                <a:latin typeface="Tahoma"/>
                <a:cs typeface="Tahoma"/>
              </a:rPr>
              <a:t>Unlike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ID3</a:t>
            </a:r>
            <a:r>
              <a:rPr sz="1100" spc="-9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which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simply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ignores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missing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data,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C4.5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encodes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missing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question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mark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but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does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not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use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when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selecting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splits.</a:t>
            </a:r>
            <a:endParaRPr sz="1100" dirty="0">
              <a:latin typeface="Tahoma"/>
              <a:cs typeface="Tahoma"/>
            </a:endParaRPr>
          </a:p>
          <a:p>
            <a:pPr marL="153670" marR="5080" indent="-141605" algn="just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200" dirty="0">
                <a:latin typeface="Tahoma"/>
                <a:cs typeface="Tahoma"/>
              </a:rPr>
              <a:t>In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C4.5</a:t>
            </a:r>
            <a:r>
              <a:rPr sz="1100" spc="-80" dirty="0">
                <a:latin typeface="Tahoma"/>
                <a:cs typeface="Tahoma"/>
              </a:rPr>
              <a:t>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attributes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can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be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assigned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costs,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which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influences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 </a:t>
            </a:r>
            <a:r>
              <a:rPr sz="1100" spc="-35" dirty="0">
                <a:latin typeface="Tahoma"/>
                <a:cs typeface="Tahoma"/>
              </a:rPr>
              <a:t>participation </a:t>
            </a:r>
            <a:r>
              <a:rPr sz="1100" spc="-30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splits.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9516" y="3201332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0" dirty="0">
                <a:latin typeface="Tahoma"/>
                <a:cs typeface="Tahoma"/>
              </a:rPr>
              <a:t>16/38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4497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180" dirty="0">
                <a:latin typeface="Verdana"/>
                <a:cs typeface="Verdana"/>
              </a:rPr>
              <a:t>C4.5</a:t>
            </a:r>
            <a:r>
              <a:rPr i="1" spc="-114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302" y="518055"/>
            <a:ext cx="3825875" cy="284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30" dirty="0">
                <a:solidFill>
                  <a:srgbClr val="3F3F3F"/>
                </a:solidFill>
                <a:latin typeface="Verdana"/>
                <a:cs typeface="Verdana"/>
              </a:rPr>
              <a:t>Pruning</a:t>
            </a:r>
            <a:r>
              <a:rPr sz="12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85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2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140" dirty="0">
                <a:solidFill>
                  <a:srgbClr val="3F3F3F"/>
                </a:solidFill>
                <a:latin typeface="Verdana"/>
                <a:cs typeface="Verdana"/>
              </a:rPr>
              <a:t>preventing</a:t>
            </a:r>
            <a:r>
              <a:rPr sz="12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200" i="1" spc="-20" dirty="0">
                <a:solidFill>
                  <a:srgbClr val="3F3F3F"/>
                </a:solidFill>
                <a:latin typeface="Verdana"/>
                <a:cs typeface="Verdana"/>
              </a:rPr>
              <a:t>overﬁtting</a:t>
            </a:r>
            <a:endParaRPr sz="1200">
              <a:latin typeface="Verdana"/>
              <a:cs typeface="Verdana"/>
            </a:endParaRPr>
          </a:p>
          <a:p>
            <a:pPr marL="289560" marR="5080" indent="-141605">
              <a:lnSpc>
                <a:spcPct val="118000"/>
              </a:lnSpc>
              <a:spcBef>
                <a:spcPts val="745"/>
              </a:spcBef>
              <a:buClr>
                <a:srgbClr val="0071B2"/>
              </a:buClr>
              <a:buFont typeface="Yu Gothic UI"/>
              <a:buChar char="•"/>
              <a:tabLst>
                <a:tab pos="286385" algn="l"/>
              </a:tabLst>
            </a:pPr>
            <a:r>
              <a:rPr sz="1100" spc="-40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continue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grow </a:t>
            </a:r>
            <a:r>
              <a:rPr sz="1100" spc="-45" dirty="0">
                <a:latin typeface="Tahoma"/>
                <a:cs typeface="Tahoma"/>
              </a:rPr>
              <a:t>indefinitely,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choosing </a:t>
            </a:r>
            <a:r>
              <a:rPr sz="1100" spc="-40" dirty="0">
                <a:latin typeface="Tahoma"/>
                <a:cs typeface="Tahoma"/>
              </a:rPr>
              <a:t>splitting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features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dividing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data </a:t>
            </a:r>
            <a:r>
              <a:rPr sz="1100" spc="-35" dirty="0">
                <a:latin typeface="Tahoma"/>
                <a:cs typeface="Tahoma"/>
              </a:rPr>
              <a:t>into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smaller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25" dirty="0">
                <a:latin typeface="Tahoma"/>
                <a:cs typeface="Tahoma"/>
              </a:rPr>
              <a:t>smaller </a:t>
            </a:r>
            <a:r>
              <a:rPr sz="1100" spc="-35" dirty="0">
                <a:latin typeface="Tahoma"/>
                <a:cs typeface="Tahoma"/>
              </a:rPr>
              <a:t>partitions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until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each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4" dirty="0">
                <a:solidFill>
                  <a:srgbClr val="6393ED"/>
                </a:solidFill>
                <a:latin typeface="Tahoma"/>
                <a:cs typeface="Tahoma"/>
              </a:rPr>
              <a:t>training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instance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is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correctly</a:t>
            </a:r>
            <a:r>
              <a:rPr sz="1100" b="1" spc="-3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classified</a:t>
            </a:r>
            <a:r>
              <a:rPr sz="1100" b="1" spc="-2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 </a:t>
            </a:r>
            <a:r>
              <a:rPr sz="1100" spc="-30" dirty="0">
                <a:latin typeface="Tahoma"/>
                <a:cs typeface="Tahoma"/>
              </a:rPr>
              <a:t>until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such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time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runs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out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features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which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create splits.</a:t>
            </a:r>
            <a:endParaRPr sz="1100">
              <a:latin typeface="Tahoma"/>
              <a:cs typeface="Tahoma"/>
            </a:endParaRPr>
          </a:p>
          <a:p>
            <a:pPr marL="289560" marR="6985" indent="-141605" algn="just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290195" algn="l"/>
              </a:tabLst>
            </a:pPr>
            <a:r>
              <a:rPr sz="1100" spc="-175" dirty="0">
                <a:latin typeface="Tahoma"/>
                <a:cs typeface="Tahoma"/>
              </a:rPr>
              <a:t>If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tree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allowed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grow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too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large,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many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of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decisions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spc="-100" dirty="0">
                <a:latin typeface="Tahoma"/>
                <a:cs typeface="Tahoma"/>
              </a:rPr>
              <a:t>makes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will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20" dirty="0">
                <a:latin typeface="Tahoma"/>
                <a:cs typeface="Tahoma"/>
              </a:rPr>
              <a:t>be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specific</a:t>
            </a:r>
            <a:r>
              <a:rPr sz="1100" b="1" spc="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225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1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85" dirty="0">
                <a:solidFill>
                  <a:srgbClr val="6393ED"/>
                </a:solidFill>
                <a:latin typeface="Tahoma"/>
                <a:cs typeface="Tahoma"/>
              </a:rPr>
              <a:t>the</a:t>
            </a:r>
            <a:r>
              <a:rPr sz="1100" b="1" spc="10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6393ED"/>
                </a:solidFill>
                <a:latin typeface="Tahoma"/>
                <a:cs typeface="Tahoma"/>
              </a:rPr>
              <a:t>training</a:t>
            </a:r>
            <a:r>
              <a:rPr sz="1100" b="1" spc="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75" dirty="0">
                <a:solidFill>
                  <a:srgbClr val="6393ED"/>
                </a:solidFill>
                <a:latin typeface="Tahoma"/>
                <a:cs typeface="Tahoma"/>
              </a:rPr>
              <a:t>data</a:t>
            </a:r>
            <a:r>
              <a:rPr sz="1100" b="1" spc="9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model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will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incapable</a:t>
            </a:r>
            <a:r>
              <a:rPr sz="1100" b="1" spc="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85" dirty="0">
                <a:solidFill>
                  <a:srgbClr val="6393ED"/>
                </a:solidFill>
                <a:latin typeface="Tahoma"/>
                <a:cs typeface="Tahoma"/>
              </a:rPr>
              <a:t>of</a:t>
            </a:r>
            <a:r>
              <a:rPr sz="1100" b="1" spc="10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5" dirty="0">
                <a:solidFill>
                  <a:srgbClr val="6393ED"/>
                </a:solidFill>
                <a:latin typeface="Tahoma"/>
                <a:cs typeface="Tahoma"/>
              </a:rPr>
              <a:t>generalising</a:t>
            </a:r>
            <a:r>
              <a:rPr sz="1100" spc="-135" dirty="0">
                <a:latin typeface="Tahoma"/>
                <a:cs typeface="Tahoma"/>
              </a:rPr>
              <a:t>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00" dirty="0">
                <a:latin typeface="Tahoma"/>
                <a:cs typeface="Tahoma"/>
              </a:rPr>
              <a:t>In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such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cases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it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is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considered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to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have </a:t>
            </a:r>
            <a:r>
              <a:rPr sz="1100" spc="-65" dirty="0">
                <a:latin typeface="Tahoma"/>
                <a:cs typeface="Tahoma"/>
              </a:rPr>
              <a:t>over-</a:t>
            </a:r>
            <a:r>
              <a:rPr sz="1100" spc="-10" dirty="0">
                <a:latin typeface="Tahoma"/>
                <a:cs typeface="Tahoma"/>
              </a:rPr>
              <a:t>fit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training </a:t>
            </a:r>
            <a:r>
              <a:rPr sz="1100" spc="-2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  <a:p>
            <a:pPr marL="289560" marR="7620" indent="-141605">
              <a:lnSpc>
                <a:spcPct val="118000"/>
              </a:lnSpc>
              <a:spcBef>
                <a:spcPts val="675"/>
              </a:spcBef>
              <a:buClr>
                <a:srgbClr val="0071B2"/>
              </a:buClr>
              <a:buFont typeface="Yu Gothic UI"/>
              <a:buChar char="•"/>
              <a:tabLst>
                <a:tab pos="287020" algn="l"/>
              </a:tabLst>
            </a:pPr>
            <a:r>
              <a:rPr sz="1100" spc="-8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pruning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decision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tree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involves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reducing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its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95" dirty="0">
                <a:solidFill>
                  <a:srgbClr val="6393ED"/>
                </a:solidFill>
                <a:latin typeface="Tahoma"/>
                <a:cs typeface="Tahoma"/>
              </a:rPr>
              <a:t>size </a:t>
            </a:r>
            <a:r>
              <a:rPr sz="1100" spc="-50" dirty="0">
                <a:latin typeface="Tahoma"/>
                <a:cs typeface="Tahoma"/>
              </a:rPr>
              <a:t>so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generalise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better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unseen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data</a:t>
            </a:r>
            <a:r>
              <a:rPr sz="1100" spc="-105" dirty="0">
                <a:latin typeface="Tahoma"/>
                <a:cs typeface="Tahoma"/>
              </a:rPr>
              <a:t>.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two </a:t>
            </a:r>
            <a:r>
              <a:rPr sz="1100" spc="-50" dirty="0">
                <a:latin typeface="Tahoma"/>
                <a:cs typeface="Tahoma"/>
              </a:rPr>
              <a:t>basic approaches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pruning, </a:t>
            </a:r>
            <a:r>
              <a:rPr sz="1100" spc="-45" dirty="0">
                <a:latin typeface="Tahoma"/>
                <a:cs typeface="Tahoma"/>
              </a:rPr>
              <a:t>pre-</a:t>
            </a:r>
            <a:r>
              <a:rPr sz="1100" spc="-50" dirty="0">
                <a:latin typeface="Tahoma"/>
                <a:cs typeface="Tahoma"/>
              </a:rPr>
              <a:t>pruning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post-</a:t>
            </a:r>
            <a:r>
              <a:rPr sz="1100" spc="-10" dirty="0">
                <a:latin typeface="Tahoma"/>
                <a:cs typeface="Tahoma"/>
              </a:rPr>
              <a:t>pruning.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8342" y="3201332"/>
            <a:ext cx="189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5" dirty="0">
                <a:latin typeface="Tahoma"/>
                <a:cs typeface="Tahoma"/>
              </a:rPr>
              <a:t>17/38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4497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180" dirty="0">
                <a:latin typeface="Verdana"/>
                <a:cs typeface="Verdana"/>
              </a:rPr>
              <a:t>C4.5</a:t>
            </a:r>
            <a:r>
              <a:rPr i="1" spc="-114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302" y="518055"/>
            <a:ext cx="3823970" cy="284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30" dirty="0">
                <a:solidFill>
                  <a:srgbClr val="3F3F3F"/>
                </a:solidFill>
                <a:latin typeface="Verdana"/>
                <a:cs typeface="Verdana"/>
              </a:rPr>
              <a:t>Pre-</a:t>
            </a:r>
            <a:r>
              <a:rPr sz="1200" i="1" spc="-10" dirty="0">
                <a:solidFill>
                  <a:srgbClr val="3F3F3F"/>
                </a:solidFill>
                <a:latin typeface="Verdana"/>
                <a:cs typeface="Verdana"/>
              </a:rPr>
              <a:t>Pruning</a:t>
            </a:r>
            <a:endParaRPr sz="1200">
              <a:latin typeface="Verdana"/>
              <a:cs typeface="Verdana"/>
            </a:endParaRPr>
          </a:p>
          <a:p>
            <a:pPr marL="289560" marR="133350" indent="-141605">
              <a:lnSpc>
                <a:spcPct val="118000"/>
              </a:lnSpc>
              <a:spcBef>
                <a:spcPts val="745"/>
              </a:spcBef>
              <a:buClr>
                <a:srgbClr val="0071B2"/>
              </a:buClr>
              <a:buFont typeface="Yu Gothic UI"/>
              <a:buChar char="•"/>
              <a:tabLst>
                <a:tab pos="287020" algn="l"/>
              </a:tabLst>
            </a:pPr>
            <a:r>
              <a:rPr sz="1100" spc="-60" dirty="0">
                <a:latin typeface="Tahoma"/>
                <a:cs typeface="Tahoma"/>
              </a:rPr>
              <a:t>This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approach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solving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problem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overfitting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80" dirty="0">
                <a:solidFill>
                  <a:srgbClr val="6393ED"/>
                </a:solidFill>
                <a:latin typeface="Tahoma"/>
                <a:cs typeface="Tahoma"/>
              </a:rPr>
              <a:t>stop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the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tree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from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6393ED"/>
                </a:solidFill>
                <a:latin typeface="Tahoma"/>
                <a:cs typeface="Tahoma"/>
              </a:rPr>
              <a:t>growing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any </a:t>
            </a:r>
            <a:r>
              <a:rPr sz="1100" spc="-35" dirty="0">
                <a:latin typeface="Tahoma"/>
                <a:cs typeface="Tahoma"/>
              </a:rPr>
              <a:t>further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based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some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criterion,</a:t>
            </a:r>
            <a:endParaRPr sz="1100">
              <a:latin typeface="Tahoma"/>
              <a:cs typeface="Tahoma"/>
            </a:endParaRPr>
          </a:p>
          <a:p>
            <a:pPr marL="289560" marR="5715">
              <a:lnSpc>
                <a:spcPct val="118000"/>
              </a:lnSpc>
            </a:pPr>
            <a:r>
              <a:rPr sz="1100" spc="-65" dirty="0">
                <a:latin typeface="Tahoma"/>
                <a:cs typeface="Tahoma"/>
              </a:rPr>
              <a:t>such</a:t>
            </a:r>
            <a:r>
              <a:rPr sz="1100" spc="-75" dirty="0">
                <a:latin typeface="Tahoma"/>
                <a:cs typeface="Tahoma"/>
              </a:rPr>
              <a:t> as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tree</a:t>
            </a:r>
            <a:r>
              <a:rPr sz="1100" spc="-70" dirty="0">
                <a:latin typeface="Tahoma"/>
                <a:cs typeface="Tahoma"/>
              </a:rPr>
              <a:t> has </a:t>
            </a:r>
            <a:r>
              <a:rPr sz="1100" spc="-55" dirty="0">
                <a:latin typeface="Tahoma"/>
                <a:cs typeface="Tahoma"/>
              </a:rPr>
              <a:t>created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 </a:t>
            </a:r>
            <a:r>
              <a:rPr sz="1100" spc="-45" dirty="0">
                <a:latin typeface="Tahoma"/>
                <a:cs typeface="Tahoma"/>
              </a:rPr>
              <a:t>certain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decision </a:t>
            </a:r>
            <a:r>
              <a:rPr sz="1100" spc="-50" dirty="0">
                <a:latin typeface="Tahoma"/>
                <a:cs typeface="Tahoma"/>
              </a:rPr>
              <a:t>nodes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if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nodes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contain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only</a:t>
            </a:r>
            <a:r>
              <a:rPr sz="1100" spc="-65" dirty="0">
                <a:latin typeface="Tahoma"/>
                <a:cs typeface="Tahoma"/>
              </a:rPr>
              <a:t> 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small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50" dirty="0">
                <a:latin typeface="Tahoma"/>
                <a:cs typeface="Tahoma"/>
              </a:rPr>
              <a:t>instances.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This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also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termed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early</a:t>
            </a:r>
            <a:r>
              <a:rPr sz="1100" b="1" spc="-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stopping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89560" marR="5080" indent="-141605" algn="just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290195" algn="l"/>
              </a:tabLst>
            </a:pPr>
            <a:r>
              <a:rPr sz="1100" spc="-55" dirty="0">
                <a:latin typeface="Tahoma"/>
                <a:cs typeface="Tahoma"/>
              </a:rPr>
              <a:t>Given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that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stopping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process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building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tree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early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avoids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needless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work,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superficial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analysis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may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suggest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that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is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appealing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strategy.</a:t>
            </a:r>
            <a:endParaRPr sz="1100">
              <a:latin typeface="Tahoma"/>
              <a:cs typeface="Tahoma"/>
            </a:endParaRPr>
          </a:p>
          <a:p>
            <a:pPr marL="289560" indent="-141605" algn="just">
              <a:lnSpc>
                <a:spcPct val="100000"/>
              </a:lnSpc>
              <a:spcBef>
                <a:spcPts val="915"/>
              </a:spcBef>
              <a:buClr>
                <a:srgbClr val="0071B2"/>
              </a:buClr>
              <a:buFont typeface="Yu Gothic UI"/>
              <a:buChar char="•"/>
              <a:tabLst>
                <a:tab pos="290195" algn="l"/>
              </a:tabLst>
            </a:pPr>
            <a:r>
              <a:rPr sz="1100" spc="-70" dirty="0">
                <a:latin typeface="Tahoma"/>
                <a:cs typeface="Tahoma"/>
              </a:rPr>
              <a:t>However,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downside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that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</a:t>
            </a:r>
            <a:r>
              <a:rPr sz="1100" spc="-70" dirty="0">
                <a:latin typeface="Tahoma"/>
                <a:cs typeface="Tahoma"/>
              </a:rPr>
              <a:t> way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know</a:t>
            </a:r>
            <a:endParaRPr sz="1100">
              <a:latin typeface="Tahoma"/>
              <a:cs typeface="Tahoma"/>
            </a:endParaRPr>
          </a:p>
          <a:p>
            <a:pPr marL="289560" marR="39370" indent="-5080" algn="just">
              <a:lnSpc>
                <a:spcPct val="118000"/>
              </a:lnSpc>
            </a:pPr>
            <a:r>
              <a:rPr sz="1100" spc="-50" dirty="0">
                <a:latin typeface="Tahoma"/>
                <a:cs typeface="Tahoma"/>
              </a:rPr>
              <a:t>whether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tree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will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miss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subtle,</a:t>
            </a:r>
            <a:r>
              <a:rPr sz="1100" b="1" spc="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60" dirty="0">
                <a:solidFill>
                  <a:srgbClr val="6393ED"/>
                </a:solidFill>
                <a:latin typeface="Tahoma"/>
                <a:cs typeface="Tahoma"/>
              </a:rPr>
              <a:t>but</a:t>
            </a:r>
            <a:r>
              <a:rPr sz="1100" b="1" spc="8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important</a:t>
            </a:r>
            <a:r>
              <a:rPr sz="1100" b="1" spc="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5" dirty="0">
                <a:solidFill>
                  <a:srgbClr val="6393ED"/>
                </a:solidFill>
                <a:latin typeface="Tahoma"/>
                <a:cs typeface="Tahoma"/>
              </a:rPr>
              <a:t>patterns</a:t>
            </a:r>
            <a:r>
              <a:rPr sz="1100" b="1" spc="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6393ED"/>
                </a:solidFill>
                <a:latin typeface="Tahoma"/>
                <a:cs typeface="Tahoma"/>
              </a:rPr>
              <a:t>and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relationships</a:t>
            </a:r>
            <a:r>
              <a:rPr sz="1100" b="1" spc="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could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have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had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been</a:t>
            </a:r>
            <a:r>
              <a:rPr sz="1100" spc="-10" dirty="0">
                <a:latin typeface="Tahoma"/>
                <a:cs typeface="Tahoma"/>
              </a:rPr>
              <a:t> allowed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grow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size.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9516" y="3201332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0" dirty="0">
                <a:latin typeface="Tahoma"/>
                <a:cs typeface="Tahoma"/>
              </a:rPr>
              <a:t>18/38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89811"/>
            <a:ext cx="14497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The</a:t>
            </a:r>
            <a:r>
              <a:rPr spc="-95" dirty="0"/>
              <a:t> </a:t>
            </a:r>
            <a:r>
              <a:rPr i="1" spc="-180" dirty="0">
                <a:latin typeface="Verdana"/>
                <a:cs typeface="Verdana"/>
              </a:rPr>
              <a:t>C4.5</a:t>
            </a:r>
            <a:r>
              <a:rPr i="1" spc="-114" dirty="0">
                <a:latin typeface="Verdana"/>
                <a:cs typeface="Verdana"/>
              </a:rPr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302" y="518055"/>
            <a:ext cx="8064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40" dirty="0">
                <a:solidFill>
                  <a:srgbClr val="3F3F3F"/>
                </a:solidFill>
                <a:latin typeface="Verdana"/>
                <a:cs typeface="Verdana"/>
              </a:rPr>
              <a:t>Post-</a:t>
            </a:r>
            <a:r>
              <a:rPr sz="1200" i="1" spc="-125" dirty="0">
                <a:solidFill>
                  <a:srgbClr val="3F3F3F"/>
                </a:solidFill>
                <a:latin typeface="Verdana"/>
                <a:cs typeface="Verdana"/>
              </a:rPr>
              <a:t>Pruning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281" y="848827"/>
            <a:ext cx="3688079" cy="246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80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75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weaknesses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pre-</a:t>
            </a:r>
            <a:r>
              <a:rPr sz="1100" spc="-55" dirty="0">
                <a:latin typeface="Tahoma"/>
                <a:cs typeface="Tahoma"/>
              </a:rPr>
              <a:t>pruning are</a:t>
            </a:r>
            <a:r>
              <a:rPr sz="1100" spc="-60" dirty="0">
                <a:latin typeface="Tahoma"/>
                <a:cs typeface="Tahoma"/>
              </a:rPr>
              <a:t> addressed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by</a:t>
            </a:r>
            <a:r>
              <a:rPr sz="1100" spc="-60" dirty="0">
                <a:latin typeface="Tahoma"/>
                <a:cs typeface="Tahoma"/>
              </a:rPr>
              <a:t> 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alternative </a:t>
            </a:r>
            <a:r>
              <a:rPr sz="1100" spc="-50" dirty="0">
                <a:latin typeface="Tahoma"/>
                <a:cs typeface="Tahoma"/>
              </a:rPr>
              <a:t>approach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post-</a:t>
            </a:r>
            <a:r>
              <a:rPr sz="1100" spc="-10" dirty="0">
                <a:latin typeface="Tahoma"/>
                <a:cs typeface="Tahoma"/>
              </a:rPr>
              <a:t>pruning.</a:t>
            </a:r>
            <a:endParaRPr sz="1100">
              <a:latin typeface="Tahoma"/>
              <a:cs typeface="Tahoma"/>
            </a:endParaRPr>
          </a:p>
          <a:p>
            <a:pPr marL="153670" marR="17780" indent="-141605">
              <a:lnSpc>
                <a:spcPct val="118000"/>
              </a:lnSpc>
              <a:spcBef>
                <a:spcPts val="68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60" dirty="0">
                <a:latin typeface="Tahoma"/>
                <a:cs typeface="Tahoma"/>
              </a:rPr>
              <a:t>This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involves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growing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its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full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size,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6393ED"/>
                </a:solidFill>
                <a:latin typeface="Tahoma"/>
                <a:cs typeface="Tahoma"/>
              </a:rPr>
              <a:t>error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rates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at</a:t>
            </a:r>
            <a:r>
              <a:rPr sz="1100" spc="-65" dirty="0">
                <a:latin typeface="Tahoma"/>
                <a:cs typeface="Tahoma"/>
              </a:rPr>
              <a:t> a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(starting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from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leaf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nodes</a:t>
            </a:r>
            <a:r>
              <a:rPr sz="1100" spc="-65" dirty="0">
                <a:latin typeface="Tahoma"/>
                <a:cs typeface="Tahoma"/>
              </a:rPr>
              <a:t> upwards)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</a:t>
            </a:r>
            <a:endParaRPr sz="1100">
              <a:latin typeface="Tahoma"/>
              <a:cs typeface="Tahoma"/>
            </a:endParaRPr>
          </a:p>
          <a:p>
            <a:pPr marL="153670">
              <a:lnSpc>
                <a:spcPct val="100000"/>
              </a:lnSpc>
              <a:spcBef>
                <a:spcPts val="235"/>
              </a:spcBef>
            </a:pP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criterion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decide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5" dirty="0">
                <a:solidFill>
                  <a:srgbClr val="6393ED"/>
                </a:solidFill>
                <a:latin typeface="Tahoma"/>
                <a:cs typeface="Tahoma"/>
              </a:rPr>
              <a:t>whether</a:t>
            </a:r>
            <a:r>
              <a:rPr sz="1100" b="1" spc="-4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6393ED"/>
                </a:solidFill>
                <a:latin typeface="Tahoma"/>
                <a:cs typeface="Tahoma"/>
              </a:rPr>
              <a:t>or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not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5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retain</a:t>
            </a:r>
            <a:r>
              <a:rPr sz="1100" b="1" spc="-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10" dirty="0">
                <a:solidFill>
                  <a:srgbClr val="6393ED"/>
                </a:solidFill>
                <a:latin typeface="Tahoma"/>
                <a:cs typeface="Tahoma"/>
              </a:rPr>
              <a:t>that</a:t>
            </a:r>
            <a:r>
              <a:rPr sz="1100" b="1" spc="-4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6393ED"/>
                </a:solidFill>
                <a:latin typeface="Tahoma"/>
                <a:cs typeface="Tahoma"/>
              </a:rPr>
              <a:t>node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49860" indent="-137795" algn="just">
              <a:lnSpc>
                <a:spcPct val="100000"/>
              </a:lnSpc>
              <a:spcBef>
                <a:spcPts val="920"/>
              </a:spcBef>
              <a:buClr>
                <a:srgbClr val="0071B2"/>
              </a:buClr>
              <a:buFont typeface="Yu Gothic UI"/>
              <a:buChar char="•"/>
              <a:tabLst>
                <a:tab pos="150495" algn="l"/>
              </a:tabLst>
            </a:pPr>
            <a:r>
              <a:rPr sz="1100" spc="-60" dirty="0">
                <a:latin typeface="Tahoma"/>
                <a:cs typeface="Tahoma"/>
              </a:rPr>
              <a:t>This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-65" dirty="0">
                <a:latin typeface="Tahoma"/>
                <a:cs typeface="Tahoma"/>
              </a:rPr>
              <a:t> 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more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effective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approach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pre-</a:t>
            </a:r>
            <a:r>
              <a:rPr sz="1100" spc="-10" dirty="0">
                <a:latin typeface="Tahoma"/>
                <a:cs typeface="Tahoma"/>
              </a:rPr>
              <a:t>pruning</a:t>
            </a:r>
            <a:endParaRPr sz="1100">
              <a:latin typeface="Tahoma"/>
              <a:cs typeface="Tahoma"/>
            </a:endParaRPr>
          </a:p>
          <a:p>
            <a:pPr marL="153670" marR="5080" algn="just">
              <a:lnSpc>
                <a:spcPct val="118000"/>
              </a:lnSpc>
            </a:pPr>
            <a:r>
              <a:rPr sz="1100" spc="-65" dirty="0">
                <a:latin typeface="Tahoma"/>
                <a:cs typeface="Tahoma"/>
              </a:rPr>
              <a:t>because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is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b="1" spc="-235" dirty="0">
                <a:solidFill>
                  <a:srgbClr val="6393ED"/>
                </a:solidFill>
                <a:latin typeface="Tahoma"/>
                <a:cs typeface="Tahoma"/>
              </a:rPr>
              <a:t>no</a:t>
            </a:r>
            <a:r>
              <a:rPr sz="1100" b="1" spc="15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heuristic</a:t>
            </a:r>
            <a:r>
              <a:rPr sz="1100" b="1" spc="6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200" dirty="0">
                <a:solidFill>
                  <a:srgbClr val="6393ED"/>
                </a:solidFill>
                <a:latin typeface="Tahoma"/>
                <a:cs typeface="Tahoma"/>
              </a:rPr>
              <a:t>to</a:t>
            </a:r>
            <a:r>
              <a:rPr sz="1100" b="1" spc="12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70" dirty="0">
                <a:solidFill>
                  <a:srgbClr val="6393ED"/>
                </a:solidFill>
                <a:latin typeface="Tahoma"/>
                <a:cs typeface="Tahoma"/>
              </a:rPr>
              <a:t>suggest</a:t>
            </a:r>
            <a:r>
              <a:rPr sz="1100" b="1" spc="9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65" dirty="0">
                <a:solidFill>
                  <a:srgbClr val="6393ED"/>
                </a:solidFill>
                <a:latin typeface="Tahoma"/>
                <a:cs typeface="Tahoma"/>
              </a:rPr>
              <a:t>the</a:t>
            </a:r>
            <a:r>
              <a:rPr sz="1100" b="1" spc="8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optimal</a:t>
            </a:r>
            <a:r>
              <a:rPr sz="1100" b="1" spc="7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6393ED"/>
                </a:solidFill>
                <a:latin typeface="Tahoma"/>
                <a:cs typeface="Tahoma"/>
              </a:rPr>
              <a:t>depth</a:t>
            </a:r>
            <a:r>
              <a:rPr sz="1100" b="1" spc="7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of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without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first</a:t>
            </a:r>
            <a:r>
              <a:rPr sz="1100" spc="-60" dirty="0">
                <a:latin typeface="Tahoma"/>
                <a:cs typeface="Tahoma"/>
              </a:rPr>
              <a:t> growing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tree.</a:t>
            </a:r>
            <a:endParaRPr sz="1100">
              <a:latin typeface="Tahoma"/>
              <a:cs typeface="Tahoma"/>
            </a:endParaRPr>
          </a:p>
          <a:p>
            <a:pPr marL="153670" marR="32384" indent="-141605" algn="just">
              <a:lnSpc>
                <a:spcPct val="118000"/>
              </a:lnSpc>
              <a:spcBef>
                <a:spcPts val="675"/>
              </a:spcBef>
              <a:buClr>
                <a:srgbClr val="0071B2"/>
              </a:buClr>
              <a:buFont typeface="Yu Gothic UI"/>
              <a:buChar char="•"/>
              <a:tabLst>
                <a:tab pos="154305" algn="l"/>
              </a:tabLst>
            </a:pPr>
            <a:r>
              <a:rPr sz="1100" spc="-60" dirty="0">
                <a:latin typeface="Tahoma"/>
                <a:cs typeface="Tahoma"/>
              </a:rPr>
              <a:t>Pruning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after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tree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has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grown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allows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algorithm </a:t>
            </a:r>
            <a:r>
              <a:rPr sz="1100" spc="-6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be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ensure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that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all</a:t>
            </a:r>
            <a:r>
              <a:rPr sz="1100" b="1" spc="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30" dirty="0">
                <a:solidFill>
                  <a:srgbClr val="6393ED"/>
                </a:solidFill>
                <a:latin typeface="Tahoma"/>
                <a:cs typeface="Tahoma"/>
              </a:rPr>
              <a:t>important</a:t>
            </a:r>
            <a:r>
              <a:rPr sz="1100" b="1" spc="50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b="1" spc="-120" dirty="0">
                <a:solidFill>
                  <a:srgbClr val="6393ED"/>
                </a:solidFill>
                <a:latin typeface="Tahoma"/>
                <a:cs typeface="Tahoma"/>
              </a:rPr>
              <a:t>relationships</a:t>
            </a:r>
            <a:r>
              <a:rPr sz="1100" b="1" spc="35" dirty="0">
                <a:solidFill>
                  <a:srgbClr val="6393ED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data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have </a:t>
            </a:r>
            <a:r>
              <a:rPr sz="1100" spc="-50" dirty="0">
                <a:latin typeface="Tahoma"/>
                <a:cs typeface="Tahoma"/>
              </a:rPr>
              <a:t>been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discovered.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0176" y="3201332"/>
            <a:ext cx="1981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5" dirty="0">
                <a:latin typeface="Tahoma"/>
                <a:cs typeface="Tahoma"/>
              </a:rPr>
              <a:t>19/38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C103-B6CD-CCD9-D597-BE03CBACF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215444"/>
          </a:xfrm>
        </p:spPr>
        <p:txBody>
          <a:bodyPr/>
          <a:lstStyle/>
          <a:p>
            <a:r>
              <a:rPr lang="en-US" dirty="0"/>
              <a:t>Key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832D7-DC8B-DF6E-8242-4043A97B0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302" y="884891"/>
            <a:ext cx="3796029" cy="123110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max_depth</a:t>
            </a:r>
            <a:r>
              <a:rPr lang="en-US" dirty="0"/>
              <a:t> → maximum depth of the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min_samples_split</a:t>
            </a:r>
            <a:r>
              <a:rPr lang="en-US" dirty="0"/>
              <a:t> → minimum number of samples required to split a node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min_samples_leaf</a:t>
            </a:r>
            <a:r>
              <a:rPr lang="en-US" dirty="0"/>
              <a:t> → minimum number of samples required at a leaf node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max_features</a:t>
            </a:r>
            <a:r>
              <a:rPr lang="en-US" dirty="0"/>
              <a:t> → number of features to consider when looking for the best split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max_leaf_nodes</a:t>
            </a:r>
            <a:r>
              <a:rPr lang="en-US" dirty="0"/>
              <a:t> → maximum number of leaf nodes in the tree</a:t>
            </a:r>
          </a:p>
        </p:txBody>
      </p:sp>
    </p:spTree>
    <p:extLst>
      <p:ext uri="{BB962C8B-B14F-4D97-AF65-F5344CB8AC3E}">
        <p14:creationId xmlns:p14="http://schemas.microsoft.com/office/powerpoint/2010/main" val="1684092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6D63-7C34-5249-0B08-649B06FC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215444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71504C-8D3B-7AB6-1C0D-0D4637917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250" y="892175"/>
            <a:ext cx="43434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1B2"/>
              </a:buClr>
              <a:buSzTx/>
              <a:tabLst/>
            </a:pPr>
            <a:r>
              <a:rPr lang="en-US" altLang="en-US" sz="1200" spc="-45" dirty="0">
                <a:latin typeface="Tahoma"/>
              </a:rPr>
              <a:t>Scenario : Customer Churn Prediction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1B2"/>
              </a:buClr>
              <a:buSzTx/>
              <a:buFont typeface="Yu Gothic UI"/>
              <a:buChar char="•"/>
              <a:tabLst/>
            </a:pPr>
            <a:r>
              <a:rPr lang="en-US" altLang="en-US" sz="1200" spc="-45" dirty="0">
                <a:latin typeface="Tahoma"/>
              </a:rPr>
              <a:t>You are using a decision tree to predict whether a customer will </a:t>
            </a:r>
            <a:r>
              <a:rPr lang="en-US" altLang="en-US" sz="1200" spc="-45">
                <a:latin typeface="Tahoma"/>
              </a:rPr>
              <a:t>churn.</a:t>
            </a:r>
            <a:endParaRPr lang="en-US" altLang="en-US" sz="1200" spc="-45" dirty="0">
              <a:latin typeface="Tahom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1B2"/>
              </a:buClr>
              <a:buSzTx/>
              <a:tabLst/>
            </a:pPr>
            <a:r>
              <a:rPr lang="en-US" altLang="en-US" sz="1200" spc="-45">
                <a:latin typeface="Tahoma"/>
              </a:rPr>
              <a:t>Questions</a:t>
            </a:r>
            <a:r>
              <a:rPr lang="en-US" altLang="en-US" sz="1200" spc="-45" dirty="0">
                <a:latin typeface="Tahoma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1B2"/>
              </a:buClr>
              <a:buSzTx/>
              <a:buFont typeface="Yu Gothic UI"/>
              <a:buChar char="•"/>
              <a:tabLst/>
            </a:pPr>
            <a:r>
              <a:rPr lang="en-US" altLang="en-US" sz="1200" spc="-45" dirty="0">
                <a:latin typeface="Tahoma"/>
              </a:rPr>
              <a:t>How would you handle continuous variables like “number of months subscribed” or “monthly usage”?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1B2"/>
              </a:buClr>
              <a:buSzTx/>
              <a:buFont typeface="Yu Gothic UI"/>
              <a:buChar char="•"/>
              <a:tabLst/>
            </a:pPr>
            <a:r>
              <a:rPr lang="en-US" altLang="en-US" sz="1200" spc="-45" dirty="0">
                <a:latin typeface="Tahoma"/>
              </a:rPr>
              <a:t>If the dataset contains missing values, how would you deal with them during tree construction?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1B2"/>
              </a:buClr>
              <a:buSzTx/>
              <a:buFont typeface="Yu Gothic UI"/>
              <a:buChar char="•"/>
              <a:tabLst/>
            </a:pPr>
            <a:r>
              <a:rPr lang="en-US" altLang="en-US" sz="1200" spc="-45" dirty="0">
                <a:latin typeface="Tahoma"/>
              </a:rPr>
              <a:t>How might highly imbalanced classes (e.g., few churned customers) affect your decision tree, and what strategies could help?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42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78281"/>
            <a:ext cx="1084580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35" dirty="0"/>
              <a:t>Decision</a:t>
            </a:r>
            <a:r>
              <a:rPr spc="-45" dirty="0"/>
              <a:t> </a:t>
            </a:r>
            <a:r>
              <a:rPr spc="-65" dirty="0"/>
              <a:t>Trees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45" dirty="0">
                <a:solidFill>
                  <a:srgbClr val="3F3F3F"/>
                </a:solidFill>
                <a:latin typeface="Verdana"/>
                <a:cs typeface="Verdana"/>
              </a:rPr>
              <a:t>Advantages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6928" y="3200220"/>
            <a:ext cx="231140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36/38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98" y="1164234"/>
            <a:ext cx="3719829" cy="165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 marR="63500" indent="-14859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sz="1200" spc="-45" dirty="0">
                <a:latin typeface="Tahoma"/>
                <a:cs typeface="Tahoma"/>
              </a:rPr>
              <a:t>Decision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trees</a:t>
            </a:r>
            <a:r>
              <a:rPr sz="1200" spc="-50" dirty="0">
                <a:latin typeface="Tahoma"/>
                <a:cs typeface="Tahoma"/>
              </a:rPr>
              <a:t> are </a:t>
            </a:r>
            <a:r>
              <a:rPr sz="1200" spc="-35" dirty="0">
                <a:latin typeface="Tahoma"/>
                <a:cs typeface="Tahoma"/>
              </a:rPr>
              <a:t>all-</a:t>
            </a:r>
            <a:r>
              <a:rPr sz="1200" spc="-50" dirty="0">
                <a:latin typeface="Tahoma"/>
                <a:cs typeface="Tahoma"/>
              </a:rPr>
              <a:t>purpose </a:t>
            </a:r>
            <a:r>
              <a:rPr sz="1200" spc="-45" dirty="0">
                <a:latin typeface="Tahoma"/>
                <a:cs typeface="Tahoma"/>
              </a:rPr>
              <a:t>classifier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that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deliver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good </a:t>
            </a:r>
            <a:r>
              <a:rPr sz="1200" spc="-50" dirty="0">
                <a:latin typeface="Tahoma"/>
                <a:cs typeface="Tahoma"/>
              </a:rPr>
              <a:t>results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most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problems</a:t>
            </a:r>
            <a:endParaRPr sz="1200" dirty="0">
              <a:latin typeface="Tahoma"/>
              <a:cs typeface="Tahoma"/>
            </a:endParaRPr>
          </a:p>
          <a:p>
            <a:pPr marL="160655" marR="326390" indent="-148590">
              <a:lnSpc>
                <a:spcPct val="111400"/>
              </a:lnSpc>
              <a:buClr>
                <a:srgbClr val="0071B2"/>
              </a:buClr>
              <a:buFont typeface="Yu Gothic UI"/>
              <a:buChar char="•"/>
              <a:tabLst>
                <a:tab pos="157480" algn="l"/>
              </a:tabLst>
            </a:pPr>
            <a:r>
              <a:rPr sz="1200" spc="-75" dirty="0">
                <a:latin typeface="Tahoma"/>
                <a:cs typeface="Tahoma"/>
              </a:rPr>
              <a:t>They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provide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highly-</a:t>
            </a:r>
            <a:r>
              <a:rPr sz="1200" spc="-50" dirty="0">
                <a:latin typeface="Tahoma"/>
                <a:cs typeface="Tahoma"/>
              </a:rPr>
              <a:t>automatic</a:t>
            </a:r>
            <a:r>
              <a:rPr sz="1200" spc="-45" dirty="0">
                <a:latin typeface="Tahoma"/>
                <a:cs typeface="Tahoma"/>
              </a:rPr>
              <a:t> learning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process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for </a:t>
            </a:r>
            <a:r>
              <a:rPr sz="1200" spc="-45" dirty="0">
                <a:latin typeface="Tahoma"/>
                <a:cs typeface="Tahoma"/>
              </a:rPr>
              <a:t>numeric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or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nominal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features.</a:t>
            </a:r>
            <a:endParaRPr sz="1200" dirty="0">
              <a:latin typeface="Tahoma"/>
              <a:cs typeface="Tahoma"/>
            </a:endParaRPr>
          </a:p>
          <a:p>
            <a:pPr marL="160655" marR="36195" indent="-148590">
              <a:lnSpc>
                <a:spcPct val="111400"/>
              </a:lnSpc>
              <a:buClr>
                <a:srgbClr val="0071B2"/>
              </a:buClr>
              <a:buFont typeface="Yu Gothic UI"/>
              <a:buChar char="•"/>
              <a:tabLst>
                <a:tab pos="157480" algn="l"/>
              </a:tabLst>
            </a:pPr>
            <a:r>
              <a:rPr sz="1200" spc="-75" dirty="0">
                <a:latin typeface="Tahoma"/>
                <a:cs typeface="Tahoma"/>
              </a:rPr>
              <a:t>They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use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only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the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most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important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features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for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splitting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at </a:t>
            </a:r>
            <a:r>
              <a:rPr sz="1200" spc="-40" dirty="0">
                <a:latin typeface="Tahoma"/>
                <a:cs typeface="Tahoma"/>
              </a:rPr>
              <a:t>decision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nodes.</a:t>
            </a:r>
            <a:endParaRPr sz="1200" dirty="0">
              <a:latin typeface="Tahoma"/>
              <a:cs typeface="Tahoma"/>
            </a:endParaRPr>
          </a:p>
          <a:p>
            <a:pPr marL="160655" indent="-148590">
              <a:lnSpc>
                <a:spcPct val="100000"/>
              </a:lnSpc>
              <a:spcBef>
                <a:spcPts val="165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sz="1200" spc="-55" dirty="0">
                <a:latin typeface="Tahoma"/>
                <a:cs typeface="Tahoma"/>
              </a:rPr>
              <a:t>Resulting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models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can</a:t>
            </a:r>
            <a:r>
              <a:rPr sz="1200" spc="-45" dirty="0">
                <a:latin typeface="Tahoma"/>
                <a:cs typeface="Tahoma"/>
              </a:rPr>
              <a:t> be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interpreted</a:t>
            </a:r>
            <a:r>
              <a:rPr sz="1200" spc="-50" dirty="0">
                <a:latin typeface="Tahoma"/>
                <a:cs typeface="Tahoma"/>
              </a:rPr>
              <a:t> non-</a:t>
            </a:r>
            <a:r>
              <a:rPr sz="1200" spc="-30" dirty="0">
                <a:latin typeface="Tahoma"/>
                <a:cs typeface="Tahoma"/>
              </a:rPr>
              <a:t>mathematically.</a:t>
            </a:r>
            <a:endParaRPr sz="1200" dirty="0">
              <a:latin typeface="Tahoma"/>
              <a:cs typeface="Tahoma"/>
            </a:endParaRPr>
          </a:p>
          <a:p>
            <a:pPr marL="156845" indent="-144780">
              <a:lnSpc>
                <a:spcPct val="100000"/>
              </a:lnSpc>
              <a:spcBef>
                <a:spcPts val="160"/>
              </a:spcBef>
              <a:buClr>
                <a:srgbClr val="0071B2"/>
              </a:buClr>
              <a:buFont typeface="Yu Gothic UI"/>
              <a:buChar char="•"/>
              <a:tabLst>
                <a:tab pos="157480" algn="l"/>
              </a:tabLst>
            </a:pPr>
            <a:r>
              <a:rPr sz="1200" spc="-75" dirty="0">
                <a:latin typeface="Tahoma"/>
                <a:cs typeface="Tahoma"/>
              </a:rPr>
              <a:t>They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are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more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efficient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than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other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more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complex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models.</a:t>
            </a:r>
            <a:endParaRPr sz="12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02" y="278281"/>
            <a:ext cx="1084580" cy="4476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pc="-35" dirty="0"/>
              <a:t>Decision</a:t>
            </a:r>
            <a:r>
              <a:rPr spc="-45" dirty="0"/>
              <a:t> </a:t>
            </a:r>
            <a:r>
              <a:rPr spc="-65" dirty="0"/>
              <a:t>Trees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spc="-65" dirty="0">
                <a:solidFill>
                  <a:srgbClr val="3F3F3F"/>
                </a:solidFill>
                <a:latin typeface="Verdana"/>
                <a:cs typeface="Verdana"/>
              </a:rPr>
              <a:t>Disadvantages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6928" y="3200220"/>
            <a:ext cx="231140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37/38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98" y="1245019"/>
            <a:ext cx="3639820" cy="145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 marR="5080" indent="-14859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sz="1200" spc="-45" dirty="0">
                <a:latin typeface="Tahoma"/>
                <a:cs typeface="Tahoma"/>
              </a:rPr>
              <a:t>Decision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tree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models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are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frequently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biased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toward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splits </a:t>
            </a:r>
            <a:r>
              <a:rPr sz="1200" spc="-45" dirty="0">
                <a:latin typeface="Tahoma"/>
                <a:cs typeface="Tahoma"/>
              </a:rPr>
              <a:t>on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features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with</a:t>
            </a:r>
            <a:r>
              <a:rPr sz="1200" spc="-70" dirty="0">
                <a:latin typeface="Tahoma"/>
                <a:cs typeface="Tahoma"/>
              </a:rPr>
              <a:t> many </a:t>
            </a:r>
            <a:r>
              <a:rPr sz="1200" spc="-10" dirty="0">
                <a:latin typeface="Tahoma"/>
                <a:cs typeface="Tahoma"/>
              </a:rPr>
              <a:t>levels.</a:t>
            </a:r>
            <a:endParaRPr sz="1200" dirty="0">
              <a:latin typeface="Tahoma"/>
              <a:cs typeface="Tahoma"/>
            </a:endParaRPr>
          </a:p>
          <a:p>
            <a:pPr marL="156845" indent="-144780">
              <a:lnSpc>
                <a:spcPct val="100000"/>
              </a:lnSpc>
              <a:spcBef>
                <a:spcPts val="165"/>
              </a:spcBef>
              <a:buClr>
                <a:srgbClr val="0071B2"/>
              </a:buClr>
              <a:buFont typeface="Yu Gothic UI"/>
              <a:buChar char="•"/>
              <a:tabLst>
                <a:tab pos="157480" algn="l"/>
              </a:tabLst>
            </a:pPr>
            <a:r>
              <a:rPr sz="1200" spc="-75" dirty="0">
                <a:latin typeface="Tahoma"/>
                <a:cs typeface="Tahoma"/>
              </a:rPr>
              <a:t>They </a:t>
            </a:r>
            <a:r>
              <a:rPr sz="1200" spc="-40" dirty="0">
                <a:latin typeface="Tahoma"/>
                <a:cs typeface="Tahoma"/>
              </a:rPr>
              <a:t>tend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to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exhibit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high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variance.</a:t>
            </a:r>
            <a:endParaRPr sz="1200" dirty="0">
              <a:latin typeface="Tahoma"/>
              <a:cs typeface="Tahoma"/>
            </a:endParaRPr>
          </a:p>
          <a:p>
            <a:pPr marL="160655" indent="-148590">
              <a:lnSpc>
                <a:spcPct val="100000"/>
              </a:lnSpc>
              <a:spcBef>
                <a:spcPts val="160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sz="1200" spc="-85" dirty="0">
                <a:latin typeface="Tahoma"/>
                <a:cs typeface="Tahoma"/>
              </a:rPr>
              <a:t>It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is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easy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to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over-</a:t>
            </a:r>
            <a:r>
              <a:rPr sz="1200" spc="-20" dirty="0">
                <a:latin typeface="Tahoma"/>
                <a:cs typeface="Tahoma"/>
              </a:rPr>
              <a:t>fit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or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under-</a:t>
            </a:r>
            <a:r>
              <a:rPr sz="1200" spc="-20" dirty="0">
                <a:latin typeface="Tahoma"/>
                <a:cs typeface="Tahoma"/>
              </a:rPr>
              <a:t>fit</a:t>
            </a:r>
            <a:r>
              <a:rPr sz="1200" spc="-70" dirty="0">
                <a:latin typeface="Tahoma"/>
                <a:cs typeface="Tahoma"/>
              </a:rPr>
              <a:t> a </a:t>
            </a:r>
            <a:r>
              <a:rPr sz="1200" spc="-40" dirty="0">
                <a:latin typeface="Tahoma"/>
                <a:cs typeface="Tahoma"/>
              </a:rPr>
              <a:t>decision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tree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model.</a:t>
            </a:r>
            <a:endParaRPr sz="1200" dirty="0">
              <a:latin typeface="Tahoma"/>
              <a:cs typeface="Tahoma"/>
            </a:endParaRPr>
          </a:p>
          <a:p>
            <a:pPr marL="160655" marR="113030" indent="-148590">
              <a:lnSpc>
                <a:spcPct val="111400"/>
              </a:lnSpc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sz="1200" spc="-45" dirty="0">
                <a:latin typeface="Tahoma"/>
                <a:cs typeface="Tahoma"/>
              </a:rPr>
              <a:t>Decision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trees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are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unstable.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Small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perturbations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in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the </a:t>
            </a:r>
            <a:r>
              <a:rPr sz="1200" spc="-45" dirty="0">
                <a:latin typeface="Tahoma"/>
                <a:cs typeface="Tahoma"/>
              </a:rPr>
              <a:t>training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data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can </a:t>
            </a:r>
            <a:r>
              <a:rPr sz="1200" spc="-40" dirty="0">
                <a:latin typeface="Tahoma"/>
                <a:cs typeface="Tahoma"/>
              </a:rPr>
              <a:t>result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in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very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different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decision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trees.</a:t>
            </a:r>
            <a:endParaRPr sz="1200" dirty="0">
              <a:latin typeface="Tahoma"/>
              <a:cs typeface="Tahoma"/>
            </a:endParaRPr>
          </a:p>
          <a:p>
            <a:pPr marL="160655" indent="-148590">
              <a:lnSpc>
                <a:spcPct val="100000"/>
              </a:lnSpc>
              <a:spcBef>
                <a:spcPts val="165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sz="1200" spc="-70" dirty="0">
                <a:latin typeface="Tahoma"/>
                <a:cs typeface="Tahoma"/>
              </a:rPr>
              <a:t>Larger </a:t>
            </a:r>
            <a:r>
              <a:rPr sz="1200" spc="-45" dirty="0">
                <a:latin typeface="Tahoma"/>
                <a:cs typeface="Tahoma"/>
              </a:rPr>
              <a:t>trees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can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be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difficult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to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interpret.</a:t>
            </a:r>
            <a:endParaRPr sz="12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CF23-2613-7C39-F6FE-E5FF5BC45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215444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9978AB-7BDD-34A5-586C-A6F052C9C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2303" y="1473309"/>
            <a:ext cx="366534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on a single decision tree (which can easily overfit),  Random Forest builds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trees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then combines their results.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647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05A8-92E8-6D4A-A7AD-E01A1CC2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AA6BE4-B4BE-FC82-2025-F7DFDE46E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02" y="278281"/>
            <a:ext cx="1607948" cy="244298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lang="en-US" spc="-35" dirty="0"/>
              <a:t>Random Forest</a:t>
            </a:r>
            <a:endParaRPr spc="-6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B46570A-E48D-2AE2-3B08-623E30B3F0A9}"/>
              </a:ext>
            </a:extLst>
          </p:cNvPr>
          <p:cNvSpPr txBox="1"/>
          <p:nvPr/>
        </p:nvSpPr>
        <p:spPr>
          <a:xfrm>
            <a:off x="4226928" y="3200220"/>
            <a:ext cx="231140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37/38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F7C0FFE-A501-141F-7B06-75A4D4F6E70F}"/>
              </a:ext>
            </a:extLst>
          </p:cNvPr>
          <p:cNvSpPr txBox="1"/>
          <p:nvPr/>
        </p:nvSpPr>
        <p:spPr>
          <a:xfrm>
            <a:off x="171450" y="663575"/>
            <a:ext cx="4025944" cy="1889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 marR="5080" indent="-14859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Bootstrapping (Sampling)</a:t>
            </a:r>
          </a:p>
          <a:p>
            <a:pPr marL="12065" marR="508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From your dataset, the algorithm creates multiple random subsets (with replacement).</a:t>
            </a:r>
          </a:p>
          <a:p>
            <a:pPr marL="160655" marR="5080" indent="-14859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Random Feature Selection</a:t>
            </a:r>
          </a:p>
          <a:p>
            <a:pPr marL="12065" marR="508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At each split in a tree, only a random subset of features is considered.</a:t>
            </a:r>
          </a:p>
          <a:p>
            <a:pPr marL="12065" marR="5080">
              <a:lnSpc>
                <a:spcPct val="111400"/>
              </a:lnSpc>
              <a:spcBef>
                <a:spcPts val="100"/>
              </a:spcBef>
              <a:buClr>
                <a:srgbClr val="0071B2"/>
              </a:buClr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This makes trees less correlated and more diverse</a:t>
            </a:r>
          </a:p>
          <a:p>
            <a:pPr marL="160655" marR="113030" indent="-148590">
              <a:lnSpc>
                <a:spcPct val="111400"/>
              </a:lnSpc>
              <a:buClr>
                <a:srgbClr val="0071B2"/>
              </a:buClr>
              <a:buFont typeface="Yu Gothic UI"/>
              <a:buChar char="•"/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Build Many Trees</a:t>
            </a:r>
          </a:p>
          <a:p>
            <a:pPr marL="12065" marR="113030">
              <a:lnSpc>
                <a:spcPct val="111400"/>
              </a:lnSpc>
              <a:buClr>
                <a:srgbClr val="0071B2"/>
              </a:buClr>
              <a:tabLst>
                <a:tab pos="161290" algn="l"/>
              </a:tabLst>
            </a:pPr>
            <a:r>
              <a:rPr lang="en-IN" sz="1200" spc="-45" dirty="0">
                <a:latin typeface="Tahoma"/>
                <a:cs typeface="Tahoma"/>
              </a:rPr>
              <a:t>Each tree is trained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495259353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CEDF-4A89-0C48-7227-5368414C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8AD6-FDF7-B0FA-E2C9-866E6CAE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215444"/>
          </a:xfrm>
        </p:spPr>
        <p:txBody>
          <a:bodyPr/>
          <a:lstStyle/>
          <a:p>
            <a:r>
              <a:rPr lang="en-US" dirty="0"/>
              <a:t>Key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B7421-3821-D3FA-E0B6-116AE48C3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302" y="884891"/>
            <a:ext cx="3796029" cy="61555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n_estimators</a:t>
            </a:r>
            <a:r>
              <a:rPr lang="en-US" dirty="0"/>
              <a:t> → number of trees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max_features</a:t>
            </a:r>
            <a:r>
              <a:rPr lang="en-US" dirty="0"/>
              <a:t> → number of features per split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max_depth</a:t>
            </a:r>
            <a:r>
              <a:rPr lang="en-US" dirty="0"/>
              <a:t> → depth of trees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min_samples_split</a:t>
            </a:r>
            <a:r>
              <a:rPr lang="en-US" dirty="0"/>
              <a:t> / leaf → control</a:t>
            </a:r>
          </a:p>
        </p:txBody>
      </p:sp>
    </p:spTree>
    <p:extLst>
      <p:ext uri="{BB962C8B-B14F-4D97-AF65-F5344CB8AC3E}">
        <p14:creationId xmlns:p14="http://schemas.microsoft.com/office/powerpoint/2010/main" val="237351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12D4-C456-673C-24CE-A7CB10F2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215444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4745F-35EA-271C-A96A-28A9D6339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302" y="884891"/>
            <a:ext cx="3796029" cy="76944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Reduces overfitting compared to a single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Handles high-dimensional data well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Works for both classification &amp;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Robust to noise and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Provides 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3623857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A924-3502-014F-EE9F-410E0C2A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2" y="278281"/>
            <a:ext cx="2911475" cy="215444"/>
          </a:xfrm>
        </p:spPr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581AB-CE92-6C08-4829-FF960025A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302" y="884891"/>
            <a:ext cx="3796029" cy="46166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Less interpretable than a single decision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be computationally expensive (many trees)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Larger model size</a:t>
            </a:r>
          </a:p>
        </p:txBody>
      </p:sp>
    </p:spTree>
    <p:extLst>
      <p:ext uri="{BB962C8B-B14F-4D97-AF65-F5344CB8AC3E}">
        <p14:creationId xmlns:p14="http://schemas.microsoft.com/office/powerpoint/2010/main" val="2549258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Bibliography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26928" y="3200220"/>
            <a:ext cx="231140" cy="122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ahoma"/>
                <a:cs typeface="Tahoma"/>
              </a:rPr>
              <a:t>38/38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75"/>
              </a:spcBef>
            </a:pPr>
            <a:r>
              <a:rPr spc="-40" dirty="0"/>
              <a:t>Breiman,</a:t>
            </a:r>
            <a:r>
              <a:rPr spc="-65" dirty="0"/>
              <a:t> </a:t>
            </a:r>
            <a:r>
              <a:rPr spc="-70" dirty="0"/>
              <a:t>L.,</a:t>
            </a:r>
            <a:r>
              <a:rPr spc="-60" dirty="0"/>
              <a:t> </a:t>
            </a:r>
            <a:r>
              <a:rPr spc="-45" dirty="0"/>
              <a:t>Friedman,</a:t>
            </a:r>
            <a:r>
              <a:rPr spc="-60" dirty="0"/>
              <a:t> </a:t>
            </a:r>
            <a:r>
              <a:rPr spc="-80" dirty="0"/>
              <a:t>J.,</a:t>
            </a:r>
            <a:r>
              <a:rPr spc="-60" dirty="0"/>
              <a:t> </a:t>
            </a:r>
            <a:r>
              <a:rPr spc="-55" dirty="0"/>
              <a:t>Stone,</a:t>
            </a:r>
            <a:r>
              <a:rPr spc="-60" dirty="0"/>
              <a:t> </a:t>
            </a:r>
            <a:r>
              <a:rPr spc="-80" dirty="0"/>
              <a:t>C.J.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-45" dirty="0"/>
              <a:t>Olshen,</a:t>
            </a:r>
            <a:r>
              <a:rPr spc="-60" dirty="0"/>
              <a:t> </a:t>
            </a:r>
            <a:r>
              <a:rPr spc="-55" dirty="0"/>
              <a:t>R.A.</a:t>
            </a:r>
            <a:r>
              <a:rPr spc="-60" dirty="0"/>
              <a:t> </a:t>
            </a:r>
            <a:r>
              <a:rPr spc="-10" dirty="0"/>
              <a:t>(1984)</a:t>
            </a:r>
          </a:p>
          <a:p>
            <a:pPr marL="220345" marR="142240" algn="just">
              <a:lnSpc>
                <a:spcPct val="114599"/>
              </a:lnSpc>
            </a:pPr>
            <a:r>
              <a:rPr u="sng" spc="-40" dirty="0">
                <a:uFill>
                  <a:solidFill>
                    <a:srgbClr val="000000"/>
                  </a:solidFill>
                </a:uFill>
              </a:rPr>
              <a:t>Classification</a:t>
            </a:r>
            <a:r>
              <a:rPr u="sng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75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u="sng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55" dirty="0">
                <a:uFill>
                  <a:solidFill>
                    <a:srgbClr val="000000"/>
                  </a:solidFill>
                </a:uFill>
              </a:rPr>
              <a:t>Regression</a:t>
            </a:r>
            <a:r>
              <a:rPr u="sng" spc="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75" dirty="0">
                <a:uFill>
                  <a:solidFill>
                    <a:srgbClr val="000000"/>
                  </a:solidFill>
                </a:uFill>
              </a:rPr>
              <a:t>Trees</a:t>
            </a:r>
            <a:r>
              <a:rPr spc="-75" dirty="0"/>
              <a:t>.</a:t>
            </a:r>
            <a:r>
              <a:rPr spc="70" dirty="0"/>
              <a:t> </a:t>
            </a:r>
            <a:r>
              <a:rPr spc="-55" dirty="0"/>
              <a:t>Andover,</a:t>
            </a:r>
            <a:r>
              <a:rPr spc="10" dirty="0"/>
              <a:t> </a:t>
            </a:r>
            <a:r>
              <a:rPr spc="-65" dirty="0"/>
              <a:t>England,</a:t>
            </a:r>
            <a:r>
              <a:rPr spc="15" dirty="0"/>
              <a:t> </a:t>
            </a:r>
            <a:r>
              <a:rPr spc="-90" dirty="0"/>
              <a:t>UK,</a:t>
            </a:r>
            <a:r>
              <a:rPr spc="10" dirty="0"/>
              <a:t> </a:t>
            </a:r>
            <a:r>
              <a:rPr spc="-75" dirty="0"/>
              <a:t>Taylor</a:t>
            </a:r>
            <a:r>
              <a:rPr spc="15" dirty="0"/>
              <a:t> </a:t>
            </a:r>
            <a:r>
              <a:rPr spc="-50" dirty="0"/>
              <a:t>&amp; </a:t>
            </a:r>
            <a:r>
              <a:rPr spc="-10" dirty="0"/>
              <a:t>Francis.</a:t>
            </a:r>
          </a:p>
          <a:p>
            <a:pPr marL="220345" marR="348615" indent="-208279" algn="just">
              <a:lnSpc>
                <a:spcPct val="114599"/>
              </a:lnSpc>
            </a:pPr>
            <a:r>
              <a:rPr spc="-45" dirty="0"/>
              <a:t>Freund,</a:t>
            </a:r>
            <a:r>
              <a:rPr spc="-90" dirty="0"/>
              <a:t> </a:t>
            </a:r>
            <a:r>
              <a:rPr spc="-135" dirty="0"/>
              <a:t>Y.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45" dirty="0"/>
              <a:t>Schapire,</a:t>
            </a:r>
            <a:r>
              <a:rPr spc="-90" dirty="0"/>
              <a:t> </a:t>
            </a:r>
            <a:r>
              <a:rPr spc="-70" dirty="0"/>
              <a:t>R.E.</a:t>
            </a:r>
            <a:r>
              <a:rPr spc="-90" dirty="0"/>
              <a:t> </a:t>
            </a:r>
            <a:r>
              <a:rPr spc="-75" dirty="0"/>
              <a:t>(1996)</a:t>
            </a:r>
            <a:r>
              <a:rPr spc="-90" dirty="0"/>
              <a:t> </a:t>
            </a:r>
            <a:r>
              <a:rPr spc="-40" dirty="0"/>
              <a:t>Experiments</a:t>
            </a:r>
            <a:r>
              <a:rPr spc="-90" dirty="0"/>
              <a:t> </a:t>
            </a:r>
            <a:r>
              <a:rPr spc="-20" dirty="0"/>
              <a:t>with</a:t>
            </a:r>
            <a:r>
              <a:rPr spc="-90" dirty="0"/>
              <a:t> </a:t>
            </a:r>
            <a:r>
              <a:rPr spc="-55" dirty="0"/>
              <a:t>a</a:t>
            </a:r>
            <a:r>
              <a:rPr spc="-90" dirty="0"/>
              <a:t> </a:t>
            </a:r>
            <a:r>
              <a:rPr spc="-40" dirty="0"/>
              <a:t>new</a:t>
            </a:r>
            <a:r>
              <a:rPr spc="-90" dirty="0"/>
              <a:t> </a:t>
            </a:r>
            <a:r>
              <a:rPr spc="-35" dirty="0"/>
              <a:t>boosting</a:t>
            </a:r>
            <a:r>
              <a:rPr spc="-25" dirty="0"/>
              <a:t> </a:t>
            </a:r>
            <a:r>
              <a:rPr spc="-35" dirty="0"/>
              <a:t>algorithm.</a:t>
            </a:r>
            <a:r>
              <a:rPr spc="-50" dirty="0"/>
              <a:t> </a:t>
            </a:r>
            <a:r>
              <a:rPr spc="-85" dirty="0"/>
              <a:t>In:</a:t>
            </a:r>
            <a:r>
              <a:rPr spc="-50" dirty="0"/>
              <a:t> </a:t>
            </a:r>
            <a:r>
              <a:rPr u="sng" spc="-20" dirty="0">
                <a:uFill>
                  <a:solidFill>
                    <a:srgbClr val="000000"/>
                  </a:solidFill>
                </a:uFill>
              </a:rPr>
              <a:t>Machine</a:t>
            </a:r>
            <a:r>
              <a:rPr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0" dirty="0">
                <a:uFill>
                  <a:solidFill>
                    <a:srgbClr val="000000"/>
                  </a:solidFill>
                </a:uFill>
              </a:rPr>
              <a:t>learning:</a:t>
            </a:r>
            <a:r>
              <a:rPr u="sng" spc="-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0" dirty="0">
                <a:uFill>
                  <a:solidFill>
                    <a:srgbClr val="000000"/>
                  </a:solidFill>
                </a:uFill>
              </a:rPr>
              <a:t>Proceedings</a:t>
            </a:r>
            <a:r>
              <a:rPr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0" dirty="0">
                <a:uFill>
                  <a:solidFill>
                    <a:srgbClr val="000000"/>
                  </a:solidFill>
                </a:uFill>
              </a:rPr>
              <a:t>of</a:t>
            </a:r>
            <a:r>
              <a:rPr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5" dirty="0">
                <a:uFill>
                  <a:solidFill>
                    <a:srgbClr val="000000"/>
                  </a:solidFill>
                </a:uFill>
              </a:rPr>
              <a:t>the</a:t>
            </a:r>
            <a:r>
              <a:rPr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5" dirty="0">
                <a:uFill>
                  <a:solidFill>
                    <a:srgbClr val="000000"/>
                  </a:solidFill>
                </a:uFill>
              </a:rPr>
              <a:t>thirteenth</a:t>
            </a:r>
            <a:r>
              <a:rPr spc="-15" dirty="0"/>
              <a:t> </a:t>
            </a:r>
            <a:r>
              <a:rPr u="sng" spc="-25" dirty="0">
                <a:uFill>
                  <a:solidFill>
                    <a:srgbClr val="000000"/>
                  </a:solidFill>
                </a:uFill>
              </a:rPr>
              <a:t>international</a:t>
            </a:r>
            <a:r>
              <a:rPr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0" dirty="0">
                <a:uFill>
                  <a:solidFill>
                    <a:srgbClr val="000000"/>
                  </a:solidFill>
                </a:uFill>
              </a:rPr>
              <a:t>conference</a:t>
            </a:r>
            <a:r>
              <a:rPr spc="-40" dirty="0"/>
              <a:t>.</a:t>
            </a:r>
            <a:r>
              <a:rPr spc="-50" dirty="0"/>
              <a:t> </a:t>
            </a:r>
            <a:r>
              <a:rPr spc="-75" dirty="0"/>
              <a:t>1996</a:t>
            </a:r>
          </a:p>
          <a:p>
            <a:pPr marL="12700" marR="5080" algn="just">
              <a:lnSpc>
                <a:spcPct val="114599"/>
              </a:lnSpc>
            </a:pPr>
            <a:r>
              <a:rPr spc="-20" dirty="0"/>
              <a:t>Mitchell,</a:t>
            </a:r>
            <a:r>
              <a:rPr spc="-60" dirty="0"/>
              <a:t> </a:t>
            </a:r>
            <a:r>
              <a:rPr spc="-80" dirty="0"/>
              <a:t>T.M.</a:t>
            </a:r>
            <a:r>
              <a:rPr dirty="0"/>
              <a:t> </a:t>
            </a:r>
            <a:r>
              <a:rPr spc="-110" dirty="0"/>
              <a:t>(1997)</a:t>
            </a:r>
            <a:r>
              <a:rPr spc="35" dirty="0"/>
              <a:t> </a:t>
            </a:r>
            <a:r>
              <a:rPr u="sng" spc="-25" dirty="0">
                <a:uFill>
                  <a:solidFill>
                    <a:srgbClr val="000000"/>
                  </a:solidFill>
                </a:uFill>
              </a:rPr>
              <a:t>Machine</a:t>
            </a:r>
            <a:r>
              <a:rPr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0" dirty="0">
                <a:uFill>
                  <a:solidFill>
                    <a:srgbClr val="000000"/>
                  </a:solidFill>
                </a:uFill>
              </a:rPr>
              <a:t>learning</a:t>
            </a:r>
            <a:r>
              <a:rPr spc="-40" dirty="0"/>
              <a:t>.</a:t>
            </a:r>
            <a:r>
              <a:rPr spc="55" dirty="0"/>
              <a:t> </a:t>
            </a:r>
            <a:r>
              <a:rPr spc="-145" dirty="0"/>
              <a:t>1st</a:t>
            </a:r>
            <a:r>
              <a:rPr spc="70" dirty="0"/>
              <a:t> </a:t>
            </a:r>
            <a:r>
              <a:rPr spc="-25" dirty="0"/>
              <a:t>edition.</a:t>
            </a:r>
            <a:r>
              <a:rPr spc="50" dirty="0"/>
              <a:t> </a:t>
            </a:r>
            <a:r>
              <a:rPr spc="-75" dirty="0"/>
              <a:t>USA,</a:t>
            </a:r>
            <a:r>
              <a:rPr spc="5" dirty="0"/>
              <a:t> </a:t>
            </a:r>
            <a:r>
              <a:rPr spc="-35" dirty="0"/>
              <a:t>McGraw-</a:t>
            </a:r>
            <a:r>
              <a:rPr spc="-50" dirty="0"/>
              <a:t>Hill,</a:t>
            </a:r>
            <a:r>
              <a:rPr dirty="0"/>
              <a:t> </a:t>
            </a:r>
            <a:r>
              <a:rPr spc="-45" dirty="0"/>
              <a:t>Inc. </a:t>
            </a:r>
            <a:r>
              <a:rPr spc="-40" dirty="0"/>
              <a:t>Quinlan,</a:t>
            </a:r>
            <a:r>
              <a:rPr spc="-55" dirty="0"/>
              <a:t> </a:t>
            </a:r>
            <a:r>
              <a:rPr spc="-75" dirty="0"/>
              <a:t>J.R.</a:t>
            </a:r>
            <a:r>
              <a:rPr spc="-50" dirty="0"/>
              <a:t> </a:t>
            </a:r>
            <a:r>
              <a:rPr spc="-85" dirty="0"/>
              <a:t>(1993)</a:t>
            </a:r>
            <a:r>
              <a:rPr spc="-55" dirty="0"/>
              <a:t> </a:t>
            </a:r>
            <a:r>
              <a:rPr u="sng" spc="-60" dirty="0">
                <a:uFill>
                  <a:solidFill>
                    <a:srgbClr val="000000"/>
                  </a:solidFill>
                </a:uFill>
              </a:rPr>
              <a:t>C4.5:</a:t>
            </a:r>
            <a:r>
              <a:rPr u="sng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55" dirty="0">
                <a:uFill>
                  <a:solidFill>
                    <a:srgbClr val="000000"/>
                  </a:solidFill>
                </a:uFill>
              </a:rPr>
              <a:t>Programs </a:t>
            </a:r>
            <a:r>
              <a:rPr u="sng" spc="-35" dirty="0">
                <a:uFill>
                  <a:solidFill>
                    <a:srgbClr val="000000"/>
                  </a:solidFill>
                </a:uFill>
              </a:rPr>
              <a:t>for</a:t>
            </a:r>
            <a:r>
              <a:rPr u="sng" spc="-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5" dirty="0">
                <a:uFill>
                  <a:solidFill>
                    <a:srgbClr val="000000"/>
                  </a:solidFill>
                </a:uFill>
              </a:rPr>
              <a:t>machine</a:t>
            </a:r>
            <a:r>
              <a:rPr u="sng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0" dirty="0">
                <a:uFill>
                  <a:solidFill>
                    <a:srgbClr val="000000"/>
                  </a:solidFill>
                </a:uFill>
              </a:rPr>
              <a:t>learning</a:t>
            </a:r>
            <a:r>
              <a:rPr spc="-40" dirty="0"/>
              <a:t>.</a:t>
            </a:r>
            <a:r>
              <a:rPr spc="-5" dirty="0"/>
              <a:t> </a:t>
            </a:r>
            <a:r>
              <a:rPr spc="-75" dirty="0"/>
              <a:t>San</a:t>
            </a:r>
            <a:r>
              <a:rPr spc="-50" dirty="0"/>
              <a:t> </a:t>
            </a:r>
            <a:r>
              <a:rPr spc="-10" dirty="0"/>
              <a:t>Francisco,</a:t>
            </a:r>
          </a:p>
          <a:p>
            <a:pPr marL="220345" algn="just">
              <a:lnSpc>
                <a:spcPct val="100000"/>
              </a:lnSpc>
              <a:spcBef>
                <a:spcPts val="175"/>
              </a:spcBef>
            </a:pPr>
            <a:r>
              <a:rPr spc="-55" dirty="0"/>
              <a:t>CA,</a:t>
            </a:r>
            <a:r>
              <a:rPr spc="-40" dirty="0"/>
              <a:t> </a:t>
            </a:r>
            <a:r>
              <a:rPr spc="-60" dirty="0"/>
              <a:t>USA,</a:t>
            </a:r>
            <a:r>
              <a:rPr spc="-35" dirty="0"/>
              <a:t> Morgan</a:t>
            </a:r>
            <a:r>
              <a:rPr spc="-40" dirty="0"/>
              <a:t> </a:t>
            </a:r>
            <a:r>
              <a:rPr spc="-55" dirty="0"/>
              <a:t>Kaufmann</a:t>
            </a:r>
            <a:r>
              <a:rPr spc="-35" dirty="0"/>
              <a:t> </a:t>
            </a:r>
            <a:r>
              <a:rPr spc="-40" dirty="0"/>
              <a:t>Publishers </a:t>
            </a:r>
            <a:r>
              <a:rPr spc="-20" dirty="0"/>
              <a:t>Inc.</a:t>
            </a:r>
          </a:p>
          <a:p>
            <a:pPr marL="220345" marR="274320" indent="-208279" algn="just">
              <a:lnSpc>
                <a:spcPct val="114599"/>
              </a:lnSpc>
            </a:pPr>
            <a:r>
              <a:rPr spc="-40" dirty="0"/>
              <a:t>Quinlan, </a:t>
            </a:r>
            <a:r>
              <a:rPr spc="-105" dirty="0"/>
              <a:t>J.R.</a:t>
            </a:r>
            <a:r>
              <a:rPr spc="25" dirty="0"/>
              <a:t> </a:t>
            </a:r>
            <a:r>
              <a:rPr spc="-95" dirty="0"/>
              <a:t>(1986)</a:t>
            </a:r>
            <a:r>
              <a:rPr spc="20" dirty="0"/>
              <a:t> </a:t>
            </a:r>
            <a:r>
              <a:rPr spc="-45" dirty="0"/>
              <a:t>Induction</a:t>
            </a:r>
            <a:r>
              <a:rPr spc="-35" dirty="0"/>
              <a:t> </a:t>
            </a:r>
            <a:r>
              <a:rPr spc="-50" dirty="0"/>
              <a:t>of</a:t>
            </a:r>
            <a:r>
              <a:rPr spc="-30" dirty="0"/>
              <a:t> </a:t>
            </a:r>
            <a:r>
              <a:rPr spc="-35" dirty="0"/>
              <a:t>decision</a:t>
            </a:r>
            <a:r>
              <a:rPr spc="-40" dirty="0"/>
              <a:t> trees.</a:t>
            </a:r>
            <a:r>
              <a:rPr spc="10" dirty="0"/>
              <a:t> </a:t>
            </a:r>
            <a:r>
              <a:rPr u="sng" spc="-25" dirty="0">
                <a:uFill>
                  <a:solidFill>
                    <a:srgbClr val="000000"/>
                  </a:solidFill>
                </a:uFill>
              </a:rPr>
              <a:t>Machine</a:t>
            </a:r>
            <a:r>
              <a:rPr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50" dirty="0">
                <a:uFill>
                  <a:solidFill>
                    <a:srgbClr val="000000"/>
                  </a:solidFill>
                </a:uFill>
              </a:rPr>
              <a:t>Learning</a:t>
            </a:r>
            <a:r>
              <a:rPr spc="-50" dirty="0"/>
              <a:t>.</a:t>
            </a:r>
            <a:r>
              <a:rPr spc="30" dirty="0"/>
              <a:t> </a:t>
            </a:r>
            <a:r>
              <a:rPr spc="-80" dirty="0"/>
              <a:t>1, </a:t>
            </a:r>
            <a:r>
              <a:rPr spc="-10" dirty="0"/>
              <a:t>81–106.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</TotalTime>
  <Words>2366</Words>
  <Application>Microsoft Macintosh PowerPoint</Application>
  <PresentationFormat>Custom</PresentationFormat>
  <Paragraphs>399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Yu Gothic UI</vt:lpstr>
      <vt:lpstr>Arial</vt:lpstr>
      <vt:lpstr>Arial MT</vt:lpstr>
      <vt:lpstr>Calibri</vt:lpstr>
      <vt:lpstr>Lucida Sans Unicode</vt:lpstr>
      <vt:lpstr>Tahoma</vt:lpstr>
      <vt:lpstr>Times New Roman</vt:lpstr>
      <vt:lpstr>Trebuchet MS</vt:lpstr>
      <vt:lpstr>Verdana</vt:lpstr>
      <vt:lpstr>Office Theme</vt:lpstr>
      <vt:lpstr>What are Decision Trees?</vt:lpstr>
      <vt:lpstr>Decision Trees Inductive Learning</vt:lpstr>
      <vt:lpstr>Decision Trees Why prefer shorter hypotheses?</vt:lpstr>
      <vt:lpstr>PowerPoint Presentation</vt:lpstr>
      <vt:lpstr>Decision Tree Example</vt:lpstr>
      <vt:lpstr>Decision Rules</vt:lpstr>
      <vt:lpstr>Decision Trees Partitioning</vt:lpstr>
      <vt:lpstr>The ID3 Algorithm</vt:lpstr>
      <vt:lpstr>The ID3 Algorithm</vt:lpstr>
      <vt:lpstr>The ID3 Algorithm Partitioning - Information Gain</vt:lpstr>
      <vt:lpstr>PowerPoint Presentation</vt:lpstr>
      <vt:lpstr>The ID3 Algorithm Example of Partitioning using Information Gain</vt:lpstr>
      <vt:lpstr>The ID3 Algorithm Example of Partitioning using Information Gain</vt:lpstr>
      <vt:lpstr>The ID3 Algorithm Example of Partitioning using Information Gain</vt:lpstr>
      <vt:lpstr>The ID3 Algorithm Final Decision Tree</vt:lpstr>
      <vt:lpstr>The C4.5 Algorithm</vt:lpstr>
      <vt:lpstr>The C4.5 Algorithm</vt:lpstr>
      <vt:lpstr>The C4.5 Algorithm</vt:lpstr>
      <vt:lpstr>The C4.5 Algorithm</vt:lpstr>
      <vt:lpstr>Key Parameters</vt:lpstr>
      <vt:lpstr>Exercise</vt:lpstr>
      <vt:lpstr>Decision Trees Advantages</vt:lpstr>
      <vt:lpstr>Decision Trees Disadvantages</vt:lpstr>
      <vt:lpstr>Random Forest</vt:lpstr>
      <vt:lpstr>Random Forest</vt:lpstr>
      <vt:lpstr>Key Parameters</vt:lpstr>
      <vt:lpstr>Advantages</vt:lpstr>
      <vt:lpstr>Disadvantages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Decision Trees?</dc:title>
  <dc:subject/>
  <dc:creator>vikas tomer</dc:creator>
  <cp:keywords/>
  <dc:description/>
  <cp:lastModifiedBy>Vikas tomer</cp:lastModifiedBy>
  <cp:revision>10</cp:revision>
  <dcterms:created xsi:type="dcterms:W3CDTF">2023-05-11T11:39:07Z</dcterms:created>
  <dcterms:modified xsi:type="dcterms:W3CDTF">2026-03-25T11:01:42Z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2023-05-11T10:00:00Z</vt:filetime>
  </property>
  <property fmtid="{D5CDD505-2E9C-101B-9397-08002B2CF9AE}" pid="3" name="Producer">
    <vt:lpwstr>3-Heights™ PDF Merge Split Shell 6.12.1.11 (http://www.pdf-tools.com)</vt:lpwstr>
  </property>
</Properties>
</file>