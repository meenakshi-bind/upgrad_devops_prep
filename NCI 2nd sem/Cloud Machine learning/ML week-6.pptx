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2" r:id="rId4"/>
  </p:sldMasterIdLst>
  <p:sldIdLst>
    <p:sldId id="256" r:id="rId5"/>
    <p:sldId id="260" r:id="rId6"/>
    <p:sldId id="266" r:id="rId7"/>
    <p:sldId id="267" r:id="rId8"/>
    <p:sldId id="268" r:id="rId9"/>
    <p:sldId id="350" r:id="rId10"/>
    <p:sldId id="270" r:id="rId11"/>
    <p:sldId id="271" r:id="rId12"/>
    <p:sldId id="274" r:id="rId13"/>
    <p:sldId id="275" r:id="rId14"/>
    <p:sldId id="276" r:id="rId15"/>
    <p:sldId id="347" r:id="rId16"/>
    <p:sldId id="348" r:id="rId17"/>
    <p:sldId id="280" r:id="rId18"/>
    <p:sldId id="328" r:id="rId19"/>
    <p:sldId id="336" r:id="rId20"/>
    <p:sldId id="329" r:id="rId21"/>
    <p:sldId id="335" r:id="rId22"/>
    <p:sldId id="330" r:id="rId23"/>
    <p:sldId id="331" r:id="rId24"/>
    <p:sldId id="332" r:id="rId25"/>
    <p:sldId id="290" r:id="rId26"/>
    <p:sldId id="291" r:id="rId27"/>
    <p:sldId id="292" r:id="rId28"/>
    <p:sldId id="293" r:id="rId29"/>
    <p:sldId id="294" r:id="rId30"/>
    <p:sldId id="295" r:id="rId31"/>
    <p:sldId id="337" r:id="rId32"/>
    <p:sldId id="301" r:id="rId33"/>
    <p:sldId id="339" r:id="rId34"/>
    <p:sldId id="340" r:id="rId35"/>
    <p:sldId id="342" r:id="rId36"/>
    <p:sldId id="308" r:id="rId37"/>
    <p:sldId id="311" r:id="rId38"/>
    <p:sldId id="352" r:id="rId39"/>
    <p:sldId id="315" r:id="rId40"/>
    <p:sldId id="346" r:id="rId41"/>
    <p:sldId id="351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37E95-6C6E-B5E3-140D-A61EE47B8849}" v="2" dt="2021-08-12T18:21:08.556"/>
    <p1510:client id="{DA535BD7-4BD2-D12C-6040-12978DC53B6C}" v="1" dt="2021-08-16T15:56:29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8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D67C87-8E9A-4AF4-85DE-CC9DC61FC04F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A438718-8EBE-4122-875C-965DA0D1985D}">
      <dgm:prSet/>
      <dgm:spPr/>
      <dgm:t>
        <a:bodyPr/>
        <a:lstStyle/>
        <a:p>
          <a:r>
            <a:rPr lang="en-US"/>
            <a:t>Well-suited for classification tasks where relationships among the attributes and target classes are:</a:t>
          </a:r>
        </a:p>
      </dgm:t>
    </dgm:pt>
    <dgm:pt modelId="{9E1F39D0-E816-4FD4-BD26-ED457B364A9B}" type="parTrans" cxnId="{6E7D9A9E-9341-4299-9BAC-89C98D9A68DB}">
      <dgm:prSet/>
      <dgm:spPr/>
      <dgm:t>
        <a:bodyPr/>
        <a:lstStyle/>
        <a:p>
          <a:endParaRPr lang="en-US"/>
        </a:p>
      </dgm:t>
    </dgm:pt>
    <dgm:pt modelId="{7DC2FD58-0919-4390-8AFD-267912FB54CD}" type="sibTrans" cxnId="{6E7D9A9E-9341-4299-9BAC-89C98D9A68DB}">
      <dgm:prSet/>
      <dgm:spPr/>
      <dgm:t>
        <a:bodyPr/>
        <a:lstStyle/>
        <a:p>
          <a:endParaRPr lang="en-US"/>
        </a:p>
      </dgm:t>
    </dgm:pt>
    <dgm:pt modelId="{D5EE9C16-06BE-4CB3-921F-629337431D3F}">
      <dgm:prSet/>
      <dgm:spPr/>
      <dgm:t>
        <a:bodyPr/>
        <a:lstStyle/>
        <a:p>
          <a:r>
            <a:rPr lang="en-US"/>
            <a:t>numerous</a:t>
          </a:r>
        </a:p>
      </dgm:t>
    </dgm:pt>
    <dgm:pt modelId="{DB1B0822-54CF-464B-B393-1BABB87B2C10}" type="parTrans" cxnId="{45254D26-25C2-404B-AA5D-22A590D8EE65}">
      <dgm:prSet/>
      <dgm:spPr/>
      <dgm:t>
        <a:bodyPr/>
        <a:lstStyle/>
        <a:p>
          <a:endParaRPr lang="en-US"/>
        </a:p>
      </dgm:t>
    </dgm:pt>
    <dgm:pt modelId="{EB4AACB8-42A4-400C-9C87-A2A88049363D}" type="sibTrans" cxnId="{45254D26-25C2-404B-AA5D-22A590D8EE65}">
      <dgm:prSet/>
      <dgm:spPr/>
      <dgm:t>
        <a:bodyPr/>
        <a:lstStyle/>
        <a:p>
          <a:endParaRPr lang="en-US"/>
        </a:p>
      </dgm:t>
    </dgm:pt>
    <dgm:pt modelId="{61B4DB36-6C41-4D6B-AF5A-95B2CE8152D8}">
      <dgm:prSet/>
      <dgm:spPr/>
      <dgm:t>
        <a:bodyPr/>
        <a:lstStyle/>
        <a:p>
          <a:r>
            <a:rPr lang="en-US" dirty="0"/>
            <a:t>complex</a:t>
          </a:r>
        </a:p>
      </dgm:t>
    </dgm:pt>
    <dgm:pt modelId="{4D6AADCB-40AA-4FCC-B774-3E162E43AEA1}" type="parTrans" cxnId="{81E3E54B-C743-4309-9493-2D54F9553A9A}">
      <dgm:prSet/>
      <dgm:spPr/>
      <dgm:t>
        <a:bodyPr/>
        <a:lstStyle/>
        <a:p>
          <a:endParaRPr lang="en-US"/>
        </a:p>
      </dgm:t>
    </dgm:pt>
    <dgm:pt modelId="{4768F8B9-3D12-4149-847A-38827CDD251F}" type="sibTrans" cxnId="{81E3E54B-C743-4309-9493-2D54F9553A9A}">
      <dgm:prSet/>
      <dgm:spPr/>
      <dgm:t>
        <a:bodyPr/>
        <a:lstStyle/>
        <a:p>
          <a:endParaRPr lang="en-US"/>
        </a:p>
      </dgm:t>
    </dgm:pt>
    <dgm:pt modelId="{1E81A100-47A4-4935-BFED-3D81B8EE41D8}">
      <dgm:prSet/>
      <dgm:spPr/>
      <dgm:t>
        <a:bodyPr/>
        <a:lstStyle/>
        <a:p>
          <a:r>
            <a:rPr lang="en-US"/>
            <a:t>difficult to understand</a:t>
          </a:r>
        </a:p>
      </dgm:t>
    </dgm:pt>
    <dgm:pt modelId="{74761881-6F00-41E5-AC20-38E30E498D9E}" type="parTrans" cxnId="{BBCD1AE5-D2D4-4FF2-B5E4-8B103CB4FD6F}">
      <dgm:prSet/>
      <dgm:spPr/>
      <dgm:t>
        <a:bodyPr/>
        <a:lstStyle/>
        <a:p>
          <a:endParaRPr lang="en-US"/>
        </a:p>
      </dgm:t>
    </dgm:pt>
    <dgm:pt modelId="{0FC44459-79D0-4B6C-B526-08CAF57D25C5}" type="sibTrans" cxnId="{BBCD1AE5-D2D4-4FF2-B5E4-8B103CB4FD6F}">
      <dgm:prSet/>
      <dgm:spPr/>
      <dgm:t>
        <a:bodyPr/>
        <a:lstStyle/>
        <a:p>
          <a:endParaRPr lang="en-US"/>
        </a:p>
      </dgm:t>
    </dgm:pt>
    <dgm:pt modelId="{B63EBEE6-BCE2-44F4-B507-D83AA0ABE15A}">
      <dgm:prSet/>
      <dgm:spPr/>
      <dgm:t>
        <a:bodyPr/>
        <a:lstStyle/>
        <a:p>
          <a:r>
            <a:rPr lang="en-GB" dirty="0"/>
            <a:t>B</a:t>
          </a:r>
          <a:r>
            <a:rPr lang="en-US" dirty="0" err="1"/>
            <a:t>ut</a:t>
          </a:r>
          <a:r>
            <a:rPr lang="en-GB" dirty="0"/>
            <a:t>,</a:t>
          </a:r>
          <a:r>
            <a:rPr lang="en-US" dirty="0"/>
            <a:t> instances of a class type are quite</a:t>
          </a:r>
          <a:r>
            <a:rPr lang="en-GB" dirty="0"/>
            <a:t> </a:t>
          </a:r>
          <a:r>
            <a:rPr lang="en-US" dirty="0"/>
            <a:t>homogeneous</a:t>
          </a:r>
        </a:p>
      </dgm:t>
    </dgm:pt>
    <dgm:pt modelId="{0163204C-4006-4E33-8938-57BF5543AE38}" type="parTrans" cxnId="{11734444-49E9-43FD-B9B8-D353A869BF3C}">
      <dgm:prSet/>
      <dgm:spPr/>
      <dgm:t>
        <a:bodyPr/>
        <a:lstStyle/>
        <a:p>
          <a:endParaRPr lang="en-US"/>
        </a:p>
      </dgm:t>
    </dgm:pt>
    <dgm:pt modelId="{A0BF3A80-CC7B-4C3E-AA13-E412F8ED5066}" type="sibTrans" cxnId="{11734444-49E9-43FD-B9B8-D353A869BF3C}">
      <dgm:prSet/>
      <dgm:spPr/>
      <dgm:t>
        <a:bodyPr/>
        <a:lstStyle/>
        <a:p>
          <a:endParaRPr lang="en-US"/>
        </a:p>
      </dgm:t>
    </dgm:pt>
    <dgm:pt modelId="{E7429C5D-D687-4069-BBAF-BE9ADAE6539B}">
      <dgm:prSet/>
      <dgm:spPr/>
      <dgm:t>
        <a:bodyPr/>
        <a:lstStyle/>
        <a:p>
          <a:r>
            <a:rPr lang="en-GB"/>
            <a:t>In other words: If a concept is difficult to define, but you know it when you see it.</a:t>
          </a:r>
          <a:endParaRPr lang="en-US" dirty="0"/>
        </a:p>
      </dgm:t>
    </dgm:pt>
    <dgm:pt modelId="{9521581F-4D87-437B-9612-D2C0FCC3FC9D}" type="parTrans" cxnId="{A455C871-3150-4138-96D0-39C541F781F7}">
      <dgm:prSet/>
      <dgm:spPr/>
      <dgm:t>
        <a:bodyPr/>
        <a:lstStyle/>
        <a:p>
          <a:endParaRPr lang="en-IE"/>
        </a:p>
      </dgm:t>
    </dgm:pt>
    <dgm:pt modelId="{59A9EBF5-29E6-4E92-A7E6-05F38512C5E9}" type="sibTrans" cxnId="{A455C871-3150-4138-96D0-39C541F781F7}">
      <dgm:prSet/>
      <dgm:spPr/>
      <dgm:t>
        <a:bodyPr/>
        <a:lstStyle/>
        <a:p>
          <a:endParaRPr lang="en-IE"/>
        </a:p>
      </dgm:t>
    </dgm:pt>
    <dgm:pt modelId="{AB911428-F64E-594D-88EF-7075D70F1D76}" type="pres">
      <dgm:prSet presAssocID="{10D67C87-8E9A-4AF4-85DE-CC9DC61FC04F}" presName="linear" presStyleCnt="0">
        <dgm:presLayoutVars>
          <dgm:animLvl val="lvl"/>
          <dgm:resizeHandles val="exact"/>
        </dgm:presLayoutVars>
      </dgm:prSet>
      <dgm:spPr/>
    </dgm:pt>
    <dgm:pt modelId="{258F0DD5-D2FB-954C-935A-65A491A65203}" type="pres">
      <dgm:prSet presAssocID="{1A438718-8EBE-4122-875C-965DA0D1985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41D5D6D-CD68-814F-8348-A42EC5AF3162}" type="pres">
      <dgm:prSet presAssocID="{1A438718-8EBE-4122-875C-965DA0D1985D}" presName="childText" presStyleLbl="revTx" presStyleIdx="0" presStyleCnt="1">
        <dgm:presLayoutVars>
          <dgm:bulletEnabled val="1"/>
        </dgm:presLayoutVars>
      </dgm:prSet>
      <dgm:spPr/>
    </dgm:pt>
    <dgm:pt modelId="{E65E6857-ECB5-C144-B0AF-B642E114A3AA}" type="pres">
      <dgm:prSet presAssocID="{B63EBEE6-BCE2-44F4-B507-D83AA0ABE15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818C973-9E7C-314B-B45A-1610C512322F}" type="pres">
      <dgm:prSet presAssocID="{A0BF3A80-CC7B-4C3E-AA13-E412F8ED5066}" presName="spacer" presStyleCnt="0"/>
      <dgm:spPr/>
    </dgm:pt>
    <dgm:pt modelId="{8D22673E-B626-AC41-AAED-4608D7BECA5A}" type="pres">
      <dgm:prSet presAssocID="{E7429C5D-D687-4069-BBAF-BE9ADAE6539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5254D26-25C2-404B-AA5D-22A590D8EE65}" srcId="{1A438718-8EBE-4122-875C-965DA0D1985D}" destId="{D5EE9C16-06BE-4CB3-921F-629337431D3F}" srcOrd="0" destOrd="0" parTransId="{DB1B0822-54CF-464B-B393-1BABB87B2C10}" sibTransId="{EB4AACB8-42A4-400C-9C87-A2A88049363D}"/>
    <dgm:cxn modelId="{A57BAA40-976B-FD4D-9839-8C62514A394E}" type="presOf" srcId="{61B4DB36-6C41-4D6B-AF5A-95B2CE8152D8}" destId="{E41D5D6D-CD68-814F-8348-A42EC5AF3162}" srcOrd="0" destOrd="1" presId="urn:microsoft.com/office/officeart/2005/8/layout/vList2"/>
    <dgm:cxn modelId="{11734444-49E9-43FD-B9B8-D353A869BF3C}" srcId="{10D67C87-8E9A-4AF4-85DE-CC9DC61FC04F}" destId="{B63EBEE6-BCE2-44F4-B507-D83AA0ABE15A}" srcOrd="1" destOrd="0" parTransId="{0163204C-4006-4E33-8938-57BF5543AE38}" sibTransId="{A0BF3A80-CC7B-4C3E-AA13-E412F8ED5066}"/>
    <dgm:cxn modelId="{81E3E54B-C743-4309-9493-2D54F9553A9A}" srcId="{1A438718-8EBE-4122-875C-965DA0D1985D}" destId="{61B4DB36-6C41-4D6B-AF5A-95B2CE8152D8}" srcOrd="1" destOrd="0" parTransId="{4D6AADCB-40AA-4FCC-B774-3E162E43AEA1}" sibTransId="{4768F8B9-3D12-4149-847A-38827CDD251F}"/>
    <dgm:cxn modelId="{B353176A-3A14-1C49-8D88-FD28BD477A05}" type="presOf" srcId="{1E81A100-47A4-4935-BFED-3D81B8EE41D8}" destId="{E41D5D6D-CD68-814F-8348-A42EC5AF3162}" srcOrd="0" destOrd="2" presId="urn:microsoft.com/office/officeart/2005/8/layout/vList2"/>
    <dgm:cxn modelId="{A455C871-3150-4138-96D0-39C541F781F7}" srcId="{10D67C87-8E9A-4AF4-85DE-CC9DC61FC04F}" destId="{E7429C5D-D687-4069-BBAF-BE9ADAE6539B}" srcOrd="2" destOrd="0" parTransId="{9521581F-4D87-437B-9612-D2C0FCC3FC9D}" sibTransId="{59A9EBF5-29E6-4E92-A7E6-05F38512C5E9}"/>
    <dgm:cxn modelId="{CD863476-B1ED-984E-A1A5-FD4CC13AED3D}" type="presOf" srcId="{B63EBEE6-BCE2-44F4-B507-D83AA0ABE15A}" destId="{E65E6857-ECB5-C144-B0AF-B642E114A3AA}" srcOrd="0" destOrd="0" presId="urn:microsoft.com/office/officeart/2005/8/layout/vList2"/>
    <dgm:cxn modelId="{6E7D9A9E-9341-4299-9BAC-89C98D9A68DB}" srcId="{10D67C87-8E9A-4AF4-85DE-CC9DC61FC04F}" destId="{1A438718-8EBE-4122-875C-965DA0D1985D}" srcOrd="0" destOrd="0" parTransId="{9E1F39D0-E816-4FD4-BD26-ED457B364A9B}" sibTransId="{7DC2FD58-0919-4390-8AFD-267912FB54CD}"/>
    <dgm:cxn modelId="{7CA231AD-8327-0640-9452-6C7D3655B2A0}" type="presOf" srcId="{10D67C87-8E9A-4AF4-85DE-CC9DC61FC04F}" destId="{AB911428-F64E-594D-88EF-7075D70F1D76}" srcOrd="0" destOrd="0" presId="urn:microsoft.com/office/officeart/2005/8/layout/vList2"/>
    <dgm:cxn modelId="{78CCD7AF-308D-DD4D-8457-3E2EFE28FEFF}" type="presOf" srcId="{D5EE9C16-06BE-4CB3-921F-629337431D3F}" destId="{E41D5D6D-CD68-814F-8348-A42EC5AF3162}" srcOrd="0" destOrd="0" presId="urn:microsoft.com/office/officeart/2005/8/layout/vList2"/>
    <dgm:cxn modelId="{47A75CC1-D605-B548-97AD-FE499DE0A494}" type="presOf" srcId="{E7429C5D-D687-4069-BBAF-BE9ADAE6539B}" destId="{8D22673E-B626-AC41-AAED-4608D7BECA5A}" srcOrd="0" destOrd="0" presId="urn:microsoft.com/office/officeart/2005/8/layout/vList2"/>
    <dgm:cxn modelId="{BBCD1AE5-D2D4-4FF2-B5E4-8B103CB4FD6F}" srcId="{1A438718-8EBE-4122-875C-965DA0D1985D}" destId="{1E81A100-47A4-4935-BFED-3D81B8EE41D8}" srcOrd="2" destOrd="0" parTransId="{74761881-6F00-41E5-AC20-38E30E498D9E}" sibTransId="{0FC44459-79D0-4B6C-B526-08CAF57D25C5}"/>
    <dgm:cxn modelId="{AE2D10EB-4739-0F47-986D-9BB9B87AEB1E}" type="presOf" srcId="{1A438718-8EBE-4122-875C-965DA0D1985D}" destId="{258F0DD5-D2FB-954C-935A-65A491A65203}" srcOrd="0" destOrd="0" presId="urn:microsoft.com/office/officeart/2005/8/layout/vList2"/>
    <dgm:cxn modelId="{D3278F7B-F467-8D4E-A7E3-F1110C445D35}" type="presParOf" srcId="{AB911428-F64E-594D-88EF-7075D70F1D76}" destId="{258F0DD5-D2FB-954C-935A-65A491A65203}" srcOrd="0" destOrd="0" presId="urn:microsoft.com/office/officeart/2005/8/layout/vList2"/>
    <dgm:cxn modelId="{C20C2A8C-675A-4742-8659-6C3A6C22F126}" type="presParOf" srcId="{AB911428-F64E-594D-88EF-7075D70F1D76}" destId="{E41D5D6D-CD68-814F-8348-A42EC5AF3162}" srcOrd="1" destOrd="0" presId="urn:microsoft.com/office/officeart/2005/8/layout/vList2"/>
    <dgm:cxn modelId="{06953BF5-F672-2147-AA7C-D81B82610F73}" type="presParOf" srcId="{AB911428-F64E-594D-88EF-7075D70F1D76}" destId="{E65E6857-ECB5-C144-B0AF-B642E114A3AA}" srcOrd="2" destOrd="0" presId="urn:microsoft.com/office/officeart/2005/8/layout/vList2"/>
    <dgm:cxn modelId="{692A8FEB-4480-A24B-B2E8-5A0BFD25E4C5}" type="presParOf" srcId="{AB911428-F64E-594D-88EF-7075D70F1D76}" destId="{C818C973-9E7C-314B-B45A-1610C512322F}" srcOrd="3" destOrd="0" presId="urn:microsoft.com/office/officeart/2005/8/layout/vList2"/>
    <dgm:cxn modelId="{E0DA1407-E5E7-DF44-9C75-2DF1E2252EA7}" type="presParOf" srcId="{AB911428-F64E-594D-88EF-7075D70F1D76}" destId="{8D22673E-B626-AC41-AAED-4608D7BECA5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DA934D-79B3-4967-B4D2-7A02CB446CA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27D327B-0474-4C66-A266-3F8727F1C284}">
      <dgm:prSet/>
      <dgm:spPr/>
      <dgm:t>
        <a:bodyPr/>
        <a:lstStyle/>
        <a:p>
          <a:r>
            <a:rPr lang="en-US" b="1"/>
            <a:t>Weaknesses:</a:t>
          </a:r>
          <a:endParaRPr lang="en-US"/>
        </a:p>
      </dgm:t>
    </dgm:pt>
    <dgm:pt modelId="{704B102C-0971-41C1-932F-2D66E1A62B5F}" type="parTrans" cxnId="{F801C50E-E768-46CA-A269-BE684383DE51}">
      <dgm:prSet/>
      <dgm:spPr/>
      <dgm:t>
        <a:bodyPr/>
        <a:lstStyle/>
        <a:p>
          <a:endParaRPr lang="en-US"/>
        </a:p>
      </dgm:t>
    </dgm:pt>
    <dgm:pt modelId="{FBDE3DBB-00A6-469F-B1A8-B058B1DF4631}" type="sibTrans" cxnId="{F801C50E-E768-46CA-A269-BE684383DE51}">
      <dgm:prSet/>
      <dgm:spPr/>
      <dgm:t>
        <a:bodyPr/>
        <a:lstStyle/>
        <a:p>
          <a:endParaRPr lang="en-US"/>
        </a:p>
      </dgm:t>
    </dgm:pt>
    <dgm:pt modelId="{9196EF71-067D-4D87-ABD8-C5BD12CC6191}">
      <dgm:prSet/>
      <dgm:spPr/>
      <dgm:t>
        <a:bodyPr/>
        <a:lstStyle/>
        <a:p>
          <a:r>
            <a:rPr lang="en-US" dirty="0"/>
            <a:t>No model: Limits getting insights about feature  relationships</a:t>
          </a:r>
        </a:p>
      </dgm:t>
    </dgm:pt>
    <dgm:pt modelId="{05FB57AF-6B9D-4529-9C07-7D7361043434}" type="parTrans" cxnId="{DEF5DCAF-8269-4C56-84AD-21B705CE2B3B}">
      <dgm:prSet/>
      <dgm:spPr/>
      <dgm:t>
        <a:bodyPr/>
        <a:lstStyle/>
        <a:p>
          <a:endParaRPr lang="en-US"/>
        </a:p>
      </dgm:t>
    </dgm:pt>
    <dgm:pt modelId="{15C5E280-61DD-46D9-92B2-47CFFEC22882}" type="sibTrans" cxnId="{DEF5DCAF-8269-4C56-84AD-21B705CE2B3B}">
      <dgm:prSet/>
      <dgm:spPr/>
      <dgm:t>
        <a:bodyPr/>
        <a:lstStyle/>
        <a:p>
          <a:endParaRPr lang="en-US"/>
        </a:p>
      </dgm:t>
    </dgm:pt>
    <dgm:pt modelId="{7EB7E261-8EB7-48A8-A7F3-72AF77232EBC}">
      <dgm:prSet/>
      <dgm:spPr/>
      <dgm:t>
        <a:bodyPr/>
        <a:lstStyle/>
        <a:p>
          <a:r>
            <a:rPr lang="en-US"/>
            <a:t>Requires lots of memory</a:t>
          </a:r>
        </a:p>
      </dgm:t>
    </dgm:pt>
    <dgm:pt modelId="{35B344C9-5521-4314-9CE1-7DDC6EA49B84}" type="parTrans" cxnId="{AA750E15-13A9-4546-A6C4-7274B43DC184}">
      <dgm:prSet/>
      <dgm:spPr/>
      <dgm:t>
        <a:bodyPr/>
        <a:lstStyle/>
        <a:p>
          <a:endParaRPr lang="en-US"/>
        </a:p>
      </dgm:t>
    </dgm:pt>
    <dgm:pt modelId="{9B11446E-06AD-4450-B384-E3750F15DC81}" type="sibTrans" cxnId="{AA750E15-13A9-4546-A6C4-7274B43DC184}">
      <dgm:prSet/>
      <dgm:spPr/>
      <dgm:t>
        <a:bodyPr/>
        <a:lstStyle/>
        <a:p>
          <a:endParaRPr lang="en-US"/>
        </a:p>
      </dgm:t>
    </dgm:pt>
    <dgm:pt modelId="{4C3BFE90-6400-4C25-9C5B-34B638281CAC}">
      <dgm:prSet/>
      <dgm:spPr/>
      <dgm:t>
        <a:bodyPr/>
        <a:lstStyle/>
        <a:p>
          <a:r>
            <a:rPr lang="en-US"/>
            <a:t>Nominal features/missing data requires extra  processing</a:t>
          </a:r>
        </a:p>
      </dgm:t>
    </dgm:pt>
    <dgm:pt modelId="{BBC4C233-D03D-47B3-9CD9-14435A972F5C}" type="parTrans" cxnId="{A883D611-3C18-4DEB-84EE-417C8228AE24}">
      <dgm:prSet/>
      <dgm:spPr/>
      <dgm:t>
        <a:bodyPr/>
        <a:lstStyle/>
        <a:p>
          <a:endParaRPr lang="en-US"/>
        </a:p>
      </dgm:t>
    </dgm:pt>
    <dgm:pt modelId="{9FF26F83-CEB9-4843-8D82-E23A8970F607}" type="sibTrans" cxnId="{A883D611-3C18-4DEB-84EE-417C8228AE24}">
      <dgm:prSet/>
      <dgm:spPr/>
      <dgm:t>
        <a:bodyPr/>
        <a:lstStyle/>
        <a:p>
          <a:endParaRPr lang="en-US"/>
        </a:p>
      </dgm:t>
    </dgm:pt>
    <dgm:pt modelId="{517EA490-7D8D-4DF3-8E83-9D4EB4882345}">
      <dgm:prSet/>
      <dgm:spPr/>
      <dgm:t>
        <a:bodyPr/>
        <a:lstStyle/>
        <a:p>
          <a:r>
            <a:rPr lang="en-US" b="1"/>
            <a:t>Strengths</a:t>
          </a:r>
          <a:r>
            <a:rPr lang="en-US"/>
            <a:t>:</a:t>
          </a:r>
        </a:p>
      </dgm:t>
    </dgm:pt>
    <dgm:pt modelId="{A72BDE0D-241C-4BE0-B71A-041A4CC84448}" type="parTrans" cxnId="{5B10EC1C-13F3-4677-AC08-B8E279A56E2A}">
      <dgm:prSet/>
      <dgm:spPr/>
      <dgm:t>
        <a:bodyPr/>
        <a:lstStyle/>
        <a:p>
          <a:endParaRPr lang="en-IE"/>
        </a:p>
      </dgm:t>
    </dgm:pt>
    <dgm:pt modelId="{DF14FE10-A1F5-47EE-9B2A-9F67168E897F}" type="sibTrans" cxnId="{5B10EC1C-13F3-4677-AC08-B8E279A56E2A}">
      <dgm:prSet/>
      <dgm:spPr/>
      <dgm:t>
        <a:bodyPr/>
        <a:lstStyle/>
        <a:p>
          <a:endParaRPr lang="en-IE"/>
        </a:p>
      </dgm:t>
    </dgm:pt>
    <dgm:pt modelId="{AB9718BA-F7D1-43FD-9C13-7BE440602423}">
      <dgm:prSet/>
      <dgm:spPr/>
      <dgm:t>
        <a:bodyPr/>
        <a:lstStyle/>
        <a:p>
          <a:r>
            <a:rPr lang="en-GB"/>
            <a:t>Simple and effective</a:t>
          </a:r>
          <a:endParaRPr lang="en-US"/>
        </a:p>
      </dgm:t>
    </dgm:pt>
    <dgm:pt modelId="{AE18FF77-5667-4728-83A0-25E9B7C1C584}" type="parTrans" cxnId="{252358B6-9802-43F6-8B60-93E91AF9F779}">
      <dgm:prSet/>
      <dgm:spPr/>
      <dgm:t>
        <a:bodyPr/>
        <a:lstStyle/>
        <a:p>
          <a:endParaRPr lang="en-IE"/>
        </a:p>
      </dgm:t>
    </dgm:pt>
    <dgm:pt modelId="{85BFEAB1-23C0-4AFC-A7F7-241CE5F1162C}" type="sibTrans" cxnId="{252358B6-9802-43F6-8B60-93E91AF9F779}">
      <dgm:prSet/>
      <dgm:spPr/>
      <dgm:t>
        <a:bodyPr/>
        <a:lstStyle/>
        <a:p>
          <a:endParaRPr lang="en-IE"/>
        </a:p>
      </dgm:t>
    </dgm:pt>
    <dgm:pt modelId="{3632826E-B4EA-4462-899E-E5C34ECDD18A}">
      <dgm:prSet/>
      <dgm:spPr/>
      <dgm:t>
        <a:bodyPr/>
        <a:lstStyle/>
        <a:p>
          <a:r>
            <a:rPr lang="en-GB"/>
            <a:t>No assumptions about underlying data distribution</a:t>
          </a:r>
          <a:endParaRPr lang="en-US"/>
        </a:p>
      </dgm:t>
    </dgm:pt>
    <dgm:pt modelId="{88376DFC-AC99-4657-87BC-52B2966F0B19}" type="parTrans" cxnId="{895864DA-AC15-4D81-9027-C3F0A2459039}">
      <dgm:prSet/>
      <dgm:spPr/>
      <dgm:t>
        <a:bodyPr/>
        <a:lstStyle/>
        <a:p>
          <a:endParaRPr lang="en-IE"/>
        </a:p>
      </dgm:t>
    </dgm:pt>
    <dgm:pt modelId="{2CA6CD5A-2106-47A8-A0A6-CDBCFEC763F1}" type="sibTrans" cxnId="{895864DA-AC15-4D81-9027-C3F0A2459039}">
      <dgm:prSet/>
      <dgm:spPr/>
      <dgm:t>
        <a:bodyPr/>
        <a:lstStyle/>
        <a:p>
          <a:endParaRPr lang="en-IE"/>
        </a:p>
      </dgm:t>
    </dgm:pt>
    <dgm:pt modelId="{54964CCC-EF70-456D-A2B2-D012BA6F9ED8}">
      <dgm:prSet/>
      <dgm:spPr/>
      <dgm:t>
        <a:bodyPr/>
        <a:lstStyle/>
        <a:p>
          <a:r>
            <a:rPr lang="en-GB"/>
            <a:t>Fast training phase</a:t>
          </a:r>
          <a:endParaRPr lang="en-US"/>
        </a:p>
      </dgm:t>
    </dgm:pt>
    <dgm:pt modelId="{59B8E4D6-921A-44D8-8BB1-8BC86B275B10}" type="parTrans" cxnId="{4F0AC31B-1D5F-4BB5-B02A-B5A8140C7F11}">
      <dgm:prSet/>
      <dgm:spPr/>
      <dgm:t>
        <a:bodyPr/>
        <a:lstStyle/>
        <a:p>
          <a:endParaRPr lang="en-IE"/>
        </a:p>
      </dgm:t>
    </dgm:pt>
    <dgm:pt modelId="{C87A67F7-A655-401C-894C-50B431213A8D}" type="sibTrans" cxnId="{4F0AC31B-1D5F-4BB5-B02A-B5A8140C7F11}">
      <dgm:prSet/>
      <dgm:spPr/>
      <dgm:t>
        <a:bodyPr/>
        <a:lstStyle/>
        <a:p>
          <a:endParaRPr lang="en-IE"/>
        </a:p>
      </dgm:t>
    </dgm:pt>
    <dgm:pt modelId="{2AFD90CC-21B1-2B41-A8C3-37CA6E423BAE}" type="pres">
      <dgm:prSet presAssocID="{6FDA934D-79B3-4967-B4D2-7A02CB446CA7}" presName="linear" presStyleCnt="0">
        <dgm:presLayoutVars>
          <dgm:animLvl val="lvl"/>
          <dgm:resizeHandles val="exact"/>
        </dgm:presLayoutVars>
      </dgm:prSet>
      <dgm:spPr/>
    </dgm:pt>
    <dgm:pt modelId="{EB4ABD41-5944-B544-B6FB-14E227A493AE}" type="pres">
      <dgm:prSet presAssocID="{517EA490-7D8D-4DF3-8E83-9D4EB488234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EB0932F-2A83-2F43-B33E-D4DAEA4CB7FD}" type="pres">
      <dgm:prSet presAssocID="{517EA490-7D8D-4DF3-8E83-9D4EB4882345}" presName="childText" presStyleLbl="revTx" presStyleIdx="0" presStyleCnt="2">
        <dgm:presLayoutVars>
          <dgm:bulletEnabled val="1"/>
        </dgm:presLayoutVars>
      </dgm:prSet>
      <dgm:spPr/>
    </dgm:pt>
    <dgm:pt modelId="{382717D3-2FE9-DB43-8226-39A287C1D7AF}" type="pres">
      <dgm:prSet presAssocID="{727D327B-0474-4C66-A266-3F8727F1C28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D6790BF-F37B-EA48-B070-D3CCD5C0ADDC}" type="pres">
      <dgm:prSet presAssocID="{727D327B-0474-4C66-A266-3F8727F1C28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801C50E-E768-46CA-A269-BE684383DE51}" srcId="{6FDA934D-79B3-4967-B4D2-7A02CB446CA7}" destId="{727D327B-0474-4C66-A266-3F8727F1C284}" srcOrd="1" destOrd="0" parTransId="{704B102C-0971-41C1-932F-2D66E1A62B5F}" sibTransId="{FBDE3DBB-00A6-469F-B1A8-B058B1DF4631}"/>
    <dgm:cxn modelId="{A883D611-3C18-4DEB-84EE-417C8228AE24}" srcId="{727D327B-0474-4C66-A266-3F8727F1C284}" destId="{4C3BFE90-6400-4C25-9C5B-34B638281CAC}" srcOrd="2" destOrd="0" parTransId="{BBC4C233-D03D-47B3-9CD9-14435A972F5C}" sibTransId="{9FF26F83-CEB9-4843-8D82-E23A8970F607}"/>
    <dgm:cxn modelId="{AA750E15-13A9-4546-A6C4-7274B43DC184}" srcId="{727D327B-0474-4C66-A266-3F8727F1C284}" destId="{7EB7E261-8EB7-48A8-A7F3-72AF77232EBC}" srcOrd="1" destOrd="0" parTransId="{35B344C9-5521-4314-9CE1-7DDC6EA49B84}" sibTransId="{9B11446E-06AD-4450-B384-E3750F15DC81}"/>
    <dgm:cxn modelId="{4F0AC31B-1D5F-4BB5-B02A-B5A8140C7F11}" srcId="{517EA490-7D8D-4DF3-8E83-9D4EB4882345}" destId="{54964CCC-EF70-456D-A2B2-D012BA6F9ED8}" srcOrd="2" destOrd="0" parTransId="{59B8E4D6-921A-44D8-8BB1-8BC86B275B10}" sibTransId="{C87A67F7-A655-401C-894C-50B431213A8D}"/>
    <dgm:cxn modelId="{5B10EC1C-13F3-4677-AC08-B8E279A56E2A}" srcId="{6FDA934D-79B3-4967-B4D2-7A02CB446CA7}" destId="{517EA490-7D8D-4DF3-8E83-9D4EB4882345}" srcOrd="0" destOrd="0" parTransId="{A72BDE0D-241C-4BE0-B71A-041A4CC84448}" sibTransId="{DF14FE10-A1F5-47EE-9B2A-9F67168E897F}"/>
    <dgm:cxn modelId="{8D248E3B-DB57-294F-9801-2B5EAC5366C2}" type="presOf" srcId="{7EB7E261-8EB7-48A8-A7F3-72AF77232EBC}" destId="{3D6790BF-F37B-EA48-B070-D3CCD5C0ADDC}" srcOrd="0" destOrd="1" presId="urn:microsoft.com/office/officeart/2005/8/layout/vList2"/>
    <dgm:cxn modelId="{C4F38B5C-6F76-6E4E-AB27-9B4EE92F3B74}" type="presOf" srcId="{9196EF71-067D-4D87-ABD8-C5BD12CC6191}" destId="{3D6790BF-F37B-EA48-B070-D3CCD5C0ADDC}" srcOrd="0" destOrd="0" presId="urn:microsoft.com/office/officeart/2005/8/layout/vList2"/>
    <dgm:cxn modelId="{A1B0B181-EBC5-9749-831F-666FFD5052F9}" type="presOf" srcId="{6FDA934D-79B3-4967-B4D2-7A02CB446CA7}" destId="{2AFD90CC-21B1-2B41-A8C3-37CA6E423BAE}" srcOrd="0" destOrd="0" presId="urn:microsoft.com/office/officeart/2005/8/layout/vList2"/>
    <dgm:cxn modelId="{A4DF8088-50EA-E84D-8A8A-964C54B09778}" type="presOf" srcId="{AB9718BA-F7D1-43FD-9C13-7BE440602423}" destId="{DEB0932F-2A83-2F43-B33E-D4DAEA4CB7FD}" srcOrd="0" destOrd="0" presId="urn:microsoft.com/office/officeart/2005/8/layout/vList2"/>
    <dgm:cxn modelId="{8154B396-C455-3348-AFBF-1A35CD7CFEFE}" type="presOf" srcId="{4C3BFE90-6400-4C25-9C5B-34B638281CAC}" destId="{3D6790BF-F37B-EA48-B070-D3CCD5C0ADDC}" srcOrd="0" destOrd="2" presId="urn:microsoft.com/office/officeart/2005/8/layout/vList2"/>
    <dgm:cxn modelId="{99DDE9A2-ACB8-DE40-B885-C4A2D7528CF5}" type="presOf" srcId="{727D327B-0474-4C66-A266-3F8727F1C284}" destId="{382717D3-2FE9-DB43-8226-39A287C1D7AF}" srcOrd="0" destOrd="0" presId="urn:microsoft.com/office/officeart/2005/8/layout/vList2"/>
    <dgm:cxn modelId="{DEF5DCAF-8269-4C56-84AD-21B705CE2B3B}" srcId="{727D327B-0474-4C66-A266-3F8727F1C284}" destId="{9196EF71-067D-4D87-ABD8-C5BD12CC6191}" srcOrd="0" destOrd="0" parTransId="{05FB57AF-6B9D-4529-9C07-7D7361043434}" sibTransId="{15C5E280-61DD-46D9-92B2-47CFFEC22882}"/>
    <dgm:cxn modelId="{252358B6-9802-43F6-8B60-93E91AF9F779}" srcId="{517EA490-7D8D-4DF3-8E83-9D4EB4882345}" destId="{AB9718BA-F7D1-43FD-9C13-7BE440602423}" srcOrd="0" destOrd="0" parTransId="{AE18FF77-5667-4728-83A0-25E9B7C1C584}" sibTransId="{85BFEAB1-23C0-4AFC-A7F7-241CE5F1162C}"/>
    <dgm:cxn modelId="{F3386EC4-63CB-0546-8C25-D765A0F1E6D4}" type="presOf" srcId="{3632826E-B4EA-4462-899E-E5C34ECDD18A}" destId="{DEB0932F-2A83-2F43-B33E-D4DAEA4CB7FD}" srcOrd="0" destOrd="1" presId="urn:microsoft.com/office/officeart/2005/8/layout/vList2"/>
    <dgm:cxn modelId="{895864DA-AC15-4D81-9027-C3F0A2459039}" srcId="{517EA490-7D8D-4DF3-8E83-9D4EB4882345}" destId="{3632826E-B4EA-4462-899E-E5C34ECDD18A}" srcOrd="1" destOrd="0" parTransId="{88376DFC-AC99-4657-87BC-52B2966F0B19}" sibTransId="{2CA6CD5A-2106-47A8-A0A6-CDBCFEC763F1}"/>
    <dgm:cxn modelId="{D52232E9-BD3C-6C45-9E0C-CB0FFE729B0A}" type="presOf" srcId="{54964CCC-EF70-456D-A2B2-D012BA6F9ED8}" destId="{DEB0932F-2A83-2F43-B33E-D4DAEA4CB7FD}" srcOrd="0" destOrd="2" presId="urn:microsoft.com/office/officeart/2005/8/layout/vList2"/>
    <dgm:cxn modelId="{979E16FA-B366-9E43-AF72-A08F58E05699}" type="presOf" srcId="{517EA490-7D8D-4DF3-8E83-9D4EB4882345}" destId="{EB4ABD41-5944-B544-B6FB-14E227A493AE}" srcOrd="0" destOrd="0" presId="urn:microsoft.com/office/officeart/2005/8/layout/vList2"/>
    <dgm:cxn modelId="{18418BCD-02FD-3542-9521-A51B04577B2A}" type="presParOf" srcId="{2AFD90CC-21B1-2B41-A8C3-37CA6E423BAE}" destId="{EB4ABD41-5944-B544-B6FB-14E227A493AE}" srcOrd="0" destOrd="0" presId="urn:microsoft.com/office/officeart/2005/8/layout/vList2"/>
    <dgm:cxn modelId="{2903F67F-5CC0-0E4C-9534-EA7CFCA9C86D}" type="presParOf" srcId="{2AFD90CC-21B1-2B41-A8C3-37CA6E423BAE}" destId="{DEB0932F-2A83-2F43-B33E-D4DAEA4CB7FD}" srcOrd="1" destOrd="0" presId="urn:microsoft.com/office/officeart/2005/8/layout/vList2"/>
    <dgm:cxn modelId="{5F64B923-A752-5141-B15F-2E95EDAA6AD4}" type="presParOf" srcId="{2AFD90CC-21B1-2B41-A8C3-37CA6E423BAE}" destId="{382717D3-2FE9-DB43-8226-39A287C1D7AF}" srcOrd="2" destOrd="0" presId="urn:microsoft.com/office/officeart/2005/8/layout/vList2"/>
    <dgm:cxn modelId="{DC313853-8EA4-1F45-BDA5-FE4C9BDE23D8}" type="presParOf" srcId="{2AFD90CC-21B1-2B41-A8C3-37CA6E423BAE}" destId="{3D6790BF-F37B-EA48-B070-D3CCD5C0ADD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ACFDAC-1981-4918-9444-78A4B30661B1}" type="doc">
      <dgm:prSet loTypeId="urn:microsoft.com/office/officeart/2005/8/layout/hierarchy1" loCatId="hierarchy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BDD39BBB-E6CC-48DC-8309-FACEF53E1C4B}">
      <dgm:prSet/>
      <dgm:spPr/>
      <dgm:t>
        <a:bodyPr/>
        <a:lstStyle/>
        <a:p>
          <a:r>
            <a:rPr lang="en-US" b="1"/>
            <a:t>Algorithm kNN (D,d,k)</a:t>
          </a:r>
          <a:endParaRPr lang="en-US"/>
        </a:p>
      </dgm:t>
    </dgm:pt>
    <dgm:pt modelId="{E4AC6FEA-B1F9-4315-A051-F1782644B2CD}" type="parTrans" cxnId="{16C58E73-F458-48B5-96F7-630A4DA4DED5}">
      <dgm:prSet/>
      <dgm:spPr/>
      <dgm:t>
        <a:bodyPr/>
        <a:lstStyle/>
        <a:p>
          <a:endParaRPr lang="en-US"/>
        </a:p>
      </dgm:t>
    </dgm:pt>
    <dgm:pt modelId="{04A7545E-2C0C-472D-9748-CDD57C08AEC4}" type="sibTrans" cxnId="{16C58E73-F458-48B5-96F7-630A4DA4DED5}">
      <dgm:prSet/>
      <dgm:spPr/>
      <dgm:t>
        <a:bodyPr/>
        <a:lstStyle/>
        <a:p>
          <a:endParaRPr lang="en-US"/>
        </a:p>
      </dgm:t>
    </dgm:pt>
    <dgm:pt modelId="{BD3AF709-00A6-4F0C-964B-9B980E10E3B6}">
      <dgm:prSet/>
      <dgm:spPr/>
      <dgm:t>
        <a:bodyPr/>
        <a:lstStyle/>
        <a:p>
          <a:r>
            <a:rPr lang="en-US"/>
            <a:t>Compute the distance betweeen </a:t>
          </a:r>
          <a:r>
            <a:rPr lang="en-US" b="1"/>
            <a:t>d</a:t>
          </a:r>
          <a:r>
            <a:rPr lang="en-US"/>
            <a:t> and every example in </a:t>
          </a:r>
          <a:r>
            <a:rPr lang="en-US" b="1"/>
            <a:t>D</a:t>
          </a:r>
          <a:r>
            <a:rPr lang="en-US"/>
            <a:t>;</a:t>
          </a:r>
        </a:p>
      </dgm:t>
    </dgm:pt>
    <dgm:pt modelId="{7CBC9FAB-A209-4D10-BE01-16F94E34DF4F}" type="parTrans" cxnId="{A51DB2F8-53E1-4E9A-A748-016B8ADF8CAA}">
      <dgm:prSet/>
      <dgm:spPr/>
      <dgm:t>
        <a:bodyPr/>
        <a:lstStyle/>
        <a:p>
          <a:endParaRPr lang="en-US"/>
        </a:p>
      </dgm:t>
    </dgm:pt>
    <dgm:pt modelId="{09379287-E58B-4446-98AA-C5A2A2AD3277}" type="sibTrans" cxnId="{A51DB2F8-53E1-4E9A-A748-016B8ADF8CAA}">
      <dgm:prSet/>
      <dgm:spPr/>
      <dgm:t>
        <a:bodyPr/>
        <a:lstStyle/>
        <a:p>
          <a:endParaRPr lang="en-US"/>
        </a:p>
      </dgm:t>
    </dgm:pt>
    <dgm:pt modelId="{75C5E16E-F41F-4EDD-9393-5BDBDA26C0BF}">
      <dgm:prSet/>
      <dgm:spPr/>
      <dgm:t>
        <a:bodyPr/>
        <a:lstStyle/>
        <a:p>
          <a:r>
            <a:rPr lang="en-US"/>
            <a:t>Choose the</a:t>
          </a:r>
          <a:r>
            <a:rPr lang="en-US" b="1"/>
            <a:t> k </a:t>
          </a:r>
          <a:r>
            <a:rPr lang="en-US"/>
            <a:t>examples in D that are nearest to </a:t>
          </a:r>
          <a:r>
            <a:rPr lang="en-US" b="1"/>
            <a:t>d</a:t>
          </a:r>
          <a:r>
            <a:rPr lang="en-US"/>
            <a:t>,  denote the set by </a:t>
          </a:r>
          <a:r>
            <a:rPr lang="en-US" b="1"/>
            <a:t>P(⊆ D)</a:t>
          </a:r>
          <a:r>
            <a:rPr lang="en-US"/>
            <a:t>;</a:t>
          </a:r>
        </a:p>
      </dgm:t>
    </dgm:pt>
    <dgm:pt modelId="{959D1055-87EA-4C12-B2FD-4F0A0353A684}" type="parTrans" cxnId="{4B2BD19C-65BA-4EB8-8088-68B1EF8B31C7}">
      <dgm:prSet/>
      <dgm:spPr/>
      <dgm:t>
        <a:bodyPr/>
        <a:lstStyle/>
        <a:p>
          <a:endParaRPr lang="en-US"/>
        </a:p>
      </dgm:t>
    </dgm:pt>
    <dgm:pt modelId="{2D9CB8AF-879F-40B2-88A6-9F414B697B04}" type="sibTrans" cxnId="{4B2BD19C-65BA-4EB8-8088-68B1EF8B31C7}">
      <dgm:prSet/>
      <dgm:spPr/>
      <dgm:t>
        <a:bodyPr/>
        <a:lstStyle/>
        <a:p>
          <a:endParaRPr lang="en-US"/>
        </a:p>
      </dgm:t>
    </dgm:pt>
    <dgm:pt modelId="{EA45F89A-F49A-46A9-93E2-C3B3D63051DF}">
      <dgm:prSet/>
      <dgm:spPr/>
      <dgm:t>
        <a:bodyPr/>
        <a:lstStyle/>
        <a:p>
          <a:r>
            <a:rPr lang="en-US"/>
            <a:t>Assign </a:t>
          </a:r>
          <a:r>
            <a:rPr lang="en-US" b="1"/>
            <a:t>d</a:t>
          </a:r>
          <a:r>
            <a:rPr lang="en-US"/>
            <a:t> the class that is the most frequent class  (or the majority class) in </a:t>
          </a:r>
          <a:r>
            <a:rPr lang="en-US" b="1"/>
            <a:t>P</a:t>
          </a:r>
          <a:endParaRPr lang="en-US"/>
        </a:p>
      </dgm:t>
    </dgm:pt>
    <dgm:pt modelId="{EAB8DE82-C1F9-4011-83A9-A6668D53BDBE}" type="parTrans" cxnId="{E169DCF5-A75B-4473-8DD8-E4DA3D4CE25B}">
      <dgm:prSet/>
      <dgm:spPr/>
      <dgm:t>
        <a:bodyPr/>
        <a:lstStyle/>
        <a:p>
          <a:endParaRPr lang="en-US"/>
        </a:p>
      </dgm:t>
    </dgm:pt>
    <dgm:pt modelId="{B99DD95A-AAEF-43A5-AE0C-FB577CFB8A95}" type="sibTrans" cxnId="{E169DCF5-A75B-4473-8DD8-E4DA3D4CE25B}">
      <dgm:prSet/>
      <dgm:spPr/>
      <dgm:t>
        <a:bodyPr/>
        <a:lstStyle/>
        <a:p>
          <a:endParaRPr lang="en-US"/>
        </a:p>
      </dgm:t>
    </dgm:pt>
    <dgm:pt modelId="{44036091-7E1C-6043-A3D9-F274BF3B08B3}" type="pres">
      <dgm:prSet presAssocID="{37ACFDAC-1981-4918-9444-78A4B30661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C228BB-3BA2-AE40-8DF3-8BF0665288A4}" type="pres">
      <dgm:prSet presAssocID="{BDD39BBB-E6CC-48DC-8309-FACEF53E1C4B}" presName="hierRoot1" presStyleCnt="0"/>
      <dgm:spPr/>
    </dgm:pt>
    <dgm:pt modelId="{97DD8972-E733-854F-8DD1-43B2F7F14FDD}" type="pres">
      <dgm:prSet presAssocID="{BDD39BBB-E6CC-48DC-8309-FACEF53E1C4B}" presName="composite" presStyleCnt="0"/>
      <dgm:spPr/>
    </dgm:pt>
    <dgm:pt modelId="{8DE94FE9-C72C-7D4B-AB1E-24682596D0EC}" type="pres">
      <dgm:prSet presAssocID="{BDD39BBB-E6CC-48DC-8309-FACEF53E1C4B}" presName="background" presStyleLbl="node0" presStyleIdx="0" presStyleCnt="1"/>
      <dgm:spPr/>
    </dgm:pt>
    <dgm:pt modelId="{DC4637C4-1809-714F-9A70-CB6A46257B1E}" type="pres">
      <dgm:prSet presAssocID="{BDD39BBB-E6CC-48DC-8309-FACEF53E1C4B}" presName="text" presStyleLbl="fgAcc0" presStyleIdx="0" presStyleCnt="1">
        <dgm:presLayoutVars>
          <dgm:chPref val="3"/>
        </dgm:presLayoutVars>
      </dgm:prSet>
      <dgm:spPr/>
    </dgm:pt>
    <dgm:pt modelId="{61F822D4-B423-C947-AFF1-5CA53C27D83A}" type="pres">
      <dgm:prSet presAssocID="{BDD39BBB-E6CC-48DC-8309-FACEF53E1C4B}" presName="hierChild2" presStyleCnt="0"/>
      <dgm:spPr/>
    </dgm:pt>
    <dgm:pt modelId="{EBF10DEA-15AB-DB42-93B8-D278700B0C13}" type="pres">
      <dgm:prSet presAssocID="{7CBC9FAB-A209-4D10-BE01-16F94E34DF4F}" presName="Name10" presStyleLbl="parChTrans1D2" presStyleIdx="0" presStyleCnt="3"/>
      <dgm:spPr/>
    </dgm:pt>
    <dgm:pt modelId="{A6331FBA-2603-7949-B458-DB783C91FF35}" type="pres">
      <dgm:prSet presAssocID="{BD3AF709-00A6-4F0C-964B-9B980E10E3B6}" presName="hierRoot2" presStyleCnt="0"/>
      <dgm:spPr/>
    </dgm:pt>
    <dgm:pt modelId="{16927D1D-DC44-F045-8D21-125E941D5009}" type="pres">
      <dgm:prSet presAssocID="{BD3AF709-00A6-4F0C-964B-9B980E10E3B6}" presName="composite2" presStyleCnt="0"/>
      <dgm:spPr/>
    </dgm:pt>
    <dgm:pt modelId="{BAAC88CA-6D17-1C4F-A9D2-919CBCBAB0F1}" type="pres">
      <dgm:prSet presAssocID="{BD3AF709-00A6-4F0C-964B-9B980E10E3B6}" presName="background2" presStyleLbl="node2" presStyleIdx="0" presStyleCnt="3"/>
      <dgm:spPr/>
    </dgm:pt>
    <dgm:pt modelId="{F3D7D02B-A6E5-1B41-81BF-C52178016070}" type="pres">
      <dgm:prSet presAssocID="{BD3AF709-00A6-4F0C-964B-9B980E10E3B6}" presName="text2" presStyleLbl="fgAcc2" presStyleIdx="0" presStyleCnt="3">
        <dgm:presLayoutVars>
          <dgm:chPref val="3"/>
        </dgm:presLayoutVars>
      </dgm:prSet>
      <dgm:spPr/>
    </dgm:pt>
    <dgm:pt modelId="{4A0B5BE7-432F-1540-94F1-4559851742C6}" type="pres">
      <dgm:prSet presAssocID="{BD3AF709-00A6-4F0C-964B-9B980E10E3B6}" presName="hierChild3" presStyleCnt="0"/>
      <dgm:spPr/>
    </dgm:pt>
    <dgm:pt modelId="{2B32AC75-244F-124C-B7A5-0BB140698206}" type="pres">
      <dgm:prSet presAssocID="{959D1055-87EA-4C12-B2FD-4F0A0353A684}" presName="Name10" presStyleLbl="parChTrans1D2" presStyleIdx="1" presStyleCnt="3"/>
      <dgm:spPr/>
    </dgm:pt>
    <dgm:pt modelId="{27037244-1687-4045-959B-583937C69A0C}" type="pres">
      <dgm:prSet presAssocID="{75C5E16E-F41F-4EDD-9393-5BDBDA26C0BF}" presName="hierRoot2" presStyleCnt="0"/>
      <dgm:spPr/>
    </dgm:pt>
    <dgm:pt modelId="{9DBD3D8C-E827-D449-BEB1-A836C20FBD7C}" type="pres">
      <dgm:prSet presAssocID="{75C5E16E-F41F-4EDD-9393-5BDBDA26C0BF}" presName="composite2" presStyleCnt="0"/>
      <dgm:spPr/>
    </dgm:pt>
    <dgm:pt modelId="{702226D0-B4CA-DA40-894F-9A8A42D41141}" type="pres">
      <dgm:prSet presAssocID="{75C5E16E-F41F-4EDD-9393-5BDBDA26C0BF}" presName="background2" presStyleLbl="node2" presStyleIdx="1" presStyleCnt="3"/>
      <dgm:spPr/>
    </dgm:pt>
    <dgm:pt modelId="{5310F5F9-DC3F-C14D-982D-1C361436B5CC}" type="pres">
      <dgm:prSet presAssocID="{75C5E16E-F41F-4EDD-9393-5BDBDA26C0BF}" presName="text2" presStyleLbl="fgAcc2" presStyleIdx="1" presStyleCnt="3">
        <dgm:presLayoutVars>
          <dgm:chPref val="3"/>
        </dgm:presLayoutVars>
      </dgm:prSet>
      <dgm:spPr/>
    </dgm:pt>
    <dgm:pt modelId="{8EDD2E2E-590F-134A-9B6D-CE41EC4208FB}" type="pres">
      <dgm:prSet presAssocID="{75C5E16E-F41F-4EDD-9393-5BDBDA26C0BF}" presName="hierChild3" presStyleCnt="0"/>
      <dgm:spPr/>
    </dgm:pt>
    <dgm:pt modelId="{56B648A6-31BE-C04F-A04D-2C6A41442555}" type="pres">
      <dgm:prSet presAssocID="{EAB8DE82-C1F9-4011-83A9-A6668D53BDBE}" presName="Name10" presStyleLbl="parChTrans1D2" presStyleIdx="2" presStyleCnt="3"/>
      <dgm:spPr/>
    </dgm:pt>
    <dgm:pt modelId="{61F55F3E-2D98-BB47-BE37-B9BCCBFF0C1E}" type="pres">
      <dgm:prSet presAssocID="{EA45F89A-F49A-46A9-93E2-C3B3D63051DF}" presName="hierRoot2" presStyleCnt="0"/>
      <dgm:spPr/>
    </dgm:pt>
    <dgm:pt modelId="{E6B0AA40-64A8-CC4D-8C09-468C85DC2140}" type="pres">
      <dgm:prSet presAssocID="{EA45F89A-F49A-46A9-93E2-C3B3D63051DF}" presName="composite2" presStyleCnt="0"/>
      <dgm:spPr/>
    </dgm:pt>
    <dgm:pt modelId="{CE1BF16A-161C-6347-AA7B-E8F1361A0A43}" type="pres">
      <dgm:prSet presAssocID="{EA45F89A-F49A-46A9-93E2-C3B3D63051DF}" presName="background2" presStyleLbl="node2" presStyleIdx="2" presStyleCnt="3"/>
      <dgm:spPr/>
    </dgm:pt>
    <dgm:pt modelId="{B3357A3B-2D5B-E444-B272-DBA968192416}" type="pres">
      <dgm:prSet presAssocID="{EA45F89A-F49A-46A9-93E2-C3B3D63051DF}" presName="text2" presStyleLbl="fgAcc2" presStyleIdx="2" presStyleCnt="3">
        <dgm:presLayoutVars>
          <dgm:chPref val="3"/>
        </dgm:presLayoutVars>
      </dgm:prSet>
      <dgm:spPr/>
    </dgm:pt>
    <dgm:pt modelId="{F0DC6962-7A74-AD4C-8C00-A1FDED566F42}" type="pres">
      <dgm:prSet presAssocID="{EA45F89A-F49A-46A9-93E2-C3B3D63051DF}" presName="hierChild3" presStyleCnt="0"/>
      <dgm:spPr/>
    </dgm:pt>
  </dgm:ptLst>
  <dgm:cxnLst>
    <dgm:cxn modelId="{3EA3576B-0005-3D42-9A95-50752C4945D7}" type="presOf" srcId="{BDD39BBB-E6CC-48DC-8309-FACEF53E1C4B}" destId="{DC4637C4-1809-714F-9A70-CB6A46257B1E}" srcOrd="0" destOrd="0" presId="urn:microsoft.com/office/officeart/2005/8/layout/hierarchy1"/>
    <dgm:cxn modelId="{16C58E73-F458-48B5-96F7-630A4DA4DED5}" srcId="{37ACFDAC-1981-4918-9444-78A4B30661B1}" destId="{BDD39BBB-E6CC-48DC-8309-FACEF53E1C4B}" srcOrd="0" destOrd="0" parTransId="{E4AC6FEA-B1F9-4315-A051-F1782644B2CD}" sibTransId="{04A7545E-2C0C-472D-9748-CDD57C08AEC4}"/>
    <dgm:cxn modelId="{9533B676-823E-7140-B06F-C4EC1EB1DD2A}" type="presOf" srcId="{EA45F89A-F49A-46A9-93E2-C3B3D63051DF}" destId="{B3357A3B-2D5B-E444-B272-DBA968192416}" srcOrd="0" destOrd="0" presId="urn:microsoft.com/office/officeart/2005/8/layout/hierarchy1"/>
    <dgm:cxn modelId="{7A66939B-1BA7-EF47-92E8-15E9CD39E2C1}" type="presOf" srcId="{BD3AF709-00A6-4F0C-964B-9B980E10E3B6}" destId="{F3D7D02B-A6E5-1B41-81BF-C52178016070}" srcOrd="0" destOrd="0" presId="urn:microsoft.com/office/officeart/2005/8/layout/hierarchy1"/>
    <dgm:cxn modelId="{4B2BD19C-65BA-4EB8-8088-68B1EF8B31C7}" srcId="{BDD39BBB-E6CC-48DC-8309-FACEF53E1C4B}" destId="{75C5E16E-F41F-4EDD-9393-5BDBDA26C0BF}" srcOrd="1" destOrd="0" parTransId="{959D1055-87EA-4C12-B2FD-4F0A0353A684}" sibTransId="{2D9CB8AF-879F-40B2-88A6-9F414B697B04}"/>
    <dgm:cxn modelId="{7CED65A8-4A53-9E40-A057-16B177F07843}" type="presOf" srcId="{959D1055-87EA-4C12-B2FD-4F0A0353A684}" destId="{2B32AC75-244F-124C-B7A5-0BB140698206}" srcOrd="0" destOrd="0" presId="urn:microsoft.com/office/officeart/2005/8/layout/hierarchy1"/>
    <dgm:cxn modelId="{3566A7B6-728D-1F4B-9F2D-ED65F607AFE3}" type="presOf" srcId="{7CBC9FAB-A209-4D10-BE01-16F94E34DF4F}" destId="{EBF10DEA-15AB-DB42-93B8-D278700B0C13}" srcOrd="0" destOrd="0" presId="urn:microsoft.com/office/officeart/2005/8/layout/hierarchy1"/>
    <dgm:cxn modelId="{63004CD3-20F1-3645-A901-12BEAA9B2708}" type="presOf" srcId="{EAB8DE82-C1F9-4011-83A9-A6668D53BDBE}" destId="{56B648A6-31BE-C04F-A04D-2C6A41442555}" srcOrd="0" destOrd="0" presId="urn:microsoft.com/office/officeart/2005/8/layout/hierarchy1"/>
    <dgm:cxn modelId="{F0BF71E4-AC6C-7449-A3D5-75DB0637CCC4}" type="presOf" srcId="{37ACFDAC-1981-4918-9444-78A4B30661B1}" destId="{44036091-7E1C-6043-A3D9-F274BF3B08B3}" srcOrd="0" destOrd="0" presId="urn:microsoft.com/office/officeart/2005/8/layout/hierarchy1"/>
    <dgm:cxn modelId="{485A51EC-6267-C848-96F4-852F824BAB67}" type="presOf" srcId="{75C5E16E-F41F-4EDD-9393-5BDBDA26C0BF}" destId="{5310F5F9-DC3F-C14D-982D-1C361436B5CC}" srcOrd="0" destOrd="0" presId="urn:microsoft.com/office/officeart/2005/8/layout/hierarchy1"/>
    <dgm:cxn modelId="{E169DCF5-A75B-4473-8DD8-E4DA3D4CE25B}" srcId="{BDD39BBB-E6CC-48DC-8309-FACEF53E1C4B}" destId="{EA45F89A-F49A-46A9-93E2-C3B3D63051DF}" srcOrd="2" destOrd="0" parTransId="{EAB8DE82-C1F9-4011-83A9-A6668D53BDBE}" sibTransId="{B99DD95A-AAEF-43A5-AE0C-FB577CFB8A95}"/>
    <dgm:cxn modelId="{A51DB2F8-53E1-4E9A-A748-016B8ADF8CAA}" srcId="{BDD39BBB-E6CC-48DC-8309-FACEF53E1C4B}" destId="{BD3AF709-00A6-4F0C-964B-9B980E10E3B6}" srcOrd="0" destOrd="0" parTransId="{7CBC9FAB-A209-4D10-BE01-16F94E34DF4F}" sibTransId="{09379287-E58B-4446-98AA-C5A2A2AD3277}"/>
    <dgm:cxn modelId="{94865C81-6BC8-9E44-998C-C8237DC76372}" type="presParOf" srcId="{44036091-7E1C-6043-A3D9-F274BF3B08B3}" destId="{15C228BB-3BA2-AE40-8DF3-8BF0665288A4}" srcOrd="0" destOrd="0" presId="urn:microsoft.com/office/officeart/2005/8/layout/hierarchy1"/>
    <dgm:cxn modelId="{2403E62B-F568-C24A-8961-E61823E1B3EF}" type="presParOf" srcId="{15C228BB-3BA2-AE40-8DF3-8BF0665288A4}" destId="{97DD8972-E733-854F-8DD1-43B2F7F14FDD}" srcOrd="0" destOrd="0" presId="urn:microsoft.com/office/officeart/2005/8/layout/hierarchy1"/>
    <dgm:cxn modelId="{ED49CDA4-B2F1-F646-8D18-651EE3DA2F5F}" type="presParOf" srcId="{97DD8972-E733-854F-8DD1-43B2F7F14FDD}" destId="{8DE94FE9-C72C-7D4B-AB1E-24682596D0EC}" srcOrd="0" destOrd="0" presId="urn:microsoft.com/office/officeart/2005/8/layout/hierarchy1"/>
    <dgm:cxn modelId="{27A45A1B-0804-F743-9CB7-62BD15146599}" type="presParOf" srcId="{97DD8972-E733-854F-8DD1-43B2F7F14FDD}" destId="{DC4637C4-1809-714F-9A70-CB6A46257B1E}" srcOrd="1" destOrd="0" presId="urn:microsoft.com/office/officeart/2005/8/layout/hierarchy1"/>
    <dgm:cxn modelId="{16667841-ED5A-7A41-95F5-B623A6A51EE2}" type="presParOf" srcId="{15C228BB-3BA2-AE40-8DF3-8BF0665288A4}" destId="{61F822D4-B423-C947-AFF1-5CA53C27D83A}" srcOrd="1" destOrd="0" presId="urn:microsoft.com/office/officeart/2005/8/layout/hierarchy1"/>
    <dgm:cxn modelId="{4FE791E3-B07A-BE4C-AE60-9710F626FC0D}" type="presParOf" srcId="{61F822D4-B423-C947-AFF1-5CA53C27D83A}" destId="{EBF10DEA-15AB-DB42-93B8-D278700B0C13}" srcOrd="0" destOrd="0" presId="urn:microsoft.com/office/officeart/2005/8/layout/hierarchy1"/>
    <dgm:cxn modelId="{1053168C-4470-6B47-9A80-40E392D5FAFB}" type="presParOf" srcId="{61F822D4-B423-C947-AFF1-5CA53C27D83A}" destId="{A6331FBA-2603-7949-B458-DB783C91FF35}" srcOrd="1" destOrd="0" presId="urn:microsoft.com/office/officeart/2005/8/layout/hierarchy1"/>
    <dgm:cxn modelId="{43E698F8-B271-104D-A8BA-968CE46DF38D}" type="presParOf" srcId="{A6331FBA-2603-7949-B458-DB783C91FF35}" destId="{16927D1D-DC44-F045-8D21-125E941D5009}" srcOrd="0" destOrd="0" presId="urn:microsoft.com/office/officeart/2005/8/layout/hierarchy1"/>
    <dgm:cxn modelId="{7E4C7B3A-760B-384E-81E9-67FEC7A26640}" type="presParOf" srcId="{16927D1D-DC44-F045-8D21-125E941D5009}" destId="{BAAC88CA-6D17-1C4F-A9D2-919CBCBAB0F1}" srcOrd="0" destOrd="0" presId="urn:microsoft.com/office/officeart/2005/8/layout/hierarchy1"/>
    <dgm:cxn modelId="{B248D671-7A1B-6E45-80B7-8A112199592A}" type="presParOf" srcId="{16927D1D-DC44-F045-8D21-125E941D5009}" destId="{F3D7D02B-A6E5-1B41-81BF-C52178016070}" srcOrd="1" destOrd="0" presId="urn:microsoft.com/office/officeart/2005/8/layout/hierarchy1"/>
    <dgm:cxn modelId="{B87A61AE-EEE8-D64B-AA0F-7F2278329F1D}" type="presParOf" srcId="{A6331FBA-2603-7949-B458-DB783C91FF35}" destId="{4A0B5BE7-432F-1540-94F1-4559851742C6}" srcOrd="1" destOrd="0" presId="urn:microsoft.com/office/officeart/2005/8/layout/hierarchy1"/>
    <dgm:cxn modelId="{77005DD3-53FA-7248-A1EE-3CCD1393C028}" type="presParOf" srcId="{61F822D4-B423-C947-AFF1-5CA53C27D83A}" destId="{2B32AC75-244F-124C-B7A5-0BB140698206}" srcOrd="2" destOrd="0" presId="urn:microsoft.com/office/officeart/2005/8/layout/hierarchy1"/>
    <dgm:cxn modelId="{74E4A50B-1C81-1246-98A0-302D47A1968E}" type="presParOf" srcId="{61F822D4-B423-C947-AFF1-5CA53C27D83A}" destId="{27037244-1687-4045-959B-583937C69A0C}" srcOrd="3" destOrd="0" presId="urn:microsoft.com/office/officeart/2005/8/layout/hierarchy1"/>
    <dgm:cxn modelId="{DCAA675E-A1E7-C849-821E-ACA7CBEE2D5D}" type="presParOf" srcId="{27037244-1687-4045-959B-583937C69A0C}" destId="{9DBD3D8C-E827-D449-BEB1-A836C20FBD7C}" srcOrd="0" destOrd="0" presId="urn:microsoft.com/office/officeart/2005/8/layout/hierarchy1"/>
    <dgm:cxn modelId="{CFD9C527-94D9-CA49-92A7-AFD022BF4157}" type="presParOf" srcId="{9DBD3D8C-E827-D449-BEB1-A836C20FBD7C}" destId="{702226D0-B4CA-DA40-894F-9A8A42D41141}" srcOrd="0" destOrd="0" presId="urn:microsoft.com/office/officeart/2005/8/layout/hierarchy1"/>
    <dgm:cxn modelId="{A10D5727-0259-5E4F-A4C3-7C9FE26E160E}" type="presParOf" srcId="{9DBD3D8C-E827-D449-BEB1-A836C20FBD7C}" destId="{5310F5F9-DC3F-C14D-982D-1C361436B5CC}" srcOrd="1" destOrd="0" presId="urn:microsoft.com/office/officeart/2005/8/layout/hierarchy1"/>
    <dgm:cxn modelId="{1AA96564-B8C6-0F4F-870C-1C6CB81BA510}" type="presParOf" srcId="{27037244-1687-4045-959B-583937C69A0C}" destId="{8EDD2E2E-590F-134A-9B6D-CE41EC4208FB}" srcOrd="1" destOrd="0" presId="urn:microsoft.com/office/officeart/2005/8/layout/hierarchy1"/>
    <dgm:cxn modelId="{A5E71E5E-51FC-A148-B920-7A22AF1418D9}" type="presParOf" srcId="{61F822D4-B423-C947-AFF1-5CA53C27D83A}" destId="{56B648A6-31BE-C04F-A04D-2C6A41442555}" srcOrd="4" destOrd="0" presId="urn:microsoft.com/office/officeart/2005/8/layout/hierarchy1"/>
    <dgm:cxn modelId="{61C76367-4BE6-874C-977E-57AD7A57FFC5}" type="presParOf" srcId="{61F822D4-B423-C947-AFF1-5CA53C27D83A}" destId="{61F55F3E-2D98-BB47-BE37-B9BCCBFF0C1E}" srcOrd="5" destOrd="0" presId="urn:microsoft.com/office/officeart/2005/8/layout/hierarchy1"/>
    <dgm:cxn modelId="{A764058B-B29F-4A47-8094-1E2B303DFC98}" type="presParOf" srcId="{61F55F3E-2D98-BB47-BE37-B9BCCBFF0C1E}" destId="{E6B0AA40-64A8-CC4D-8C09-468C85DC2140}" srcOrd="0" destOrd="0" presId="urn:microsoft.com/office/officeart/2005/8/layout/hierarchy1"/>
    <dgm:cxn modelId="{EC81F334-C524-C245-A2F3-892308964F73}" type="presParOf" srcId="{E6B0AA40-64A8-CC4D-8C09-468C85DC2140}" destId="{CE1BF16A-161C-6347-AA7B-E8F1361A0A43}" srcOrd="0" destOrd="0" presId="urn:microsoft.com/office/officeart/2005/8/layout/hierarchy1"/>
    <dgm:cxn modelId="{A48A2032-EA27-6145-8068-C26AD7BA4722}" type="presParOf" srcId="{E6B0AA40-64A8-CC4D-8C09-468C85DC2140}" destId="{B3357A3B-2D5B-E444-B272-DBA968192416}" srcOrd="1" destOrd="0" presId="urn:microsoft.com/office/officeart/2005/8/layout/hierarchy1"/>
    <dgm:cxn modelId="{FB1C22D6-2E84-0F41-B87F-18AAA85DD7CA}" type="presParOf" srcId="{61F55F3E-2D98-BB47-BE37-B9BCCBFF0C1E}" destId="{F0DC6962-7A74-AD4C-8C00-A1FDED566F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7DF364-1B3E-431E-BF6F-A5F07E944715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4D1D6DE-344C-4E71-8ED6-83D9A74BEA5B}">
      <dgm:prSet/>
      <dgm:spPr/>
      <dgm:t>
        <a:bodyPr/>
        <a:lstStyle/>
        <a:p>
          <a:r>
            <a:rPr lang="en-US"/>
            <a:t>Let</a:t>
          </a:r>
          <a:r>
            <a:rPr lang="en-GB"/>
            <a:t>'</a:t>
          </a:r>
          <a:r>
            <a:rPr lang="en-US"/>
            <a:t>s say we described certain </a:t>
          </a:r>
          <a:r>
            <a:rPr lang="en-US" b="1"/>
            <a:t>types of food </a:t>
          </a:r>
          <a:r>
            <a:rPr lang="en-US"/>
            <a:t>via how we rated their taste and sweetness</a:t>
          </a:r>
          <a:r>
            <a:rPr lang="en-GB"/>
            <a:t>;</a:t>
          </a:r>
          <a:endParaRPr lang="en-US"/>
        </a:p>
      </dgm:t>
    </dgm:pt>
    <dgm:pt modelId="{28F6D684-7D4A-41D1-8535-A73995190D93}" type="parTrans" cxnId="{AE9F56B3-76C8-4458-B09E-17EC818D4BA8}">
      <dgm:prSet/>
      <dgm:spPr/>
      <dgm:t>
        <a:bodyPr/>
        <a:lstStyle/>
        <a:p>
          <a:endParaRPr lang="en-US"/>
        </a:p>
      </dgm:t>
    </dgm:pt>
    <dgm:pt modelId="{6016667B-032D-43EF-9028-D7BE9C2261AD}" type="sibTrans" cxnId="{AE9F56B3-76C8-4458-B09E-17EC818D4BA8}">
      <dgm:prSet/>
      <dgm:spPr/>
      <dgm:t>
        <a:bodyPr/>
        <a:lstStyle/>
        <a:p>
          <a:endParaRPr lang="en-US"/>
        </a:p>
      </dgm:t>
    </dgm:pt>
    <dgm:pt modelId="{F9E75EAA-B8FE-4FA4-9BB1-33994B3F5B02}">
      <dgm:prSet/>
      <dgm:spPr/>
      <dgm:t>
        <a:bodyPr/>
        <a:lstStyle/>
        <a:p>
          <a:r>
            <a:rPr lang="en-GB"/>
            <a:t>T</a:t>
          </a:r>
          <a:r>
            <a:rPr lang="en-US"/>
            <a:t>hen we would be able to create a </a:t>
          </a:r>
          <a:r>
            <a:rPr lang="en-US" b="1" i="1"/>
            <a:t>plot</a:t>
          </a:r>
          <a:r>
            <a:rPr lang="en-US"/>
            <a:t> like this:</a:t>
          </a:r>
        </a:p>
      </dgm:t>
    </dgm:pt>
    <dgm:pt modelId="{CA4DA9FA-3B3A-4E91-88C7-B4FF8F9E5214}" type="parTrans" cxnId="{97263F67-5129-4F26-B921-95821F5CD7E2}">
      <dgm:prSet/>
      <dgm:spPr/>
      <dgm:t>
        <a:bodyPr/>
        <a:lstStyle/>
        <a:p>
          <a:endParaRPr lang="en-US"/>
        </a:p>
      </dgm:t>
    </dgm:pt>
    <dgm:pt modelId="{E92EC666-F731-4635-8CC3-BB851869A48E}" type="sibTrans" cxnId="{97263F67-5129-4F26-B921-95821F5CD7E2}">
      <dgm:prSet/>
      <dgm:spPr/>
      <dgm:t>
        <a:bodyPr/>
        <a:lstStyle/>
        <a:p>
          <a:endParaRPr lang="en-US"/>
        </a:p>
      </dgm:t>
    </dgm:pt>
    <dgm:pt modelId="{B8BB5848-0DB5-433B-8450-4D310C821004}" type="pres">
      <dgm:prSet presAssocID="{727DF364-1B3E-431E-BF6F-A5F07E944715}" presName="vert0" presStyleCnt="0">
        <dgm:presLayoutVars>
          <dgm:dir/>
          <dgm:animOne val="branch"/>
          <dgm:animLvl val="lvl"/>
        </dgm:presLayoutVars>
      </dgm:prSet>
      <dgm:spPr/>
    </dgm:pt>
    <dgm:pt modelId="{0C8E6E66-E988-4503-B256-CEA3473E0E01}" type="pres">
      <dgm:prSet presAssocID="{44D1D6DE-344C-4E71-8ED6-83D9A74BEA5B}" presName="thickLine" presStyleLbl="alignNode1" presStyleIdx="0" presStyleCnt="2"/>
      <dgm:spPr/>
    </dgm:pt>
    <dgm:pt modelId="{BC309F2A-7A8E-499A-8014-3E863AAB87F8}" type="pres">
      <dgm:prSet presAssocID="{44D1D6DE-344C-4E71-8ED6-83D9A74BEA5B}" presName="horz1" presStyleCnt="0"/>
      <dgm:spPr/>
    </dgm:pt>
    <dgm:pt modelId="{28D7580D-818C-48E2-BBCF-6E566492E93E}" type="pres">
      <dgm:prSet presAssocID="{44D1D6DE-344C-4E71-8ED6-83D9A74BEA5B}" presName="tx1" presStyleLbl="revTx" presStyleIdx="0" presStyleCnt="2"/>
      <dgm:spPr/>
    </dgm:pt>
    <dgm:pt modelId="{42A865C4-9ECF-4C3F-AA5C-0B6A0A7A4FD2}" type="pres">
      <dgm:prSet presAssocID="{44D1D6DE-344C-4E71-8ED6-83D9A74BEA5B}" presName="vert1" presStyleCnt="0"/>
      <dgm:spPr/>
    </dgm:pt>
    <dgm:pt modelId="{7DFE76CF-58CC-425F-A43C-A11539856DB4}" type="pres">
      <dgm:prSet presAssocID="{F9E75EAA-B8FE-4FA4-9BB1-33994B3F5B02}" presName="thickLine" presStyleLbl="alignNode1" presStyleIdx="1" presStyleCnt="2"/>
      <dgm:spPr/>
    </dgm:pt>
    <dgm:pt modelId="{72C344BB-2E45-4FEA-83C3-C49854D30475}" type="pres">
      <dgm:prSet presAssocID="{F9E75EAA-B8FE-4FA4-9BB1-33994B3F5B02}" presName="horz1" presStyleCnt="0"/>
      <dgm:spPr/>
    </dgm:pt>
    <dgm:pt modelId="{A92B3274-DB5A-48D3-BC0A-0C9A11FBF0FA}" type="pres">
      <dgm:prSet presAssocID="{F9E75EAA-B8FE-4FA4-9BB1-33994B3F5B02}" presName="tx1" presStyleLbl="revTx" presStyleIdx="1" presStyleCnt="2"/>
      <dgm:spPr/>
    </dgm:pt>
    <dgm:pt modelId="{36C0E43D-B6C3-4191-BAFE-51DC15E30A61}" type="pres">
      <dgm:prSet presAssocID="{F9E75EAA-B8FE-4FA4-9BB1-33994B3F5B02}" presName="vert1" presStyleCnt="0"/>
      <dgm:spPr/>
    </dgm:pt>
  </dgm:ptLst>
  <dgm:cxnLst>
    <dgm:cxn modelId="{97263F67-5129-4F26-B921-95821F5CD7E2}" srcId="{727DF364-1B3E-431E-BF6F-A5F07E944715}" destId="{F9E75EAA-B8FE-4FA4-9BB1-33994B3F5B02}" srcOrd="1" destOrd="0" parTransId="{CA4DA9FA-3B3A-4E91-88C7-B4FF8F9E5214}" sibTransId="{E92EC666-F731-4635-8CC3-BB851869A48E}"/>
    <dgm:cxn modelId="{A4CE1EAE-9F84-4F94-9E3F-CBBBE59597C3}" type="presOf" srcId="{F9E75EAA-B8FE-4FA4-9BB1-33994B3F5B02}" destId="{A92B3274-DB5A-48D3-BC0A-0C9A11FBF0FA}" srcOrd="0" destOrd="0" presId="urn:microsoft.com/office/officeart/2008/layout/LinedList"/>
    <dgm:cxn modelId="{AE9F56B3-76C8-4458-B09E-17EC818D4BA8}" srcId="{727DF364-1B3E-431E-BF6F-A5F07E944715}" destId="{44D1D6DE-344C-4E71-8ED6-83D9A74BEA5B}" srcOrd="0" destOrd="0" parTransId="{28F6D684-7D4A-41D1-8535-A73995190D93}" sibTransId="{6016667B-032D-43EF-9028-D7BE9C2261AD}"/>
    <dgm:cxn modelId="{E5DFE2BF-B9D4-4647-AFDE-F7DDD2473E29}" type="presOf" srcId="{44D1D6DE-344C-4E71-8ED6-83D9A74BEA5B}" destId="{28D7580D-818C-48E2-BBCF-6E566492E93E}" srcOrd="0" destOrd="0" presId="urn:microsoft.com/office/officeart/2008/layout/LinedList"/>
    <dgm:cxn modelId="{52AA48FD-BD50-42BF-95BC-5A1DF99BE991}" type="presOf" srcId="{727DF364-1B3E-431E-BF6F-A5F07E944715}" destId="{B8BB5848-0DB5-433B-8450-4D310C821004}" srcOrd="0" destOrd="0" presId="urn:microsoft.com/office/officeart/2008/layout/LinedList"/>
    <dgm:cxn modelId="{B8FC7250-6540-45AE-B9B8-F0ADBD983F9D}" type="presParOf" srcId="{B8BB5848-0DB5-433B-8450-4D310C821004}" destId="{0C8E6E66-E988-4503-B256-CEA3473E0E01}" srcOrd="0" destOrd="0" presId="urn:microsoft.com/office/officeart/2008/layout/LinedList"/>
    <dgm:cxn modelId="{0C05EA6D-FA03-4418-B76F-C2FBD0DF7AA3}" type="presParOf" srcId="{B8BB5848-0DB5-433B-8450-4D310C821004}" destId="{BC309F2A-7A8E-499A-8014-3E863AAB87F8}" srcOrd="1" destOrd="0" presId="urn:microsoft.com/office/officeart/2008/layout/LinedList"/>
    <dgm:cxn modelId="{4959B21A-001A-4B95-87A8-F5E721B981C3}" type="presParOf" srcId="{BC309F2A-7A8E-499A-8014-3E863AAB87F8}" destId="{28D7580D-818C-48E2-BBCF-6E566492E93E}" srcOrd="0" destOrd="0" presId="urn:microsoft.com/office/officeart/2008/layout/LinedList"/>
    <dgm:cxn modelId="{D2205988-8513-40B9-834A-0A1D59DEEE15}" type="presParOf" srcId="{BC309F2A-7A8E-499A-8014-3E863AAB87F8}" destId="{42A865C4-9ECF-4C3F-AA5C-0B6A0A7A4FD2}" srcOrd="1" destOrd="0" presId="urn:microsoft.com/office/officeart/2008/layout/LinedList"/>
    <dgm:cxn modelId="{CDA26F70-07CD-4DEA-898E-D44111C99F8A}" type="presParOf" srcId="{B8BB5848-0DB5-433B-8450-4D310C821004}" destId="{7DFE76CF-58CC-425F-A43C-A11539856DB4}" srcOrd="2" destOrd="0" presId="urn:microsoft.com/office/officeart/2008/layout/LinedList"/>
    <dgm:cxn modelId="{32BD2A52-F1CA-4FBD-B1A4-22EF34A45473}" type="presParOf" srcId="{B8BB5848-0DB5-433B-8450-4D310C821004}" destId="{72C344BB-2E45-4FEA-83C3-C49854D30475}" srcOrd="3" destOrd="0" presId="urn:microsoft.com/office/officeart/2008/layout/LinedList"/>
    <dgm:cxn modelId="{FD7DB4E2-B70E-4DC7-808D-6ECC3391DCD1}" type="presParOf" srcId="{72C344BB-2E45-4FEA-83C3-C49854D30475}" destId="{A92B3274-DB5A-48D3-BC0A-0C9A11FBF0FA}" srcOrd="0" destOrd="0" presId="urn:microsoft.com/office/officeart/2008/layout/LinedList"/>
    <dgm:cxn modelId="{1BB5FA9E-F643-486A-B3FF-01C5FAACE7A7}" type="presParOf" srcId="{72C344BB-2E45-4FEA-83C3-C49854D30475}" destId="{36C0E43D-B6C3-4191-BAFE-51DC15E30A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40A186-8871-4B4E-9E64-427EE1692D1E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9DF15B6-2C6C-4723-A6EE-0E9A19F84E04}">
      <dgm:prSet/>
      <dgm:spPr/>
      <dgm:t>
        <a:bodyPr/>
        <a:lstStyle/>
        <a:p>
          <a:r>
            <a:rPr lang="en-GB"/>
            <a:t>Did you notice the pattern?</a:t>
          </a:r>
          <a:endParaRPr lang="en-US"/>
        </a:p>
      </dgm:t>
    </dgm:pt>
    <dgm:pt modelId="{618D4668-0D72-4844-837B-52F7B15B0329}" type="parTrans" cxnId="{254F7BFC-E47F-486D-87A1-54E16BF6A7EE}">
      <dgm:prSet/>
      <dgm:spPr/>
      <dgm:t>
        <a:bodyPr/>
        <a:lstStyle/>
        <a:p>
          <a:endParaRPr lang="en-US"/>
        </a:p>
      </dgm:t>
    </dgm:pt>
    <dgm:pt modelId="{040648D6-90DA-4E19-BFFA-A5033FDB6F7E}" type="sibTrans" cxnId="{254F7BFC-E47F-486D-87A1-54E16BF6A7EE}">
      <dgm:prSet/>
      <dgm:spPr/>
      <dgm:t>
        <a:bodyPr/>
        <a:lstStyle/>
        <a:p>
          <a:endParaRPr lang="en-US"/>
        </a:p>
      </dgm:t>
    </dgm:pt>
    <dgm:pt modelId="{3F2DDEA0-0769-44E1-8E05-DB320AEE3E7E}">
      <dgm:prSet/>
      <dgm:spPr/>
      <dgm:t>
        <a:bodyPr/>
        <a:lstStyle/>
        <a:p>
          <a:r>
            <a:rPr lang="en-GB"/>
            <a:t>Similar types of food tend to be grouped closely together</a:t>
          </a:r>
          <a:endParaRPr lang="en-US"/>
        </a:p>
      </dgm:t>
    </dgm:pt>
    <dgm:pt modelId="{CAF4D494-F2A3-418C-B932-829027510EA6}" type="parTrans" cxnId="{4935DF20-CB28-4ECB-AE88-2115A6FE363F}">
      <dgm:prSet/>
      <dgm:spPr/>
      <dgm:t>
        <a:bodyPr/>
        <a:lstStyle/>
        <a:p>
          <a:endParaRPr lang="en-US"/>
        </a:p>
      </dgm:t>
    </dgm:pt>
    <dgm:pt modelId="{FCC0B8D7-32D7-4DAA-A9D8-3D67E33DC73D}" type="sibTrans" cxnId="{4935DF20-CB28-4ECB-AE88-2115A6FE363F}">
      <dgm:prSet/>
      <dgm:spPr/>
      <dgm:t>
        <a:bodyPr/>
        <a:lstStyle/>
        <a:p>
          <a:endParaRPr lang="en-US"/>
        </a:p>
      </dgm:t>
    </dgm:pt>
    <dgm:pt modelId="{ECD57717-0DF3-4D05-AF87-D9DEDB66467A}">
      <dgm:prSet/>
      <dgm:spPr/>
      <dgm:t>
        <a:bodyPr/>
        <a:lstStyle/>
        <a:p>
          <a:r>
            <a:rPr lang="en-GB"/>
            <a:t>The feature space is two-dimensional</a:t>
          </a:r>
          <a:endParaRPr lang="en-US"/>
        </a:p>
      </dgm:t>
    </dgm:pt>
    <dgm:pt modelId="{810219CA-2CAA-4E79-8C6A-6A86B90DB557}" type="parTrans" cxnId="{2F1BEA46-03F7-42E9-9BC5-7759F19ECBA6}">
      <dgm:prSet/>
      <dgm:spPr/>
      <dgm:t>
        <a:bodyPr/>
        <a:lstStyle/>
        <a:p>
          <a:endParaRPr lang="en-US"/>
        </a:p>
      </dgm:t>
    </dgm:pt>
    <dgm:pt modelId="{639F93D0-6F8A-458B-BE4C-64A4202241D4}" type="sibTrans" cxnId="{2F1BEA46-03F7-42E9-9BC5-7759F19ECBA6}">
      <dgm:prSet/>
      <dgm:spPr/>
      <dgm:t>
        <a:bodyPr/>
        <a:lstStyle/>
        <a:p>
          <a:endParaRPr lang="en-US"/>
        </a:p>
      </dgm:t>
    </dgm:pt>
    <dgm:pt modelId="{465D5F42-0BFF-4D02-B0AC-32E1705CC26C}">
      <dgm:prSet/>
      <dgm:spPr/>
      <dgm:t>
        <a:bodyPr/>
        <a:lstStyle/>
        <a:p>
          <a:r>
            <a:rPr lang="en-GB"/>
            <a:t>Two features: sweetness and crunchiness</a:t>
          </a:r>
          <a:endParaRPr lang="en-US"/>
        </a:p>
      </dgm:t>
    </dgm:pt>
    <dgm:pt modelId="{FD8D5312-FC8E-4A83-95A1-2AB26464CF6C}" type="parTrans" cxnId="{437D5C6A-309B-47A9-A077-D4D49281FF0B}">
      <dgm:prSet/>
      <dgm:spPr/>
      <dgm:t>
        <a:bodyPr/>
        <a:lstStyle/>
        <a:p>
          <a:endParaRPr lang="en-US"/>
        </a:p>
      </dgm:t>
    </dgm:pt>
    <dgm:pt modelId="{80FA72DE-CB64-45CC-B12D-2115E3862726}" type="sibTrans" cxnId="{437D5C6A-309B-47A9-A077-D4D49281FF0B}">
      <dgm:prSet/>
      <dgm:spPr/>
      <dgm:t>
        <a:bodyPr/>
        <a:lstStyle/>
        <a:p>
          <a:endParaRPr lang="en-US"/>
        </a:p>
      </dgm:t>
    </dgm:pt>
    <dgm:pt modelId="{F9E2EFC0-B24C-4B1A-8FCF-7D98B5C3F142}">
      <dgm:prSet/>
      <dgm:spPr/>
      <dgm:t>
        <a:bodyPr/>
        <a:lstStyle/>
        <a:p>
          <a:r>
            <a:rPr lang="en-GB"/>
            <a:t>We can plot two-dimensional data on a scatterplot</a:t>
          </a:r>
          <a:endParaRPr lang="en-US"/>
        </a:p>
      </dgm:t>
    </dgm:pt>
    <dgm:pt modelId="{BA9A25B1-7E2C-43CE-BE14-8A00ACC91737}" type="parTrans" cxnId="{D9DB00FE-1E9F-45B6-9AE4-57341E7B89AE}">
      <dgm:prSet/>
      <dgm:spPr/>
      <dgm:t>
        <a:bodyPr/>
        <a:lstStyle/>
        <a:p>
          <a:endParaRPr lang="en-US"/>
        </a:p>
      </dgm:t>
    </dgm:pt>
    <dgm:pt modelId="{27A55425-5AA9-4496-87FE-3B66AA1233D3}" type="sibTrans" cxnId="{D9DB00FE-1E9F-45B6-9AE4-57341E7B89AE}">
      <dgm:prSet/>
      <dgm:spPr/>
      <dgm:t>
        <a:bodyPr/>
        <a:lstStyle/>
        <a:p>
          <a:endParaRPr lang="en-US"/>
        </a:p>
      </dgm:t>
    </dgm:pt>
    <dgm:pt modelId="{5F81676E-B146-4922-82BB-554C605DB460}">
      <dgm:prSet/>
      <dgm:spPr/>
      <dgm:t>
        <a:bodyPr/>
        <a:lstStyle/>
        <a:p>
          <a:r>
            <a:rPr lang="en-GB"/>
            <a:t>X: sweetness</a:t>
          </a:r>
          <a:endParaRPr lang="en-US"/>
        </a:p>
      </dgm:t>
    </dgm:pt>
    <dgm:pt modelId="{F10533A7-7157-4100-91A9-1799C18C819A}" type="parTrans" cxnId="{A9964004-C17E-4EFA-8A15-01988009246E}">
      <dgm:prSet/>
      <dgm:spPr/>
      <dgm:t>
        <a:bodyPr/>
        <a:lstStyle/>
        <a:p>
          <a:endParaRPr lang="en-US"/>
        </a:p>
      </dgm:t>
    </dgm:pt>
    <dgm:pt modelId="{B37DEA83-7B30-44CD-A845-1381B05DB115}" type="sibTrans" cxnId="{A9964004-C17E-4EFA-8A15-01988009246E}">
      <dgm:prSet/>
      <dgm:spPr/>
      <dgm:t>
        <a:bodyPr/>
        <a:lstStyle/>
        <a:p>
          <a:endParaRPr lang="en-US"/>
        </a:p>
      </dgm:t>
    </dgm:pt>
    <dgm:pt modelId="{96B7083E-FDFE-466E-8DB4-0EB5848C4B4E}">
      <dgm:prSet/>
      <dgm:spPr/>
      <dgm:t>
        <a:bodyPr/>
        <a:lstStyle/>
        <a:p>
          <a:r>
            <a:rPr lang="en-GB"/>
            <a:t>Y: crunchiness</a:t>
          </a:r>
          <a:endParaRPr lang="en-US"/>
        </a:p>
      </dgm:t>
    </dgm:pt>
    <dgm:pt modelId="{6CCC125A-6AC4-4A36-B9BA-B6875A3241C0}" type="parTrans" cxnId="{CC93B061-7F73-4140-900C-BB20D1FD11D3}">
      <dgm:prSet/>
      <dgm:spPr/>
      <dgm:t>
        <a:bodyPr/>
        <a:lstStyle/>
        <a:p>
          <a:endParaRPr lang="en-US"/>
        </a:p>
      </dgm:t>
    </dgm:pt>
    <dgm:pt modelId="{E5DF26A4-8C3E-4D67-8CC9-B3FAA57E652B}" type="sibTrans" cxnId="{CC93B061-7F73-4140-900C-BB20D1FD11D3}">
      <dgm:prSet/>
      <dgm:spPr/>
      <dgm:t>
        <a:bodyPr/>
        <a:lstStyle/>
        <a:p>
          <a:endParaRPr lang="en-US"/>
        </a:p>
      </dgm:t>
    </dgm:pt>
    <dgm:pt modelId="{893F7BAA-9707-4C11-8781-D7E7B217C019}">
      <dgm:prSet/>
      <dgm:spPr/>
      <dgm:t>
        <a:bodyPr/>
        <a:lstStyle/>
        <a:p>
          <a:r>
            <a:rPr lang="en-GB"/>
            <a:t>Indeed we may be able to look at some extra  dimension that lists it’s food type…</a:t>
          </a:r>
          <a:endParaRPr lang="en-US"/>
        </a:p>
      </dgm:t>
    </dgm:pt>
    <dgm:pt modelId="{E6FF4BE8-62C6-4BF3-8729-022D580696B7}" type="parTrans" cxnId="{98C0F6E3-B462-4525-A437-5CB7D561BEB4}">
      <dgm:prSet/>
      <dgm:spPr/>
      <dgm:t>
        <a:bodyPr/>
        <a:lstStyle/>
        <a:p>
          <a:endParaRPr lang="en-US"/>
        </a:p>
      </dgm:t>
    </dgm:pt>
    <dgm:pt modelId="{6AA55808-FE73-49DF-846C-B9C3C0E66A4F}" type="sibTrans" cxnId="{98C0F6E3-B462-4525-A437-5CB7D561BEB4}">
      <dgm:prSet/>
      <dgm:spPr/>
      <dgm:t>
        <a:bodyPr/>
        <a:lstStyle/>
        <a:p>
          <a:endParaRPr lang="en-US"/>
        </a:p>
      </dgm:t>
    </dgm:pt>
    <dgm:pt modelId="{16DBD737-C003-AB47-8C48-E6E86DFC6B95}" type="pres">
      <dgm:prSet presAssocID="{3340A186-8871-4B4E-9E64-427EE1692D1E}" presName="linear" presStyleCnt="0">
        <dgm:presLayoutVars>
          <dgm:dir/>
          <dgm:animLvl val="lvl"/>
          <dgm:resizeHandles val="exact"/>
        </dgm:presLayoutVars>
      </dgm:prSet>
      <dgm:spPr/>
    </dgm:pt>
    <dgm:pt modelId="{2746E572-DC51-BA41-A777-37C81596C65E}" type="pres">
      <dgm:prSet presAssocID="{B9DF15B6-2C6C-4723-A6EE-0E9A19F84E04}" presName="parentLin" presStyleCnt="0"/>
      <dgm:spPr/>
    </dgm:pt>
    <dgm:pt modelId="{4C6AC682-48F6-E644-8E67-8885E5B7EA6F}" type="pres">
      <dgm:prSet presAssocID="{B9DF15B6-2C6C-4723-A6EE-0E9A19F84E04}" presName="parentLeftMargin" presStyleLbl="node1" presStyleIdx="0" presStyleCnt="4"/>
      <dgm:spPr/>
    </dgm:pt>
    <dgm:pt modelId="{E313D442-C17C-694A-9ADB-61C809C26412}" type="pres">
      <dgm:prSet presAssocID="{B9DF15B6-2C6C-4723-A6EE-0E9A19F84E0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9C2246-25C3-9B4D-88F0-65FD2186FCAB}" type="pres">
      <dgm:prSet presAssocID="{B9DF15B6-2C6C-4723-A6EE-0E9A19F84E04}" presName="negativeSpace" presStyleCnt="0"/>
      <dgm:spPr/>
    </dgm:pt>
    <dgm:pt modelId="{06E02570-0FAB-4B41-98B8-B80E5A686851}" type="pres">
      <dgm:prSet presAssocID="{B9DF15B6-2C6C-4723-A6EE-0E9A19F84E04}" presName="childText" presStyleLbl="conFgAcc1" presStyleIdx="0" presStyleCnt="4">
        <dgm:presLayoutVars>
          <dgm:bulletEnabled val="1"/>
        </dgm:presLayoutVars>
      </dgm:prSet>
      <dgm:spPr/>
    </dgm:pt>
    <dgm:pt modelId="{AAA70CA5-9CEB-5349-8777-5758B2036007}" type="pres">
      <dgm:prSet presAssocID="{040648D6-90DA-4E19-BFFA-A5033FDB6F7E}" presName="spaceBetweenRectangles" presStyleCnt="0"/>
      <dgm:spPr/>
    </dgm:pt>
    <dgm:pt modelId="{DC3B66AD-9F07-664B-9668-31FA2FCD7570}" type="pres">
      <dgm:prSet presAssocID="{ECD57717-0DF3-4D05-AF87-D9DEDB66467A}" presName="parentLin" presStyleCnt="0"/>
      <dgm:spPr/>
    </dgm:pt>
    <dgm:pt modelId="{FC717A91-55CD-E246-BFBF-B72DEDDAE5AD}" type="pres">
      <dgm:prSet presAssocID="{ECD57717-0DF3-4D05-AF87-D9DEDB66467A}" presName="parentLeftMargin" presStyleLbl="node1" presStyleIdx="0" presStyleCnt="4"/>
      <dgm:spPr/>
    </dgm:pt>
    <dgm:pt modelId="{E260EB9C-0540-7D49-BFC0-963E64F8C269}" type="pres">
      <dgm:prSet presAssocID="{ECD57717-0DF3-4D05-AF87-D9DEDB66467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DC216C-8ED0-5340-A254-24D4C14487B1}" type="pres">
      <dgm:prSet presAssocID="{ECD57717-0DF3-4D05-AF87-D9DEDB66467A}" presName="negativeSpace" presStyleCnt="0"/>
      <dgm:spPr/>
    </dgm:pt>
    <dgm:pt modelId="{EAB1B76A-9BEF-B74B-B9B3-704B3E2B7C01}" type="pres">
      <dgm:prSet presAssocID="{ECD57717-0DF3-4D05-AF87-D9DEDB66467A}" presName="childText" presStyleLbl="conFgAcc1" presStyleIdx="1" presStyleCnt="4">
        <dgm:presLayoutVars>
          <dgm:bulletEnabled val="1"/>
        </dgm:presLayoutVars>
      </dgm:prSet>
      <dgm:spPr/>
    </dgm:pt>
    <dgm:pt modelId="{C6ADD371-7768-9E41-B009-A0038381FEBF}" type="pres">
      <dgm:prSet presAssocID="{639F93D0-6F8A-458B-BE4C-64A4202241D4}" presName="spaceBetweenRectangles" presStyleCnt="0"/>
      <dgm:spPr/>
    </dgm:pt>
    <dgm:pt modelId="{C98E2800-938E-BE4F-A181-92C6DB1B734D}" type="pres">
      <dgm:prSet presAssocID="{F9E2EFC0-B24C-4B1A-8FCF-7D98B5C3F142}" presName="parentLin" presStyleCnt="0"/>
      <dgm:spPr/>
    </dgm:pt>
    <dgm:pt modelId="{C5E70A78-751E-6C49-8404-091C14222EE1}" type="pres">
      <dgm:prSet presAssocID="{F9E2EFC0-B24C-4B1A-8FCF-7D98B5C3F142}" presName="parentLeftMargin" presStyleLbl="node1" presStyleIdx="1" presStyleCnt="4"/>
      <dgm:spPr/>
    </dgm:pt>
    <dgm:pt modelId="{F5E50D7C-6AB8-D449-AE0D-4CD4E4C6A63B}" type="pres">
      <dgm:prSet presAssocID="{F9E2EFC0-B24C-4B1A-8FCF-7D98B5C3F1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8DD198-402D-284F-A04F-7E6ADBC3A8B8}" type="pres">
      <dgm:prSet presAssocID="{F9E2EFC0-B24C-4B1A-8FCF-7D98B5C3F142}" presName="negativeSpace" presStyleCnt="0"/>
      <dgm:spPr/>
    </dgm:pt>
    <dgm:pt modelId="{B39760DA-C6A8-214F-919F-E5F8528B3F18}" type="pres">
      <dgm:prSet presAssocID="{F9E2EFC0-B24C-4B1A-8FCF-7D98B5C3F142}" presName="childText" presStyleLbl="conFgAcc1" presStyleIdx="2" presStyleCnt="4">
        <dgm:presLayoutVars>
          <dgm:bulletEnabled val="1"/>
        </dgm:presLayoutVars>
      </dgm:prSet>
      <dgm:spPr/>
    </dgm:pt>
    <dgm:pt modelId="{5410D59F-9668-8E4C-B765-E57F92128998}" type="pres">
      <dgm:prSet presAssocID="{27A55425-5AA9-4496-87FE-3B66AA1233D3}" presName="spaceBetweenRectangles" presStyleCnt="0"/>
      <dgm:spPr/>
    </dgm:pt>
    <dgm:pt modelId="{17A24AF8-F1AE-2741-AEDB-53A24F54E59F}" type="pres">
      <dgm:prSet presAssocID="{893F7BAA-9707-4C11-8781-D7E7B217C019}" presName="parentLin" presStyleCnt="0"/>
      <dgm:spPr/>
    </dgm:pt>
    <dgm:pt modelId="{9AA1DDF4-67D1-D944-9494-0F37954ACB30}" type="pres">
      <dgm:prSet presAssocID="{893F7BAA-9707-4C11-8781-D7E7B217C019}" presName="parentLeftMargin" presStyleLbl="node1" presStyleIdx="2" presStyleCnt="4"/>
      <dgm:spPr/>
    </dgm:pt>
    <dgm:pt modelId="{16FAE2C1-8DFA-7B4A-9013-8F80A73B1B7D}" type="pres">
      <dgm:prSet presAssocID="{893F7BAA-9707-4C11-8781-D7E7B217C01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66F610C-F807-F742-AE83-6C7B1ADCD394}" type="pres">
      <dgm:prSet presAssocID="{893F7BAA-9707-4C11-8781-D7E7B217C019}" presName="negativeSpace" presStyleCnt="0"/>
      <dgm:spPr/>
    </dgm:pt>
    <dgm:pt modelId="{F1EAAA13-27DC-B048-9155-F0E0A0C5065A}" type="pres">
      <dgm:prSet presAssocID="{893F7BAA-9707-4C11-8781-D7E7B217C01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44E4E01-C2CE-9740-8C7F-93C82CC15E89}" type="presOf" srcId="{893F7BAA-9707-4C11-8781-D7E7B217C019}" destId="{16FAE2C1-8DFA-7B4A-9013-8F80A73B1B7D}" srcOrd="1" destOrd="0" presId="urn:microsoft.com/office/officeart/2005/8/layout/list1"/>
    <dgm:cxn modelId="{A9964004-C17E-4EFA-8A15-01988009246E}" srcId="{F9E2EFC0-B24C-4B1A-8FCF-7D98B5C3F142}" destId="{5F81676E-B146-4922-82BB-554C605DB460}" srcOrd="0" destOrd="0" parTransId="{F10533A7-7157-4100-91A9-1799C18C819A}" sibTransId="{B37DEA83-7B30-44CD-A845-1381B05DB115}"/>
    <dgm:cxn modelId="{39D9700F-671C-5545-B312-265F8673C149}" type="presOf" srcId="{5F81676E-B146-4922-82BB-554C605DB460}" destId="{B39760DA-C6A8-214F-919F-E5F8528B3F18}" srcOrd="0" destOrd="0" presId="urn:microsoft.com/office/officeart/2005/8/layout/list1"/>
    <dgm:cxn modelId="{C7DC3020-64AB-E541-AF96-C450DBFC3C9D}" type="presOf" srcId="{ECD57717-0DF3-4D05-AF87-D9DEDB66467A}" destId="{E260EB9C-0540-7D49-BFC0-963E64F8C269}" srcOrd="1" destOrd="0" presId="urn:microsoft.com/office/officeart/2005/8/layout/list1"/>
    <dgm:cxn modelId="{4935DF20-CB28-4ECB-AE88-2115A6FE363F}" srcId="{B9DF15B6-2C6C-4723-A6EE-0E9A19F84E04}" destId="{3F2DDEA0-0769-44E1-8E05-DB320AEE3E7E}" srcOrd="0" destOrd="0" parTransId="{CAF4D494-F2A3-418C-B932-829027510EA6}" sibTransId="{FCC0B8D7-32D7-4DAA-A9D8-3D67E33DC73D}"/>
    <dgm:cxn modelId="{11ECAD2A-2F3D-AB44-A71D-97CC599C0FC2}" type="presOf" srcId="{F9E2EFC0-B24C-4B1A-8FCF-7D98B5C3F142}" destId="{F5E50D7C-6AB8-D449-AE0D-4CD4E4C6A63B}" srcOrd="1" destOrd="0" presId="urn:microsoft.com/office/officeart/2005/8/layout/list1"/>
    <dgm:cxn modelId="{56E0F830-69F9-0C48-86F5-6392EE1A5661}" type="presOf" srcId="{893F7BAA-9707-4C11-8781-D7E7B217C019}" destId="{9AA1DDF4-67D1-D944-9494-0F37954ACB30}" srcOrd="0" destOrd="0" presId="urn:microsoft.com/office/officeart/2005/8/layout/list1"/>
    <dgm:cxn modelId="{A8378746-64B2-8344-AEEC-BF2AA6BEC0FB}" type="presOf" srcId="{F9E2EFC0-B24C-4B1A-8FCF-7D98B5C3F142}" destId="{C5E70A78-751E-6C49-8404-091C14222EE1}" srcOrd="0" destOrd="0" presId="urn:microsoft.com/office/officeart/2005/8/layout/list1"/>
    <dgm:cxn modelId="{2F1BEA46-03F7-42E9-9BC5-7759F19ECBA6}" srcId="{3340A186-8871-4B4E-9E64-427EE1692D1E}" destId="{ECD57717-0DF3-4D05-AF87-D9DEDB66467A}" srcOrd="1" destOrd="0" parTransId="{810219CA-2CAA-4E79-8C6A-6A86B90DB557}" sibTransId="{639F93D0-6F8A-458B-BE4C-64A4202241D4}"/>
    <dgm:cxn modelId="{F3CFD34A-4285-6941-ACD0-DF69D67262BA}" type="presOf" srcId="{465D5F42-0BFF-4D02-B0AC-32E1705CC26C}" destId="{EAB1B76A-9BEF-B74B-B9B3-704B3E2B7C01}" srcOrd="0" destOrd="0" presId="urn:microsoft.com/office/officeart/2005/8/layout/list1"/>
    <dgm:cxn modelId="{A1140E4E-5E51-CA40-BA27-388CF6F29EB0}" type="presOf" srcId="{ECD57717-0DF3-4D05-AF87-D9DEDB66467A}" destId="{FC717A91-55CD-E246-BFBF-B72DEDDAE5AD}" srcOrd="0" destOrd="0" presId="urn:microsoft.com/office/officeart/2005/8/layout/list1"/>
    <dgm:cxn modelId="{F9128C4E-A1C9-154F-9804-72F1596C4FE7}" type="presOf" srcId="{3340A186-8871-4B4E-9E64-427EE1692D1E}" destId="{16DBD737-C003-AB47-8C48-E6E86DFC6B95}" srcOrd="0" destOrd="0" presId="urn:microsoft.com/office/officeart/2005/8/layout/list1"/>
    <dgm:cxn modelId="{CC93B061-7F73-4140-900C-BB20D1FD11D3}" srcId="{F9E2EFC0-B24C-4B1A-8FCF-7D98B5C3F142}" destId="{96B7083E-FDFE-466E-8DB4-0EB5848C4B4E}" srcOrd="1" destOrd="0" parTransId="{6CCC125A-6AC4-4A36-B9BA-B6875A3241C0}" sibTransId="{E5DF26A4-8C3E-4D67-8CC9-B3FAA57E652B}"/>
    <dgm:cxn modelId="{437D5C6A-309B-47A9-A077-D4D49281FF0B}" srcId="{ECD57717-0DF3-4D05-AF87-D9DEDB66467A}" destId="{465D5F42-0BFF-4D02-B0AC-32E1705CC26C}" srcOrd="0" destOrd="0" parTransId="{FD8D5312-FC8E-4A83-95A1-2AB26464CF6C}" sibTransId="{80FA72DE-CB64-45CC-B12D-2115E3862726}"/>
    <dgm:cxn modelId="{0FBB356C-F870-DE4A-924B-22ACE4C85081}" type="presOf" srcId="{96B7083E-FDFE-466E-8DB4-0EB5848C4B4E}" destId="{B39760DA-C6A8-214F-919F-E5F8528B3F18}" srcOrd="0" destOrd="1" presId="urn:microsoft.com/office/officeart/2005/8/layout/list1"/>
    <dgm:cxn modelId="{1F267A85-0F3A-2B47-9E8B-0FB653DC03B7}" type="presOf" srcId="{B9DF15B6-2C6C-4723-A6EE-0E9A19F84E04}" destId="{E313D442-C17C-694A-9ADB-61C809C26412}" srcOrd="1" destOrd="0" presId="urn:microsoft.com/office/officeart/2005/8/layout/list1"/>
    <dgm:cxn modelId="{16A1AC86-1BD7-7242-BE8E-A77620088F49}" type="presOf" srcId="{B9DF15B6-2C6C-4723-A6EE-0E9A19F84E04}" destId="{4C6AC682-48F6-E644-8E67-8885E5B7EA6F}" srcOrd="0" destOrd="0" presId="urn:microsoft.com/office/officeart/2005/8/layout/list1"/>
    <dgm:cxn modelId="{BC1785B8-1F00-0143-A114-2EC7308C1DB7}" type="presOf" srcId="{3F2DDEA0-0769-44E1-8E05-DB320AEE3E7E}" destId="{06E02570-0FAB-4B41-98B8-B80E5A686851}" srcOrd="0" destOrd="0" presId="urn:microsoft.com/office/officeart/2005/8/layout/list1"/>
    <dgm:cxn modelId="{98C0F6E3-B462-4525-A437-5CB7D561BEB4}" srcId="{3340A186-8871-4B4E-9E64-427EE1692D1E}" destId="{893F7BAA-9707-4C11-8781-D7E7B217C019}" srcOrd="3" destOrd="0" parTransId="{E6FF4BE8-62C6-4BF3-8729-022D580696B7}" sibTransId="{6AA55808-FE73-49DF-846C-B9C3C0E66A4F}"/>
    <dgm:cxn modelId="{254F7BFC-E47F-486D-87A1-54E16BF6A7EE}" srcId="{3340A186-8871-4B4E-9E64-427EE1692D1E}" destId="{B9DF15B6-2C6C-4723-A6EE-0E9A19F84E04}" srcOrd="0" destOrd="0" parTransId="{618D4668-0D72-4844-837B-52F7B15B0329}" sibTransId="{040648D6-90DA-4E19-BFFA-A5033FDB6F7E}"/>
    <dgm:cxn modelId="{D9DB00FE-1E9F-45B6-9AE4-57341E7B89AE}" srcId="{3340A186-8871-4B4E-9E64-427EE1692D1E}" destId="{F9E2EFC0-B24C-4B1A-8FCF-7D98B5C3F142}" srcOrd="2" destOrd="0" parTransId="{BA9A25B1-7E2C-43CE-BE14-8A00ACC91737}" sibTransId="{27A55425-5AA9-4496-87FE-3B66AA1233D3}"/>
    <dgm:cxn modelId="{2F640A8B-0BA7-2545-BB65-0EAB430CC4B0}" type="presParOf" srcId="{16DBD737-C003-AB47-8C48-E6E86DFC6B95}" destId="{2746E572-DC51-BA41-A777-37C81596C65E}" srcOrd="0" destOrd="0" presId="urn:microsoft.com/office/officeart/2005/8/layout/list1"/>
    <dgm:cxn modelId="{1C32AC89-122D-D54F-9588-5A52C6BC0BF9}" type="presParOf" srcId="{2746E572-DC51-BA41-A777-37C81596C65E}" destId="{4C6AC682-48F6-E644-8E67-8885E5B7EA6F}" srcOrd="0" destOrd="0" presId="urn:microsoft.com/office/officeart/2005/8/layout/list1"/>
    <dgm:cxn modelId="{80EFF66E-64FF-C141-865F-D8F1FF051EC7}" type="presParOf" srcId="{2746E572-DC51-BA41-A777-37C81596C65E}" destId="{E313D442-C17C-694A-9ADB-61C809C26412}" srcOrd="1" destOrd="0" presId="urn:microsoft.com/office/officeart/2005/8/layout/list1"/>
    <dgm:cxn modelId="{325B02D7-C460-494B-A458-68D043D2B5A2}" type="presParOf" srcId="{16DBD737-C003-AB47-8C48-E6E86DFC6B95}" destId="{0E9C2246-25C3-9B4D-88F0-65FD2186FCAB}" srcOrd="1" destOrd="0" presId="urn:microsoft.com/office/officeart/2005/8/layout/list1"/>
    <dgm:cxn modelId="{F5D9BB44-0DF5-4D49-B284-EB6C8A3F6DCA}" type="presParOf" srcId="{16DBD737-C003-AB47-8C48-E6E86DFC6B95}" destId="{06E02570-0FAB-4B41-98B8-B80E5A686851}" srcOrd="2" destOrd="0" presId="urn:microsoft.com/office/officeart/2005/8/layout/list1"/>
    <dgm:cxn modelId="{B3672369-C8B9-8C4F-84D2-37C17D9E7149}" type="presParOf" srcId="{16DBD737-C003-AB47-8C48-E6E86DFC6B95}" destId="{AAA70CA5-9CEB-5349-8777-5758B2036007}" srcOrd="3" destOrd="0" presId="urn:microsoft.com/office/officeart/2005/8/layout/list1"/>
    <dgm:cxn modelId="{E23AA5E9-8694-0444-B474-A6D16DE71198}" type="presParOf" srcId="{16DBD737-C003-AB47-8C48-E6E86DFC6B95}" destId="{DC3B66AD-9F07-664B-9668-31FA2FCD7570}" srcOrd="4" destOrd="0" presId="urn:microsoft.com/office/officeart/2005/8/layout/list1"/>
    <dgm:cxn modelId="{B06C751F-6BCE-F945-AED9-AB0B865C0B89}" type="presParOf" srcId="{DC3B66AD-9F07-664B-9668-31FA2FCD7570}" destId="{FC717A91-55CD-E246-BFBF-B72DEDDAE5AD}" srcOrd="0" destOrd="0" presId="urn:microsoft.com/office/officeart/2005/8/layout/list1"/>
    <dgm:cxn modelId="{22A860CE-F1B3-5041-9357-F1AC349DEB36}" type="presParOf" srcId="{DC3B66AD-9F07-664B-9668-31FA2FCD7570}" destId="{E260EB9C-0540-7D49-BFC0-963E64F8C269}" srcOrd="1" destOrd="0" presId="urn:microsoft.com/office/officeart/2005/8/layout/list1"/>
    <dgm:cxn modelId="{08F71D6E-4E74-764B-8987-452F05E9348B}" type="presParOf" srcId="{16DBD737-C003-AB47-8C48-E6E86DFC6B95}" destId="{46DC216C-8ED0-5340-A254-24D4C14487B1}" srcOrd="5" destOrd="0" presId="urn:microsoft.com/office/officeart/2005/8/layout/list1"/>
    <dgm:cxn modelId="{C83F9A4E-696A-6546-9269-FFDBDB2E0E00}" type="presParOf" srcId="{16DBD737-C003-AB47-8C48-E6E86DFC6B95}" destId="{EAB1B76A-9BEF-B74B-B9B3-704B3E2B7C01}" srcOrd="6" destOrd="0" presId="urn:microsoft.com/office/officeart/2005/8/layout/list1"/>
    <dgm:cxn modelId="{D62B5F8F-E5C6-A941-97F1-EAD0AE36CCB6}" type="presParOf" srcId="{16DBD737-C003-AB47-8C48-E6E86DFC6B95}" destId="{C6ADD371-7768-9E41-B009-A0038381FEBF}" srcOrd="7" destOrd="0" presId="urn:microsoft.com/office/officeart/2005/8/layout/list1"/>
    <dgm:cxn modelId="{0972834E-87D5-DA4B-A250-60CD7E905D85}" type="presParOf" srcId="{16DBD737-C003-AB47-8C48-E6E86DFC6B95}" destId="{C98E2800-938E-BE4F-A181-92C6DB1B734D}" srcOrd="8" destOrd="0" presId="urn:microsoft.com/office/officeart/2005/8/layout/list1"/>
    <dgm:cxn modelId="{9E42DF78-E165-4E40-9116-FDCC973E7351}" type="presParOf" srcId="{C98E2800-938E-BE4F-A181-92C6DB1B734D}" destId="{C5E70A78-751E-6C49-8404-091C14222EE1}" srcOrd="0" destOrd="0" presId="urn:microsoft.com/office/officeart/2005/8/layout/list1"/>
    <dgm:cxn modelId="{7A793EB7-FB9B-314C-B4A1-079D8F00CB3F}" type="presParOf" srcId="{C98E2800-938E-BE4F-A181-92C6DB1B734D}" destId="{F5E50D7C-6AB8-D449-AE0D-4CD4E4C6A63B}" srcOrd="1" destOrd="0" presId="urn:microsoft.com/office/officeart/2005/8/layout/list1"/>
    <dgm:cxn modelId="{87224DAA-A177-ED4A-ADBC-0225CC3F7A9C}" type="presParOf" srcId="{16DBD737-C003-AB47-8C48-E6E86DFC6B95}" destId="{E38DD198-402D-284F-A04F-7E6ADBC3A8B8}" srcOrd="9" destOrd="0" presId="urn:microsoft.com/office/officeart/2005/8/layout/list1"/>
    <dgm:cxn modelId="{F27E6E23-56E9-A442-AA70-939B6B2EAC79}" type="presParOf" srcId="{16DBD737-C003-AB47-8C48-E6E86DFC6B95}" destId="{B39760DA-C6A8-214F-919F-E5F8528B3F18}" srcOrd="10" destOrd="0" presId="urn:microsoft.com/office/officeart/2005/8/layout/list1"/>
    <dgm:cxn modelId="{BF32CD0D-0D60-6A4B-A4E4-D418FE8CA1C1}" type="presParOf" srcId="{16DBD737-C003-AB47-8C48-E6E86DFC6B95}" destId="{5410D59F-9668-8E4C-B765-E57F92128998}" srcOrd="11" destOrd="0" presId="urn:microsoft.com/office/officeart/2005/8/layout/list1"/>
    <dgm:cxn modelId="{9A83EC6C-C515-1E47-8C71-08D24A1C7B7B}" type="presParOf" srcId="{16DBD737-C003-AB47-8C48-E6E86DFC6B95}" destId="{17A24AF8-F1AE-2741-AEDB-53A24F54E59F}" srcOrd="12" destOrd="0" presId="urn:microsoft.com/office/officeart/2005/8/layout/list1"/>
    <dgm:cxn modelId="{DC86C175-A6A4-A141-A534-72786D247A14}" type="presParOf" srcId="{17A24AF8-F1AE-2741-AEDB-53A24F54E59F}" destId="{9AA1DDF4-67D1-D944-9494-0F37954ACB30}" srcOrd="0" destOrd="0" presId="urn:microsoft.com/office/officeart/2005/8/layout/list1"/>
    <dgm:cxn modelId="{98EB94CB-6EF0-F949-B05F-24BC89E222F2}" type="presParOf" srcId="{17A24AF8-F1AE-2741-AEDB-53A24F54E59F}" destId="{16FAE2C1-8DFA-7B4A-9013-8F80A73B1B7D}" srcOrd="1" destOrd="0" presId="urn:microsoft.com/office/officeart/2005/8/layout/list1"/>
    <dgm:cxn modelId="{87ADA9B7-3ADD-3B4F-893C-BFD93B818F37}" type="presParOf" srcId="{16DBD737-C003-AB47-8C48-E6E86DFC6B95}" destId="{B66F610C-F807-F742-AE83-6C7B1ADCD394}" srcOrd="13" destOrd="0" presId="urn:microsoft.com/office/officeart/2005/8/layout/list1"/>
    <dgm:cxn modelId="{0B6B8184-220B-214C-A896-884135F1DC81}" type="presParOf" srcId="{16DBD737-C003-AB47-8C48-E6E86DFC6B95}" destId="{F1EAAA13-27DC-B048-9155-F0E0A0C5065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7FDC97-C8E3-4E07-B3F4-F9F127A0AB4F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093A1D-3E3F-4DE4-A696-818ADBC726E7}">
      <dgm:prSet/>
      <dgm:spPr/>
      <dgm:t>
        <a:bodyPr/>
        <a:lstStyle/>
        <a:p>
          <a:r>
            <a:rPr lang="en-GB"/>
            <a:t>There are many measures of distance, but the most basic is Euclidean distance</a:t>
          </a:r>
          <a:endParaRPr lang="en-US"/>
        </a:p>
      </dgm:t>
    </dgm:pt>
    <dgm:pt modelId="{CB36A937-6B1C-4529-9227-E26118844B36}" type="parTrans" cxnId="{1C605562-2B4C-4945-A62D-EBFB9D58E114}">
      <dgm:prSet/>
      <dgm:spPr/>
      <dgm:t>
        <a:bodyPr/>
        <a:lstStyle/>
        <a:p>
          <a:endParaRPr lang="en-US"/>
        </a:p>
      </dgm:t>
    </dgm:pt>
    <dgm:pt modelId="{4AEC8E6B-9C52-48C3-A485-D631A7041DA7}" type="sibTrans" cxnId="{1C605562-2B4C-4945-A62D-EBFB9D58E114}">
      <dgm:prSet/>
      <dgm:spPr/>
      <dgm:t>
        <a:bodyPr/>
        <a:lstStyle/>
        <a:p>
          <a:endParaRPr lang="en-US"/>
        </a:p>
      </dgm:t>
    </dgm:pt>
    <dgm:pt modelId="{5241B06D-B3C1-41D2-ABE8-68E5743A8965}">
      <dgm:prSet/>
      <dgm:spPr/>
      <dgm:t>
        <a:bodyPr/>
        <a:lstStyle/>
        <a:p>
          <a:r>
            <a:rPr lang="en-GB"/>
            <a:t>Distance were you to use a ruler to connect two points (dotted lines)</a:t>
          </a:r>
          <a:endParaRPr lang="en-US"/>
        </a:p>
      </dgm:t>
    </dgm:pt>
    <dgm:pt modelId="{492C848C-6AC3-4F20-8776-1427C7C4E2D0}" type="parTrans" cxnId="{E02CDAF9-02F4-44A8-ABE6-C3B9CF9A7158}">
      <dgm:prSet/>
      <dgm:spPr/>
      <dgm:t>
        <a:bodyPr/>
        <a:lstStyle/>
        <a:p>
          <a:endParaRPr lang="en-US"/>
        </a:p>
      </dgm:t>
    </dgm:pt>
    <dgm:pt modelId="{132D1DE7-2258-4E7C-B9C9-BAA5D1C3B9ED}" type="sibTrans" cxnId="{E02CDAF9-02F4-44A8-ABE6-C3B9CF9A7158}">
      <dgm:prSet/>
      <dgm:spPr/>
      <dgm:t>
        <a:bodyPr/>
        <a:lstStyle/>
        <a:p>
          <a:endParaRPr lang="en-US"/>
        </a:p>
      </dgm:t>
    </dgm:pt>
    <dgm:pt modelId="{0A32F228-4ECE-4AE3-B285-D08328AA0FBB}">
      <dgm:prSet/>
      <dgm:spPr/>
      <dgm:t>
        <a:bodyPr/>
        <a:lstStyle/>
        <a:p>
          <a:r>
            <a:rPr lang="en-GB" b="1"/>
            <a:t>kNN</a:t>
          </a:r>
          <a:r>
            <a:rPr lang="en-GB"/>
            <a:t> algorithm traditionally uses </a:t>
          </a:r>
          <a:r>
            <a:rPr lang="en-GB" b="1"/>
            <a:t>Euclidean distance</a:t>
          </a:r>
          <a:endParaRPr lang="en-US"/>
        </a:p>
      </dgm:t>
    </dgm:pt>
    <dgm:pt modelId="{5985A32C-A7E5-4553-B83F-C6FB512986B3}" type="parTrans" cxnId="{F1DB01BB-D2D1-487A-AF04-E69D902FE788}">
      <dgm:prSet/>
      <dgm:spPr/>
      <dgm:t>
        <a:bodyPr/>
        <a:lstStyle/>
        <a:p>
          <a:endParaRPr lang="en-US"/>
        </a:p>
      </dgm:t>
    </dgm:pt>
    <dgm:pt modelId="{337E4261-A429-479D-A477-EA0C89563BFD}" type="sibTrans" cxnId="{F1DB01BB-D2D1-487A-AF04-E69D902FE788}">
      <dgm:prSet/>
      <dgm:spPr/>
      <dgm:t>
        <a:bodyPr/>
        <a:lstStyle/>
        <a:p>
          <a:endParaRPr lang="en-US"/>
        </a:p>
      </dgm:t>
    </dgm:pt>
    <dgm:pt modelId="{5313C186-207C-473D-BD43-35474443DF02}" type="pres">
      <dgm:prSet presAssocID="{747FDC97-C8E3-4E07-B3F4-F9F127A0AB4F}" presName="vert0" presStyleCnt="0">
        <dgm:presLayoutVars>
          <dgm:dir/>
          <dgm:animOne val="branch"/>
          <dgm:animLvl val="lvl"/>
        </dgm:presLayoutVars>
      </dgm:prSet>
      <dgm:spPr/>
    </dgm:pt>
    <dgm:pt modelId="{EEDE6335-6EAA-45F1-9428-618B470AC41D}" type="pres">
      <dgm:prSet presAssocID="{40093A1D-3E3F-4DE4-A696-818ADBC726E7}" presName="thickLine" presStyleLbl="alignNode1" presStyleIdx="0" presStyleCnt="3"/>
      <dgm:spPr/>
    </dgm:pt>
    <dgm:pt modelId="{13759826-80BD-418E-BEB7-B7806FA4BF9D}" type="pres">
      <dgm:prSet presAssocID="{40093A1D-3E3F-4DE4-A696-818ADBC726E7}" presName="horz1" presStyleCnt="0"/>
      <dgm:spPr/>
    </dgm:pt>
    <dgm:pt modelId="{689316BF-887B-4D38-B692-0AA7A5FF56E8}" type="pres">
      <dgm:prSet presAssocID="{40093A1D-3E3F-4DE4-A696-818ADBC726E7}" presName="tx1" presStyleLbl="revTx" presStyleIdx="0" presStyleCnt="3"/>
      <dgm:spPr/>
    </dgm:pt>
    <dgm:pt modelId="{546A12E3-2139-4470-B854-3AFE8E2AC5C5}" type="pres">
      <dgm:prSet presAssocID="{40093A1D-3E3F-4DE4-A696-818ADBC726E7}" presName="vert1" presStyleCnt="0"/>
      <dgm:spPr/>
    </dgm:pt>
    <dgm:pt modelId="{7F9B7EF8-B006-4A43-8670-483BCA5CD085}" type="pres">
      <dgm:prSet presAssocID="{5241B06D-B3C1-41D2-ABE8-68E5743A8965}" presName="thickLine" presStyleLbl="alignNode1" presStyleIdx="1" presStyleCnt="3"/>
      <dgm:spPr/>
    </dgm:pt>
    <dgm:pt modelId="{73582958-4637-4EA4-A9E9-7CAAFB735F72}" type="pres">
      <dgm:prSet presAssocID="{5241B06D-B3C1-41D2-ABE8-68E5743A8965}" presName="horz1" presStyleCnt="0"/>
      <dgm:spPr/>
    </dgm:pt>
    <dgm:pt modelId="{7BF88D33-FBE7-45A4-B5C7-72E87EB1AC71}" type="pres">
      <dgm:prSet presAssocID="{5241B06D-B3C1-41D2-ABE8-68E5743A8965}" presName="tx1" presStyleLbl="revTx" presStyleIdx="1" presStyleCnt="3"/>
      <dgm:spPr/>
    </dgm:pt>
    <dgm:pt modelId="{4EE7938F-A977-4512-9EC8-F38FDBD4691A}" type="pres">
      <dgm:prSet presAssocID="{5241B06D-B3C1-41D2-ABE8-68E5743A8965}" presName="vert1" presStyleCnt="0"/>
      <dgm:spPr/>
    </dgm:pt>
    <dgm:pt modelId="{4FD15A72-FD9A-4DC4-9918-5B154959A4AF}" type="pres">
      <dgm:prSet presAssocID="{0A32F228-4ECE-4AE3-B285-D08328AA0FBB}" presName="thickLine" presStyleLbl="alignNode1" presStyleIdx="2" presStyleCnt="3"/>
      <dgm:spPr/>
    </dgm:pt>
    <dgm:pt modelId="{04EB89C7-209A-4691-A5C7-CEE17CD710BF}" type="pres">
      <dgm:prSet presAssocID="{0A32F228-4ECE-4AE3-B285-D08328AA0FBB}" presName="horz1" presStyleCnt="0"/>
      <dgm:spPr/>
    </dgm:pt>
    <dgm:pt modelId="{92B1E741-ED7A-4DE9-90A7-43661CDD105D}" type="pres">
      <dgm:prSet presAssocID="{0A32F228-4ECE-4AE3-B285-D08328AA0FBB}" presName="tx1" presStyleLbl="revTx" presStyleIdx="2" presStyleCnt="3"/>
      <dgm:spPr/>
    </dgm:pt>
    <dgm:pt modelId="{E67A21AA-E417-4BE3-9B26-DF00D7669FB6}" type="pres">
      <dgm:prSet presAssocID="{0A32F228-4ECE-4AE3-B285-D08328AA0FBB}" presName="vert1" presStyleCnt="0"/>
      <dgm:spPr/>
    </dgm:pt>
  </dgm:ptLst>
  <dgm:cxnLst>
    <dgm:cxn modelId="{A38C921C-44DE-4DEA-A8E2-58EEBA47525D}" type="presOf" srcId="{747FDC97-C8E3-4E07-B3F4-F9F127A0AB4F}" destId="{5313C186-207C-473D-BD43-35474443DF02}" srcOrd="0" destOrd="0" presId="urn:microsoft.com/office/officeart/2008/layout/LinedList"/>
    <dgm:cxn modelId="{1C605562-2B4C-4945-A62D-EBFB9D58E114}" srcId="{747FDC97-C8E3-4E07-B3F4-F9F127A0AB4F}" destId="{40093A1D-3E3F-4DE4-A696-818ADBC726E7}" srcOrd="0" destOrd="0" parTransId="{CB36A937-6B1C-4529-9227-E26118844B36}" sibTransId="{4AEC8E6B-9C52-48C3-A485-D631A7041DA7}"/>
    <dgm:cxn modelId="{D4D55169-B6F9-422B-AFA6-D6C62A56B538}" type="presOf" srcId="{0A32F228-4ECE-4AE3-B285-D08328AA0FBB}" destId="{92B1E741-ED7A-4DE9-90A7-43661CDD105D}" srcOrd="0" destOrd="0" presId="urn:microsoft.com/office/officeart/2008/layout/LinedList"/>
    <dgm:cxn modelId="{F1DB01BB-D2D1-487A-AF04-E69D902FE788}" srcId="{747FDC97-C8E3-4E07-B3F4-F9F127A0AB4F}" destId="{0A32F228-4ECE-4AE3-B285-D08328AA0FBB}" srcOrd="2" destOrd="0" parTransId="{5985A32C-A7E5-4553-B83F-C6FB512986B3}" sibTransId="{337E4261-A429-479D-A477-EA0C89563BFD}"/>
    <dgm:cxn modelId="{BC403DE5-77F9-45BB-8FD4-232FDE4A7EBE}" type="presOf" srcId="{40093A1D-3E3F-4DE4-A696-818ADBC726E7}" destId="{689316BF-887B-4D38-B692-0AA7A5FF56E8}" srcOrd="0" destOrd="0" presId="urn:microsoft.com/office/officeart/2008/layout/LinedList"/>
    <dgm:cxn modelId="{549312F4-EB50-4E32-83EF-C3F778F05CA7}" type="presOf" srcId="{5241B06D-B3C1-41D2-ABE8-68E5743A8965}" destId="{7BF88D33-FBE7-45A4-B5C7-72E87EB1AC71}" srcOrd="0" destOrd="0" presId="urn:microsoft.com/office/officeart/2008/layout/LinedList"/>
    <dgm:cxn modelId="{E02CDAF9-02F4-44A8-ABE6-C3B9CF9A7158}" srcId="{747FDC97-C8E3-4E07-B3F4-F9F127A0AB4F}" destId="{5241B06D-B3C1-41D2-ABE8-68E5743A8965}" srcOrd="1" destOrd="0" parTransId="{492C848C-6AC3-4F20-8776-1427C7C4E2D0}" sibTransId="{132D1DE7-2258-4E7C-B9C9-BAA5D1C3B9ED}"/>
    <dgm:cxn modelId="{3E7E9F30-C52F-40F1-ADCE-00D342E5F5B6}" type="presParOf" srcId="{5313C186-207C-473D-BD43-35474443DF02}" destId="{EEDE6335-6EAA-45F1-9428-618B470AC41D}" srcOrd="0" destOrd="0" presId="urn:microsoft.com/office/officeart/2008/layout/LinedList"/>
    <dgm:cxn modelId="{2361EB4C-1704-45FD-8EBF-6DBE0F5B291E}" type="presParOf" srcId="{5313C186-207C-473D-BD43-35474443DF02}" destId="{13759826-80BD-418E-BEB7-B7806FA4BF9D}" srcOrd="1" destOrd="0" presId="urn:microsoft.com/office/officeart/2008/layout/LinedList"/>
    <dgm:cxn modelId="{8D1992FA-8C76-41CF-961C-8C122251F2F4}" type="presParOf" srcId="{13759826-80BD-418E-BEB7-B7806FA4BF9D}" destId="{689316BF-887B-4D38-B692-0AA7A5FF56E8}" srcOrd="0" destOrd="0" presId="urn:microsoft.com/office/officeart/2008/layout/LinedList"/>
    <dgm:cxn modelId="{DD24A3C7-F118-4F58-980B-DAB5CA748AD0}" type="presParOf" srcId="{13759826-80BD-418E-BEB7-B7806FA4BF9D}" destId="{546A12E3-2139-4470-B854-3AFE8E2AC5C5}" srcOrd="1" destOrd="0" presId="urn:microsoft.com/office/officeart/2008/layout/LinedList"/>
    <dgm:cxn modelId="{5CB55C28-6533-4339-BE54-39291EF7F485}" type="presParOf" srcId="{5313C186-207C-473D-BD43-35474443DF02}" destId="{7F9B7EF8-B006-4A43-8670-483BCA5CD085}" srcOrd="2" destOrd="0" presId="urn:microsoft.com/office/officeart/2008/layout/LinedList"/>
    <dgm:cxn modelId="{A9146973-5234-4612-9D2E-C576E836E217}" type="presParOf" srcId="{5313C186-207C-473D-BD43-35474443DF02}" destId="{73582958-4637-4EA4-A9E9-7CAAFB735F72}" srcOrd="3" destOrd="0" presId="urn:microsoft.com/office/officeart/2008/layout/LinedList"/>
    <dgm:cxn modelId="{A2CEBCB0-4A5C-4D79-AF88-F33953B9BCFE}" type="presParOf" srcId="{73582958-4637-4EA4-A9E9-7CAAFB735F72}" destId="{7BF88D33-FBE7-45A4-B5C7-72E87EB1AC71}" srcOrd="0" destOrd="0" presId="urn:microsoft.com/office/officeart/2008/layout/LinedList"/>
    <dgm:cxn modelId="{59BB6558-5E88-44F1-9DA3-93757B907B55}" type="presParOf" srcId="{73582958-4637-4EA4-A9E9-7CAAFB735F72}" destId="{4EE7938F-A977-4512-9EC8-F38FDBD4691A}" srcOrd="1" destOrd="0" presId="urn:microsoft.com/office/officeart/2008/layout/LinedList"/>
    <dgm:cxn modelId="{BA796A14-4510-4591-9695-7BFEC21029D9}" type="presParOf" srcId="{5313C186-207C-473D-BD43-35474443DF02}" destId="{4FD15A72-FD9A-4DC4-9918-5B154959A4AF}" srcOrd="4" destOrd="0" presId="urn:microsoft.com/office/officeart/2008/layout/LinedList"/>
    <dgm:cxn modelId="{7697E0FD-F301-44FB-ACCD-68180593E1F2}" type="presParOf" srcId="{5313C186-207C-473D-BD43-35474443DF02}" destId="{04EB89C7-209A-4691-A5C7-CEE17CD710BF}" srcOrd="5" destOrd="0" presId="urn:microsoft.com/office/officeart/2008/layout/LinedList"/>
    <dgm:cxn modelId="{7125571D-C2D6-4E4D-BEFC-7DCB5EBF89EB}" type="presParOf" srcId="{04EB89C7-209A-4691-A5C7-CEE17CD710BF}" destId="{92B1E741-ED7A-4DE9-90A7-43661CDD105D}" srcOrd="0" destOrd="0" presId="urn:microsoft.com/office/officeart/2008/layout/LinedList"/>
    <dgm:cxn modelId="{775BC73B-3FC8-4425-AAE7-6F6D2C5A6D86}" type="presParOf" srcId="{04EB89C7-209A-4691-A5C7-CEE17CD710BF}" destId="{E67A21AA-E417-4BE3-9B26-DF00D7669FB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5B81D51-DC83-47F4-B020-6C52C753B097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1A3EFE-E205-4E36-9D9B-50E0008A14B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As orange is a fruit, the kNN algorithm would classify tomato as a fruit. </a:t>
          </a:r>
          <a:r>
            <a:rPr lang="en-GB" b="1"/>
            <a:t>k = 1</a:t>
          </a:r>
          <a:endParaRPr lang="en-US"/>
        </a:p>
      </dgm:t>
    </dgm:pt>
    <dgm:pt modelId="{35924E5B-9D26-40B1-A016-082960581D3D}" type="parTrans" cxnId="{55D2ABC8-61BA-4C28-82FC-941507254484}">
      <dgm:prSet/>
      <dgm:spPr/>
      <dgm:t>
        <a:bodyPr/>
        <a:lstStyle/>
        <a:p>
          <a:endParaRPr lang="en-US"/>
        </a:p>
      </dgm:t>
    </dgm:pt>
    <dgm:pt modelId="{E1C600BD-84F5-4E06-91FA-4E2F3BCB6DBA}" type="sibTrans" cxnId="{55D2ABC8-61BA-4C28-82FC-941507254484}">
      <dgm:prSet/>
      <dgm:spPr/>
      <dgm:t>
        <a:bodyPr/>
        <a:lstStyle/>
        <a:p>
          <a:endParaRPr lang="en-US"/>
        </a:p>
      </dgm:t>
    </dgm:pt>
    <dgm:pt modelId="{64DCCA95-B0AF-4364-A02A-B3EFDB5A704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If we use </a:t>
          </a:r>
          <a:r>
            <a:rPr lang="en-GB" b="1"/>
            <a:t>k = 3 </a:t>
          </a:r>
          <a:r>
            <a:rPr lang="en-GB"/>
            <a:t>instead, a vote among the three nearest neighbours is needed:</a:t>
          </a:r>
          <a:endParaRPr lang="en-US"/>
        </a:p>
      </dgm:t>
    </dgm:pt>
    <dgm:pt modelId="{1E115C35-42FA-465B-AC81-463D1E157F3A}" type="parTrans" cxnId="{966BD164-A531-46EF-85BE-76071AD8273D}">
      <dgm:prSet/>
      <dgm:spPr/>
      <dgm:t>
        <a:bodyPr/>
        <a:lstStyle/>
        <a:p>
          <a:endParaRPr lang="en-US"/>
        </a:p>
      </dgm:t>
    </dgm:pt>
    <dgm:pt modelId="{6E968571-A652-4C44-BBB2-8A53621A0DD0}" type="sibTrans" cxnId="{966BD164-A531-46EF-85BE-76071AD8273D}">
      <dgm:prSet/>
      <dgm:spPr/>
      <dgm:t>
        <a:bodyPr/>
        <a:lstStyle/>
        <a:p>
          <a:endParaRPr lang="en-US"/>
        </a:p>
      </dgm:t>
    </dgm:pt>
    <dgm:pt modelId="{12342F71-7934-4D2E-AEB7-EC8758F4AFB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orange, grape, and nuts.</a:t>
          </a:r>
          <a:endParaRPr lang="en-US"/>
        </a:p>
      </dgm:t>
    </dgm:pt>
    <dgm:pt modelId="{AB072772-DF74-4EDF-A375-98D6A15409DC}" type="parTrans" cxnId="{066816C6-499A-4AF8-ACDF-3239CA3067EE}">
      <dgm:prSet/>
      <dgm:spPr/>
      <dgm:t>
        <a:bodyPr/>
        <a:lstStyle/>
        <a:p>
          <a:endParaRPr lang="en-US"/>
        </a:p>
      </dgm:t>
    </dgm:pt>
    <dgm:pt modelId="{0FB1EF4D-96F8-449A-BAB2-F4F60511AF0D}" type="sibTrans" cxnId="{066816C6-499A-4AF8-ACDF-3239CA3067EE}">
      <dgm:prSet/>
      <dgm:spPr/>
      <dgm:t>
        <a:bodyPr/>
        <a:lstStyle/>
        <a:p>
          <a:endParaRPr lang="en-US"/>
        </a:p>
      </dgm:t>
    </dgm:pt>
    <dgm:pt modelId="{2FE5C7A9-8549-48F2-9625-B7E4273C33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predominant class here is fruit (</a:t>
          </a:r>
          <a:r>
            <a:rPr lang="en-GB" b="1"/>
            <a:t>2 of 3 votes</a:t>
          </a:r>
          <a:r>
            <a:rPr lang="en-GB"/>
            <a:t>), the tomato again is classified as a fruit.</a:t>
          </a:r>
          <a:endParaRPr lang="en-US"/>
        </a:p>
      </dgm:t>
    </dgm:pt>
    <dgm:pt modelId="{14121743-9DA3-4539-BBA8-42F76F8D3040}" type="parTrans" cxnId="{F74692CE-72CA-4BB0-9889-1DE4A7C09D6B}">
      <dgm:prSet/>
      <dgm:spPr/>
      <dgm:t>
        <a:bodyPr/>
        <a:lstStyle/>
        <a:p>
          <a:endParaRPr lang="en-US"/>
        </a:p>
      </dgm:t>
    </dgm:pt>
    <dgm:pt modelId="{A6F660C4-9799-49C7-AE3A-514B29C96DDF}" type="sibTrans" cxnId="{F74692CE-72CA-4BB0-9889-1DE4A7C09D6B}">
      <dgm:prSet/>
      <dgm:spPr/>
      <dgm:t>
        <a:bodyPr/>
        <a:lstStyle/>
        <a:p>
          <a:endParaRPr lang="en-US"/>
        </a:p>
      </dgm:t>
    </dgm:pt>
    <dgm:pt modelId="{FD90D007-0628-4CD1-B26C-EB7C06A8558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It’s not immediately obvious from this example, but we need to think about what our </a:t>
          </a:r>
          <a:r>
            <a:rPr lang="en-GB" b="1"/>
            <a:t>k</a:t>
          </a:r>
          <a:r>
            <a:rPr lang="en-GB"/>
            <a:t> should be.</a:t>
          </a:r>
          <a:endParaRPr lang="en-US"/>
        </a:p>
      </dgm:t>
    </dgm:pt>
    <dgm:pt modelId="{6E51E46A-59F3-4969-9856-813286CBD9EC}" type="parTrans" cxnId="{D3E1D181-54FC-44F8-88C9-EC11785388C7}">
      <dgm:prSet/>
      <dgm:spPr/>
      <dgm:t>
        <a:bodyPr/>
        <a:lstStyle/>
        <a:p>
          <a:endParaRPr lang="en-US"/>
        </a:p>
      </dgm:t>
    </dgm:pt>
    <dgm:pt modelId="{8C7A9706-422F-4FF5-A4E4-FD143306E933}" type="sibTrans" cxnId="{D3E1D181-54FC-44F8-88C9-EC11785388C7}">
      <dgm:prSet/>
      <dgm:spPr/>
      <dgm:t>
        <a:bodyPr/>
        <a:lstStyle/>
        <a:p>
          <a:endParaRPr lang="en-US"/>
        </a:p>
      </dgm:t>
    </dgm:pt>
    <dgm:pt modelId="{280FF0CB-108E-478E-A994-EA1A3D0BB13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There </a:t>
          </a:r>
          <a:r>
            <a:rPr lang="en-GB" b="1"/>
            <a:t>IS NOT </a:t>
          </a:r>
          <a:r>
            <a:rPr lang="en-GB"/>
            <a:t>a single definitive answer as to what </a:t>
          </a:r>
          <a:r>
            <a:rPr lang="en-GB" b="1"/>
            <a:t>k</a:t>
          </a:r>
          <a:r>
            <a:rPr lang="en-GB"/>
            <a:t> should be!</a:t>
          </a:r>
          <a:endParaRPr lang="en-US"/>
        </a:p>
      </dgm:t>
    </dgm:pt>
    <dgm:pt modelId="{EA20223C-70B0-48E9-9BA5-1A1452265330}" type="parTrans" cxnId="{F6A2F585-E2A6-4E1D-9AB3-BC2E4BE594A0}">
      <dgm:prSet/>
      <dgm:spPr/>
      <dgm:t>
        <a:bodyPr/>
        <a:lstStyle/>
        <a:p>
          <a:endParaRPr lang="en-US"/>
        </a:p>
      </dgm:t>
    </dgm:pt>
    <dgm:pt modelId="{2069BC20-BDD3-4E0C-B66F-3A9D1FDE2C88}" type="sibTrans" cxnId="{F6A2F585-E2A6-4E1D-9AB3-BC2E4BE594A0}">
      <dgm:prSet/>
      <dgm:spPr/>
      <dgm:t>
        <a:bodyPr/>
        <a:lstStyle/>
        <a:p>
          <a:endParaRPr lang="en-US"/>
        </a:p>
      </dgm:t>
    </dgm:pt>
    <dgm:pt modelId="{2D5E9EE4-AACE-439A-9FE3-5F73661BE5CA}" type="pres">
      <dgm:prSet presAssocID="{B5B81D51-DC83-47F4-B020-6C52C753B097}" presName="root" presStyleCnt="0">
        <dgm:presLayoutVars>
          <dgm:dir/>
          <dgm:resizeHandles val="exact"/>
        </dgm:presLayoutVars>
      </dgm:prSet>
      <dgm:spPr/>
    </dgm:pt>
    <dgm:pt modelId="{05DAE372-FE95-456D-B177-CC3BA8B6EB59}" type="pres">
      <dgm:prSet presAssocID="{521A3EFE-E205-4E36-9D9B-50E0008A14BA}" presName="compNode" presStyleCnt="0"/>
      <dgm:spPr/>
    </dgm:pt>
    <dgm:pt modelId="{2BEE947E-5B9C-41ED-A2BD-DE4B8BD7C89E}" type="pres">
      <dgm:prSet presAssocID="{521A3EFE-E205-4E36-9D9B-50E0008A14BA}" presName="bgRect" presStyleLbl="bgShp" presStyleIdx="0" presStyleCnt="4"/>
      <dgm:spPr/>
    </dgm:pt>
    <dgm:pt modelId="{A1E6989E-3A2D-4222-AFE9-A6FD90E17E3F}" type="pres">
      <dgm:prSet presAssocID="{521A3EFE-E205-4E36-9D9B-50E0008A14B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57113CA1-15BC-4CAE-A1DF-515EB5033B2A}" type="pres">
      <dgm:prSet presAssocID="{521A3EFE-E205-4E36-9D9B-50E0008A14BA}" presName="spaceRect" presStyleCnt="0"/>
      <dgm:spPr/>
    </dgm:pt>
    <dgm:pt modelId="{E01D51A3-0457-47F2-A343-425CEFA0946C}" type="pres">
      <dgm:prSet presAssocID="{521A3EFE-E205-4E36-9D9B-50E0008A14BA}" presName="parTx" presStyleLbl="revTx" presStyleIdx="0" presStyleCnt="5">
        <dgm:presLayoutVars>
          <dgm:chMax val="0"/>
          <dgm:chPref val="0"/>
        </dgm:presLayoutVars>
      </dgm:prSet>
      <dgm:spPr/>
    </dgm:pt>
    <dgm:pt modelId="{CF7EE7F2-60E3-4039-AB9E-A8E73E89B297}" type="pres">
      <dgm:prSet presAssocID="{E1C600BD-84F5-4E06-91FA-4E2F3BCB6DBA}" presName="sibTrans" presStyleCnt="0"/>
      <dgm:spPr/>
    </dgm:pt>
    <dgm:pt modelId="{1F8C848B-ABB3-451C-9E47-9DDB2BD4EDFC}" type="pres">
      <dgm:prSet presAssocID="{64DCCA95-B0AF-4364-A02A-B3EFDB5A704F}" presName="compNode" presStyleCnt="0"/>
      <dgm:spPr/>
    </dgm:pt>
    <dgm:pt modelId="{CF918C19-B21B-455D-B58A-093AC8345CD7}" type="pres">
      <dgm:prSet presAssocID="{64DCCA95-B0AF-4364-A02A-B3EFDB5A704F}" presName="bgRect" presStyleLbl="bgShp" presStyleIdx="1" presStyleCnt="4"/>
      <dgm:spPr/>
    </dgm:pt>
    <dgm:pt modelId="{872ED7D5-2A7A-4D8C-B286-44063D39CD9C}" type="pres">
      <dgm:prSet presAssocID="{64DCCA95-B0AF-4364-A02A-B3EFDB5A704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pes"/>
        </a:ext>
      </dgm:extLst>
    </dgm:pt>
    <dgm:pt modelId="{7C6E8EBA-EE91-490F-A697-C06864A920E2}" type="pres">
      <dgm:prSet presAssocID="{64DCCA95-B0AF-4364-A02A-B3EFDB5A704F}" presName="spaceRect" presStyleCnt="0"/>
      <dgm:spPr/>
    </dgm:pt>
    <dgm:pt modelId="{69E45BE7-4063-41DE-8B99-4605CDA03143}" type="pres">
      <dgm:prSet presAssocID="{64DCCA95-B0AF-4364-A02A-B3EFDB5A704F}" presName="parTx" presStyleLbl="revTx" presStyleIdx="1" presStyleCnt="5">
        <dgm:presLayoutVars>
          <dgm:chMax val="0"/>
          <dgm:chPref val="0"/>
        </dgm:presLayoutVars>
      </dgm:prSet>
      <dgm:spPr/>
    </dgm:pt>
    <dgm:pt modelId="{49B4D6E2-E9E0-4D59-8BCF-71FF8B188D9A}" type="pres">
      <dgm:prSet presAssocID="{64DCCA95-B0AF-4364-A02A-B3EFDB5A704F}" presName="desTx" presStyleLbl="revTx" presStyleIdx="2" presStyleCnt="5">
        <dgm:presLayoutVars/>
      </dgm:prSet>
      <dgm:spPr/>
    </dgm:pt>
    <dgm:pt modelId="{1060120E-6855-48FB-A107-62E0D55D8B7F}" type="pres">
      <dgm:prSet presAssocID="{6E968571-A652-4C44-BBB2-8A53621A0DD0}" presName="sibTrans" presStyleCnt="0"/>
      <dgm:spPr/>
    </dgm:pt>
    <dgm:pt modelId="{820D5B18-0EB6-496F-99F8-E1EC2F663B76}" type="pres">
      <dgm:prSet presAssocID="{FD90D007-0628-4CD1-B26C-EB7C06A85587}" presName="compNode" presStyleCnt="0"/>
      <dgm:spPr/>
    </dgm:pt>
    <dgm:pt modelId="{EBB551F3-D0FD-48A9-AD1E-949E9E9E68C3}" type="pres">
      <dgm:prSet presAssocID="{FD90D007-0628-4CD1-B26C-EB7C06A85587}" presName="bgRect" presStyleLbl="bgShp" presStyleIdx="2" presStyleCnt="4"/>
      <dgm:spPr/>
    </dgm:pt>
    <dgm:pt modelId="{953F66DE-10FD-47FA-9F85-624F1D2B931E}" type="pres">
      <dgm:prSet presAssocID="{FD90D007-0628-4CD1-B26C-EB7C06A855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445C989F-3571-4E42-8A38-CE95B90B1FD6}" type="pres">
      <dgm:prSet presAssocID="{FD90D007-0628-4CD1-B26C-EB7C06A85587}" presName="spaceRect" presStyleCnt="0"/>
      <dgm:spPr/>
    </dgm:pt>
    <dgm:pt modelId="{3011726A-A0C1-4BC9-8A54-C141BEA68884}" type="pres">
      <dgm:prSet presAssocID="{FD90D007-0628-4CD1-B26C-EB7C06A85587}" presName="parTx" presStyleLbl="revTx" presStyleIdx="3" presStyleCnt="5">
        <dgm:presLayoutVars>
          <dgm:chMax val="0"/>
          <dgm:chPref val="0"/>
        </dgm:presLayoutVars>
      </dgm:prSet>
      <dgm:spPr/>
    </dgm:pt>
    <dgm:pt modelId="{E7F762F8-D7B5-4946-B33C-C9E0E0EB104F}" type="pres">
      <dgm:prSet presAssocID="{8C7A9706-422F-4FF5-A4E4-FD143306E933}" presName="sibTrans" presStyleCnt="0"/>
      <dgm:spPr/>
    </dgm:pt>
    <dgm:pt modelId="{27C58109-D191-4332-8FBF-8C02B67A5CC0}" type="pres">
      <dgm:prSet presAssocID="{280FF0CB-108E-478E-A994-EA1A3D0BB13D}" presName="compNode" presStyleCnt="0"/>
      <dgm:spPr/>
    </dgm:pt>
    <dgm:pt modelId="{B0E98AAA-9C25-4135-AAA3-7E994CB809FE}" type="pres">
      <dgm:prSet presAssocID="{280FF0CB-108E-478E-A994-EA1A3D0BB13D}" presName="bgRect" presStyleLbl="bgShp" presStyleIdx="3" presStyleCnt="4"/>
      <dgm:spPr/>
    </dgm:pt>
    <dgm:pt modelId="{5DF18DF4-0476-4A7A-93EF-87571E8D80D4}" type="pres">
      <dgm:prSet presAssocID="{280FF0CB-108E-478E-A994-EA1A3D0BB1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90149BC5-AF82-4D18-BDE9-7EA5FFB11B03}" type="pres">
      <dgm:prSet presAssocID="{280FF0CB-108E-478E-A994-EA1A3D0BB13D}" presName="spaceRect" presStyleCnt="0"/>
      <dgm:spPr/>
    </dgm:pt>
    <dgm:pt modelId="{61CE1997-AF7C-4B65-98E9-C1DCBD6DC3B0}" type="pres">
      <dgm:prSet presAssocID="{280FF0CB-108E-478E-A994-EA1A3D0BB13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3F39630-868A-4440-A836-623C83BBE4CB}" type="presOf" srcId="{280FF0CB-108E-478E-A994-EA1A3D0BB13D}" destId="{61CE1997-AF7C-4B65-98E9-C1DCBD6DC3B0}" srcOrd="0" destOrd="0" presId="urn:microsoft.com/office/officeart/2018/2/layout/IconVerticalSolidList"/>
    <dgm:cxn modelId="{26A33756-595D-FF44-8E62-8277BA226161}" type="presOf" srcId="{64DCCA95-B0AF-4364-A02A-B3EFDB5A704F}" destId="{69E45BE7-4063-41DE-8B99-4605CDA03143}" srcOrd="0" destOrd="0" presId="urn:microsoft.com/office/officeart/2018/2/layout/IconVerticalSolidList"/>
    <dgm:cxn modelId="{966BD164-A531-46EF-85BE-76071AD8273D}" srcId="{B5B81D51-DC83-47F4-B020-6C52C753B097}" destId="{64DCCA95-B0AF-4364-A02A-B3EFDB5A704F}" srcOrd="1" destOrd="0" parTransId="{1E115C35-42FA-465B-AC81-463D1E157F3A}" sibTransId="{6E968571-A652-4C44-BBB2-8A53621A0DD0}"/>
    <dgm:cxn modelId="{D3E1D181-54FC-44F8-88C9-EC11785388C7}" srcId="{B5B81D51-DC83-47F4-B020-6C52C753B097}" destId="{FD90D007-0628-4CD1-B26C-EB7C06A85587}" srcOrd="2" destOrd="0" parTransId="{6E51E46A-59F3-4969-9856-813286CBD9EC}" sibTransId="{8C7A9706-422F-4FF5-A4E4-FD143306E933}"/>
    <dgm:cxn modelId="{F6A2F585-E2A6-4E1D-9AB3-BC2E4BE594A0}" srcId="{B5B81D51-DC83-47F4-B020-6C52C753B097}" destId="{280FF0CB-108E-478E-A994-EA1A3D0BB13D}" srcOrd="3" destOrd="0" parTransId="{EA20223C-70B0-48E9-9BA5-1A1452265330}" sibTransId="{2069BC20-BDD3-4E0C-B66F-3A9D1FDE2C88}"/>
    <dgm:cxn modelId="{24C56395-AF49-264A-8689-B97252861B10}" type="presOf" srcId="{521A3EFE-E205-4E36-9D9B-50E0008A14BA}" destId="{E01D51A3-0457-47F2-A343-425CEFA0946C}" srcOrd="0" destOrd="0" presId="urn:microsoft.com/office/officeart/2018/2/layout/IconVerticalSolidList"/>
    <dgm:cxn modelId="{066816C6-499A-4AF8-ACDF-3239CA3067EE}" srcId="{64DCCA95-B0AF-4364-A02A-B3EFDB5A704F}" destId="{12342F71-7934-4D2E-AEB7-EC8758F4AFB4}" srcOrd="0" destOrd="0" parTransId="{AB072772-DF74-4EDF-A375-98D6A15409DC}" sibTransId="{0FB1EF4D-96F8-449A-BAB2-F4F60511AF0D}"/>
    <dgm:cxn modelId="{AD7A71C7-56EA-F94A-BD82-316F7FF3F153}" type="presOf" srcId="{B5B81D51-DC83-47F4-B020-6C52C753B097}" destId="{2D5E9EE4-AACE-439A-9FE3-5F73661BE5CA}" srcOrd="0" destOrd="0" presId="urn:microsoft.com/office/officeart/2018/2/layout/IconVerticalSolidList"/>
    <dgm:cxn modelId="{55D2ABC8-61BA-4C28-82FC-941507254484}" srcId="{B5B81D51-DC83-47F4-B020-6C52C753B097}" destId="{521A3EFE-E205-4E36-9D9B-50E0008A14BA}" srcOrd="0" destOrd="0" parTransId="{35924E5B-9D26-40B1-A016-082960581D3D}" sibTransId="{E1C600BD-84F5-4E06-91FA-4E2F3BCB6DBA}"/>
    <dgm:cxn modelId="{F74692CE-72CA-4BB0-9889-1DE4A7C09D6B}" srcId="{64DCCA95-B0AF-4364-A02A-B3EFDB5A704F}" destId="{2FE5C7A9-8549-48F2-9625-B7E4273C33FF}" srcOrd="1" destOrd="0" parTransId="{14121743-9DA3-4539-BBA8-42F76F8D3040}" sibTransId="{A6F660C4-9799-49C7-AE3A-514B29C96DDF}"/>
    <dgm:cxn modelId="{C1F9C5D3-4CBE-BF40-BED9-5A6058A2397F}" type="presOf" srcId="{12342F71-7934-4D2E-AEB7-EC8758F4AFB4}" destId="{49B4D6E2-E9E0-4D59-8BCF-71FF8B188D9A}" srcOrd="0" destOrd="0" presId="urn:microsoft.com/office/officeart/2018/2/layout/IconVerticalSolidList"/>
    <dgm:cxn modelId="{BEA2ACD5-414F-D345-A379-39364A112F13}" type="presOf" srcId="{2FE5C7A9-8549-48F2-9625-B7E4273C33FF}" destId="{49B4D6E2-E9E0-4D59-8BCF-71FF8B188D9A}" srcOrd="0" destOrd="1" presId="urn:microsoft.com/office/officeart/2018/2/layout/IconVerticalSolidList"/>
    <dgm:cxn modelId="{C64E84E9-AE05-B148-923F-9640836A3DC4}" type="presOf" srcId="{FD90D007-0628-4CD1-B26C-EB7C06A85587}" destId="{3011726A-A0C1-4BC9-8A54-C141BEA68884}" srcOrd="0" destOrd="0" presId="urn:microsoft.com/office/officeart/2018/2/layout/IconVerticalSolidList"/>
    <dgm:cxn modelId="{9A5904F5-55D2-E54A-A740-CD6B593862EF}" type="presParOf" srcId="{2D5E9EE4-AACE-439A-9FE3-5F73661BE5CA}" destId="{05DAE372-FE95-456D-B177-CC3BA8B6EB59}" srcOrd="0" destOrd="0" presId="urn:microsoft.com/office/officeart/2018/2/layout/IconVerticalSolidList"/>
    <dgm:cxn modelId="{7015049D-5DF1-CD46-8B9D-CCD4AE4352FF}" type="presParOf" srcId="{05DAE372-FE95-456D-B177-CC3BA8B6EB59}" destId="{2BEE947E-5B9C-41ED-A2BD-DE4B8BD7C89E}" srcOrd="0" destOrd="0" presId="urn:microsoft.com/office/officeart/2018/2/layout/IconVerticalSolidList"/>
    <dgm:cxn modelId="{D086E75E-09E0-B245-A836-BCA740072D2C}" type="presParOf" srcId="{05DAE372-FE95-456D-B177-CC3BA8B6EB59}" destId="{A1E6989E-3A2D-4222-AFE9-A6FD90E17E3F}" srcOrd="1" destOrd="0" presId="urn:microsoft.com/office/officeart/2018/2/layout/IconVerticalSolidList"/>
    <dgm:cxn modelId="{F16A051C-D71A-DA43-8781-88D685DBD083}" type="presParOf" srcId="{05DAE372-FE95-456D-B177-CC3BA8B6EB59}" destId="{57113CA1-15BC-4CAE-A1DF-515EB5033B2A}" srcOrd="2" destOrd="0" presId="urn:microsoft.com/office/officeart/2018/2/layout/IconVerticalSolidList"/>
    <dgm:cxn modelId="{F68BBFCD-4405-2140-A856-307473D7C738}" type="presParOf" srcId="{05DAE372-FE95-456D-B177-CC3BA8B6EB59}" destId="{E01D51A3-0457-47F2-A343-425CEFA0946C}" srcOrd="3" destOrd="0" presId="urn:microsoft.com/office/officeart/2018/2/layout/IconVerticalSolidList"/>
    <dgm:cxn modelId="{8C5B4F0C-3BCE-5F4D-B0CB-66F012E52E48}" type="presParOf" srcId="{2D5E9EE4-AACE-439A-9FE3-5F73661BE5CA}" destId="{CF7EE7F2-60E3-4039-AB9E-A8E73E89B297}" srcOrd="1" destOrd="0" presId="urn:microsoft.com/office/officeart/2018/2/layout/IconVerticalSolidList"/>
    <dgm:cxn modelId="{04BD6A99-9C38-7642-9E00-3A10A2675B67}" type="presParOf" srcId="{2D5E9EE4-AACE-439A-9FE3-5F73661BE5CA}" destId="{1F8C848B-ABB3-451C-9E47-9DDB2BD4EDFC}" srcOrd="2" destOrd="0" presId="urn:microsoft.com/office/officeart/2018/2/layout/IconVerticalSolidList"/>
    <dgm:cxn modelId="{2A4BAC18-DF54-C344-88D1-9B431949B5FB}" type="presParOf" srcId="{1F8C848B-ABB3-451C-9E47-9DDB2BD4EDFC}" destId="{CF918C19-B21B-455D-B58A-093AC8345CD7}" srcOrd="0" destOrd="0" presId="urn:microsoft.com/office/officeart/2018/2/layout/IconVerticalSolidList"/>
    <dgm:cxn modelId="{DAA4029E-91C4-E040-B684-629FBE08B1B9}" type="presParOf" srcId="{1F8C848B-ABB3-451C-9E47-9DDB2BD4EDFC}" destId="{872ED7D5-2A7A-4D8C-B286-44063D39CD9C}" srcOrd="1" destOrd="0" presId="urn:microsoft.com/office/officeart/2018/2/layout/IconVerticalSolidList"/>
    <dgm:cxn modelId="{5BE3FF0E-2070-7046-9214-01D179250B5F}" type="presParOf" srcId="{1F8C848B-ABB3-451C-9E47-9DDB2BD4EDFC}" destId="{7C6E8EBA-EE91-490F-A697-C06864A920E2}" srcOrd="2" destOrd="0" presId="urn:microsoft.com/office/officeart/2018/2/layout/IconVerticalSolidList"/>
    <dgm:cxn modelId="{9EE63DEB-913B-4540-B5A2-6EB17ACCA630}" type="presParOf" srcId="{1F8C848B-ABB3-451C-9E47-9DDB2BD4EDFC}" destId="{69E45BE7-4063-41DE-8B99-4605CDA03143}" srcOrd="3" destOrd="0" presId="urn:microsoft.com/office/officeart/2018/2/layout/IconVerticalSolidList"/>
    <dgm:cxn modelId="{A8722BCC-99A0-CA43-80E0-98CD6E8A4FC7}" type="presParOf" srcId="{1F8C848B-ABB3-451C-9E47-9DDB2BD4EDFC}" destId="{49B4D6E2-E9E0-4D59-8BCF-71FF8B188D9A}" srcOrd="4" destOrd="0" presId="urn:microsoft.com/office/officeart/2018/2/layout/IconVerticalSolidList"/>
    <dgm:cxn modelId="{F7A17215-6429-D440-814C-61A5FECD963E}" type="presParOf" srcId="{2D5E9EE4-AACE-439A-9FE3-5F73661BE5CA}" destId="{1060120E-6855-48FB-A107-62E0D55D8B7F}" srcOrd="3" destOrd="0" presId="urn:microsoft.com/office/officeart/2018/2/layout/IconVerticalSolidList"/>
    <dgm:cxn modelId="{A32C15CB-2B77-E541-9046-F2608C5DD4F8}" type="presParOf" srcId="{2D5E9EE4-AACE-439A-9FE3-5F73661BE5CA}" destId="{820D5B18-0EB6-496F-99F8-E1EC2F663B76}" srcOrd="4" destOrd="0" presId="urn:microsoft.com/office/officeart/2018/2/layout/IconVerticalSolidList"/>
    <dgm:cxn modelId="{45DEDE6E-1AD4-244D-8CB3-62EF2402B86B}" type="presParOf" srcId="{820D5B18-0EB6-496F-99F8-E1EC2F663B76}" destId="{EBB551F3-D0FD-48A9-AD1E-949E9E9E68C3}" srcOrd="0" destOrd="0" presId="urn:microsoft.com/office/officeart/2018/2/layout/IconVerticalSolidList"/>
    <dgm:cxn modelId="{BAE17D45-B4FF-3A4E-883D-CD33AD250CC8}" type="presParOf" srcId="{820D5B18-0EB6-496F-99F8-E1EC2F663B76}" destId="{953F66DE-10FD-47FA-9F85-624F1D2B931E}" srcOrd="1" destOrd="0" presId="urn:microsoft.com/office/officeart/2018/2/layout/IconVerticalSolidList"/>
    <dgm:cxn modelId="{BF3ED849-53CB-B248-AF66-BE1C10D282C2}" type="presParOf" srcId="{820D5B18-0EB6-496F-99F8-E1EC2F663B76}" destId="{445C989F-3571-4E42-8A38-CE95B90B1FD6}" srcOrd="2" destOrd="0" presId="urn:microsoft.com/office/officeart/2018/2/layout/IconVerticalSolidList"/>
    <dgm:cxn modelId="{F4F255F3-409D-3944-BBA6-A17D0DDAA99A}" type="presParOf" srcId="{820D5B18-0EB6-496F-99F8-E1EC2F663B76}" destId="{3011726A-A0C1-4BC9-8A54-C141BEA68884}" srcOrd="3" destOrd="0" presId="urn:microsoft.com/office/officeart/2018/2/layout/IconVerticalSolidList"/>
    <dgm:cxn modelId="{50D13395-8BDE-1141-8689-6266D84B142C}" type="presParOf" srcId="{2D5E9EE4-AACE-439A-9FE3-5F73661BE5CA}" destId="{E7F762F8-D7B5-4946-B33C-C9E0E0EB104F}" srcOrd="5" destOrd="0" presId="urn:microsoft.com/office/officeart/2018/2/layout/IconVerticalSolidList"/>
    <dgm:cxn modelId="{31EFBB72-A89A-9247-85E5-4259E2397B0A}" type="presParOf" srcId="{2D5E9EE4-AACE-439A-9FE3-5F73661BE5CA}" destId="{27C58109-D191-4332-8FBF-8C02B67A5CC0}" srcOrd="6" destOrd="0" presId="urn:microsoft.com/office/officeart/2018/2/layout/IconVerticalSolidList"/>
    <dgm:cxn modelId="{D136F2FC-4A71-1348-B22D-37E3E026ACA7}" type="presParOf" srcId="{27C58109-D191-4332-8FBF-8C02B67A5CC0}" destId="{B0E98AAA-9C25-4135-AAA3-7E994CB809FE}" srcOrd="0" destOrd="0" presId="urn:microsoft.com/office/officeart/2018/2/layout/IconVerticalSolidList"/>
    <dgm:cxn modelId="{7C71FF3C-7282-8947-B33D-E13F44134AAF}" type="presParOf" srcId="{27C58109-D191-4332-8FBF-8C02B67A5CC0}" destId="{5DF18DF4-0476-4A7A-93EF-87571E8D80D4}" srcOrd="1" destOrd="0" presId="urn:microsoft.com/office/officeart/2018/2/layout/IconVerticalSolidList"/>
    <dgm:cxn modelId="{982CE86F-7B00-A546-89B6-C365393E2C50}" type="presParOf" srcId="{27C58109-D191-4332-8FBF-8C02B67A5CC0}" destId="{90149BC5-AF82-4D18-BDE9-7EA5FFB11B03}" srcOrd="2" destOrd="0" presId="urn:microsoft.com/office/officeart/2018/2/layout/IconVerticalSolidList"/>
    <dgm:cxn modelId="{29C5E25F-F7AF-EE46-A63A-D08454B4A99A}" type="presParOf" srcId="{27C58109-D191-4332-8FBF-8C02B67A5CC0}" destId="{61CE1997-AF7C-4B65-98E9-C1DCBD6DC3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270E53-9179-43BC-84E3-6C5BAA33483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76DB7C-FEE1-4F44-8763-8F91B508077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Best </a:t>
          </a:r>
          <a:r>
            <a:rPr lang="en-GB" b="1"/>
            <a:t>k</a:t>
          </a:r>
          <a:r>
            <a:rPr lang="en-GB"/>
            <a:t> value is somewhere between these two extremes</a:t>
          </a:r>
          <a:endParaRPr lang="en-US"/>
        </a:p>
      </dgm:t>
    </dgm:pt>
    <dgm:pt modelId="{F3C3977D-1AA3-433F-82C3-BC7BE65A5B94}" type="parTrans" cxnId="{4D2C6C09-F969-47DC-A08B-F1ECB88F602F}">
      <dgm:prSet/>
      <dgm:spPr/>
      <dgm:t>
        <a:bodyPr/>
        <a:lstStyle/>
        <a:p>
          <a:endParaRPr lang="en-US"/>
        </a:p>
      </dgm:t>
    </dgm:pt>
    <dgm:pt modelId="{5502254A-3829-417B-92AF-E6C710B1E861}" type="sibTrans" cxnId="{4D2C6C09-F969-47DC-A08B-F1ECB88F602F}">
      <dgm:prSet/>
      <dgm:spPr/>
      <dgm:t>
        <a:bodyPr/>
        <a:lstStyle/>
        <a:p>
          <a:endParaRPr lang="en-US"/>
        </a:p>
      </dgm:t>
    </dgm:pt>
    <dgm:pt modelId="{F983D2F6-C414-4BF0-BCFC-AD6FD0B8ADD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We are going to introduce a plot where we have draw a hypothetical ‘</a:t>
          </a:r>
          <a:r>
            <a:rPr lang="en-GB" i="1" dirty="0"/>
            <a:t>decision boundary</a:t>
          </a:r>
          <a:r>
            <a:rPr lang="en-GB" dirty="0"/>
            <a:t>’ by a dotted line.</a:t>
          </a:r>
          <a:endParaRPr lang="en-US" dirty="0"/>
        </a:p>
      </dgm:t>
    </dgm:pt>
    <dgm:pt modelId="{8ABAE226-E67C-4836-8591-CD55F58DE3E9}" type="parTrans" cxnId="{7D6DBF7E-A62E-4256-B038-87764DFA48D7}">
      <dgm:prSet/>
      <dgm:spPr/>
      <dgm:t>
        <a:bodyPr/>
        <a:lstStyle/>
        <a:p>
          <a:endParaRPr lang="en-US"/>
        </a:p>
      </dgm:t>
    </dgm:pt>
    <dgm:pt modelId="{635039A1-4643-48C0-B468-BB148A6BEFC0}" type="sibTrans" cxnId="{7D6DBF7E-A62E-4256-B038-87764DFA48D7}">
      <dgm:prSet/>
      <dgm:spPr/>
      <dgm:t>
        <a:bodyPr/>
        <a:lstStyle/>
        <a:p>
          <a:endParaRPr lang="en-US"/>
        </a:p>
      </dgm:t>
    </dgm:pt>
    <dgm:pt modelId="{5E87F6B3-EA97-4804-BE87-C1D22EDE268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It’s useful to think of all classification approaches, and their settings, this way.</a:t>
          </a:r>
          <a:endParaRPr lang="en-US"/>
        </a:p>
      </dgm:t>
    </dgm:pt>
    <dgm:pt modelId="{8384983A-3A50-402D-86E5-AE18EB9042D3}" type="parTrans" cxnId="{56E474C5-1180-4712-B313-036754CA162F}">
      <dgm:prSet/>
      <dgm:spPr/>
      <dgm:t>
        <a:bodyPr/>
        <a:lstStyle/>
        <a:p>
          <a:endParaRPr lang="en-US"/>
        </a:p>
      </dgm:t>
    </dgm:pt>
    <dgm:pt modelId="{F7A11059-415C-469C-91CB-09369EE8ED40}" type="sibTrans" cxnId="{56E474C5-1180-4712-B313-036754CA162F}">
      <dgm:prSet/>
      <dgm:spPr/>
      <dgm:t>
        <a:bodyPr/>
        <a:lstStyle/>
        <a:p>
          <a:endParaRPr lang="en-US"/>
        </a:p>
      </dgm:t>
    </dgm:pt>
    <dgm:pt modelId="{C93FA2AD-A2CE-40B7-9017-23F0D8E35599}" type="pres">
      <dgm:prSet presAssocID="{4C270E53-9179-43BC-84E3-6C5BAA334837}" presName="root" presStyleCnt="0">
        <dgm:presLayoutVars>
          <dgm:dir/>
          <dgm:resizeHandles val="exact"/>
        </dgm:presLayoutVars>
      </dgm:prSet>
      <dgm:spPr/>
    </dgm:pt>
    <dgm:pt modelId="{435A8772-4B4F-42CB-B062-A59C09F60AC7}" type="pres">
      <dgm:prSet presAssocID="{6576DB7C-FEE1-4F44-8763-8F91B5080774}" presName="compNode" presStyleCnt="0"/>
      <dgm:spPr/>
    </dgm:pt>
    <dgm:pt modelId="{2953D81F-D847-4574-A8CE-8F21E356034F}" type="pres">
      <dgm:prSet presAssocID="{6576DB7C-FEE1-4F44-8763-8F91B5080774}" presName="bgRect" presStyleLbl="bgShp" presStyleIdx="0" presStyleCnt="3"/>
      <dgm:spPr/>
    </dgm:pt>
    <dgm:pt modelId="{F29C8AB8-724A-40A6-B116-0C6267436C27}" type="pres">
      <dgm:prSet presAssocID="{6576DB7C-FEE1-4F44-8763-8F91B508077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113EBC2-2186-4C9D-A07D-654165727DA6}" type="pres">
      <dgm:prSet presAssocID="{6576DB7C-FEE1-4F44-8763-8F91B5080774}" presName="spaceRect" presStyleCnt="0"/>
      <dgm:spPr/>
    </dgm:pt>
    <dgm:pt modelId="{81181B11-2651-4AFC-A09C-AA4F6444C735}" type="pres">
      <dgm:prSet presAssocID="{6576DB7C-FEE1-4F44-8763-8F91B5080774}" presName="parTx" presStyleLbl="revTx" presStyleIdx="0" presStyleCnt="3">
        <dgm:presLayoutVars>
          <dgm:chMax val="0"/>
          <dgm:chPref val="0"/>
        </dgm:presLayoutVars>
      </dgm:prSet>
      <dgm:spPr/>
    </dgm:pt>
    <dgm:pt modelId="{26FE08B2-8C20-41F1-8D37-3FEC3F20C5B9}" type="pres">
      <dgm:prSet presAssocID="{5502254A-3829-417B-92AF-E6C710B1E861}" presName="sibTrans" presStyleCnt="0"/>
      <dgm:spPr/>
    </dgm:pt>
    <dgm:pt modelId="{53B2FEC4-7D5B-4AAE-8275-B9D2C54E95AA}" type="pres">
      <dgm:prSet presAssocID="{F983D2F6-C414-4BF0-BCFC-AD6FD0B8ADDA}" presName="compNode" presStyleCnt="0"/>
      <dgm:spPr/>
    </dgm:pt>
    <dgm:pt modelId="{CFCE26EB-D972-4434-8A2A-E6049E0FF1AC}" type="pres">
      <dgm:prSet presAssocID="{F983D2F6-C414-4BF0-BCFC-AD6FD0B8ADDA}" presName="bgRect" presStyleLbl="bgShp" presStyleIdx="1" presStyleCnt="3"/>
      <dgm:spPr/>
    </dgm:pt>
    <dgm:pt modelId="{456D9EE9-A882-4FFC-A41F-9568EBE2B229}" type="pres">
      <dgm:prSet presAssocID="{F983D2F6-C414-4BF0-BCFC-AD6FD0B8ADD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B1DCB5C-D6A0-4EAD-925E-C240E7282CD7}" type="pres">
      <dgm:prSet presAssocID="{F983D2F6-C414-4BF0-BCFC-AD6FD0B8ADDA}" presName="spaceRect" presStyleCnt="0"/>
      <dgm:spPr/>
    </dgm:pt>
    <dgm:pt modelId="{EAC14A83-F036-4C55-8538-2E5293B8B8DC}" type="pres">
      <dgm:prSet presAssocID="{F983D2F6-C414-4BF0-BCFC-AD6FD0B8ADDA}" presName="parTx" presStyleLbl="revTx" presStyleIdx="1" presStyleCnt="3">
        <dgm:presLayoutVars>
          <dgm:chMax val="0"/>
          <dgm:chPref val="0"/>
        </dgm:presLayoutVars>
      </dgm:prSet>
      <dgm:spPr/>
    </dgm:pt>
    <dgm:pt modelId="{F6AA538A-5CD3-4F2C-9FFE-3B44E80CE42C}" type="pres">
      <dgm:prSet presAssocID="{635039A1-4643-48C0-B468-BB148A6BEFC0}" presName="sibTrans" presStyleCnt="0"/>
      <dgm:spPr/>
    </dgm:pt>
    <dgm:pt modelId="{94A77512-D5EA-4F72-8742-08A04D9D9BAC}" type="pres">
      <dgm:prSet presAssocID="{5E87F6B3-EA97-4804-BE87-C1D22EDE2687}" presName="compNode" presStyleCnt="0"/>
      <dgm:spPr/>
    </dgm:pt>
    <dgm:pt modelId="{E02A2BB3-372E-488D-8F58-F02935AAE8F4}" type="pres">
      <dgm:prSet presAssocID="{5E87F6B3-EA97-4804-BE87-C1D22EDE2687}" presName="bgRect" presStyleLbl="bgShp" presStyleIdx="2" presStyleCnt="3"/>
      <dgm:spPr/>
    </dgm:pt>
    <dgm:pt modelId="{8B3E05C2-1510-47AC-8E4D-A00A9E71E89E}" type="pres">
      <dgm:prSet presAssocID="{5E87F6B3-EA97-4804-BE87-C1D22EDE268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13D65EB1-9620-430F-B144-AB994A1DAA32}" type="pres">
      <dgm:prSet presAssocID="{5E87F6B3-EA97-4804-BE87-C1D22EDE2687}" presName="spaceRect" presStyleCnt="0"/>
      <dgm:spPr/>
    </dgm:pt>
    <dgm:pt modelId="{75DFA817-953D-4D59-83B4-DB71532D710F}" type="pres">
      <dgm:prSet presAssocID="{5E87F6B3-EA97-4804-BE87-C1D22EDE268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D2C6C09-F969-47DC-A08B-F1ECB88F602F}" srcId="{4C270E53-9179-43BC-84E3-6C5BAA334837}" destId="{6576DB7C-FEE1-4F44-8763-8F91B5080774}" srcOrd="0" destOrd="0" parTransId="{F3C3977D-1AA3-433F-82C3-BC7BE65A5B94}" sibTransId="{5502254A-3829-417B-92AF-E6C710B1E861}"/>
    <dgm:cxn modelId="{75C45926-2FAD-4C90-95FA-7877009B4BB0}" type="presOf" srcId="{4C270E53-9179-43BC-84E3-6C5BAA334837}" destId="{C93FA2AD-A2CE-40B7-9017-23F0D8E35599}" srcOrd="0" destOrd="0" presId="urn:microsoft.com/office/officeart/2018/2/layout/IconVerticalSolidList"/>
    <dgm:cxn modelId="{B4097D32-0F13-4AB1-9517-8B12AB27DCB1}" type="presOf" srcId="{F983D2F6-C414-4BF0-BCFC-AD6FD0B8ADDA}" destId="{EAC14A83-F036-4C55-8538-2E5293B8B8DC}" srcOrd="0" destOrd="0" presId="urn:microsoft.com/office/officeart/2018/2/layout/IconVerticalSolidList"/>
    <dgm:cxn modelId="{C8633F48-D30E-42E5-A8CC-4E6DBBACD06C}" type="presOf" srcId="{5E87F6B3-EA97-4804-BE87-C1D22EDE2687}" destId="{75DFA817-953D-4D59-83B4-DB71532D710F}" srcOrd="0" destOrd="0" presId="urn:microsoft.com/office/officeart/2018/2/layout/IconVerticalSolidList"/>
    <dgm:cxn modelId="{7D6DBF7E-A62E-4256-B038-87764DFA48D7}" srcId="{4C270E53-9179-43BC-84E3-6C5BAA334837}" destId="{F983D2F6-C414-4BF0-BCFC-AD6FD0B8ADDA}" srcOrd="1" destOrd="0" parTransId="{8ABAE226-E67C-4836-8591-CD55F58DE3E9}" sibTransId="{635039A1-4643-48C0-B468-BB148A6BEFC0}"/>
    <dgm:cxn modelId="{56E474C5-1180-4712-B313-036754CA162F}" srcId="{4C270E53-9179-43BC-84E3-6C5BAA334837}" destId="{5E87F6B3-EA97-4804-BE87-C1D22EDE2687}" srcOrd="2" destOrd="0" parTransId="{8384983A-3A50-402D-86E5-AE18EB9042D3}" sibTransId="{F7A11059-415C-469C-91CB-09369EE8ED40}"/>
    <dgm:cxn modelId="{62E859DC-0760-4866-A85A-57702920DA92}" type="presOf" srcId="{6576DB7C-FEE1-4F44-8763-8F91B5080774}" destId="{81181B11-2651-4AFC-A09C-AA4F6444C735}" srcOrd="0" destOrd="0" presId="urn:microsoft.com/office/officeart/2018/2/layout/IconVerticalSolidList"/>
    <dgm:cxn modelId="{74A34389-580F-4DFF-91C4-5C695C963070}" type="presParOf" srcId="{C93FA2AD-A2CE-40B7-9017-23F0D8E35599}" destId="{435A8772-4B4F-42CB-B062-A59C09F60AC7}" srcOrd="0" destOrd="0" presId="urn:microsoft.com/office/officeart/2018/2/layout/IconVerticalSolidList"/>
    <dgm:cxn modelId="{C4799137-167E-4AC7-8369-B23A5B282CE5}" type="presParOf" srcId="{435A8772-4B4F-42CB-B062-A59C09F60AC7}" destId="{2953D81F-D847-4574-A8CE-8F21E356034F}" srcOrd="0" destOrd="0" presId="urn:microsoft.com/office/officeart/2018/2/layout/IconVerticalSolidList"/>
    <dgm:cxn modelId="{3D904FD9-73D0-4DC0-AADB-957105633673}" type="presParOf" srcId="{435A8772-4B4F-42CB-B062-A59C09F60AC7}" destId="{F29C8AB8-724A-40A6-B116-0C6267436C27}" srcOrd="1" destOrd="0" presId="urn:microsoft.com/office/officeart/2018/2/layout/IconVerticalSolidList"/>
    <dgm:cxn modelId="{C0B3C029-F691-4675-97A7-F70764CA2772}" type="presParOf" srcId="{435A8772-4B4F-42CB-B062-A59C09F60AC7}" destId="{4113EBC2-2186-4C9D-A07D-654165727DA6}" srcOrd="2" destOrd="0" presId="urn:microsoft.com/office/officeart/2018/2/layout/IconVerticalSolidList"/>
    <dgm:cxn modelId="{E3261E7B-A82F-4BAF-A025-4A9839526D0A}" type="presParOf" srcId="{435A8772-4B4F-42CB-B062-A59C09F60AC7}" destId="{81181B11-2651-4AFC-A09C-AA4F6444C735}" srcOrd="3" destOrd="0" presId="urn:microsoft.com/office/officeart/2018/2/layout/IconVerticalSolidList"/>
    <dgm:cxn modelId="{7283EB99-AC07-4E36-BDFE-9E690507C746}" type="presParOf" srcId="{C93FA2AD-A2CE-40B7-9017-23F0D8E35599}" destId="{26FE08B2-8C20-41F1-8D37-3FEC3F20C5B9}" srcOrd="1" destOrd="0" presId="urn:microsoft.com/office/officeart/2018/2/layout/IconVerticalSolidList"/>
    <dgm:cxn modelId="{689131DB-AD78-4045-BA36-ABF6A21844DF}" type="presParOf" srcId="{C93FA2AD-A2CE-40B7-9017-23F0D8E35599}" destId="{53B2FEC4-7D5B-4AAE-8275-B9D2C54E95AA}" srcOrd="2" destOrd="0" presId="urn:microsoft.com/office/officeart/2018/2/layout/IconVerticalSolidList"/>
    <dgm:cxn modelId="{26DF6BCA-7B5D-4E9C-8D6D-51544D970C9E}" type="presParOf" srcId="{53B2FEC4-7D5B-4AAE-8275-B9D2C54E95AA}" destId="{CFCE26EB-D972-4434-8A2A-E6049E0FF1AC}" srcOrd="0" destOrd="0" presId="urn:microsoft.com/office/officeart/2018/2/layout/IconVerticalSolidList"/>
    <dgm:cxn modelId="{A05BF749-C773-4CAA-8CF3-2D58DE5F6802}" type="presParOf" srcId="{53B2FEC4-7D5B-4AAE-8275-B9D2C54E95AA}" destId="{456D9EE9-A882-4FFC-A41F-9568EBE2B229}" srcOrd="1" destOrd="0" presId="urn:microsoft.com/office/officeart/2018/2/layout/IconVerticalSolidList"/>
    <dgm:cxn modelId="{92739811-C329-4D5C-BD71-6A175868ADAE}" type="presParOf" srcId="{53B2FEC4-7D5B-4AAE-8275-B9D2C54E95AA}" destId="{9B1DCB5C-D6A0-4EAD-925E-C240E7282CD7}" srcOrd="2" destOrd="0" presId="urn:microsoft.com/office/officeart/2018/2/layout/IconVerticalSolidList"/>
    <dgm:cxn modelId="{90F93835-1A2C-4350-839E-EC0AE61B8EC8}" type="presParOf" srcId="{53B2FEC4-7D5B-4AAE-8275-B9D2C54E95AA}" destId="{EAC14A83-F036-4C55-8538-2E5293B8B8DC}" srcOrd="3" destOrd="0" presId="urn:microsoft.com/office/officeart/2018/2/layout/IconVerticalSolidList"/>
    <dgm:cxn modelId="{D3C057C7-828F-4769-B908-C601A27F7DDE}" type="presParOf" srcId="{C93FA2AD-A2CE-40B7-9017-23F0D8E35599}" destId="{F6AA538A-5CD3-4F2C-9FFE-3B44E80CE42C}" srcOrd="3" destOrd="0" presId="urn:microsoft.com/office/officeart/2018/2/layout/IconVerticalSolidList"/>
    <dgm:cxn modelId="{7E449764-1F9C-4CF6-B9D8-A22FF3B562C5}" type="presParOf" srcId="{C93FA2AD-A2CE-40B7-9017-23F0D8E35599}" destId="{94A77512-D5EA-4F72-8742-08A04D9D9BAC}" srcOrd="4" destOrd="0" presId="urn:microsoft.com/office/officeart/2018/2/layout/IconVerticalSolidList"/>
    <dgm:cxn modelId="{6526AF09-7830-4CDF-B317-F94CEB4BF8FC}" type="presParOf" srcId="{94A77512-D5EA-4F72-8742-08A04D9D9BAC}" destId="{E02A2BB3-372E-488D-8F58-F02935AAE8F4}" srcOrd="0" destOrd="0" presId="urn:microsoft.com/office/officeart/2018/2/layout/IconVerticalSolidList"/>
    <dgm:cxn modelId="{2E5E4077-F3A6-4BCE-8C56-B21A4CBDDD30}" type="presParOf" srcId="{94A77512-D5EA-4F72-8742-08A04D9D9BAC}" destId="{8B3E05C2-1510-47AC-8E4D-A00A9E71E89E}" srcOrd="1" destOrd="0" presId="urn:microsoft.com/office/officeart/2018/2/layout/IconVerticalSolidList"/>
    <dgm:cxn modelId="{AEF423AD-9715-4CD1-96DD-2D309D08FF1B}" type="presParOf" srcId="{94A77512-D5EA-4F72-8742-08A04D9D9BAC}" destId="{13D65EB1-9620-430F-B144-AB994A1DAA32}" srcOrd="2" destOrd="0" presId="urn:microsoft.com/office/officeart/2018/2/layout/IconVerticalSolidList"/>
    <dgm:cxn modelId="{2958B030-9FA8-49C1-A8F7-089132B54697}" type="presParOf" srcId="{94A77512-D5EA-4F72-8742-08A04D9D9BAC}" destId="{75DFA817-953D-4D59-83B4-DB71532D71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8F0DD5-D2FB-954C-935A-65A491A65203}">
      <dsp:nvSpPr>
        <dsp:cNvPr id="0" name=""/>
        <dsp:cNvSpPr/>
      </dsp:nvSpPr>
      <dsp:spPr>
        <a:xfrm>
          <a:off x="0" y="89085"/>
          <a:ext cx="5994400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Well-suited for classification tasks where relationships among the attributes and target classes are:</a:t>
          </a:r>
        </a:p>
      </dsp:txBody>
      <dsp:txXfrm>
        <a:off x="67110" y="156195"/>
        <a:ext cx="5860180" cy="1240530"/>
      </dsp:txXfrm>
    </dsp:sp>
    <dsp:sp modelId="{E41D5D6D-CD68-814F-8348-A42EC5AF3162}">
      <dsp:nvSpPr>
        <dsp:cNvPr id="0" name=""/>
        <dsp:cNvSpPr/>
      </dsp:nvSpPr>
      <dsp:spPr>
        <a:xfrm>
          <a:off x="0" y="1463835"/>
          <a:ext cx="599440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322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numerous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complex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difficult to understand</a:t>
          </a:r>
        </a:p>
      </dsp:txBody>
      <dsp:txXfrm>
        <a:off x="0" y="1463835"/>
        <a:ext cx="5994400" cy="1035000"/>
      </dsp:txXfrm>
    </dsp:sp>
    <dsp:sp modelId="{E65E6857-ECB5-C144-B0AF-B642E114A3AA}">
      <dsp:nvSpPr>
        <dsp:cNvPr id="0" name=""/>
        <dsp:cNvSpPr/>
      </dsp:nvSpPr>
      <dsp:spPr>
        <a:xfrm>
          <a:off x="0" y="2498835"/>
          <a:ext cx="5994400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</a:t>
          </a:r>
          <a:r>
            <a:rPr lang="en-US" sz="2500" kern="1200" dirty="0" err="1"/>
            <a:t>ut</a:t>
          </a:r>
          <a:r>
            <a:rPr lang="en-GB" sz="2500" kern="1200" dirty="0"/>
            <a:t>,</a:t>
          </a:r>
          <a:r>
            <a:rPr lang="en-US" sz="2500" kern="1200" dirty="0"/>
            <a:t> instances of a class type are quite</a:t>
          </a:r>
          <a:r>
            <a:rPr lang="en-GB" sz="2500" kern="1200" dirty="0"/>
            <a:t> </a:t>
          </a:r>
          <a:r>
            <a:rPr lang="en-US" sz="2500" kern="1200" dirty="0"/>
            <a:t>homogeneous</a:t>
          </a:r>
        </a:p>
      </dsp:txBody>
      <dsp:txXfrm>
        <a:off x="67110" y="2565945"/>
        <a:ext cx="5860180" cy="1240530"/>
      </dsp:txXfrm>
    </dsp:sp>
    <dsp:sp modelId="{8D22673E-B626-AC41-AAED-4608D7BECA5A}">
      <dsp:nvSpPr>
        <dsp:cNvPr id="0" name=""/>
        <dsp:cNvSpPr/>
      </dsp:nvSpPr>
      <dsp:spPr>
        <a:xfrm>
          <a:off x="0" y="3945585"/>
          <a:ext cx="5994400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In other words: If a concept is difficult to define, but you know it when you see it.</a:t>
          </a:r>
          <a:endParaRPr lang="en-US" sz="2500" kern="1200" dirty="0"/>
        </a:p>
      </dsp:txBody>
      <dsp:txXfrm>
        <a:off x="67110" y="4012695"/>
        <a:ext cx="5860180" cy="12405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ABD41-5944-B544-B6FB-14E227A493AE}">
      <dsp:nvSpPr>
        <dsp:cNvPr id="0" name=""/>
        <dsp:cNvSpPr/>
      </dsp:nvSpPr>
      <dsp:spPr>
        <a:xfrm>
          <a:off x="0" y="17324"/>
          <a:ext cx="6254749" cy="7915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Strengths</a:t>
          </a:r>
          <a:r>
            <a:rPr lang="en-US" sz="3300" kern="1200"/>
            <a:t>:</a:t>
          </a:r>
        </a:p>
      </dsp:txBody>
      <dsp:txXfrm>
        <a:off x="38638" y="55962"/>
        <a:ext cx="6177473" cy="714229"/>
      </dsp:txXfrm>
    </dsp:sp>
    <dsp:sp modelId="{DEB0932F-2A83-2F43-B33E-D4DAEA4CB7FD}">
      <dsp:nvSpPr>
        <dsp:cNvPr id="0" name=""/>
        <dsp:cNvSpPr/>
      </dsp:nvSpPr>
      <dsp:spPr>
        <a:xfrm>
          <a:off x="0" y="808829"/>
          <a:ext cx="6254749" cy="170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88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600" kern="1200"/>
            <a:t>Simple and effective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600" kern="1200"/>
            <a:t>No assumptions about underlying data distribution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600" kern="1200"/>
            <a:t>Fast training phase</a:t>
          </a:r>
          <a:endParaRPr lang="en-US" sz="2600" kern="1200"/>
        </a:p>
      </dsp:txBody>
      <dsp:txXfrm>
        <a:off x="0" y="808829"/>
        <a:ext cx="6254749" cy="1707750"/>
      </dsp:txXfrm>
    </dsp:sp>
    <dsp:sp modelId="{382717D3-2FE9-DB43-8226-39A287C1D7AF}">
      <dsp:nvSpPr>
        <dsp:cNvPr id="0" name=""/>
        <dsp:cNvSpPr/>
      </dsp:nvSpPr>
      <dsp:spPr>
        <a:xfrm>
          <a:off x="0" y="2516580"/>
          <a:ext cx="6254749" cy="791505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kern="1200"/>
            <a:t>Weaknesses:</a:t>
          </a:r>
          <a:endParaRPr lang="en-US" sz="3300" kern="1200"/>
        </a:p>
      </dsp:txBody>
      <dsp:txXfrm>
        <a:off x="38638" y="2555218"/>
        <a:ext cx="6177473" cy="714229"/>
      </dsp:txXfrm>
    </dsp:sp>
    <dsp:sp modelId="{3D6790BF-F37B-EA48-B070-D3CCD5C0ADDC}">
      <dsp:nvSpPr>
        <dsp:cNvPr id="0" name=""/>
        <dsp:cNvSpPr/>
      </dsp:nvSpPr>
      <dsp:spPr>
        <a:xfrm>
          <a:off x="0" y="3308085"/>
          <a:ext cx="6254749" cy="2083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88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 dirty="0"/>
            <a:t>No model: Limits getting insights about feature  relationships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Requires lots of memory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kern="1200"/>
            <a:t>Nominal features/missing data requires extra  processing</a:t>
          </a:r>
        </a:p>
      </dsp:txBody>
      <dsp:txXfrm>
        <a:off x="0" y="3308085"/>
        <a:ext cx="6254749" cy="20834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648A6-31BE-C04F-A04D-2C6A41442555}">
      <dsp:nvSpPr>
        <dsp:cNvPr id="0" name=""/>
        <dsp:cNvSpPr/>
      </dsp:nvSpPr>
      <dsp:spPr>
        <a:xfrm>
          <a:off x="4969386" y="1369501"/>
          <a:ext cx="2635032" cy="6270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27294"/>
              </a:lnTo>
              <a:lnTo>
                <a:pt x="2635032" y="427294"/>
              </a:lnTo>
              <a:lnTo>
                <a:pt x="2635032" y="627017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32AC75-244F-124C-B7A5-0BB140698206}">
      <dsp:nvSpPr>
        <dsp:cNvPr id="0" name=""/>
        <dsp:cNvSpPr/>
      </dsp:nvSpPr>
      <dsp:spPr>
        <a:xfrm>
          <a:off x="4923666" y="1369501"/>
          <a:ext cx="91440" cy="62701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27017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F10DEA-15AB-DB42-93B8-D278700B0C13}">
      <dsp:nvSpPr>
        <dsp:cNvPr id="0" name=""/>
        <dsp:cNvSpPr/>
      </dsp:nvSpPr>
      <dsp:spPr>
        <a:xfrm>
          <a:off x="2334354" y="1369501"/>
          <a:ext cx="2635032" cy="627017"/>
        </a:xfrm>
        <a:custGeom>
          <a:avLst/>
          <a:gdLst/>
          <a:ahLst/>
          <a:cxnLst/>
          <a:rect l="0" t="0" r="0" b="0"/>
          <a:pathLst>
            <a:path>
              <a:moveTo>
                <a:pt x="2635032" y="0"/>
              </a:moveTo>
              <a:lnTo>
                <a:pt x="2635032" y="427294"/>
              </a:lnTo>
              <a:lnTo>
                <a:pt x="0" y="427294"/>
              </a:lnTo>
              <a:lnTo>
                <a:pt x="0" y="627017"/>
              </a:lnTo>
            </a:path>
          </a:pathLst>
        </a:custGeom>
        <a:noFill/>
        <a:ln w="127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E94FE9-C72C-7D4B-AB1E-24682596D0EC}">
      <dsp:nvSpPr>
        <dsp:cNvPr id="0" name=""/>
        <dsp:cNvSpPr/>
      </dsp:nvSpPr>
      <dsp:spPr>
        <a:xfrm>
          <a:off x="3891419" y="481"/>
          <a:ext cx="2155935" cy="13690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C4637C4-1809-714F-9A70-CB6A46257B1E}">
      <dsp:nvSpPr>
        <dsp:cNvPr id="0" name=""/>
        <dsp:cNvSpPr/>
      </dsp:nvSpPr>
      <dsp:spPr>
        <a:xfrm>
          <a:off x="4130967" y="228052"/>
          <a:ext cx="2155935" cy="1369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Algorithm kNN (D,d,k)</a:t>
          </a:r>
          <a:endParaRPr lang="en-US" sz="1600" kern="1200"/>
        </a:p>
      </dsp:txBody>
      <dsp:txXfrm>
        <a:off x="4171064" y="268149"/>
        <a:ext cx="2075741" cy="1288825"/>
      </dsp:txXfrm>
    </dsp:sp>
    <dsp:sp modelId="{BAAC88CA-6D17-1C4F-A9D2-919CBCBAB0F1}">
      <dsp:nvSpPr>
        <dsp:cNvPr id="0" name=""/>
        <dsp:cNvSpPr/>
      </dsp:nvSpPr>
      <dsp:spPr>
        <a:xfrm>
          <a:off x="1256386" y="1996518"/>
          <a:ext cx="2155935" cy="13690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D7D02B-A6E5-1B41-81BF-C52178016070}">
      <dsp:nvSpPr>
        <dsp:cNvPr id="0" name=""/>
        <dsp:cNvSpPr/>
      </dsp:nvSpPr>
      <dsp:spPr>
        <a:xfrm>
          <a:off x="1495935" y="2224089"/>
          <a:ext cx="2155935" cy="1369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Compute the distance betweeen </a:t>
          </a:r>
          <a:r>
            <a:rPr lang="en-US" sz="1600" b="1" kern="1200"/>
            <a:t>d</a:t>
          </a:r>
          <a:r>
            <a:rPr lang="en-US" sz="1600" kern="1200"/>
            <a:t> and every example in </a:t>
          </a:r>
          <a:r>
            <a:rPr lang="en-US" sz="1600" b="1" kern="1200"/>
            <a:t>D</a:t>
          </a:r>
          <a:r>
            <a:rPr lang="en-US" sz="1600" kern="1200"/>
            <a:t>;</a:t>
          </a:r>
        </a:p>
      </dsp:txBody>
      <dsp:txXfrm>
        <a:off x="1536032" y="2264186"/>
        <a:ext cx="2075741" cy="1288825"/>
      </dsp:txXfrm>
    </dsp:sp>
    <dsp:sp modelId="{702226D0-B4CA-DA40-894F-9A8A42D41141}">
      <dsp:nvSpPr>
        <dsp:cNvPr id="0" name=""/>
        <dsp:cNvSpPr/>
      </dsp:nvSpPr>
      <dsp:spPr>
        <a:xfrm>
          <a:off x="3891419" y="1996518"/>
          <a:ext cx="2155935" cy="13690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310F5F9-DC3F-C14D-982D-1C361436B5CC}">
      <dsp:nvSpPr>
        <dsp:cNvPr id="0" name=""/>
        <dsp:cNvSpPr/>
      </dsp:nvSpPr>
      <dsp:spPr>
        <a:xfrm>
          <a:off x="4130967" y="2224089"/>
          <a:ext cx="2155935" cy="1369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Choose the</a:t>
          </a:r>
          <a:r>
            <a:rPr lang="en-US" sz="1600" b="1" kern="1200"/>
            <a:t> k </a:t>
          </a:r>
          <a:r>
            <a:rPr lang="en-US" sz="1600" kern="1200"/>
            <a:t>examples in D that are nearest to </a:t>
          </a:r>
          <a:r>
            <a:rPr lang="en-US" sz="1600" b="1" kern="1200"/>
            <a:t>d</a:t>
          </a:r>
          <a:r>
            <a:rPr lang="en-US" sz="1600" kern="1200"/>
            <a:t>,  denote the set by </a:t>
          </a:r>
          <a:r>
            <a:rPr lang="en-US" sz="1600" b="1" kern="1200"/>
            <a:t>P(⊆ D)</a:t>
          </a:r>
          <a:r>
            <a:rPr lang="en-US" sz="1600" kern="1200"/>
            <a:t>;</a:t>
          </a:r>
        </a:p>
      </dsp:txBody>
      <dsp:txXfrm>
        <a:off x="4171064" y="2264186"/>
        <a:ext cx="2075741" cy="1288825"/>
      </dsp:txXfrm>
    </dsp:sp>
    <dsp:sp modelId="{CE1BF16A-161C-6347-AA7B-E8F1361A0A43}">
      <dsp:nvSpPr>
        <dsp:cNvPr id="0" name=""/>
        <dsp:cNvSpPr/>
      </dsp:nvSpPr>
      <dsp:spPr>
        <a:xfrm>
          <a:off x="6526451" y="1996518"/>
          <a:ext cx="2155935" cy="13690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3357A3B-2D5B-E444-B272-DBA968192416}">
      <dsp:nvSpPr>
        <dsp:cNvPr id="0" name=""/>
        <dsp:cNvSpPr/>
      </dsp:nvSpPr>
      <dsp:spPr>
        <a:xfrm>
          <a:off x="6765999" y="2224089"/>
          <a:ext cx="2155935" cy="1369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Assign </a:t>
          </a:r>
          <a:r>
            <a:rPr lang="en-US" sz="1600" b="1" kern="1200"/>
            <a:t>d</a:t>
          </a:r>
          <a:r>
            <a:rPr lang="en-US" sz="1600" kern="1200"/>
            <a:t> the class that is the most frequent class  (or the majority class) in </a:t>
          </a:r>
          <a:r>
            <a:rPr lang="en-US" sz="1600" b="1" kern="1200"/>
            <a:t>P</a:t>
          </a:r>
          <a:endParaRPr lang="en-US" sz="1600" kern="1200"/>
        </a:p>
      </dsp:txBody>
      <dsp:txXfrm>
        <a:off x="6806096" y="2264186"/>
        <a:ext cx="2075741" cy="12888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E6E66-E988-4503-B256-CEA3473E0E01}">
      <dsp:nvSpPr>
        <dsp:cNvPr id="0" name=""/>
        <dsp:cNvSpPr/>
      </dsp:nvSpPr>
      <dsp:spPr>
        <a:xfrm>
          <a:off x="0" y="0"/>
          <a:ext cx="101790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7580D-818C-48E2-BBCF-6E566492E93E}">
      <dsp:nvSpPr>
        <dsp:cNvPr id="0" name=""/>
        <dsp:cNvSpPr/>
      </dsp:nvSpPr>
      <dsp:spPr>
        <a:xfrm>
          <a:off x="0" y="0"/>
          <a:ext cx="10179050" cy="1797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Let</a:t>
          </a:r>
          <a:r>
            <a:rPr lang="en-GB" sz="4300" kern="1200"/>
            <a:t>'</a:t>
          </a:r>
          <a:r>
            <a:rPr lang="en-US" sz="4300" kern="1200"/>
            <a:t>s say we described certain </a:t>
          </a:r>
          <a:r>
            <a:rPr lang="en-US" sz="4300" b="1" kern="1200"/>
            <a:t>types of food </a:t>
          </a:r>
          <a:r>
            <a:rPr lang="en-US" sz="4300" kern="1200"/>
            <a:t>via how we rated their taste and sweetness</a:t>
          </a:r>
          <a:r>
            <a:rPr lang="en-GB" sz="4300" kern="1200"/>
            <a:t>;</a:t>
          </a:r>
          <a:endParaRPr lang="en-US" sz="4300" kern="1200"/>
        </a:p>
      </dsp:txBody>
      <dsp:txXfrm>
        <a:off x="0" y="0"/>
        <a:ext cx="10179050" cy="1797049"/>
      </dsp:txXfrm>
    </dsp:sp>
    <dsp:sp modelId="{7DFE76CF-58CC-425F-A43C-A11539856DB4}">
      <dsp:nvSpPr>
        <dsp:cNvPr id="0" name=""/>
        <dsp:cNvSpPr/>
      </dsp:nvSpPr>
      <dsp:spPr>
        <a:xfrm>
          <a:off x="0" y="1797049"/>
          <a:ext cx="10179050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2B3274-DB5A-48D3-BC0A-0C9A11FBF0FA}">
      <dsp:nvSpPr>
        <dsp:cNvPr id="0" name=""/>
        <dsp:cNvSpPr/>
      </dsp:nvSpPr>
      <dsp:spPr>
        <a:xfrm>
          <a:off x="0" y="1797049"/>
          <a:ext cx="10179050" cy="1797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T</a:t>
          </a:r>
          <a:r>
            <a:rPr lang="en-US" sz="4300" kern="1200"/>
            <a:t>hen we would be able to create a </a:t>
          </a:r>
          <a:r>
            <a:rPr lang="en-US" sz="4300" b="1" i="1" kern="1200"/>
            <a:t>plot</a:t>
          </a:r>
          <a:r>
            <a:rPr lang="en-US" sz="4300" kern="1200"/>
            <a:t> like this:</a:t>
          </a:r>
        </a:p>
      </dsp:txBody>
      <dsp:txXfrm>
        <a:off x="0" y="1797049"/>
        <a:ext cx="10179050" cy="17970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E02570-0FAB-4B41-98B8-B80E5A686851}">
      <dsp:nvSpPr>
        <dsp:cNvPr id="0" name=""/>
        <dsp:cNvSpPr/>
      </dsp:nvSpPr>
      <dsp:spPr>
        <a:xfrm>
          <a:off x="0" y="297334"/>
          <a:ext cx="10179050" cy="595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0007" tIns="291592" rIns="79000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Similar types of food tend to be grouped closely together</a:t>
          </a:r>
          <a:endParaRPr lang="en-US" sz="1400" kern="1200"/>
        </a:p>
      </dsp:txBody>
      <dsp:txXfrm>
        <a:off x="0" y="297334"/>
        <a:ext cx="10179050" cy="595349"/>
      </dsp:txXfrm>
    </dsp:sp>
    <dsp:sp modelId="{E313D442-C17C-694A-9ADB-61C809C26412}">
      <dsp:nvSpPr>
        <dsp:cNvPr id="0" name=""/>
        <dsp:cNvSpPr/>
      </dsp:nvSpPr>
      <dsp:spPr>
        <a:xfrm>
          <a:off x="508952" y="90694"/>
          <a:ext cx="7125334" cy="4132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9321" tIns="0" rIns="26932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Did you notice the pattern?</a:t>
          </a:r>
          <a:endParaRPr lang="en-US" sz="1400" kern="1200"/>
        </a:p>
      </dsp:txBody>
      <dsp:txXfrm>
        <a:off x="529127" y="110869"/>
        <a:ext cx="7084984" cy="372929"/>
      </dsp:txXfrm>
    </dsp:sp>
    <dsp:sp modelId="{EAB1B76A-9BEF-B74B-B9B3-704B3E2B7C01}">
      <dsp:nvSpPr>
        <dsp:cNvPr id="0" name=""/>
        <dsp:cNvSpPr/>
      </dsp:nvSpPr>
      <dsp:spPr>
        <a:xfrm>
          <a:off x="0" y="1174925"/>
          <a:ext cx="10179050" cy="5953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0007" tIns="291592" rIns="79000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Two features: sweetness and crunchiness</a:t>
          </a:r>
          <a:endParaRPr lang="en-US" sz="1400" kern="1200"/>
        </a:p>
      </dsp:txBody>
      <dsp:txXfrm>
        <a:off x="0" y="1174925"/>
        <a:ext cx="10179050" cy="595349"/>
      </dsp:txXfrm>
    </dsp:sp>
    <dsp:sp modelId="{E260EB9C-0540-7D49-BFC0-963E64F8C269}">
      <dsp:nvSpPr>
        <dsp:cNvPr id="0" name=""/>
        <dsp:cNvSpPr/>
      </dsp:nvSpPr>
      <dsp:spPr>
        <a:xfrm>
          <a:off x="508952" y="968284"/>
          <a:ext cx="7125334" cy="4132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9321" tIns="0" rIns="26932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The feature space is two-dimensional</a:t>
          </a:r>
          <a:endParaRPr lang="en-US" sz="1400" kern="1200"/>
        </a:p>
      </dsp:txBody>
      <dsp:txXfrm>
        <a:off x="529127" y="988459"/>
        <a:ext cx="7084984" cy="372929"/>
      </dsp:txXfrm>
    </dsp:sp>
    <dsp:sp modelId="{B39760DA-C6A8-214F-919F-E5F8528B3F18}">
      <dsp:nvSpPr>
        <dsp:cNvPr id="0" name=""/>
        <dsp:cNvSpPr/>
      </dsp:nvSpPr>
      <dsp:spPr>
        <a:xfrm>
          <a:off x="0" y="2052514"/>
          <a:ext cx="10179050" cy="8158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0007" tIns="291592" rIns="79000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X: sweetness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Y: crunchiness</a:t>
          </a:r>
          <a:endParaRPr lang="en-US" sz="1400" kern="1200"/>
        </a:p>
      </dsp:txBody>
      <dsp:txXfrm>
        <a:off x="0" y="2052514"/>
        <a:ext cx="10179050" cy="815850"/>
      </dsp:txXfrm>
    </dsp:sp>
    <dsp:sp modelId="{F5E50D7C-6AB8-D449-AE0D-4CD4E4C6A63B}">
      <dsp:nvSpPr>
        <dsp:cNvPr id="0" name=""/>
        <dsp:cNvSpPr/>
      </dsp:nvSpPr>
      <dsp:spPr>
        <a:xfrm>
          <a:off x="508952" y="1845874"/>
          <a:ext cx="7125334" cy="4132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9321" tIns="0" rIns="26932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We can plot two-dimensional data on a scatterplot</a:t>
          </a:r>
          <a:endParaRPr lang="en-US" sz="1400" kern="1200"/>
        </a:p>
      </dsp:txBody>
      <dsp:txXfrm>
        <a:off x="529127" y="1866049"/>
        <a:ext cx="7084984" cy="372929"/>
      </dsp:txXfrm>
    </dsp:sp>
    <dsp:sp modelId="{F1EAAA13-27DC-B048-9155-F0E0A0C5065A}">
      <dsp:nvSpPr>
        <dsp:cNvPr id="0" name=""/>
        <dsp:cNvSpPr/>
      </dsp:nvSpPr>
      <dsp:spPr>
        <a:xfrm>
          <a:off x="0" y="3150604"/>
          <a:ext cx="10179050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AE2C1-8DFA-7B4A-9013-8F80A73B1B7D}">
      <dsp:nvSpPr>
        <dsp:cNvPr id="0" name=""/>
        <dsp:cNvSpPr/>
      </dsp:nvSpPr>
      <dsp:spPr>
        <a:xfrm>
          <a:off x="508952" y="2943964"/>
          <a:ext cx="7125334" cy="4132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9321" tIns="0" rIns="26932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Indeed we may be able to look at some extra  dimension that lists it’s food type…</a:t>
          </a:r>
          <a:endParaRPr lang="en-US" sz="1400" kern="1200"/>
        </a:p>
      </dsp:txBody>
      <dsp:txXfrm>
        <a:off x="529127" y="2964139"/>
        <a:ext cx="7084984" cy="3729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DE6335-6EAA-45F1-9428-618B470AC41D}">
      <dsp:nvSpPr>
        <dsp:cNvPr id="0" name=""/>
        <dsp:cNvSpPr/>
      </dsp:nvSpPr>
      <dsp:spPr>
        <a:xfrm>
          <a:off x="0" y="1754"/>
          <a:ext cx="101790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316BF-887B-4D38-B692-0AA7A5FF56E8}">
      <dsp:nvSpPr>
        <dsp:cNvPr id="0" name=""/>
        <dsp:cNvSpPr/>
      </dsp:nvSpPr>
      <dsp:spPr>
        <a:xfrm>
          <a:off x="0" y="1754"/>
          <a:ext cx="10179050" cy="1196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There are many measures of distance, but the most basic is Euclidean distance</a:t>
          </a:r>
          <a:endParaRPr lang="en-US" sz="3300" kern="1200"/>
        </a:p>
      </dsp:txBody>
      <dsp:txXfrm>
        <a:off x="0" y="1754"/>
        <a:ext cx="10179050" cy="1196863"/>
      </dsp:txXfrm>
    </dsp:sp>
    <dsp:sp modelId="{7F9B7EF8-B006-4A43-8670-483BCA5CD085}">
      <dsp:nvSpPr>
        <dsp:cNvPr id="0" name=""/>
        <dsp:cNvSpPr/>
      </dsp:nvSpPr>
      <dsp:spPr>
        <a:xfrm>
          <a:off x="0" y="1198618"/>
          <a:ext cx="10179050" cy="0"/>
        </a:xfrm>
        <a:prstGeom prst="lin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88D33-FBE7-45A4-B5C7-72E87EB1AC71}">
      <dsp:nvSpPr>
        <dsp:cNvPr id="0" name=""/>
        <dsp:cNvSpPr/>
      </dsp:nvSpPr>
      <dsp:spPr>
        <a:xfrm>
          <a:off x="0" y="1198618"/>
          <a:ext cx="10179050" cy="1196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kern="1200"/>
            <a:t>Distance were you to use a ruler to connect two points (dotted lines)</a:t>
          </a:r>
          <a:endParaRPr lang="en-US" sz="3300" kern="1200"/>
        </a:p>
      </dsp:txBody>
      <dsp:txXfrm>
        <a:off x="0" y="1198618"/>
        <a:ext cx="10179050" cy="1196863"/>
      </dsp:txXfrm>
    </dsp:sp>
    <dsp:sp modelId="{4FD15A72-FD9A-4DC4-9918-5B154959A4AF}">
      <dsp:nvSpPr>
        <dsp:cNvPr id="0" name=""/>
        <dsp:cNvSpPr/>
      </dsp:nvSpPr>
      <dsp:spPr>
        <a:xfrm>
          <a:off x="0" y="2395481"/>
          <a:ext cx="10179050" cy="0"/>
        </a:xfrm>
        <a:prstGeom prst="lin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1E741-ED7A-4DE9-90A7-43661CDD105D}">
      <dsp:nvSpPr>
        <dsp:cNvPr id="0" name=""/>
        <dsp:cNvSpPr/>
      </dsp:nvSpPr>
      <dsp:spPr>
        <a:xfrm>
          <a:off x="0" y="2395481"/>
          <a:ext cx="10179050" cy="11968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/>
            <a:t>kNN</a:t>
          </a:r>
          <a:r>
            <a:rPr lang="en-GB" sz="3300" kern="1200"/>
            <a:t> algorithm traditionally uses </a:t>
          </a:r>
          <a:r>
            <a:rPr lang="en-GB" sz="3300" b="1" kern="1200"/>
            <a:t>Euclidean distance</a:t>
          </a:r>
          <a:endParaRPr lang="en-US" sz="3300" kern="1200"/>
        </a:p>
      </dsp:txBody>
      <dsp:txXfrm>
        <a:off x="0" y="2395481"/>
        <a:ext cx="10179050" cy="119686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E947E-5B9C-41ED-A2BD-DE4B8BD7C89E}">
      <dsp:nvSpPr>
        <dsp:cNvPr id="0" name=""/>
        <dsp:cNvSpPr/>
      </dsp:nvSpPr>
      <dsp:spPr>
        <a:xfrm>
          <a:off x="0" y="1491"/>
          <a:ext cx="10179050" cy="75602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6989E-3A2D-4222-AFE9-A6FD90E17E3F}">
      <dsp:nvSpPr>
        <dsp:cNvPr id="0" name=""/>
        <dsp:cNvSpPr/>
      </dsp:nvSpPr>
      <dsp:spPr>
        <a:xfrm>
          <a:off x="228697" y="171597"/>
          <a:ext cx="415813" cy="4158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D51A3-0457-47F2-A343-425CEFA0946C}">
      <dsp:nvSpPr>
        <dsp:cNvPr id="0" name=""/>
        <dsp:cNvSpPr/>
      </dsp:nvSpPr>
      <dsp:spPr>
        <a:xfrm>
          <a:off x="873208" y="1491"/>
          <a:ext cx="9305841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As orange is a fruit, the kNN algorithm would classify tomato as a fruit. </a:t>
          </a:r>
          <a:r>
            <a:rPr lang="en-GB" sz="1900" b="1" kern="1200"/>
            <a:t>k = 1</a:t>
          </a:r>
          <a:endParaRPr lang="en-US" sz="1900" kern="1200"/>
        </a:p>
      </dsp:txBody>
      <dsp:txXfrm>
        <a:off x="873208" y="1491"/>
        <a:ext cx="9305841" cy="756024"/>
      </dsp:txXfrm>
    </dsp:sp>
    <dsp:sp modelId="{CF918C19-B21B-455D-B58A-093AC8345CD7}">
      <dsp:nvSpPr>
        <dsp:cNvPr id="0" name=""/>
        <dsp:cNvSpPr/>
      </dsp:nvSpPr>
      <dsp:spPr>
        <a:xfrm>
          <a:off x="0" y="946522"/>
          <a:ext cx="10179050" cy="75602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ED7D5-2A7A-4D8C-B286-44063D39CD9C}">
      <dsp:nvSpPr>
        <dsp:cNvPr id="0" name=""/>
        <dsp:cNvSpPr/>
      </dsp:nvSpPr>
      <dsp:spPr>
        <a:xfrm>
          <a:off x="228697" y="1116627"/>
          <a:ext cx="415813" cy="4158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45BE7-4063-41DE-8B99-4605CDA03143}">
      <dsp:nvSpPr>
        <dsp:cNvPr id="0" name=""/>
        <dsp:cNvSpPr/>
      </dsp:nvSpPr>
      <dsp:spPr>
        <a:xfrm>
          <a:off x="873208" y="946522"/>
          <a:ext cx="4580572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If we use </a:t>
          </a:r>
          <a:r>
            <a:rPr lang="en-GB" sz="1900" b="1" kern="1200"/>
            <a:t>k = 3 </a:t>
          </a:r>
          <a:r>
            <a:rPr lang="en-GB" sz="1900" kern="1200"/>
            <a:t>instead, a vote among the three nearest neighbours is needed:</a:t>
          </a:r>
          <a:endParaRPr lang="en-US" sz="1900" kern="1200"/>
        </a:p>
      </dsp:txBody>
      <dsp:txXfrm>
        <a:off x="873208" y="946522"/>
        <a:ext cx="4580572" cy="756024"/>
      </dsp:txXfrm>
    </dsp:sp>
    <dsp:sp modelId="{49B4D6E2-E9E0-4D59-8BCF-71FF8B188D9A}">
      <dsp:nvSpPr>
        <dsp:cNvPr id="0" name=""/>
        <dsp:cNvSpPr/>
      </dsp:nvSpPr>
      <dsp:spPr>
        <a:xfrm>
          <a:off x="5453780" y="946522"/>
          <a:ext cx="4725269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orange, grape, and nuts.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The predominant class here is fruit (</a:t>
          </a:r>
          <a:r>
            <a:rPr lang="en-GB" sz="1100" b="1" kern="1200"/>
            <a:t>2 of 3 votes</a:t>
          </a:r>
          <a:r>
            <a:rPr lang="en-GB" sz="1100" kern="1200"/>
            <a:t>), the tomato again is classified as a fruit.</a:t>
          </a:r>
          <a:endParaRPr lang="en-US" sz="1100" kern="1200"/>
        </a:p>
      </dsp:txBody>
      <dsp:txXfrm>
        <a:off x="5453780" y="946522"/>
        <a:ext cx="4725269" cy="756024"/>
      </dsp:txXfrm>
    </dsp:sp>
    <dsp:sp modelId="{EBB551F3-D0FD-48A9-AD1E-949E9E9E68C3}">
      <dsp:nvSpPr>
        <dsp:cNvPr id="0" name=""/>
        <dsp:cNvSpPr/>
      </dsp:nvSpPr>
      <dsp:spPr>
        <a:xfrm>
          <a:off x="0" y="1891553"/>
          <a:ext cx="10179050" cy="75602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F66DE-10FD-47FA-9F85-624F1D2B931E}">
      <dsp:nvSpPr>
        <dsp:cNvPr id="0" name=""/>
        <dsp:cNvSpPr/>
      </dsp:nvSpPr>
      <dsp:spPr>
        <a:xfrm>
          <a:off x="228697" y="2061658"/>
          <a:ext cx="415813" cy="4158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11726A-A0C1-4BC9-8A54-C141BEA68884}">
      <dsp:nvSpPr>
        <dsp:cNvPr id="0" name=""/>
        <dsp:cNvSpPr/>
      </dsp:nvSpPr>
      <dsp:spPr>
        <a:xfrm>
          <a:off x="873208" y="1891553"/>
          <a:ext cx="9305841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It’s not immediately obvious from this example, but we need to think about what our </a:t>
          </a:r>
          <a:r>
            <a:rPr lang="en-GB" sz="1900" b="1" kern="1200"/>
            <a:t>k</a:t>
          </a:r>
          <a:r>
            <a:rPr lang="en-GB" sz="1900" kern="1200"/>
            <a:t> should be.</a:t>
          </a:r>
          <a:endParaRPr lang="en-US" sz="1900" kern="1200"/>
        </a:p>
      </dsp:txBody>
      <dsp:txXfrm>
        <a:off x="873208" y="1891553"/>
        <a:ext cx="9305841" cy="756024"/>
      </dsp:txXfrm>
    </dsp:sp>
    <dsp:sp modelId="{B0E98AAA-9C25-4135-AAA3-7E994CB809FE}">
      <dsp:nvSpPr>
        <dsp:cNvPr id="0" name=""/>
        <dsp:cNvSpPr/>
      </dsp:nvSpPr>
      <dsp:spPr>
        <a:xfrm>
          <a:off x="0" y="2836583"/>
          <a:ext cx="10179050" cy="75602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18DF4-0476-4A7A-93EF-87571E8D80D4}">
      <dsp:nvSpPr>
        <dsp:cNvPr id="0" name=""/>
        <dsp:cNvSpPr/>
      </dsp:nvSpPr>
      <dsp:spPr>
        <a:xfrm>
          <a:off x="228697" y="3006689"/>
          <a:ext cx="415813" cy="4158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CE1997-AF7C-4B65-98E9-C1DCBD6DC3B0}">
      <dsp:nvSpPr>
        <dsp:cNvPr id="0" name=""/>
        <dsp:cNvSpPr/>
      </dsp:nvSpPr>
      <dsp:spPr>
        <a:xfrm>
          <a:off x="873208" y="2836583"/>
          <a:ext cx="9305841" cy="756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3" tIns="80013" rIns="80013" bIns="8001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There </a:t>
          </a:r>
          <a:r>
            <a:rPr lang="en-GB" sz="1900" b="1" kern="1200"/>
            <a:t>IS NOT </a:t>
          </a:r>
          <a:r>
            <a:rPr lang="en-GB" sz="1900" kern="1200"/>
            <a:t>a single definitive answer as to what </a:t>
          </a:r>
          <a:r>
            <a:rPr lang="en-GB" sz="1900" b="1" kern="1200"/>
            <a:t>k</a:t>
          </a:r>
          <a:r>
            <a:rPr lang="en-GB" sz="1900" kern="1200"/>
            <a:t> should be!</a:t>
          </a:r>
          <a:endParaRPr lang="en-US" sz="1900" kern="1200"/>
        </a:p>
      </dsp:txBody>
      <dsp:txXfrm>
        <a:off x="873208" y="2836583"/>
        <a:ext cx="9305841" cy="7560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3D81F-D847-4574-A8CE-8F21E356034F}">
      <dsp:nvSpPr>
        <dsp:cNvPr id="0" name=""/>
        <dsp:cNvSpPr/>
      </dsp:nvSpPr>
      <dsp:spPr>
        <a:xfrm>
          <a:off x="0" y="487"/>
          <a:ext cx="9945100" cy="11409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C8AB8-724A-40A6-B116-0C6267436C27}">
      <dsp:nvSpPr>
        <dsp:cNvPr id="0" name=""/>
        <dsp:cNvSpPr/>
      </dsp:nvSpPr>
      <dsp:spPr>
        <a:xfrm>
          <a:off x="345152" y="257212"/>
          <a:ext cx="627549" cy="6275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81B11-2651-4AFC-A09C-AA4F6444C735}">
      <dsp:nvSpPr>
        <dsp:cNvPr id="0" name=""/>
        <dsp:cNvSpPr/>
      </dsp:nvSpPr>
      <dsp:spPr>
        <a:xfrm>
          <a:off x="1317854" y="487"/>
          <a:ext cx="8627245" cy="1140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756" tIns="120756" rIns="120756" bIns="1207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Best </a:t>
          </a:r>
          <a:r>
            <a:rPr lang="en-GB" sz="2500" b="1" kern="1200"/>
            <a:t>k</a:t>
          </a:r>
          <a:r>
            <a:rPr lang="en-GB" sz="2500" kern="1200"/>
            <a:t> value is somewhere between these two extremes</a:t>
          </a:r>
          <a:endParaRPr lang="en-US" sz="2500" kern="1200"/>
        </a:p>
      </dsp:txBody>
      <dsp:txXfrm>
        <a:off x="1317854" y="487"/>
        <a:ext cx="8627245" cy="1140999"/>
      </dsp:txXfrm>
    </dsp:sp>
    <dsp:sp modelId="{CFCE26EB-D972-4434-8A2A-E6049E0FF1AC}">
      <dsp:nvSpPr>
        <dsp:cNvPr id="0" name=""/>
        <dsp:cNvSpPr/>
      </dsp:nvSpPr>
      <dsp:spPr>
        <a:xfrm>
          <a:off x="0" y="1426736"/>
          <a:ext cx="9945100" cy="11409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6D9EE9-A882-4FFC-A41F-9568EBE2B229}">
      <dsp:nvSpPr>
        <dsp:cNvPr id="0" name=""/>
        <dsp:cNvSpPr/>
      </dsp:nvSpPr>
      <dsp:spPr>
        <a:xfrm>
          <a:off x="345152" y="1683461"/>
          <a:ext cx="627549" cy="6275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14A83-F036-4C55-8538-2E5293B8B8DC}">
      <dsp:nvSpPr>
        <dsp:cNvPr id="0" name=""/>
        <dsp:cNvSpPr/>
      </dsp:nvSpPr>
      <dsp:spPr>
        <a:xfrm>
          <a:off x="1317854" y="1426736"/>
          <a:ext cx="8627245" cy="1140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756" tIns="120756" rIns="120756" bIns="1207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We are going to introduce a plot where we have draw a hypothetical ‘</a:t>
          </a:r>
          <a:r>
            <a:rPr lang="en-GB" sz="2500" i="1" kern="1200" dirty="0"/>
            <a:t>decision boundary</a:t>
          </a:r>
          <a:r>
            <a:rPr lang="en-GB" sz="2500" kern="1200" dirty="0"/>
            <a:t>’ by a dotted line.</a:t>
          </a:r>
          <a:endParaRPr lang="en-US" sz="2500" kern="1200" dirty="0"/>
        </a:p>
      </dsp:txBody>
      <dsp:txXfrm>
        <a:off x="1317854" y="1426736"/>
        <a:ext cx="8627245" cy="1140999"/>
      </dsp:txXfrm>
    </dsp:sp>
    <dsp:sp modelId="{E02A2BB3-372E-488D-8F58-F02935AAE8F4}">
      <dsp:nvSpPr>
        <dsp:cNvPr id="0" name=""/>
        <dsp:cNvSpPr/>
      </dsp:nvSpPr>
      <dsp:spPr>
        <a:xfrm>
          <a:off x="0" y="2852986"/>
          <a:ext cx="9945100" cy="11409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E05C2-1510-47AC-8E4D-A00A9E71E89E}">
      <dsp:nvSpPr>
        <dsp:cNvPr id="0" name=""/>
        <dsp:cNvSpPr/>
      </dsp:nvSpPr>
      <dsp:spPr>
        <a:xfrm>
          <a:off x="345152" y="3109710"/>
          <a:ext cx="627549" cy="6275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FA817-953D-4D59-83B4-DB71532D710F}">
      <dsp:nvSpPr>
        <dsp:cNvPr id="0" name=""/>
        <dsp:cNvSpPr/>
      </dsp:nvSpPr>
      <dsp:spPr>
        <a:xfrm>
          <a:off x="1317854" y="2852986"/>
          <a:ext cx="8627245" cy="1140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756" tIns="120756" rIns="120756" bIns="1207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It’s useful to think of all classification approaches, and their settings, this way.</a:t>
          </a:r>
          <a:endParaRPr lang="en-US" sz="2500" kern="1200"/>
        </a:p>
      </dsp:txBody>
      <dsp:txXfrm>
        <a:off x="1317854" y="2852986"/>
        <a:ext cx="8627245" cy="1140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92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75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94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771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578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16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136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93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63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319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1241" y="17603"/>
            <a:ext cx="11809513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87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75503">
              <a:spcBef>
                <a:spcPts val="327"/>
              </a:spcBef>
            </a:pPr>
            <a:fld id="{81D60167-4931-47E6-BA6A-407CBD079E47}" type="slidenum">
              <a:rPr lang="en-GB" spc="-50" smtClean="0"/>
              <a:pPr marL="75503">
                <a:spcBef>
                  <a:spcPts val="327"/>
                </a:spcBef>
              </a:pPr>
              <a:t>‹#›</a:t>
            </a:fld>
            <a:endParaRPr lang="en-GB" spc="-50" dirty="0"/>
          </a:p>
        </p:txBody>
      </p:sp>
    </p:spTree>
    <p:extLst>
      <p:ext uri="{BB962C8B-B14F-4D97-AF65-F5344CB8AC3E}">
        <p14:creationId xmlns:p14="http://schemas.microsoft.com/office/powerpoint/2010/main" val="3237122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1/9/26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4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335E-FCB5-43A9-9FD2-11F28EA29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4243" y="742122"/>
            <a:ext cx="9528313" cy="5062330"/>
          </a:xfrm>
        </p:spPr>
        <p:txBody>
          <a:bodyPr/>
          <a:lstStyle/>
          <a:p>
            <a:r>
              <a:rPr lang="en-GB" dirty="0"/>
              <a:t>K-nearest neighbour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39381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BBD37B9-16E5-4C2B-8CFE-9CA92CF62CA2}"/>
              </a:ext>
            </a:extLst>
          </p:cNvPr>
          <p:cNvSpPr txBox="1"/>
          <p:nvPr/>
        </p:nvSpPr>
        <p:spPr>
          <a:xfrm>
            <a:off x="1244009" y="4223197"/>
            <a:ext cx="84209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12788" marR="10067" indent="-350838">
              <a:lnSpc>
                <a:spcPct val="100400"/>
              </a:lnSpc>
              <a:spcBef>
                <a:spcPts val="188"/>
              </a:spcBef>
              <a:buFont typeface="Arial" panose="020B0604020202020204" pitchFamily="34" charset="0"/>
              <a:buChar char="•"/>
            </a:pPr>
            <a:r>
              <a:rPr lang="en-GB" sz="2800" spc="20" dirty="0">
                <a:cs typeface="Times New Roman"/>
              </a:rPr>
              <a:t>We can use this principle to classify data by placing it in the category with the most similar, or “nearest” neighbours</a:t>
            </a:r>
            <a:endParaRPr lang="en-GB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EE565A-0257-4B9C-99DD-25056FDF2D18}"/>
              </a:ext>
            </a:extLst>
          </p:cNvPr>
          <p:cNvSpPr txBox="1"/>
          <p:nvPr/>
        </p:nvSpPr>
        <p:spPr>
          <a:xfrm>
            <a:off x="2509284" y="1735769"/>
            <a:ext cx="6889325" cy="1990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" marR="10067" algn="ctr">
              <a:lnSpc>
                <a:spcPct val="100400"/>
              </a:lnSpc>
              <a:spcBef>
                <a:spcPts val="188"/>
              </a:spcBef>
            </a:pPr>
            <a:r>
              <a:rPr lang="en-GB" sz="3600" spc="20" dirty="0">
                <a:solidFill>
                  <a:srgbClr val="FF0000"/>
                </a:solidFill>
                <a:cs typeface="Times New Roman"/>
              </a:rPr>
              <a:t>’Birds of a feather flock together.’</a:t>
            </a:r>
          </a:p>
          <a:p>
            <a:pPr marL="85725" marR="10067" algn="ctr">
              <a:lnSpc>
                <a:spcPct val="100400"/>
              </a:lnSpc>
              <a:spcBef>
                <a:spcPts val="188"/>
              </a:spcBef>
            </a:pPr>
            <a:endParaRPr lang="en-GB" sz="2800" spc="20" dirty="0">
              <a:cs typeface="Times New Roman"/>
            </a:endParaRPr>
          </a:p>
          <a:p>
            <a:pPr marL="85725" marR="10067" algn="ctr">
              <a:lnSpc>
                <a:spcPct val="100400"/>
              </a:lnSpc>
              <a:spcBef>
                <a:spcPts val="188"/>
              </a:spcBef>
            </a:pPr>
            <a:r>
              <a:rPr lang="en-GB" sz="2800" spc="20" dirty="0">
                <a:cs typeface="Times New Roman"/>
              </a:rPr>
              <a:t>Things that are alike are likely to have properties that are alike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9F6BD9-C303-438E-AB2E-EC1570366717}"/>
              </a:ext>
            </a:extLst>
          </p:cNvPr>
          <p:cNvSpPr txBox="1"/>
          <p:nvPr/>
        </p:nvSpPr>
        <p:spPr>
          <a:xfrm>
            <a:off x="2172143" y="2938626"/>
            <a:ext cx="938323" cy="4065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5168" algn="ctr">
              <a:lnSpc>
                <a:spcPts val="1962"/>
              </a:lnSpc>
            </a:pP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38C48A4-AA09-48FC-8F0B-45EBD0DCD8BB}"/>
              </a:ext>
            </a:extLst>
          </p:cNvPr>
          <p:cNvSpPr txBox="1">
            <a:spLocks/>
          </p:cNvSpPr>
          <p:nvPr/>
        </p:nvSpPr>
        <p:spPr>
          <a:xfrm>
            <a:off x="4112342" y="285165"/>
            <a:ext cx="4244163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5400" dirty="0"/>
              <a:t>INTRODUCTION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33378" y="1942291"/>
            <a:ext cx="8431618" cy="2029820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712788" marR="60402" indent="-361950"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800" dirty="0">
                <a:cs typeface="Times New Roman"/>
              </a:rPr>
              <a:t>k</a:t>
            </a:r>
            <a:r>
              <a:rPr sz="2800" dirty="0">
                <a:cs typeface="Times New Roman"/>
              </a:rPr>
              <a:t>NN classifiers are defined by their characteristic of classifying unlabelled instances by assigning them the class of the most similar labelled instances.</a:t>
            </a:r>
          </a:p>
          <a:p>
            <a:pPr marL="712788" indent="-361950">
              <a:spcBef>
                <a:spcPts val="2160"/>
              </a:spcBef>
              <a:buSzPct val="75000"/>
              <a:buFont typeface="Wingdings" panose="05000000000000000000" pitchFamily="2" charset="2"/>
              <a:buChar char="Ø"/>
            </a:pPr>
            <a:r>
              <a:rPr sz="2800" dirty="0">
                <a:cs typeface="Times New Roman"/>
              </a:rPr>
              <a:t>Simple method, but nevertheless powerful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81357-4116-04F6-8468-CBC5A8B10030}"/>
              </a:ext>
            </a:extLst>
          </p:cNvPr>
          <p:cNvSpPr txBox="1">
            <a:spLocks/>
          </p:cNvSpPr>
          <p:nvPr/>
        </p:nvSpPr>
        <p:spPr>
          <a:xfrm>
            <a:off x="4112342" y="285165"/>
            <a:ext cx="4244163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5400" dirty="0"/>
              <a:t>INTRODUCTION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292165" y="6550894"/>
            <a:ext cx="234053" cy="255388"/>
          </a:xfrm>
          <a:prstGeom prst="rect">
            <a:avLst/>
          </a:prstGeom>
        </p:spPr>
        <p:txBody>
          <a:bodyPr vert="horz" wrap="square" lIns="0" tIns="41526" rIns="0" bIns="0" rtlCol="0">
            <a:spAutoFit/>
          </a:bodyPr>
          <a:lstStyle/>
          <a:p>
            <a:pPr marL="75503">
              <a:spcBef>
                <a:spcPts val="327"/>
              </a:spcBef>
            </a:pPr>
            <a:r>
              <a:rPr sz="1387" spc="-50" dirty="0">
                <a:solidFill>
                  <a:schemeClr val="bg1"/>
                </a:solidFill>
                <a:latin typeface="Times New Roman"/>
                <a:cs typeface="Times New Roman"/>
              </a:rPr>
              <a:t>7</a:t>
            </a:r>
            <a:endParaRPr sz="1387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1244009" y="1219200"/>
            <a:ext cx="7366591" cy="4466576"/>
          </a:xfrm>
          <a:prstGeom prst="rect">
            <a:avLst/>
          </a:prstGeom>
        </p:spPr>
        <p:txBody>
          <a:bodyPr vert="horz" wrap="square" lIns="0" tIns="491459" rIns="0" bIns="0" rtlCol="0" anchor="t">
            <a:spAutoFit/>
          </a:bodyPr>
          <a:lstStyle/>
          <a:p>
            <a:pPr marL="712788" marR="961402" indent="-361950">
              <a:lnSpc>
                <a:spcPct val="100000"/>
              </a:lnSpc>
              <a:spcBef>
                <a:spcPts val="188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dirty="0"/>
              <a:t>Computer vision applications </a:t>
            </a:r>
            <a:endParaRPr lang="en-GB" dirty="0"/>
          </a:p>
          <a:p>
            <a:pPr marL="1169988" marR="961402" lvl="1" indent="-265113">
              <a:lnSpc>
                <a:spcPct val="100000"/>
              </a:lnSpc>
              <a:spcBef>
                <a:spcPts val="188"/>
              </a:spcBef>
            </a:pPr>
            <a:r>
              <a:rPr sz="2600" dirty="0"/>
              <a:t>OCR</a:t>
            </a:r>
            <a:endParaRPr lang="en-GB" sz="2600" dirty="0"/>
          </a:p>
          <a:p>
            <a:pPr marL="1169988" marR="961402" lvl="1" indent="-265113">
              <a:lnSpc>
                <a:spcPct val="100000"/>
              </a:lnSpc>
              <a:spcBef>
                <a:spcPts val="188"/>
              </a:spcBef>
            </a:pPr>
            <a:r>
              <a:rPr sz="2600" dirty="0"/>
              <a:t>face recognition (images/video)</a:t>
            </a:r>
            <a:endParaRPr sz="2600" dirty="0">
              <a:cs typeface="Arial Black"/>
            </a:endParaRPr>
          </a:p>
          <a:p>
            <a:pPr marL="712788" marR="961402" indent="-361950">
              <a:lnSpc>
                <a:spcPct val="100000"/>
              </a:lnSpc>
              <a:spcBef>
                <a:spcPts val="188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endParaRPr lang="en-GB" dirty="0"/>
          </a:p>
          <a:p>
            <a:pPr marL="712788" marR="961402" indent="-361950">
              <a:lnSpc>
                <a:spcPct val="100000"/>
              </a:lnSpc>
              <a:spcBef>
                <a:spcPts val="188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dirty="0"/>
              <a:t>Netflix Challenge (does a person enjoy a  recommended movie)</a:t>
            </a:r>
            <a:endParaRPr lang="en-GB" dirty="0"/>
          </a:p>
          <a:p>
            <a:pPr marL="712788" marR="961402" indent="-361950">
              <a:lnSpc>
                <a:spcPct val="100000"/>
              </a:lnSpc>
              <a:spcBef>
                <a:spcPts val="188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endParaRPr dirty="0"/>
          </a:p>
          <a:p>
            <a:pPr marL="712788" marR="961402" indent="-361950">
              <a:lnSpc>
                <a:spcPct val="100000"/>
              </a:lnSpc>
              <a:spcBef>
                <a:spcPts val="188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dirty="0"/>
              <a:t>Identifying patterns in genetic data (detecting  specific proteins/diseases)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869D9B8-0565-4400-8CBF-A58FAE6F4D06}"/>
              </a:ext>
            </a:extLst>
          </p:cNvPr>
          <p:cNvSpPr txBox="1">
            <a:spLocks/>
          </p:cNvSpPr>
          <p:nvPr/>
        </p:nvSpPr>
        <p:spPr>
          <a:xfrm>
            <a:off x="838200" y="390989"/>
            <a:ext cx="10409903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dirty="0"/>
              <a:t>SUCCESSFUL APPLICATION OF KNN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B2F2423-2D54-4DBC-BAE3-2DC9486BE87A}"/>
              </a:ext>
            </a:extLst>
          </p:cNvPr>
          <p:cNvSpPr txBox="1">
            <a:spLocks/>
          </p:cNvSpPr>
          <p:nvPr/>
        </p:nvSpPr>
        <p:spPr>
          <a:xfrm>
            <a:off x="1251679" y="645107"/>
            <a:ext cx="3384329" cy="54214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cap="all" spc="200" dirty="0">
                <a:solidFill>
                  <a:schemeClr val="tx2"/>
                </a:solidFill>
              </a:rPr>
              <a:t>When to use kNN Algorithm?</a:t>
            </a:r>
          </a:p>
        </p:txBody>
      </p:sp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086E45A6-5181-F227-1A23-65FC83CE1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4609662"/>
              </p:ext>
            </p:extLst>
          </p:nvPr>
        </p:nvGraphicFramePr>
        <p:xfrm>
          <a:off x="5280025" y="644525"/>
          <a:ext cx="5994400" cy="5409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B2F2423-2D54-4DBC-BAE3-2DC9486BE87A}"/>
              </a:ext>
            </a:extLst>
          </p:cNvPr>
          <p:cNvSpPr txBox="1">
            <a:spLocks/>
          </p:cNvSpPr>
          <p:nvPr/>
        </p:nvSpPr>
        <p:spPr>
          <a:xfrm>
            <a:off x="761996" y="382385"/>
            <a:ext cx="10668004" cy="11132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5100" cap="all" spc="200" dirty="0">
                <a:solidFill>
                  <a:schemeClr val="tx2"/>
                </a:solidFill>
              </a:rPr>
              <a:t>When NOT to use kNN Algorithm?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996" y="1785257"/>
            <a:ext cx="10668004" cy="3440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60402" indent="-228600" defTabSz="91440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kNN algorithm is not good to  identify boundaries if the problem  does not clearly differentiate  between classes</a:t>
            </a:r>
          </a:p>
        </p:txBody>
      </p:sp>
    </p:spTree>
    <p:extLst>
      <p:ext uri="{BB962C8B-B14F-4D97-AF65-F5344CB8AC3E}">
        <p14:creationId xmlns:p14="http://schemas.microsoft.com/office/powerpoint/2010/main" val="3354446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067A50D-5EB4-4F05-A4E1-7A3FB32C9B22}"/>
              </a:ext>
            </a:extLst>
          </p:cNvPr>
          <p:cNvSpPr txBox="1">
            <a:spLocks/>
          </p:cNvSpPr>
          <p:nvPr/>
        </p:nvSpPr>
        <p:spPr>
          <a:xfrm>
            <a:off x="1251679" y="645107"/>
            <a:ext cx="3384329" cy="54082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cap="all" spc="200">
                <a:solidFill>
                  <a:schemeClr val="tx2"/>
                </a:solidFill>
              </a:rPr>
              <a:t>Strength and Weaknesses</a:t>
            </a:r>
          </a:p>
        </p:txBody>
      </p:sp>
      <p:graphicFrame>
        <p:nvGraphicFramePr>
          <p:cNvPr id="19" name="object 4">
            <a:extLst>
              <a:ext uri="{FF2B5EF4-FFF2-40B4-BE49-F238E27FC236}">
                <a16:creationId xmlns:a16="http://schemas.microsoft.com/office/drawing/2014/main" id="{9C581A5D-FB0E-2DA3-F900-E619C79AF3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4415023"/>
              </p:ext>
            </p:extLst>
          </p:nvPr>
        </p:nvGraphicFramePr>
        <p:xfrm>
          <a:off x="5175250" y="644525"/>
          <a:ext cx="6254750" cy="5408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BDD4179-75AE-4CC9-AEED-4442B317CD9D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100" cap="all" spc="200">
                <a:solidFill>
                  <a:schemeClr val="tx2"/>
                </a:solidFill>
              </a:rPr>
              <a:t>THE KNN ALGORITHM</a:t>
            </a:r>
          </a:p>
        </p:txBody>
      </p:sp>
      <p:graphicFrame>
        <p:nvGraphicFramePr>
          <p:cNvPr id="13" name="object 3">
            <a:extLst>
              <a:ext uri="{FF2B5EF4-FFF2-40B4-BE49-F238E27FC236}">
                <a16:creationId xmlns:a16="http://schemas.microsoft.com/office/drawing/2014/main" id="{1195A4C7-5882-609C-DA45-30C38BC8B9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4365349"/>
              </p:ext>
            </p:extLst>
          </p:nvPr>
        </p:nvGraphicFramePr>
        <p:xfrm>
          <a:off x="1251678" y="2286001"/>
          <a:ext cx="10178322" cy="35935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9AF7AB9-E69A-4F63-90CB-E103E65EBED3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5100" cap="all" spc="200" dirty="0">
                <a:solidFill>
                  <a:schemeClr val="tx2"/>
                </a:solidFill>
              </a:rPr>
              <a:t>kNN: Example - Food Types</a:t>
            </a:r>
          </a:p>
        </p:txBody>
      </p: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A0A53A03-F87C-142F-810B-9F705C446A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4668973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DABED071-88B3-451C-BDE4-AE844AEBFFC4}"/>
              </a:ext>
            </a:extLst>
          </p:cNvPr>
          <p:cNvGrpSpPr/>
          <p:nvPr/>
        </p:nvGrpSpPr>
        <p:grpSpPr>
          <a:xfrm>
            <a:off x="4001092" y="6190172"/>
            <a:ext cx="5293540" cy="376970"/>
            <a:chOff x="3932780" y="6195327"/>
            <a:chExt cx="5760000" cy="399816"/>
          </a:xfrm>
        </p:grpSpPr>
        <p:sp>
          <p:nvSpPr>
            <p:cNvPr id="5" name="object 5"/>
            <p:cNvSpPr txBox="1"/>
            <p:nvPr/>
          </p:nvSpPr>
          <p:spPr>
            <a:xfrm>
              <a:off x="5803500" y="6253957"/>
              <a:ext cx="1835235" cy="34118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>
                <a:lnSpc>
                  <a:spcPts val="2497"/>
                </a:lnSpc>
              </a:pPr>
              <a:r>
                <a:rPr lang="en-GB" sz="2400" b="1" spc="59" dirty="0">
                  <a:cs typeface="Trebuchet MS"/>
                </a:rPr>
                <a:t>Sweetness</a:t>
              </a:r>
              <a:endParaRPr sz="2400" dirty="0">
                <a:cs typeface="Trebuchet MS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42C4C95-7D2A-4220-8BAD-868C38A03C6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799091" y="3329016"/>
              <a:ext cx="27377" cy="57600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EDE6139-6046-4FDE-8932-5DCB7DE782F4}"/>
              </a:ext>
            </a:extLst>
          </p:cNvPr>
          <p:cNvGrpSpPr/>
          <p:nvPr/>
        </p:nvGrpSpPr>
        <p:grpSpPr>
          <a:xfrm>
            <a:off x="3690375" y="693642"/>
            <a:ext cx="330571" cy="5494921"/>
            <a:chOff x="3594683" y="991373"/>
            <a:chExt cx="359701" cy="5202240"/>
          </a:xfrm>
        </p:grpSpPr>
        <p:sp>
          <p:nvSpPr>
            <p:cNvPr id="6" name="object 6"/>
            <p:cNvSpPr txBox="1"/>
            <p:nvPr/>
          </p:nvSpPr>
          <p:spPr>
            <a:xfrm>
              <a:off x="3594683" y="2837363"/>
              <a:ext cx="321691" cy="1696254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25168">
                <a:lnSpc>
                  <a:spcPts val="2507"/>
                </a:lnSpc>
              </a:pPr>
              <a:r>
                <a:rPr lang="en-GB" sz="2400" b="1" spc="-10" dirty="0">
                  <a:cs typeface="Trebuchet MS"/>
                </a:rPr>
                <a:t>Crunchiness</a:t>
              </a:r>
              <a:endParaRPr sz="2400" b="1" baseline="2415" dirty="0">
                <a:cs typeface="Trebuchet MS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1EC87BA-E063-484A-9265-5047B85C87C7}"/>
                </a:ext>
              </a:extLst>
            </p:cNvPr>
            <p:cNvCxnSpPr/>
            <p:nvPr/>
          </p:nvCxnSpPr>
          <p:spPr>
            <a:xfrm flipV="1">
              <a:off x="3927007" y="991373"/>
              <a:ext cx="27377" cy="520224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D4F262-254A-44D6-BBD2-1BEE385CAFFF}"/>
              </a:ext>
            </a:extLst>
          </p:cNvPr>
          <p:cNvGrpSpPr/>
          <p:nvPr/>
        </p:nvGrpSpPr>
        <p:grpSpPr>
          <a:xfrm>
            <a:off x="4663567" y="3622141"/>
            <a:ext cx="1682576" cy="2007224"/>
            <a:chOff x="4440980" y="3858948"/>
            <a:chExt cx="1301115" cy="2031379"/>
          </a:xfrm>
        </p:grpSpPr>
        <p:sp>
          <p:nvSpPr>
            <p:cNvPr id="8" name="object 8"/>
            <p:cNvSpPr txBox="1"/>
            <p:nvPr/>
          </p:nvSpPr>
          <p:spPr>
            <a:xfrm>
              <a:off x="5014302" y="3858948"/>
              <a:ext cx="727793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15"/>
                </a:lnSpc>
              </a:pPr>
              <a:r>
                <a:rPr sz="1600" b="1" spc="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Nuts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556659" y="4530911"/>
              <a:ext cx="593941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Bacon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774433" y="4985251"/>
              <a:ext cx="895039" cy="2190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Shri</a:t>
              </a: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m</a:t>
              </a: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307524" y="5434014"/>
              <a:ext cx="388829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05"/>
                </a:lnSpc>
              </a:pPr>
              <a:r>
                <a:rPr sz="1600" b="1" spc="-5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Fish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4440980" y="5669715"/>
              <a:ext cx="67950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Cheese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F25606-A6BB-4A72-B713-00D9A397C5EA}"/>
              </a:ext>
            </a:extLst>
          </p:cNvPr>
          <p:cNvGrpSpPr/>
          <p:nvPr/>
        </p:nvGrpSpPr>
        <p:grpSpPr>
          <a:xfrm>
            <a:off x="7540205" y="2190548"/>
            <a:ext cx="1633292" cy="3517695"/>
            <a:chOff x="7539204" y="2138578"/>
            <a:chExt cx="1345170" cy="3730874"/>
          </a:xfrm>
        </p:grpSpPr>
        <p:sp>
          <p:nvSpPr>
            <p:cNvPr id="10" name="object 10"/>
            <p:cNvSpPr txBox="1"/>
            <p:nvPr/>
          </p:nvSpPr>
          <p:spPr>
            <a:xfrm>
              <a:off x="7968266" y="3511190"/>
              <a:ext cx="615332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Grape</a:t>
              </a:r>
              <a:endParaRPr sz="160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418784" y="2697479"/>
              <a:ext cx="465590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15"/>
                </a:lnSpc>
              </a:pPr>
              <a:r>
                <a:rPr sz="1600" b="1" spc="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Pear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539204" y="4604114"/>
              <a:ext cx="1044394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Orange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8015071" y="2138578"/>
              <a:ext cx="615332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5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Ap</a:t>
              </a:r>
              <a:r>
                <a:rPr sz="1600" b="1" spc="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</a:t>
              </a:r>
              <a:r>
                <a:rPr sz="1600" b="1" spc="-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le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7827230" y="5648840"/>
              <a:ext cx="876690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Banana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5CE2A2E-075C-42E8-8D09-B18150670AA6}"/>
              </a:ext>
            </a:extLst>
          </p:cNvPr>
          <p:cNvGrpSpPr/>
          <p:nvPr/>
        </p:nvGrpSpPr>
        <p:grpSpPr>
          <a:xfrm>
            <a:off x="4541019" y="1502425"/>
            <a:ext cx="3093158" cy="1774118"/>
            <a:chOff x="4275734" y="1408754"/>
            <a:chExt cx="2765932" cy="1701899"/>
          </a:xfrm>
        </p:grpSpPr>
        <p:sp>
          <p:nvSpPr>
            <p:cNvPr id="7" name="object 7"/>
            <p:cNvSpPr txBox="1"/>
            <p:nvPr/>
          </p:nvSpPr>
          <p:spPr>
            <a:xfrm>
              <a:off x="4275734" y="1800094"/>
              <a:ext cx="67195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7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Lettuce</a:t>
              </a:r>
              <a:endParaRPr sz="160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233481" y="2146835"/>
              <a:ext cx="1170522" cy="2312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55"/>
                </a:lnSpc>
              </a:pPr>
              <a:r>
                <a:rPr sz="1600" b="1" spc="-3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Cucumber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5135024" y="1408754"/>
              <a:ext cx="61910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Celery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430109" y="1604963"/>
              <a:ext cx="611557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Carrot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703155" y="2678355"/>
              <a:ext cx="700849" cy="432298"/>
            </a:xfrm>
            <a:prstGeom prst="rect">
              <a:avLst/>
            </a:prstGeom>
          </p:spPr>
          <p:txBody>
            <a:bodyPr vert="horz" wrap="square" lIns="0" tIns="42784" rIns="0" bIns="0" rtlCol="0">
              <a:spAutoFit/>
            </a:bodyPr>
            <a:lstStyle/>
            <a:p>
              <a:pPr marL="26426" marR="10067" indent="-2517" algn="ctr">
                <a:lnSpc>
                  <a:spcPct val="72100"/>
                </a:lnSpc>
                <a:spcBef>
                  <a:spcPts val="337"/>
                </a:spcBef>
              </a:pPr>
              <a:r>
                <a:rPr sz="1600" b="1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Green </a:t>
              </a:r>
              <a:r>
                <a:rPr sz="1600" b="1" spc="3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bean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sp>
        <p:nvSpPr>
          <p:cNvPr id="29" name="Title 1">
            <a:extLst>
              <a:ext uri="{FF2B5EF4-FFF2-40B4-BE49-F238E27FC236}">
                <a16:creationId xmlns:a16="http://schemas.microsoft.com/office/drawing/2014/main" id="{F6A044F1-3C6F-4790-B6AD-3615A251688E}"/>
              </a:ext>
            </a:extLst>
          </p:cNvPr>
          <p:cNvSpPr txBox="1">
            <a:spLocks/>
          </p:cNvSpPr>
          <p:nvPr/>
        </p:nvSpPr>
        <p:spPr>
          <a:xfrm>
            <a:off x="4236188" y="85234"/>
            <a:ext cx="6795977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KNN: EXAMPLE - FOOD TYPES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FD603BE-9848-4987-825D-5DA22DD3C00D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100" b="1" cap="all" spc="200">
                <a:solidFill>
                  <a:schemeClr val="tx2"/>
                </a:solidFill>
              </a:rPr>
              <a:t>kNN: Example - Food Types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6E003A7-BB1D-0254-E6B5-C467A6A2E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4871045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DABED071-88B3-451C-BDE4-AE844AEBFFC4}"/>
              </a:ext>
            </a:extLst>
          </p:cNvPr>
          <p:cNvGrpSpPr/>
          <p:nvPr/>
        </p:nvGrpSpPr>
        <p:grpSpPr>
          <a:xfrm>
            <a:off x="4001092" y="6190172"/>
            <a:ext cx="5293540" cy="376970"/>
            <a:chOff x="3932780" y="6195327"/>
            <a:chExt cx="5760000" cy="399816"/>
          </a:xfrm>
        </p:grpSpPr>
        <p:sp>
          <p:nvSpPr>
            <p:cNvPr id="5" name="object 5"/>
            <p:cNvSpPr txBox="1"/>
            <p:nvPr/>
          </p:nvSpPr>
          <p:spPr>
            <a:xfrm>
              <a:off x="5803500" y="6253957"/>
              <a:ext cx="1835235" cy="34118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>
                <a:lnSpc>
                  <a:spcPts val="2497"/>
                </a:lnSpc>
              </a:pPr>
              <a:r>
                <a:rPr lang="en-GB" sz="2400" b="1" spc="59" dirty="0">
                  <a:cs typeface="Trebuchet MS"/>
                </a:rPr>
                <a:t>Sweetness</a:t>
              </a:r>
              <a:endParaRPr sz="2400" dirty="0">
                <a:cs typeface="Trebuchet MS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42C4C95-7D2A-4220-8BAD-868C38A03C6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799091" y="3329016"/>
              <a:ext cx="27377" cy="57600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EDE6139-6046-4FDE-8932-5DCB7DE782F4}"/>
              </a:ext>
            </a:extLst>
          </p:cNvPr>
          <p:cNvGrpSpPr/>
          <p:nvPr/>
        </p:nvGrpSpPr>
        <p:grpSpPr>
          <a:xfrm>
            <a:off x="3690375" y="667828"/>
            <a:ext cx="330571" cy="5520735"/>
            <a:chOff x="3594683" y="991373"/>
            <a:chExt cx="359701" cy="5202240"/>
          </a:xfrm>
        </p:grpSpPr>
        <p:sp>
          <p:nvSpPr>
            <p:cNvPr id="6" name="object 6"/>
            <p:cNvSpPr txBox="1"/>
            <p:nvPr/>
          </p:nvSpPr>
          <p:spPr>
            <a:xfrm>
              <a:off x="3594683" y="2837363"/>
              <a:ext cx="321691" cy="1696254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25168">
                <a:lnSpc>
                  <a:spcPts val="2507"/>
                </a:lnSpc>
              </a:pPr>
              <a:r>
                <a:rPr lang="en-GB" sz="2400" b="1" spc="-10" dirty="0">
                  <a:cs typeface="Trebuchet MS"/>
                </a:rPr>
                <a:t>Crunchiness</a:t>
              </a:r>
              <a:endParaRPr sz="2400" b="1" baseline="2415" dirty="0">
                <a:cs typeface="Trebuchet MS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1EC87BA-E063-484A-9265-5047B85C87C7}"/>
                </a:ext>
              </a:extLst>
            </p:cNvPr>
            <p:cNvCxnSpPr/>
            <p:nvPr/>
          </p:nvCxnSpPr>
          <p:spPr>
            <a:xfrm flipV="1">
              <a:off x="3927007" y="991373"/>
              <a:ext cx="27377" cy="520224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339E17-70C0-429C-9A27-FF6294406C67}"/>
              </a:ext>
            </a:extLst>
          </p:cNvPr>
          <p:cNvGrpSpPr/>
          <p:nvPr/>
        </p:nvGrpSpPr>
        <p:grpSpPr>
          <a:xfrm>
            <a:off x="4262433" y="3359864"/>
            <a:ext cx="3292683" cy="2617352"/>
            <a:chOff x="3972600" y="3535672"/>
            <a:chExt cx="3582830" cy="277596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D60F48-7161-4103-965A-7EF1EBEF4830}"/>
                </a:ext>
              </a:extLst>
            </p:cNvPr>
            <p:cNvSpPr txBox="1"/>
            <p:nvPr/>
          </p:nvSpPr>
          <p:spPr>
            <a:xfrm>
              <a:off x="5908046" y="5712135"/>
              <a:ext cx="1647384" cy="489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151AF8"/>
                  </a:solidFill>
                </a:rPr>
                <a:t>Proteins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72FA9A2-58CB-46B6-96A9-CD4C860EDFEC}"/>
                </a:ext>
              </a:extLst>
            </p:cNvPr>
            <p:cNvSpPr/>
            <p:nvPr/>
          </p:nvSpPr>
          <p:spPr>
            <a:xfrm>
              <a:off x="3972600" y="3535672"/>
              <a:ext cx="2202478" cy="2775968"/>
            </a:xfrm>
            <a:prstGeom prst="ellipse">
              <a:avLst/>
            </a:prstGeom>
            <a:noFill/>
            <a:ln w="19050">
              <a:solidFill>
                <a:srgbClr val="151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D4F262-254A-44D6-BBD2-1BEE385CAFFF}"/>
              </a:ext>
            </a:extLst>
          </p:cNvPr>
          <p:cNvGrpSpPr/>
          <p:nvPr/>
        </p:nvGrpSpPr>
        <p:grpSpPr>
          <a:xfrm>
            <a:off x="4703715" y="3649837"/>
            <a:ext cx="1416489" cy="1915310"/>
            <a:chOff x="4440980" y="3858948"/>
            <a:chExt cx="1301115" cy="2031379"/>
          </a:xfrm>
        </p:grpSpPr>
        <p:sp>
          <p:nvSpPr>
            <p:cNvPr id="8" name="object 8"/>
            <p:cNvSpPr txBox="1"/>
            <p:nvPr/>
          </p:nvSpPr>
          <p:spPr>
            <a:xfrm>
              <a:off x="5014302" y="3858948"/>
              <a:ext cx="727793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15"/>
                </a:lnSpc>
              </a:pPr>
              <a:r>
                <a:rPr sz="1600" b="1" spc="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Nuts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556659" y="4530911"/>
              <a:ext cx="593941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Bacon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774433" y="4985251"/>
              <a:ext cx="895039" cy="2190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Shri</a:t>
              </a: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m</a:t>
              </a: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307524" y="5434014"/>
              <a:ext cx="388829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05"/>
                </a:lnSpc>
              </a:pPr>
              <a:r>
                <a:rPr sz="1600" b="1" spc="-5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Fish</a:t>
              </a:r>
              <a:endParaRPr sz="160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4440980" y="5669715"/>
              <a:ext cx="67950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Cheese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04891B-18DD-48C0-8824-263C55FDC700}"/>
              </a:ext>
            </a:extLst>
          </p:cNvPr>
          <p:cNvGrpSpPr/>
          <p:nvPr/>
        </p:nvGrpSpPr>
        <p:grpSpPr>
          <a:xfrm>
            <a:off x="7254808" y="1851027"/>
            <a:ext cx="3285373" cy="4167727"/>
            <a:chOff x="7228658" y="1778482"/>
            <a:chExt cx="3574876" cy="442029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3A97C2-46E9-401E-BB56-0D1744AA35E2}"/>
                </a:ext>
              </a:extLst>
            </p:cNvPr>
            <p:cNvSpPr txBox="1"/>
            <p:nvPr/>
          </p:nvSpPr>
          <p:spPr>
            <a:xfrm>
              <a:off x="9409833" y="3212196"/>
              <a:ext cx="1393701" cy="489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FF0000"/>
                  </a:solidFill>
                </a:rPr>
                <a:t>Fruits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0762708-BFA8-405F-A086-A027F28962C9}"/>
                </a:ext>
              </a:extLst>
            </p:cNvPr>
            <p:cNvSpPr/>
            <p:nvPr/>
          </p:nvSpPr>
          <p:spPr>
            <a:xfrm>
              <a:off x="7228658" y="1778482"/>
              <a:ext cx="2202478" cy="442029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F25606-A6BB-4A72-B713-00D9A397C5EA}"/>
              </a:ext>
            </a:extLst>
          </p:cNvPr>
          <p:cNvGrpSpPr/>
          <p:nvPr/>
        </p:nvGrpSpPr>
        <p:grpSpPr>
          <a:xfrm>
            <a:off x="7540205" y="2190549"/>
            <a:ext cx="1486229" cy="3517438"/>
            <a:chOff x="7539204" y="2138578"/>
            <a:chExt cx="1345170" cy="3730874"/>
          </a:xfrm>
        </p:grpSpPr>
        <p:sp>
          <p:nvSpPr>
            <p:cNvPr id="10" name="object 10"/>
            <p:cNvSpPr txBox="1"/>
            <p:nvPr/>
          </p:nvSpPr>
          <p:spPr>
            <a:xfrm>
              <a:off x="7968266" y="3511190"/>
              <a:ext cx="615332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Grape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418784" y="2697479"/>
              <a:ext cx="465590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15"/>
                </a:lnSpc>
              </a:pPr>
              <a:r>
                <a:rPr sz="1600" b="1" spc="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Pear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539204" y="4604114"/>
              <a:ext cx="1044394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Orange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8015071" y="2138578"/>
              <a:ext cx="615332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5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Ap</a:t>
              </a:r>
              <a:r>
                <a:rPr sz="1600" b="1" spc="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</a:t>
              </a:r>
              <a:r>
                <a:rPr sz="1600" b="1" spc="-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le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7827230" y="5648840"/>
              <a:ext cx="876690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Banana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8C4BAED-CC79-4539-AA87-4646CE141D13}"/>
              </a:ext>
            </a:extLst>
          </p:cNvPr>
          <p:cNvGrpSpPr/>
          <p:nvPr/>
        </p:nvGrpSpPr>
        <p:grpSpPr>
          <a:xfrm>
            <a:off x="4404766" y="1150014"/>
            <a:ext cx="4422291" cy="2151078"/>
            <a:chOff x="4046485" y="1001154"/>
            <a:chExt cx="4811979" cy="228143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18EDEE-90C0-43EC-A400-07C889BA4466}"/>
                </a:ext>
              </a:extLst>
            </p:cNvPr>
            <p:cNvSpPr txBox="1"/>
            <p:nvPr/>
          </p:nvSpPr>
          <p:spPr>
            <a:xfrm>
              <a:off x="6840593" y="1001154"/>
              <a:ext cx="2017871" cy="489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33CC33"/>
                  </a:solidFill>
                </a:rPr>
                <a:t>Vegetables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18CE4CF-390F-499D-9BC9-767EF483A1EC}"/>
                </a:ext>
              </a:extLst>
            </p:cNvPr>
            <p:cNvSpPr/>
            <p:nvPr/>
          </p:nvSpPr>
          <p:spPr>
            <a:xfrm>
              <a:off x="4046485" y="1046129"/>
              <a:ext cx="3305171" cy="2236462"/>
            </a:xfrm>
            <a:prstGeom prst="ellipse">
              <a:avLst/>
            </a:prstGeom>
            <a:noFill/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5CE2A2E-075C-42E8-8D09-B18150670AA6}"/>
              </a:ext>
            </a:extLst>
          </p:cNvPr>
          <p:cNvGrpSpPr/>
          <p:nvPr/>
        </p:nvGrpSpPr>
        <p:grpSpPr>
          <a:xfrm>
            <a:off x="4369834" y="1534570"/>
            <a:ext cx="2999186" cy="1694155"/>
            <a:chOff x="4275734" y="1408754"/>
            <a:chExt cx="2765932" cy="1701899"/>
          </a:xfrm>
        </p:grpSpPr>
        <p:sp>
          <p:nvSpPr>
            <p:cNvPr id="7" name="object 7"/>
            <p:cNvSpPr txBox="1"/>
            <p:nvPr/>
          </p:nvSpPr>
          <p:spPr>
            <a:xfrm>
              <a:off x="4275734" y="1800094"/>
              <a:ext cx="67195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7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Lettuce</a:t>
              </a:r>
              <a:endParaRPr sz="160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233481" y="2146835"/>
              <a:ext cx="1170522" cy="2312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55"/>
                </a:lnSpc>
              </a:pPr>
              <a:r>
                <a:rPr sz="1600" b="1" spc="-3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Cucumber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5135024" y="1408754"/>
              <a:ext cx="61910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Celery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430109" y="1604963"/>
              <a:ext cx="611557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Carrot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703155" y="2678355"/>
              <a:ext cx="700849" cy="432298"/>
            </a:xfrm>
            <a:prstGeom prst="rect">
              <a:avLst/>
            </a:prstGeom>
          </p:spPr>
          <p:txBody>
            <a:bodyPr vert="horz" wrap="square" lIns="0" tIns="42784" rIns="0" bIns="0" rtlCol="0">
              <a:spAutoFit/>
            </a:bodyPr>
            <a:lstStyle/>
            <a:p>
              <a:pPr marL="26426" marR="10067" indent="-2517" algn="ctr">
                <a:lnSpc>
                  <a:spcPct val="72100"/>
                </a:lnSpc>
                <a:spcBef>
                  <a:spcPts val="337"/>
                </a:spcBef>
              </a:pPr>
              <a:r>
                <a:rPr sz="1600" b="1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Green </a:t>
              </a:r>
              <a:r>
                <a:rPr sz="1600" b="1" spc="3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bean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3DB4B7-2365-69A1-91FA-A5B7EB053F49}"/>
              </a:ext>
            </a:extLst>
          </p:cNvPr>
          <p:cNvSpPr txBox="1">
            <a:spLocks/>
          </p:cNvSpPr>
          <p:nvPr/>
        </p:nvSpPr>
        <p:spPr>
          <a:xfrm>
            <a:off x="4236188" y="85234"/>
            <a:ext cx="6795977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KNN: EXAMPLE - FOOD TYPES</a:t>
            </a:r>
          </a:p>
        </p:txBody>
      </p:sp>
    </p:spTree>
    <p:extLst>
      <p:ext uri="{BB962C8B-B14F-4D97-AF65-F5344CB8AC3E}">
        <p14:creationId xmlns:p14="http://schemas.microsoft.com/office/powerpoint/2010/main" val="3625072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DABED071-88B3-451C-BDE4-AE844AEBFFC4}"/>
              </a:ext>
            </a:extLst>
          </p:cNvPr>
          <p:cNvGrpSpPr/>
          <p:nvPr/>
        </p:nvGrpSpPr>
        <p:grpSpPr>
          <a:xfrm>
            <a:off x="4001092" y="6190172"/>
            <a:ext cx="5293540" cy="376970"/>
            <a:chOff x="3932780" y="6195327"/>
            <a:chExt cx="5760000" cy="399816"/>
          </a:xfrm>
        </p:grpSpPr>
        <p:sp>
          <p:nvSpPr>
            <p:cNvPr id="5" name="object 5"/>
            <p:cNvSpPr txBox="1"/>
            <p:nvPr/>
          </p:nvSpPr>
          <p:spPr>
            <a:xfrm>
              <a:off x="5803500" y="6253957"/>
              <a:ext cx="1835235" cy="34118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>
                <a:lnSpc>
                  <a:spcPts val="2497"/>
                </a:lnSpc>
              </a:pPr>
              <a:r>
                <a:rPr lang="en-GB" sz="2400" b="1" spc="59" dirty="0">
                  <a:cs typeface="Trebuchet MS"/>
                </a:rPr>
                <a:t>Sweetness</a:t>
              </a:r>
              <a:endParaRPr sz="2400" dirty="0">
                <a:cs typeface="Trebuchet MS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42C4C95-7D2A-4220-8BAD-868C38A03C6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6799091" y="3329016"/>
              <a:ext cx="27377" cy="576000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EDE6139-6046-4FDE-8932-5DCB7DE782F4}"/>
              </a:ext>
            </a:extLst>
          </p:cNvPr>
          <p:cNvGrpSpPr/>
          <p:nvPr/>
        </p:nvGrpSpPr>
        <p:grpSpPr>
          <a:xfrm>
            <a:off x="3690375" y="1283574"/>
            <a:ext cx="330571" cy="4904989"/>
            <a:chOff x="3594683" y="991373"/>
            <a:chExt cx="359701" cy="5202240"/>
          </a:xfrm>
        </p:grpSpPr>
        <p:sp>
          <p:nvSpPr>
            <p:cNvPr id="6" name="object 6"/>
            <p:cNvSpPr txBox="1"/>
            <p:nvPr/>
          </p:nvSpPr>
          <p:spPr>
            <a:xfrm>
              <a:off x="3594683" y="2837363"/>
              <a:ext cx="321691" cy="1696254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25168">
                <a:lnSpc>
                  <a:spcPts val="2507"/>
                </a:lnSpc>
              </a:pPr>
              <a:r>
                <a:rPr lang="en-GB" sz="2400" b="1" spc="-10" dirty="0">
                  <a:cs typeface="Trebuchet MS"/>
                </a:rPr>
                <a:t>Crunchiness</a:t>
              </a:r>
              <a:endParaRPr sz="2400" b="1" baseline="2415" dirty="0">
                <a:cs typeface="Trebuchet MS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A1EC87BA-E063-484A-9265-5047B85C87C7}"/>
                </a:ext>
              </a:extLst>
            </p:cNvPr>
            <p:cNvCxnSpPr/>
            <p:nvPr/>
          </p:nvCxnSpPr>
          <p:spPr>
            <a:xfrm flipV="1">
              <a:off x="3927007" y="991373"/>
              <a:ext cx="27377" cy="520224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6339E17-70C0-429C-9A27-FF6294406C67}"/>
              </a:ext>
            </a:extLst>
          </p:cNvPr>
          <p:cNvGrpSpPr/>
          <p:nvPr/>
        </p:nvGrpSpPr>
        <p:grpSpPr>
          <a:xfrm>
            <a:off x="4262433" y="3359864"/>
            <a:ext cx="3367400" cy="2617352"/>
            <a:chOff x="3972600" y="3535672"/>
            <a:chExt cx="3664131" cy="277596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0D60F48-7161-4103-965A-7EF1EBEF4830}"/>
                </a:ext>
              </a:extLst>
            </p:cNvPr>
            <p:cNvSpPr txBox="1"/>
            <p:nvPr/>
          </p:nvSpPr>
          <p:spPr>
            <a:xfrm>
              <a:off x="5994076" y="5499213"/>
              <a:ext cx="1642655" cy="489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151AF8"/>
                  </a:solidFill>
                </a:rPr>
                <a:t>Proteins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72FA9A2-58CB-46B6-96A9-CD4C860EDFEC}"/>
                </a:ext>
              </a:extLst>
            </p:cNvPr>
            <p:cNvSpPr/>
            <p:nvPr/>
          </p:nvSpPr>
          <p:spPr>
            <a:xfrm>
              <a:off x="3972600" y="3535672"/>
              <a:ext cx="2202478" cy="2775968"/>
            </a:xfrm>
            <a:prstGeom prst="ellipse">
              <a:avLst/>
            </a:prstGeom>
            <a:noFill/>
            <a:ln w="19050">
              <a:solidFill>
                <a:srgbClr val="151AF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D4F262-254A-44D6-BBD2-1BEE385CAFFF}"/>
              </a:ext>
            </a:extLst>
          </p:cNvPr>
          <p:cNvGrpSpPr/>
          <p:nvPr/>
        </p:nvGrpSpPr>
        <p:grpSpPr>
          <a:xfrm>
            <a:off x="4527876" y="3664005"/>
            <a:ext cx="1543920" cy="1915310"/>
            <a:chOff x="4440980" y="3858948"/>
            <a:chExt cx="1301115" cy="2031379"/>
          </a:xfrm>
        </p:grpSpPr>
        <p:sp>
          <p:nvSpPr>
            <p:cNvPr id="8" name="object 8"/>
            <p:cNvSpPr txBox="1"/>
            <p:nvPr/>
          </p:nvSpPr>
          <p:spPr>
            <a:xfrm>
              <a:off x="5014302" y="3858948"/>
              <a:ext cx="727793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15"/>
                </a:lnSpc>
              </a:pPr>
              <a:r>
                <a:rPr sz="1600" b="1" spc="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Nuts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4556659" y="4530911"/>
              <a:ext cx="593941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Bacon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774433" y="4985251"/>
              <a:ext cx="895039" cy="2190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Shri</a:t>
              </a: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m</a:t>
              </a: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5307524" y="5434014"/>
              <a:ext cx="388829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05"/>
                </a:lnSpc>
              </a:pPr>
              <a:r>
                <a:rPr sz="1600" b="1" spc="-5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Fish</a:t>
              </a:r>
              <a:endParaRPr sz="160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4440980" y="5669715"/>
              <a:ext cx="67950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Cheese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804891B-18DD-48C0-8824-263C55FDC700}"/>
              </a:ext>
            </a:extLst>
          </p:cNvPr>
          <p:cNvGrpSpPr/>
          <p:nvPr/>
        </p:nvGrpSpPr>
        <p:grpSpPr>
          <a:xfrm>
            <a:off x="7254808" y="1851027"/>
            <a:ext cx="3265708" cy="4167727"/>
            <a:chOff x="7228658" y="1778482"/>
            <a:chExt cx="3553478" cy="442029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3A97C2-46E9-401E-BB56-0D1744AA35E2}"/>
                </a:ext>
              </a:extLst>
            </p:cNvPr>
            <p:cNvSpPr txBox="1"/>
            <p:nvPr/>
          </p:nvSpPr>
          <p:spPr>
            <a:xfrm>
              <a:off x="9409833" y="3212196"/>
              <a:ext cx="1372303" cy="489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FF0000"/>
                  </a:solidFill>
                </a:rPr>
                <a:t>Fruits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0762708-BFA8-405F-A086-A027F28962C9}"/>
                </a:ext>
              </a:extLst>
            </p:cNvPr>
            <p:cNvSpPr/>
            <p:nvPr/>
          </p:nvSpPr>
          <p:spPr>
            <a:xfrm>
              <a:off x="7228658" y="1778482"/>
              <a:ext cx="2202478" cy="442029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F25606-A6BB-4A72-B713-00D9A397C5EA}"/>
              </a:ext>
            </a:extLst>
          </p:cNvPr>
          <p:cNvGrpSpPr/>
          <p:nvPr/>
        </p:nvGrpSpPr>
        <p:grpSpPr>
          <a:xfrm>
            <a:off x="7540205" y="2190549"/>
            <a:ext cx="1510934" cy="3517438"/>
            <a:chOff x="7539204" y="2138578"/>
            <a:chExt cx="1345170" cy="3730874"/>
          </a:xfrm>
        </p:grpSpPr>
        <p:sp>
          <p:nvSpPr>
            <p:cNvPr id="10" name="object 10"/>
            <p:cNvSpPr txBox="1"/>
            <p:nvPr/>
          </p:nvSpPr>
          <p:spPr>
            <a:xfrm>
              <a:off x="7968266" y="3511190"/>
              <a:ext cx="615332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Grape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8418784" y="2697479"/>
              <a:ext cx="465590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15"/>
                </a:lnSpc>
              </a:pPr>
              <a:r>
                <a:rPr sz="1600" b="1" spc="1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Pear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539204" y="4604114"/>
              <a:ext cx="1044394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Orange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8015071" y="2138578"/>
              <a:ext cx="615332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5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Ap</a:t>
              </a:r>
              <a:r>
                <a:rPr sz="1600" b="1" spc="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p</a:t>
              </a:r>
              <a:r>
                <a:rPr sz="1600" b="1" spc="-4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le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7827230" y="5648840"/>
              <a:ext cx="876690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5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Banana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8C4BAED-CC79-4539-AA87-4646CE141D13}"/>
              </a:ext>
            </a:extLst>
          </p:cNvPr>
          <p:cNvGrpSpPr/>
          <p:nvPr/>
        </p:nvGrpSpPr>
        <p:grpSpPr>
          <a:xfrm>
            <a:off x="4404766" y="1150014"/>
            <a:ext cx="4483595" cy="2151078"/>
            <a:chOff x="4046485" y="1001154"/>
            <a:chExt cx="4878685" cy="228143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18EDEE-90C0-43EC-A400-07C889BA4466}"/>
                </a:ext>
              </a:extLst>
            </p:cNvPr>
            <p:cNvSpPr txBox="1"/>
            <p:nvPr/>
          </p:nvSpPr>
          <p:spPr>
            <a:xfrm>
              <a:off x="6840593" y="1001154"/>
              <a:ext cx="2084577" cy="489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solidFill>
                    <a:srgbClr val="33CC33"/>
                  </a:solidFill>
                </a:rPr>
                <a:t>Vegetables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18CE4CF-390F-499D-9BC9-767EF483A1EC}"/>
                </a:ext>
              </a:extLst>
            </p:cNvPr>
            <p:cNvSpPr/>
            <p:nvPr/>
          </p:nvSpPr>
          <p:spPr>
            <a:xfrm>
              <a:off x="4046485" y="1046129"/>
              <a:ext cx="3305171" cy="2236462"/>
            </a:xfrm>
            <a:prstGeom prst="ellipse">
              <a:avLst/>
            </a:prstGeom>
            <a:noFill/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5CE2A2E-075C-42E8-8D09-B18150670AA6}"/>
              </a:ext>
            </a:extLst>
          </p:cNvPr>
          <p:cNvGrpSpPr/>
          <p:nvPr/>
        </p:nvGrpSpPr>
        <p:grpSpPr>
          <a:xfrm>
            <a:off x="4330332" y="1555332"/>
            <a:ext cx="3037509" cy="1673394"/>
            <a:chOff x="4275734" y="1408754"/>
            <a:chExt cx="2765932" cy="1701899"/>
          </a:xfrm>
        </p:grpSpPr>
        <p:sp>
          <p:nvSpPr>
            <p:cNvPr id="7" name="object 7"/>
            <p:cNvSpPr txBox="1"/>
            <p:nvPr/>
          </p:nvSpPr>
          <p:spPr>
            <a:xfrm>
              <a:off x="4275734" y="1800094"/>
              <a:ext cx="67195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35"/>
                </a:lnSpc>
              </a:pPr>
              <a:r>
                <a:rPr sz="1600" b="1" spc="-79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Lettuce</a:t>
              </a:r>
              <a:endParaRPr sz="160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5233481" y="2146835"/>
              <a:ext cx="1170522" cy="231220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55"/>
                </a:lnSpc>
              </a:pPr>
              <a:r>
                <a:rPr sz="1600" b="1" spc="-3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Cucumber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5135024" y="1408754"/>
              <a:ext cx="619108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Celery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6430109" y="1604963"/>
              <a:ext cx="611557" cy="22061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25168" algn="ctr">
                <a:lnSpc>
                  <a:spcPts val="1623"/>
                </a:lnSpc>
              </a:pPr>
              <a:r>
                <a:rPr sz="1600" b="1" spc="-2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Carrot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5703155" y="2678355"/>
              <a:ext cx="700849" cy="432298"/>
            </a:xfrm>
            <a:prstGeom prst="rect">
              <a:avLst/>
            </a:prstGeom>
          </p:spPr>
          <p:txBody>
            <a:bodyPr vert="horz" wrap="square" lIns="0" tIns="42784" rIns="0" bIns="0" rtlCol="0">
              <a:spAutoFit/>
            </a:bodyPr>
            <a:lstStyle/>
            <a:p>
              <a:pPr marL="26426" marR="10067" indent="-2517" algn="ctr">
                <a:lnSpc>
                  <a:spcPct val="72100"/>
                </a:lnSpc>
                <a:spcBef>
                  <a:spcPts val="337"/>
                </a:spcBef>
              </a:pPr>
              <a:r>
                <a:rPr sz="1600" b="1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Green </a:t>
              </a:r>
              <a:r>
                <a:rPr sz="1600" b="1" spc="30" dirty="0">
                  <a:solidFill>
                    <a:schemeClr val="bg2">
                      <a:lumMod val="50000"/>
                    </a:schemeClr>
                  </a:solidFill>
                  <a:cs typeface="Trebuchet MS"/>
                </a:rPr>
                <a:t>bean</a:t>
              </a:r>
              <a:endParaRPr sz="1600" dirty="0">
                <a:solidFill>
                  <a:schemeClr val="bg2">
                    <a:lumMod val="50000"/>
                  </a:schemeClr>
                </a:solidFill>
                <a:cs typeface="Trebuchet MS"/>
              </a:endParaRPr>
            </a:p>
          </p:txBody>
        </p:sp>
      </p:grpSp>
      <p:sp>
        <p:nvSpPr>
          <p:cNvPr id="48" name="object 15">
            <a:extLst>
              <a:ext uri="{FF2B5EF4-FFF2-40B4-BE49-F238E27FC236}">
                <a16:creationId xmlns:a16="http://schemas.microsoft.com/office/drawing/2014/main" id="{9C4CC70A-A5E2-49C8-8D37-D8A028CB00F8}"/>
              </a:ext>
            </a:extLst>
          </p:cNvPr>
          <p:cNvSpPr txBox="1"/>
          <p:nvPr/>
        </p:nvSpPr>
        <p:spPr>
          <a:xfrm>
            <a:off x="6206714" y="3884527"/>
            <a:ext cx="1127929" cy="413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algn="ctr">
              <a:lnSpc>
                <a:spcPts val="1635"/>
              </a:lnSpc>
            </a:pPr>
            <a:r>
              <a:rPr lang="en-GB" sz="1600" b="1" spc="50" dirty="0">
                <a:cs typeface="Trebuchet MS"/>
              </a:rPr>
              <a:t>Tomato</a:t>
            </a:r>
          </a:p>
          <a:p>
            <a:pPr marL="25168" algn="ctr">
              <a:lnSpc>
                <a:spcPts val="1635"/>
              </a:lnSpc>
            </a:pPr>
            <a:r>
              <a:rPr lang="en-GB" sz="1600" b="1" spc="50" dirty="0">
                <a:cs typeface="Trebuchet MS"/>
              </a:rPr>
              <a:t>?</a:t>
            </a:r>
            <a:endParaRPr sz="1600" dirty="0">
              <a:cs typeface="Trebuchet M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9B5C8-0BE0-EAE7-0C18-4EDF03CDCF67}"/>
              </a:ext>
            </a:extLst>
          </p:cNvPr>
          <p:cNvSpPr txBox="1">
            <a:spLocks/>
          </p:cNvSpPr>
          <p:nvPr/>
        </p:nvSpPr>
        <p:spPr>
          <a:xfrm>
            <a:off x="2939846" y="85234"/>
            <a:ext cx="8092320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sz="3200" dirty="0"/>
              <a:t>KNN: EXAMPLE - FOOD TYPES (NEW INSTANCE)</a:t>
            </a:r>
          </a:p>
        </p:txBody>
      </p:sp>
    </p:spTree>
    <p:extLst>
      <p:ext uri="{BB962C8B-B14F-4D97-AF65-F5344CB8AC3E}">
        <p14:creationId xmlns:p14="http://schemas.microsoft.com/office/powerpoint/2010/main" val="886933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C17E120-8B27-4A89-B609-E857EDFD4899}"/>
              </a:ext>
            </a:extLst>
          </p:cNvPr>
          <p:cNvGrpSpPr/>
          <p:nvPr/>
        </p:nvGrpSpPr>
        <p:grpSpPr>
          <a:xfrm>
            <a:off x="5352095" y="1402601"/>
            <a:ext cx="1487809" cy="1446925"/>
            <a:chOff x="5517107" y="994132"/>
            <a:chExt cx="1153906" cy="1124274"/>
          </a:xfrm>
        </p:grpSpPr>
        <p:sp>
          <p:nvSpPr>
            <p:cNvPr id="3" name="object 3"/>
            <p:cNvSpPr/>
            <p:nvPr/>
          </p:nvSpPr>
          <p:spPr>
            <a:xfrm>
              <a:off x="6099943" y="1833114"/>
              <a:ext cx="491035" cy="28529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4" name="object 4"/>
            <p:cNvSpPr/>
            <p:nvPr/>
          </p:nvSpPr>
          <p:spPr>
            <a:xfrm>
              <a:off x="5517107" y="1005919"/>
              <a:ext cx="1153906" cy="1038138"/>
            </a:xfrm>
            <a:custGeom>
              <a:avLst/>
              <a:gdLst/>
              <a:ahLst/>
              <a:cxnLst/>
              <a:rect l="l" t="t" r="r" b="b"/>
              <a:pathLst>
                <a:path w="582294" h="523875">
                  <a:moveTo>
                    <a:pt x="363980" y="0"/>
                  </a:moveTo>
                  <a:lnTo>
                    <a:pt x="318405" y="3962"/>
                  </a:lnTo>
                  <a:lnTo>
                    <a:pt x="272609" y="14372"/>
                  </a:lnTo>
                  <a:lnTo>
                    <a:pt x="227502" y="30632"/>
                  </a:lnTo>
                  <a:lnTo>
                    <a:pt x="183992" y="52145"/>
                  </a:lnTo>
                  <a:lnTo>
                    <a:pt x="142988" y="78313"/>
                  </a:lnTo>
                  <a:lnTo>
                    <a:pt x="105399" y="108539"/>
                  </a:lnTo>
                  <a:lnTo>
                    <a:pt x="72133" y="142226"/>
                  </a:lnTo>
                  <a:lnTo>
                    <a:pt x="44101" y="178776"/>
                  </a:lnTo>
                  <a:lnTo>
                    <a:pt x="22209" y="217593"/>
                  </a:lnTo>
                  <a:lnTo>
                    <a:pt x="7368" y="258078"/>
                  </a:lnTo>
                  <a:lnTo>
                    <a:pt x="0" y="302220"/>
                  </a:lnTo>
                  <a:lnTo>
                    <a:pt x="1298" y="345291"/>
                  </a:lnTo>
                  <a:lnTo>
                    <a:pt x="10771" y="386174"/>
                  </a:lnTo>
                  <a:lnTo>
                    <a:pt x="27927" y="423747"/>
                  </a:lnTo>
                  <a:lnTo>
                    <a:pt x="52276" y="456891"/>
                  </a:lnTo>
                  <a:lnTo>
                    <a:pt x="83324" y="484486"/>
                  </a:lnTo>
                  <a:lnTo>
                    <a:pt x="120581" y="505412"/>
                  </a:lnTo>
                  <a:lnTo>
                    <a:pt x="163554" y="518549"/>
                  </a:lnTo>
                  <a:lnTo>
                    <a:pt x="213652" y="523606"/>
                  </a:lnTo>
                  <a:lnTo>
                    <a:pt x="264722" y="520255"/>
                  </a:lnTo>
                  <a:lnTo>
                    <a:pt x="315639" y="509457"/>
                  </a:lnTo>
                  <a:lnTo>
                    <a:pt x="365280" y="492171"/>
                  </a:lnTo>
                  <a:lnTo>
                    <a:pt x="412522" y="469356"/>
                  </a:lnTo>
                  <a:lnTo>
                    <a:pt x="456241" y="441974"/>
                  </a:lnTo>
                  <a:lnTo>
                    <a:pt x="495316" y="410982"/>
                  </a:lnTo>
                  <a:lnTo>
                    <a:pt x="528108" y="376207"/>
                  </a:lnTo>
                  <a:lnTo>
                    <a:pt x="553589" y="337339"/>
                  </a:lnTo>
                  <a:lnTo>
                    <a:pt x="571337" y="295297"/>
                  </a:lnTo>
                  <a:lnTo>
                    <a:pt x="580933" y="251000"/>
                  </a:lnTo>
                  <a:lnTo>
                    <a:pt x="581956" y="205369"/>
                  </a:lnTo>
                  <a:lnTo>
                    <a:pt x="573986" y="159323"/>
                  </a:lnTo>
                  <a:lnTo>
                    <a:pt x="556601" y="113781"/>
                  </a:lnTo>
                  <a:lnTo>
                    <a:pt x="512835" y="53536"/>
                  </a:lnTo>
                  <a:lnTo>
                    <a:pt x="450832" y="13805"/>
                  </a:lnTo>
                  <a:lnTo>
                    <a:pt x="408425" y="3081"/>
                  </a:lnTo>
                  <a:lnTo>
                    <a:pt x="363980" y="0"/>
                  </a:lnTo>
                  <a:close/>
                </a:path>
              </a:pathLst>
            </a:custGeom>
            <a:solidFill>
              <a:srgbClr val="EF3436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5" name="object 5"/>
            <p:cNvSpPr/>
            <p:nvPr/>
          </p:nvSpPr>
          <p:spPr>
            <a:xfrm>
              <a:off x="5549410" y="1091074"/>
              <a:ext cx="1005421" cy="926143"/>
            </a:xfrm>
            <a:custGeom>
              <a:avLst/>
              <a:gdLst/>
              <a:ahLst/>
              <a:cxnLst/>
              <a:rect l="l" t="t" r="r" b="b"/>
              <a:pathLst>
                <a:path w="507364" h="467359">
                  <a:moveTo>
                    <a:pt x="272619" y="0"/>
                  </a:moveTo>
                  <a:lnTo>
                    <a:pt x="253901" y="2979"/>
                  </a:lnTo>
                  <a:lnTo>
                    <a:pt x="246519" y="4279"/>
                  </a:lnTo>
                  <a:lnTo>
                    <a:pt x="239156" y="5698"/>
                  </a:lnTo>
                  <a:lnTo>
                    <a:pt x="233733" y="6091"/>
                  </a:lnTo>
                  <a:lnTo>
                    <a:pt x="228569" y="6582"/>
                  </a:lnTo>
                  <a:lnTo>
                    <a:pt x="226400" y="7578"/>
                  </a:lnTo>
                  <a:lnTo>
                    <a:pt x="224620" y="9034"/>
                  </a:lnTo>
                  <a:lnTo>
                    <a:pt x="177690" y="23992"/>
                  </a:lnTo>
                  <a:lnTo>
                    <a:pt x="133038" y="44802"/>
                  </a:lnTo>
                  <a:lnTo>
                    <a:pt x="92548" y="72422"/>
                  </a:lnTo>
                  <a:lnTo>
                    <a:pt x="58101" y="107809"/>
                  </a:lnTo>
                  <a:lnTo>
                    <a:pt x="32228" y="146502"/>
                  </a:lnTo>
                  <a:lnTo>
                    <a:pt x="12734" y="188774"/>
                  </a:lnTo>
                  <a:lnTo>
                    <a:pt x="1398" y="233699"/>
                  </a:lnTo>
                  <a:lnTo>
                    <a:pt x="0" y="280354"/>
                  </a:lnTo>
                  <a:lnTo>
                    <a:pt x="7400" y="321833"/>
                  </a:lnTo>
                  <a:lnTo>
                    <a:pt x="22536" y="361829"/>
                  </a:lnTo>
                  <a:lnTo>
                    <a:pt x="45733" y="397419"/>
                  </a:lnTo>
                  <a:lnTo>
                    <a:pt x="77317" y="425675"/>
                  </a:lnTo>
                  <a:lnTo>
                    <a:pt x="118686" y="447889"/>
                  </a:lnTo>
                  <a:lnTo>
                    <a:pt x="163509" y="462224"/>
                  </a:lnTo>
                  <a:lnTo>
                    <a:pt x="210120" y="467363"/>
                  </a:lnTo>
                  <a:lnTo>
                    <a:pt x="256852" y="461983"/>
                  </a:lnTo>
                  <a:lnTo>
                    <a:pt x="315445" y="442087"/>
                  </a:lnTo>
                  <a:lnTo>
                    <a:pt x="394484" y="407351"/>
                  </a:lnTo>
                  <a:lnTo>
                    <a:pt x="437283" y="382373"/>
                  </a:lnTo>
                  <a:lnTo>
                    <a:pt x="482835" y="329003"/>
                  </a:lnTo>
                  <a:lnTo>
                    <a:pt x="499771" y="289855"/>
                  </a:lnTo>
                  <a:lnTo>
                    <a:pt x="507124" y="247631"/>
                  </a:lnTo>
                  <a:lnTo>
                    <a:pt x="505803" y="201433"/>
                  </a:lnTo>
                  <a:lnTo>
                    <a:pt x="496620" y="156171"/>
                  </a:lnTo>
                  <a:lnTo>
                    <a:pt x="479102" y="113264"/>
                  </a:lnTo>
                  <a:lnTo>
                    <a:pt x="453157" y="75115"/>
                  </a:lnTo>
                  <a:lnTo>
                    <a:pt x="418696" y="44130"/>
                  </a:lnTo>
                  <a:lnTo>
                    <a:pt x="351448" y="14556"/>
                  </a:lnTo>
                  <a:lnTo>
                    <a:pt x="276655" y="4708"/>
                  </a:lnTo>
                  <a:lnTo>
                    <a:pt x="275376" y="1991"/>
                  </a:lnTo>
                  <a:lnTo>
                    <a:pt x="272619" y="0"/>
                  </a:lnTo>
                  <a:close/>
                </a:path>
              </a:pathLst>
            </a:custGeom>
            <a:solidFill>
              <a:srgbClr val="F04842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" name="object 6"/>
            <p:cNvSpPr/>
            <p:nvPr/>
          </p:nvSpPr>
          <p:spPr>
            <a:xfrm>
              <a:off x="5672015" y="994132"/>
              <a:ext cx="450966" cy="32205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7" name="object 7"/>
            <p:cNvSpPr/>
            <p:nvPr/>
          </p:nvSpPr>
          <p:spPr>
            <a:xfrm>
              <a:off x="5571516" y="1460807"/>
              <a:ext cx="510890" cy="539832"/>
            </a:xfrm>
            <a:custGeom>
              <a:avLst/>
              <a:gdLst/>
              <a:ahLst/>
              <a:cxnLst/>
              <a:rect l="l" t="t" r="r" b="b"/>
              <a:pathLst>
                <a:path w="257810" h="272415">
                  <a:moveTo>
                    <a:pt x="38004" y="0"/>
                  </a:moveTo>
                  <a:lnTo>
                    <a:pt x="30368" y="529"/>
                  </a:lnTo>
                  <a:lnTo>
                    <a:pt x="28146" y="1014"/>
                  </a:lnTo>
                  <a:lnTo>
                    <a:pt x="26268" y="1947"/>
                  </a:lnTo>
                  <a:lnTo>
                    <a:pt x="25042" y="2074"/>
                  </a:lnTo>
                  <a:lnTo>
                    <a:pt x="3760" y="40463"/>
                  </a:lnTo>
                  <a:lnTo>
                    <a:pt x="0" y="82673"/>
                  </a:lnTo>
                  <a:lnTo>
                    <a:pt x="2499" y="109733"/>
                  </a:lnTo>
                  <a:lnTo>
                    <a:pt x="19727" y="159385"/>
                  </a:lnTo>
                  <a:lnTo>
                    <a:pt x="51733" y="205022"/>
                  </a:lnTo>
                  <a:lnTo>
                    <a:pt x="93971" y="243253"/>
                  </a:lnTo>
                  <a:lnTo>
                    <a:pt x="144033" y="263108"/>
                  </a:lnTo>
                  <a:lnTo>
                    <a:pt x="194730" y="271892"/>
                  </a:lnTo>
                  <a:lnTo>
                    <a:pt x="219785" y="269387"/>
                  </a:lnTo>
                  <a:lnTo>
                    <a:pt x="235232" y="262951"/>
                  </a:lnTo>
                  <a:lnTo>
                    <a:pt x="248950" y="251640"/>
                  </a:lnTo>
                  <a:lnTo>
                    <a:pt x="257182" y="236911"/>
                  </a:lnTo>
                  <a:lnTo>
                    <a:pt x="256171" y="220221"/>
                  </a:lnTo>
                  <a:lnTo>
                    <a:pt x="245029" y="208282"/>
                  </a:lnTo>
                  <a:lnTo>
                    <a:pt x="227561" y="202977"/>
                  </a:lnTo>
                  <a:lnTo>
                    <a:pt x="209669" y="201771"/>
                  </a:lnTo>
                  <a:lnTo>
                    <a:pt x="191937" y="201771"/>
                  </a:lnTo>
                  <a:lnTo>
                    <a:pt x="172793" y="200447"/>
                  </a:lnTo>
                  <a:lnTo>
                    <a:pt x="127597" y="172889"/>
                  </a:lnTo>
                  <a:lnTo>
                    <a:pt x="111968" y="149891"/>
                  </a:lnTo>
                  <a:lnTo>
                    <a:pt x="104157" y="138398"/>
                  </a:lnTo>
                  <a:lnTo>
                    <a:pt x="78741" y="98882"/>
                  </a:lnTo>
                  <a:lnTo>
                    <a:pt x="54438" y="38868"/>
                  </a:lnTo>
                  <a:lnTo>
                    <a:pt x="42712" y="2794"/>
                  </a:lnTo>
                  <a:lnTo>
                    <a:pt x="38004" y="0"/>
                  </a:lnTo>
                  <a:close/>
                </a:path>
                <a:path w="257810" h="272415">
                  <a:moveTo>
                    <a:pt x="208340" y="201681"/>
                  </a:moveTo>
                  <a:lnTo>
                    <a:pt x="191937" y="201771"/>
                  </a:lnTo>
                  <a:lnTo>
                    <a:pt x="209669" y="201771"/>
                  </a:lnTo>
                  <a:lnTo>
                    <a:pt x="208340" y="201681"/>
                  </a:lnTo>
                  <a:close/>
                </a:path>
              </a:pathLst>
            </a:custGeom>
            <a:solidFill>
              <a:srgbClr val="F25B50"/>
            </a:solidFill>
          </p:spPr>
          <p:txBody>
            <a:bodyPr wrap="square" lIns="0" tIns="0" rIns="0" bIns="0" rtlCol="0"/>
            <a:lstStyle/>
            <a:p>
              <a:endParaRPr sz="3567"/>
            </a:p>
          </p:txBody>
        </p: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72C2A32-25A6-4AAC-A4E3-563AF4BC19E5}"/>
              </a:ext>
            </a:extLst>
          </p:cNvPr>
          <p:cNvSpPr txBox="1">
            <a:spLocks/>
          </p:cNvSpPr>
          <p:nvPr/>
        </p:nvSpPr>
        <p:spPr>
          <a:xfrm>
            <a:off x="1244010" y="3306726"/>
            <a:ext cx="8729330" cy="29664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dirty="0"/>
              <a:t>Where does the Tomato fit?</a:t>
            </a:r>
          </a:p>
          <a:p>
            <a:pPr marL="808038" indent="0">
              <a:lnSpc>
                <a:spcPct val="100000"/>
              </a:lnSpc>
              <a:buClr>
                <a:schemeClr val="tx1"/>
              </a:buClr>
              <a:buSzPct val="100000"/>
              <a:buNone/>
            </a:pPr>
            <a:r>
              <a:rPr lang="en-GB" spc="-20" dirty="0">
                <a:latin typeface="Arial"/>
                <a:cs typeface="Arial"/>
              </a:rPr>
              <a:t>→ </a:t>
            </a:r>
            <a:r>
              <a:rPr lang="en-GB" spc="-20" dirty="0">
                <a:cs typeface="Arial"/>
              </a:rPr>
              <a:t>We need a </a:t>
            </a:r>
            <a:r>
              <a:rPr lang="en-GB" b="1" spc="-20" dirty="0">
                <a:cs typeface="Arial"/>
              </a:rPr>
              <a:t>distance / similarity score</a:t>
            </a:r>
            <a:endParaRPr lang="en-GB" b="1" dirty="0"/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dirty="0"/>
              <a:t>The kNN algorithm treats the features as coordinates in a multi-dimensional feature space (not just 2D).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dirty="0"/>
              <a:t>2D space is easy to plot </a:t>
            </a:r>
            <a:r>
              <a:rPr lang="en-GB" spc="-20" dirty="0">
                <a:latin typeface="Arial"/>
                <a:cs typeface="Arial"/>
              </a:rPr>
              <a:t>→ </a:t>
            </a:r>
            <a:r>
              <a:rPr lang="en-GB" dirty="0"/>
              <a:t>multi-D is not!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D53E82A-44CE-49DD-A9A0-75A7DF649F05}"/>
              </a:ext>
            </a:extLst>
          </p:cNvPr>
          <p:cNvSpPr txBox="1">
            <a:spLocks/>
          </p:cNvSpPr>
          <p:nvPr/>
        </p:nvSpPr>
        <p:spPr>
          <a:xfrm>
            <a:off x="3175116" y="336193"/>
            <a:ext cx="6795977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dirty="0"/>
              <a:t>kNN: Distance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D8B74C6-E8A0-4327-BE89-AE2DA5E7D143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100" cap="all" spc="200" dirty="0">
                <a:solidFill>
                  <a:schemeClr val="tx2"/>
                </a:solidFill>
              </a:rPr>
              <a:t>kNN: Euclidean Distance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3FFEFA4-1407-4596-9542-6DD22522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5E9EF6A-AD3F-444F-BAD3-C77692A7C5B7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7C4F61E-0D11-3161-E7E0-9315455742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527028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AD8B74C6-E8A0-4327-BE89-AE2DA5E7D143}"/>
              </a:ext>
            </a:extLst>
          </p:cNvPr>
          <p:cNvSpPr txBox="1">
            <a:spLocks/>
          </p:cNvSpPr>
          <p:nvPr/>
        </p:nvSpPr>
        <p:spPr>
          <a:xfrm>
            <a:off x="3491587" y="432801"/>
            <a:ext cx="9455309" cy="13208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KNN: EUCLIDEAN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86E39C-C406-4DE1-8896-55B6A688A572}"/>
                  </a:ext>
                </a:extLst>
              </p:cNvPr>
              <p:cNvSpPr txBox="1"/>
              <p:nvPr/>
            </p:nvSpPr>
            <p:spPr>
              <a:xfrm>
                <a:off x="1251678" y="2286001"/>
                <a:ext cx="4479819" cy="35935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indent="-228600" defTabSz="914400">
                  <a:lnSpc>
                    <a:spcPct val="110000"/>
                  </a:lnSpc>
                  <a:spcBef>
                    <a:spcPts val="700"/>
                  </a:spcBef>
                  <a:buClr>
                    <a:schemeClr val="tx2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ⅆ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chemeClr val="tx1">
                                              <a:lumMod val="65000"/>
                                              <a:lumOff val="3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>
                                                  <a:lumMod val="65000"/>
                                                  <a:lumOff val="3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>
                                                  <a:lumMod val="65000"/>
                                                  <a:lumOff val="3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>
                                                  <a:lumMod val="65000"/>
                                                  <a:lumOff val="3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>
                                          <a:solidFill>
                                            <a:schemeClr val="tx1">
                                              <a:lumMod val="65000"/>
                                              <a:lumOff val="3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tx1">
                                                  <a:lumMod val="65000"/>
                                                  <a:lumOff val="3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tx1">
                                                  <a:lumMod val="65000"/>
                                                  <a:lumOff val="3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tx1">
                                                  <a:lumMod val="65000"/>
                                                  <a:lumOff val="3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86E39C-C406-4DE1-8896-55B6A688A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678" y="2286001"/>
                <a:ext cx="4479819" cy="35935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03FFEFA4-1407-4596-9542-6DD22522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8960" y="6375679"/>
            <a:ext cx="701040" cy="34579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5E9EF6A-AD3F-444F-BAD3-C77692A7C5B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A13D7D-ADE3-405A-B41F-F98A69F4F4FE}"/>
              </a:ext>
            </a:extLst>
          </p:cNvPr>
          <p:cNvSpPr txBox="1">
            <a:spLocks/>
          </p:cNvSpPr>
          <p:nvPr/>
        </p:nvSpPr>
        <p:spPr>
          <a:xfrm>
            <a:off x="1244010" y="3887899"/>
            <a:ext cx="9462976" cy="2385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b="1" spc="15" dirty="0">
                <a:latin typeface="Times New Roman"/>
                <a:cs typeface="Times New Roman"/>
              </a:rPr>
              <a:t>p</a:t>
            </a:r>
            <a:r>
              <a:rPr lang="en-GB" sz="2400" dirty="0"/>
              <a:t> and </a:t>
            </a:r>
            <a:r>
              <a:rPr lang="en-GB" sz="2400" b="1" spc="15" dirty="0">
                <a:latin typeface="Times New Roman"/>
                <a:cs typeface="Times New Roman"/>
              </a:rPr>
              <a:t>q</a:t>
            </a:r>
            <a:r>
              <a:rPr lang="en-GB" sz="2400" dirty="0"/>
              <a:t> are the examples to be compared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dirty="0"/>
              <a:t>Each has </a:t>
            </a:r>
            <a:r>
              <a:rPr lang="en-GB" sz="2400" b="1" dirty="0"/>
              <a:t>n</a:t>
            </a:r>
            <a:r>
              <a:rPr lang="en-GB" sz="2400" dirty="0"/>
              <a:t> attributes.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b="1" spc="15" dirty="0">
                <a:latin typeface="Times New Roman"/>
                <a:cs typeface="Times New Roman"/>
              </a:rPr>
              <a:t>p</a:t>
            </a:r>
            <a:r>
              <a:rPr lang="en-GB" sz="2800" b="1" spc="22" baseline="-11695" dirty="0">
                <a:latin typeface="Times New Roman"/>
                <a:cs typeface="Times New Roman"/>
              </a:rPr>
              <a:t>i</a:t>
            </a:r>
            <a:r>
              <a:rPr lang="en-GB" sz="2400" dirty="0"/>
              <a:t> is the value of the </a:t>
            </a:r>
            <a:r>
              <a:rPr lang="en-GB" sz="2400" b="1" spc="55" dirty="0" err="1">
                <a:latin typeface="Times New Roman"/>
                <a:cs typeface="Times New Roman"/>
              </a:rPr>
              <a:t>i</a:t>
            </a:r>
            <a:r>
              <a:rPr lang="en-GB" sz="2800" b="1" spc="82" baseline="-11695" dirty="0" err="1">
                <a:latin typeface="Times New Roman"/>
                <a:cs typeface="Times New Roman"/>
              </a:rPr>
              <a:t>t</a:t>
            </a:r>
            <a:r>
              <a:rPr lang="en-GB" sz="2400" b="1" spc="55" dirty="0" err="1">
                <a:latin typeface="Times New Roman"/>
                <a:cs typeface="Times New Roman"/>
              </a:rPr>
              <a:t>h</a:t>
            </a:r>
            <a:r>
              <a:rPr lang="en-GB" sz="2400" dirty="0"/>
              <a:t> attribute of instance </a:t>
            </a:r>
            <a:r>
              <a:rPr lang="en-GB" sz="2400" b="1" spc="15" dirty="0">
                <a:latin typeface="Times New Roman"/>
                <a:cs typeface="Times New Roman"/>
              </a:rPr>
              <a:t>p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b="1" spc="15" dirty="0">
                <a:latin typeface="Times New Roman"/>
                <a:cs typeface="Times New Roman"/>
              </a:rPr>
              <a:t>q</a:t>
            </a:r>
            <a:r>
              <a:rPr lang="en-GB" sz="2800" b="1" spc="22" baseline="-11695" dirty="0">
                <a:latin typeface="Times New Roman"/>
                <a:cs typeface="Times New Roman"/>
              </a:rPr>
              <a:t>i</a:t>
            </a:r>
            <a:r>
              <a:rPr lang="en-GB" sz="2400" dirty="0"/>
              <a:t> is the value of the </a:t>
            </a:r>
            <a:r>
              <a:rPr lang="en-GB" sz="2400" b="1" spc="55" dirty="0" err="1">
                <a:latin typeface="Times New Roman"/>
                <a:cs typeface="Times New Roman"/>
              </a:rPr>
              <a:t>i</a:t>
            </a:r>
            <a:r>
              <a:rPr lang="en-GB" sz="2800" b="1" spc="82" baseline="-11695" dirty="0" err="1">
                <a:latin typeface="Times New Roman"/>
                <a:cs typeface="Times New Roman"/>
              </a:rPr>
              <a:t>t</a:t>
            </a:r>
            <a:r>
              <a:rPr lang="en-GB" sz="2400" b="1" spc="55" dirty="0" err="1">
                <a:latin typeface="Times New Roman"/>
                <a:cs typeface="Times New Roman"/>
              </a:rPr>
              <a:t>h</a:t>
            </a:r>
            <a:r>
              <a:rPr lang="en-GB" sz="2400" dirty="0"/>
              <a:t> attribute of instance </a:t>
            </a:r>
            <a:r>
              <a:rPr lang="en-GB" sz="2400" b="1" spc="15" dirty="0">
                <a:latin typeface="Times New Roman"/>
                <a:cs typeface="Times New Roman"/>
              </a:rPr>
              <a:t>q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dirty="0"/>
              <a:t>We comparing the values of each attribute.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5A2D832-3785-438E-9942-826207574810}"/>
              </a:ext>
            </a:extLst>
          </p:cNvPr>
          <p:cNvSpPr txBox="1">
            <a:spLocks/>
          </p:cNvSpPr>
          <p:nvPr/>
        </p:nvSpPr>
        <p:spPr>
          <a:xfrm>
            <a:off x="1244010" y="1662840"/>
            <a:ext cx="9462976" cy="707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42900">
              <a:lnSpc>
                <a:spcPct val="10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dirty="0"/>
              <a:t>Euclidean distance is specified by the following  formula:</a:t>
            </a:r>
          </a:p>
        </p:txBody>
      </p:sp>
    </p:spTree>
    <p:extLst>
      <p:ext uri="{BB962C8B-B14F-4D97-AF65-F5344CB8AC3E}">
        <p14:creationId xmlns:p14="http://schemas.microsoft.com/office/powerpoint/2010/main" val="2388463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A7618B8-003A-4726-9C7A-59D8C6A083CE}"/>
              </a:ext>
            </a:extLst>
          </p:cNvPr>
          <p:cNvSpPr txBox="1">
            <a:spLocks/>
          </p:cNvSpPr>
          <p:nvPr/>
        </p:nvSpPr>
        <p:spPr>
          <a:xfrm>
            <a:off x="1364512" y="4125428"/>
            <a:ext cx="9462976" cy="14672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dirty="0"/>
              <a:t>Assume </a:t>
            </a:r>
            <a:r>
              <a:rPr lang="en-GB" sz="2400" i="1" dirty="0"/>
              <a:t>tomato</a:t>
            </a:r>
            <a:r>
              <a:rPr lang="en-GB" sz="2400" dirty="0"/>
              <a:t> is </a:t>
            </a:r>
            <a:r>
              <a:rPr lang="en-GB" sz="2400" b="1" dirty="0"/>
              <a:t>[</a:t>
            </a:r>
            <a:r>
              <a:rPr lang="en-GB" sz="2400" b="1" dirty="0">
                <a:solidFill>
                  <a:srgbClr val="FF0000"/>
                </a:solidFill>
              </a:rPr>
              <a:t>sweetness = 6</a:t>
            </a:r>
            <a:r>
              <a:rPr lang="en-GB" sz="2400" b="1" dirty="0"/>
              <a:t>, </a:t>
            </a:r>
            <a:r>
              <a:rPr lang="en-GB" sz="2400" b="1" dirty="0">
                <a:solidFill>
                  <a:srgbClr val="00B0F0"/>
                </a:solidFill>
              </a:rPr>
              <a:t>crunchiness = 4</a:t>
            </a:r>
            <a:r>
              <a:rPr lang="en-GB" sz="2400" b="1" dirty="0"/>
              <a:t>]  </a:t>
            </a:r>
            <a:r>
              <a:rPr lang="en-GB" sz="2400" dirty="0"/>
              <a:t>and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i="1" dirty="0"/>
              <a:t>green bean </a:t>
            </a:r>
            <a:r>
              <a:rPr lang="en-GB" sz="2400" b="1" dirty="0"/>
              <a:t>[</a:t>
            </a:r>
            <a:r>
              <a:rPr lang="en-GB" sz="2400" b="1" dirty="0">
                <a:solidFill>
                  <a:srgbClr val="FF0000"/>
                </a:solidFill>
              </a:rPr>
              <a:t>sweetness = 3</a:t>
            </a:r>
            <a:r>
              <a:rPr lang="en-GB" sz="2400" b="1" dirty="0"/>
              <a:t>, </a:t>
            </a:r>
            <a:r>
              <a:rPr lang="en-GB" sz="2400" b="1" dirty="0">
                <a:solidFill>
                  <a:srgbClr val="00B0F0"/>
                </a:solidFill>
              </a:rPr>
              <a:t>crunchiness = 7</a:t>
            </a:r>
            <a:r>
              <a:rPr lang="en-GB" sz="2400" b="1" dirty="0"/>
              <a:t>]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C3C7B21-9D40-43B8-8355-BEE444120245}"/>
              </a:ext>
            </a:extLst>
          </p:cNvPr>
          <p:cNvSpPr txBox="1">
            <a:spLocks/>
          </p:cNvSpPr>
          <p:nvPr/>
        </p:nvSpPr>
        <p:spPr>
          <a:xfrm>
            <a:off x="1244010" y="1662840"/>
            <a:ext cx="9462976" cy="707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42900">
              <a:lnSpc>
                <a:spcPct val="10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dirty="0"/>
              <a:t>Euclidean distance is specified by the following  formula: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4656FEE-2C20-40D4-AAE5-56231F69EBC3}"/>
              </a:ext>
            </a:extLst>
          </p:cNvPr>
          <p:cNvSpPr txBox="1">
            <a:spLocks/>
          </p:cNvSpPr>
          <p:nvPr/>
        </p:nvSpPr>
        <p:spPr>
          <a:xfrm>
            <a:off x="3374922" y="239117"/>
            <a:ext cx="6795977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KNN: EUCLIDEAN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636E1CF-F28F-4B74-A9FC-996CE1ED28BA}"/>
                  </a:ext>
                </a:extLst>
              </p:cNvPr>
              <p:cNvSpPr txBox="1"/>
              <p:nvPr/>
            </p:nvSpPr>
            <p:spPr>
              <a:xfrm>
                <a:off x="4017334" y="2370630"/>
                <a:ext cx="4157332" cy="14237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2378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ⅆ</m:t>
                      </m:r>
                      <m:d>
                        <m:dPr>
                          <m:ctrlPr>
                            <a:rPr lang="en-IE" sz="2378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E" sz="2378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E" sz="2378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E" sz="2378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IE" sz="2378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E" sz="2378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IE" sz="2378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E" sz="2378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E" sz="2378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E" sz="2378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IE" sz="2378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E" sz="2378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E" sz="2378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E" sz="2378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IE" sz="2378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E" sz="2378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E" sz="2378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E" sz="2378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IE" sz="2378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E" sz="2378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IE" sz="2378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636E1CF-F28F-4B74-A9FC-996CE1ED2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7334" y="2370630"/>
                <a:ext cx="4157332" cy="14237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EA0B2D6-A4C6-4FFC-805F-0169E8A052BA}"/>
                  </a:ext>
                </a:extLst>
              </p:cNvPr>
              <p:cNvSpPr/>
              <p:nvPr/>
            </p:nvSpPr>
            <p:spPr>
              <a:xfrm>
                <a:off x="3924828" y="2570039"/>
                <a:ext cx="4592411" cy="7569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E" sz="3567" dirty="0">
                    <a:solidFill>
                      <a:schemeClr val="tx1"/>
                    </a:solidFill>
                  </a:rPr>
                  <a:t>d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E" sz="35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E" sz="35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E" sz="3567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E" sz="35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IE" sz="3567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E" sz="3567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l-GR" sz="3567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  <m:sSup>
                          <m:sSupPr>
                            <m:ctrlPr>
                              <a:rPr lang="en-IE" sz="3567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E" sz="3567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E" sz="35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E" sz="35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E" sz="35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E" sz="3567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E" sz="35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E" sz="35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IE" sz="3567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IE" sz="3567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IE" sz="3567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EA0B2D6-A4C6-4FFC-805F-0169E8A05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828" y="2570039"/>
                <a:ext cx="4592411" cy="756938"/>
              </a:xfrm>
              <a:prstGeom prst="rect">
                <a:avLst/>
              </a:prstGeom>
              <a:blipFill>
                <a:blip r:embed="rId3"/>
                <a:stretch>
                  <a:fillRect l="-3984" b="-28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>
            <a:extLst>
              <a:ext uri="{FF2B5EF4-FFF2-40B4-BE49-F238E27FC236}">
                <a16:creationId xmlns:a16="http://schemas.microsoft.com/office/drawing/2014/main" id="{B4656FEE-2C20-40D4-AAE5-56231F69EBC3}"/>
              </a:ext>
            </a:extLst>
          </p:cNvPr>
          <p:cNvSpPr txBox="1">
            <a:spLocks/>
          </p:cNvSpPr>
          <p:nvPr/>
        </p:nvSpPr>
        <p:spPr>
          <a:xfrm>
            <a:off x="1998406" y="493042"/>
            <a:ext cx="8614144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dirty="0"/>
              <a:t>KNN: EXAMPLE - FOOD TYPES (EUCLIDEAN DISTANCE)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A7618B8-003A-4726-9C7A-59D8C6A083CE}"/>
              </a:ext>
            </a:extLst>
          </p:cNvPr>
          <p:cNvSpPr txBox="1">
            <a:spLocks/>
          </p:cNvSpPr>
          <p:nvPr/>
        </p:nvSpPr>
        <p:spPr>
          <a:xfrm>
            <a:off x="1244010" y="3643350"/>
            <a:ext cx="9462976" cy="23853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dirty="0"/>
              <a:t>Assume </a:t>
            </a:r>
            <a:r>
              <a:rPr lang="en-GB" sz="2400" i="1" dirty="0"/>
              <a:t>tomato</a:t>
            </a:r>
            <a:r>
              <a:rPr lang="en-GB" sz="2400" dirty="0"/>
              <a:t> is </a:t>
            </a:r>
            <a:r>
              <a:rPr lang="en-GB" sz="2400" b="1" dirty="0"/>
              <a:t>[</a:t>
            </a:r>
            <a:r>
              <a:rPr lang="en-GB" sz="2400" b="1" dirty="0">
                <a:solidFill>
                  <a:srgbClr val="FF0000"/>
                </a:solidFill>
              </a:rPr>
              <a:t>sweetness = 6</a:t>
            </a:r>
            <a:r>
              <a:rPr lang="en-GB" sz="2400" b="1" dirty="0"/>
              <a:t>, </a:t>
            </a:r>
            <a:r>
              <a:rPr lang="en-GB" sz="2400" b="1" dirty="0">
                <a:solidFill>
                  <a:srgbClr val="00B0F0"/>
                </a:solidFill>
              </a:rPr>
              <a:t>crunchiness = 4</a:t>
            </a:r>
            <a:r>
              <a:rPr lang="en-GB" sz="2400" b="1" dirty="0"/>
              <a:t>]  </a:t>
            </a:r>
            <a:r>
              <a:rPr lang="en-GB" sz="2400" dirty="0"/>
              <a:t>and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400" i="1" dirty="0"/>
              <a:t>green bean </a:t>
            </a:r>
            <a:r>
              <a:rPr lang="en-GB" sz="2400" b="1" dirty="0"/>
              <a:t>[</a:t>
            </a:r>
            <a:r>
              <a:rPr lang="en-GB" sz="2400" b="1" dirty="0">
                <a:solidFill>
                  <a:srgbClr val="FF0000"/>
                </a:solidFill>
              </a:rPr>
              <a:t>sweetness = 3</a:t>
            </a:r>
            <a:r>
              <a:rPr lang="en-GB" sz="2400" b="1" dirty="0"/>
              <a:t>, </a:t>
            </a:r>
            <a:r>
              <a:rPr lang="en-GB" sz="2400" b="1" dirty="0">
                <a:solidFill>
                  <a:srgbClr val="00B0F0"/>
                </a:solidFill>
              </a:rPr>
              <a:t>crunchiness = 7</a:t>
            </a:r>
            <a:r>
              <a:rPr lang="en-GB" sz="2400" b="1" dirty="0"/>
              <a:t>]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endParaRPr lang="en-GB" sz="2400" b="1" dirty="0"/>
          </a:p>
          <a:p>
            <a:pPr marL="361950" indent="-342900">
              <a:lnSpc>
                <a:spcPct val="10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dirty="0"/>
              <a:t>What is the Euclidean distance between those?</a:t>
            </a:r>
          </a:p>
          <a:p>
            <a:pPr marL="361950" indent="-342900">
              <a:lnSpc>
                <a:spcPct val="10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dirty="0"/>
              <a:t>Is the distance symmetrical?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C3C7B21-9D40-43B8-8355-BEE444120245}"/>
              </a:ext>
            </a:extLst>
          </p:cNvPr>
          <p:cNvSpPr txBox="1">
            <a:spLocks/>
          </p:cNvSpPr>
          <p:nvPr/>
        </p:nvSpPr>
        <p:spPr>
          <a:xfrm>
            <a:off x="1244010" y="1662840"/>
            <a:ext cx="9462976" cy="707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42900">
              <a:lnSpc>
                <a:spcPct val="10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dirty="0"/>
              <a:t>Euclidean distance is specified by the following 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B35C17-20CF-4B64-A70C-5A9ED149D5A5}"/>
                  </a:ext>
                </a:extLst>
              </p:cNvPr>
              <p:cNvSpPr txBox="1"/>
              <p:nvPr/>
            </p:nvSpPr>
            <p:spPr>
              <a:xfrm>
                <a:off x="3924828" y="4667561"/>
                <a:ext cx="2758640" cy="336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6−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4−</m:t>
                                  </m:r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I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.2</m:t>
                      </m:r>
                    </m:oMath>
                  </m:oMathPara>
                </a14:m>
                <a:endParaRPr lang="en-I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B35C17-20CF-4B64-A70C-5A9ED149D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4828" y="4667561"/>
                <a:ext cx="2758640" cy="336887"/>
              </a:xfrm>
              <a:prstGeom prst="rect">
                <a:avLst/>
              </a:prstGeom>
              <a:blipFill>
                <a:blip r:embed="rId4"/>
                <a:stretch>
                  <a:fillRect r="-1549" b="-5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833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60824DF-5348-447D-8778-6FC0AF6F1725}"/>
              </a:ext>
            </a:extLst>
          </p:cNvPr>
          <p:cNvGraphicFramePr>
            <a:graphicFrameLocks noGrp="1"/>
          </p:cNvGraphicFramePr>
          <p:nvPr/>
        </p:nvGraphicFramePr>
        <p:xfrm>
          <a:off x="2264728" y="1930219"/>
          <a:ext cx="7421523" cy="2274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7415">
                  <a:extLst>
                    <a:ext uri="{9D8B030D-6E8A-4147-A177-3AD203B41FA5}">
                      <a16:colId xmlns:a16="http://schemas.microsoft.com/office/drawing/2014/main" val="1004544670"/>
                    </a:ext>
                  </a:extLst>
                </a:gridCol>
                <a:gridCol w="693914">
                  <a:extLst>
                    <a:ext uri="{9D8B030D-6E8A-4147-A177-3AD203B41FA5}">
                      <a16:colId xmlns:a16="http://schemas.microsoft.com/office/drawing/2014/main" val="348980651"/>
                    </a:ext>
                  </a:extLst>
                </a:gridCol>
                <a:gridCol w="616428">
                  <a:extLst>
                    <a:ext uri="{9D8B030D-6E8A-4147-A177-3AD203B41FA5}">
                      <a16:colId xmlns:a16="http://schemas.microsoft.com/office/drawing/2014/main" val="15449307"/>
                    </a:ext>
                  </a:extLst>
                </a:gridCol>
                <a:gridCol w="1565332">
                  <a:extLst>
                    <a:ext uri="{9D8B030D-6E8A-4147-A177-3AD203B41FA5}">
                      <a16:colId xmlns:a16="http://schemas.microsoft.com/office/drawing/2014/main" val="166886163"/>
                    </a:ext>
                  </a:extLst>
                </a:gridCol>
                <a:gridCol w="2908434">
                  <a:extLst>
                    <a:ext uri="{9D8B030D-6E8A-4147-A177-3AD203B41FA5}">
                      <a16:colId xmlns:a16="http://schemas.microsoft.com/office/drawing/2014/main" val="2338827496"/>
                    </a:ext>
                  </a:extLst>
                </a:gridCol>
              </a:tblGrid>
              <a:tr h="454968">
                <a:tc>
                  <a:txBody>
                    <a:bodyPr/>
                    <a:lstStyle/>
                    <a:p>
                      <a:r>
                        <a:rPr lang="en-GB" sz="2000" b="1" dirty="0"/>
                        <a:t>Ingredient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Food type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Distance to Tomato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7838690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2000" dirty="0"/>
                        <a:t>Grape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Fruit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4346917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2000" dirty="0"/>
                        <a:t>Green bean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Vegetable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7224312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2000" dirty="0"/>
                        <a:t>Nuts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6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Protein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219315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2000" dirty="0"/>
                        <a:t>orange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fruit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2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87554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A424AA7-1049-404E-8E14-CE9FE24F13D9}"/>
                  </a:ext>
                </a:extLst>
              </p:cNvPr>
              <p:cNvSpPr txBox="1"/>
              <p:nvPr/>
            </p:nvSpPr>
            <p:spPr>
              <a:xfrm>
                <a:off x="6870407" y="3721619"/>
                <a:ext cx="2758640" cy="3986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ad>
                            <m:radPr>
                              <m:degHide m:val="on"/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E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E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6−7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4−3</m:t>
                                  </m:r>
                                </m:e>
                              </m:d>
                            </m:e>
                          </m:rad>
                        </m:e>
                        <m:sup>
                          <m:r>
                            <a:rPr lang="en-I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=1.4</m:t>
                      </m:r>
                    </m:oMath>
                  </m:oMathPara>
                </a14:m>
                <a:endParaRPr lang="en-I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A424AA7-1049-404E-8E14-CE9FE24F1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407" y="3721619"/>
                <a:ext cx="2758640" cy="3986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E3BE22-38F1-4FFA-85C7-CF8C2B2CB018}"/>
                  </a:ext>
                </a:extLst>
              </p:cNvPr>
              <p:cNvSpPr txBox="1"/>
              <p:nvPr/>
            </p:nvSpPr>
            <p:spPr>
              <a:xfrm>
                <a:off x="6871638" y="3331668"/>
                <a:ext cx="2758639" cy="336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4−6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=3.6</m:t>
                      </m:r>
                    </m:oMath>
                  </m:oMathPara>
                </a14:m>
                <a:endParaRPr lang="en-I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C1E3BE22-38F1-4FFA-85C7-CF8C2B2CB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638" y="3331668"/>
                <a:ext cx="2758639" cy="336887"/>
              </a:xfrm>
              <a:prstGeom prst="rect">
                <a:avLst/>
              </a:prstGeom>
              <a:blipFill>
                <a:blip r:embed="rId4"/>
                <a:stretch>
                  <a:fillRect r="-1545" b="-5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E0FFDF0-F72E-47F4-BAA9-F0E4DF6039AA}"/>
                  </a:ext>
                </a:extLst>
              </p:cNvPr>
              <p:cNvSpPr txBox="1"/>
              <p:nvPr/>
            </p:nvSpPr>
            <p:spPr>
              <a:xfrm>
                <a:off x="6870407" y="2873907"/>
                <a:ext cx="2758639" cy="336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6−3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4−7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=4.2</m:t>
                      </m:r>
                    </m:oMath>
                  </m:oMathPara>
                </a14:m>
                <a:endParaRPr lang="en-I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5E0FFDF0-F72E-47F4-BAA9-F0E4DF603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407" y="2873907"/>
                <a:ext cx="2758639" cy="336887"/>
              </a:xfrm>
              <a:prstGeom prst="rect">
                <a:avLst/>
              </a:prstGeom>
              <a:blipFill>
                <a:blip r:embed="rId5"/>
                <a:stretch>
                  <a:fillRect r="-1545" b="-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331031-FCEA-44ED-8B07-7AF17323BD2D}"/>
                  </a:ext>
                </a:extLst>
              </p:cNvPr>
              <p:cNvSpPr txBox="1"/>
              <p:nvPr/>
            </p:nvSpPr>
            <p:spPr>
              <a:xfrm>
                <a:off x="6870407" y="2416146"/>
                <a:ext cx="2758639" cy="336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6−8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E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4−5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=2.2</m:t>
                      </m:r>
                    </m:oMath>
                  </m:oMathPara>
                </a14:m>
                <a:endParaRPr lang="en-I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A331031-FCEA-44ED-8B07-7AF17323B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407" y="2416146"/>
                <a:ext cx="2758639" cy="336887"/>
              </a:xfrm>
              <a:prstGeom prst="rect">
                <a:avLst/>
              </a:prstGeom>
              <a:blipFill>
                <a:blip r:embed="rId6"/>
                <a:stretch>
                  <a:fillRect r="-1545" b="-53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B51AB8AE-6C64-46C6-A9A2-B829D08E69B8}"/>
              </a:ext>
            </a:extLst>
          </p:cNvPr>
          <p:cNvSpPr txBox="1">
            <a:spLocks/>
          </p:cNvSpPr>
          <p:nvPr/>
        </p:nvSpPr>
        <p:spPr>
          <a:xfrm>
            <a:off x="1244010" y="4347244"/>
            <a:ext cx="9462976" cy="211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000" i="1" dirty="0">
                <a:solidFill>
                  <a:srgbClr val="FF0000"/>
                </a:solidFill>
              </a:rPr>
              <a:t>S(</a:t>
            </a:r>
            <a:r>
              <a:rPr lang="en-GB" sz="2000" i="1" dirty="0" err="1">
                <a:solidFill>
                  <a:srgbClr val="FF0000"/>
                </a:solidFill>
              </a:rPr>
              <a:t>weetness</a:t>
            </a:r>
            <a:r>
              <a:rPr lang="en-GB" sz="2000" i="1" dirty="0">
                <a:solidFill>
                  <a:srgbClr val="FF0000"/>
                </a:solidFill>
              </a:rPr>
              <a:t>) </a:t>
            </a:r>
            <a:r>
              <a:rPr lang="en-GB" sz="2000" dirty="0"/>
              <a:t>and </a:t>
            </a:r>
            <a:r>
              <a:rPr lang="en-GB" sz="2000" i="1" dirty="0">
                <a:solidFill>
                  <a:srgbClr val="00B0F0"/>
                </a:solidFill>
              </a:rPr>
              <a:t>C(</a:t>
            </a:r>
            <a:r>
              <a:rPr lang="en-GB" sz="2000" i="1" dirty="0" err="1">
                <a:solidFill>
                  <a:srgbClr val="00B0F0"/>
                </a:solidFill>
              </a:rPr>
              <a:t>runchiness</a:t>
            </a:r>
            <a:r>
              <a:rPr lang="en-GB" sz="2000" i="1" dirty="0">
                <a:solidFill>
                  <a:srgbClr val="00B0F0"/>
                </a:solidFill>
              </a:rPr>
              <a:t>)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000" dirty="0"/>
              <a:t>To classify the tomato as a vegetable, protein, or fruit, we’ll begin by assigning the tomato, the food type of its single nearest neighbour.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000" dirty="0"/>
              <a:t>This is a </a:t>
            </a:r>
            <a:r>
              <a:rPr lang="en-GB" sz="2000" b="1" dirty="0"/>
              <a:t>1NN</a:t>
            </a:r>
            <a:r>
              <a:rPr lang="en-GB" sz="2000" dirty="0"/>
              <a:t> classification because </a:t>
            </a:r>
            <a:r>
              <a:rPr lang="en-GB" sz="2000" b="1" dirty="0"/>
              <a:t>k = 1</a:t>
            </a:r>
            <a:r>
              <a:rPr lang="en-GB" sz="2000" dirty="0"/>
              <a:t>.</a:t>
            </a:r>
          </a:p>
          <a:p>
            <a:pPr marL="712788" indent="-266700">
              <a:lnSpc>
                <a:spcPct val="100000"/>
              </a:lnSpc>
              <a:buClr>
                <a:schemeClr val="tx1"/>
              </a:buClr>
              <a:buSzPct val="100000"/>
            </a:pPr>
            <a:r>
              <a:rPr lang="en-GB" sz="2000" dirty="0"/>
              <a:t>The orange is the nearest neighbour to the tomato (with distance of 1.4).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E217400-F2AB-4F3D-B23E-EB123EDBDC19}"/>
              </a:ext>
            </a:extLst>
          </p:cNvPr>
          <p:cNvSpPr txBox="1">
            <a:spLocks/>
          </p:cNvSpPr>
          <p:nvPr/>
        </p:nvSpPr>
        <p:spPr>
          <a:xfrm>
            <a:off x="1244010" y="1351531"/>
            <a:ext cx="7366590" cy="60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dirty="0"/>
              <a:t>Lets assume these values for other instances: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DB20DBF-D7D3-4A37-9592-FBC923195E31}"/>
              </a:ext>
            </a:extLst>
          </p:cNvPr>
          <p:cNvSpPr txBox="1">
            <a:spLocks/>
          </p:cNvSpPr>
          <p:nvPr/>
        </p:nvSpPr>
        <p:spPr>
          <a:xfrm>
            <a:off x="936522" y="205417"/>
            <a:ext cx="11461955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KNN: EXAMPLE - FOOD TYPES (EUCLIDEAN DISTANCE)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450E5CD-B899-4329-B837-35ACD2F13F81}"/>
              </a:ext>
            </a:extLst>
          </p:cNvPr>
          <p:cNvSpPr txBox="1">
            <a:spLocks/>
          </p:cNvSpPr>
          <p:nvPr/>
        </p:nvSpPr>
        <p:spPr>
          <a:xfrm>
            <a:off x="1696522" y="3147238"/>
            <a:ext cx="8803758" cy="1403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tx1"/>
              </a:buClr>
              <a:buSzPct val="100000"/>
              <a:buNone/>
            </a:pPr>
            <a:r>
              <a:rPr lang="en-GB" sz="4400" dirty="0"/>
              <a:t>The BIG question: What should </a:t>
            </a:r>
            <a:r>
              <a:rPr lang="en-GB" sz="4400" b="1" dirty="0"/>
              <a:t>k</a:t>
            </a:r>
            <a:r>
              <a:rPr lang="en-GB" sz="4400" dirty="0"/>
              <a:t> be?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D1005B6-2869-4BC7-A458-855B174408E2}"/>
              </a:ext>
            </a:extLst>
          </p:cNvPr>
          <p:cNvSpPr txBox="1">
            <a:spLocks/>
          </p:cNvSpPr>
          <p:nvPr/>
        </p:nvSpPr>
        <p:spPr>
          <a:xfrm>
            <a:off x="3227439" y="390989"/>
            <a:ext cx="6795977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KNN: DECISION BOUNDARY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4BA1B-8FC0-427B-BADC-14C5790635E6}"/>
              </a:ext>
            </a:extLst>
          </p:cNvPr>
          <p:cNvSpPr txBox="1">
            <a:spLocks/>
          </p:cNvSpPr>
          <p:nvPr/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100" cap="all" spc="200" dirty="0">
                <a:solidFill>
                  <a:schemeClr val="tx2"/>
                </a:solidFill>
              </a:rPr>
              <a:t>Selecting k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122394D-AC91-4CFB-DB40-C81F596285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6535131"/>
              </p:ext>
            </p:extLst>
          </p:nvPr>
        </p:nvGraphicFramePr>
        <p:xfrm>
          <a:off x="1250950" y="2286000"/>
          <a:ext cx="10179050" cy="359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1FF67B-FF37-4240-AF22-05DAC100BF9B}"/>
              </a:ext>
            </a:extLst>
          </p:cNvPr>
          <p:cNvSpPr txBox="1">
            <a:spLocks/>
          </p:cNvSpPr>
          <p:nvPr/>
        </p:nvSpPr>
        <p:spPr>
          <a:xfrm>
            <a:off x="754144" y="484631"/>
            <a:ext cx="6340519" cy="16384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100" cap="all" spc="200" dirty="0">
                <a:solidFill>
                  <a:schemeClr val="tx2"/>
                </a:solidFill>
              </a:rPr>
              <a:t>Selecting k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F5D6DAC-6F18-46BB-9277-CAC16637A0BF}"/>
              </a:ext>
            </a:extLst>
          </p:cNvPr>
          <p:cNvSpPr txBox="1">
            <a:spLocks/>
          </p:cNvSpPr>
          <p:nvPr/>
        </p:nvSpPr>
        <p:spPr>
          <a:xfrm>
            <a:off x="1244010" y="1954043"/>
            <a:ext cx="9005776" cy="3340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361950">
              <a:buClr>
                <a:schemeClr val="tx1"/>
              </a:buClr>
              <a:buSzPct val="100000"/>
            </a:pPr>
            <a:r>
              <a:rPr lang="en-GB" dirty="0"/>
              <a:t>Deciding how many neighbours to use for kNN defines how well the model will generalize future instances.</a:t>
            </a:r>
          </a:p>
          <a:p>
            <a:pPr marL="361950" indent="-361950">
              <a:buClr>
                <a:schemeClr val="tx1"/>
              </a:buClr>
              <a:buSzPct val="100000"/>
            </a:pPr>
            <a:endParaRPr lang="en-GB" dirty="0"/>
          </a:p>
          <a:p>
            <a:pPr marL="361950" indent="-361950">
              <a:buClr>
                <a:schemeClr val="tx1"/>
              </a:buClr>
              <a:buSzPct val="100000"/>
            </a:pPr>
            <a:r>
              <a:rPr lang="en-GB" b="1" dirty="0"/>
              <a:t>Bias-variance</a:t>
            </a:r>
            <a:r>
              <a:rPr lang="en-GB" dirty="0"/>
              <a:t> trade-off:</a:t>
            </a:r>
          </a:p>
          <a:p>
            <a:pPr marL="808038" indent="0">
              <a:buClr>
                <a:schemeClr val="tx1"/>
              </a:buClr>
              <a:buSzPct val="100000"/>
              <a:buNone/>
            </a:pPr>
            <a:r>
              <a:rPr lang="en-GB" dirty="0"/>
              <a:t>Balance: over-fitting ↔ under-fitting the training data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DE9C99F-B3C6-4AD5-91D7-5641D00C0DCE}"/>
              </a:ext>
            </a:extLst>
          </p:cNvPr>
          <p:cNvSpPr txBox="1">
            <a:spLocks/>
          </p:cNvSpPr>
          <p:nvPr/>
        </p:nvSpPr>
        <p:spPr>
          <a:xfrm>
            <a:off x="761996" y="1153287"/>
            <a:ext cx="3570566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3200" b="1" cap="all" spc="200">
                <a:solidFill>
                  <a:schemeClr val="tx2"/>
                </a:solidFill>
              </a:rPr>
              <a:t>Selecting k: Very Large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1392A52-EADA-4345-A98F-3095BEEB3EF2}"/>
              </a:ext>
            </a:extLst>
          </p:cNvPr>
          <p:cNvSpPr txBox="1">
            <a:spLocks/>
          </p:cNvSpPr>
          <p:nvPr/>
        </p:nvSpPr>
        <p:spPr>
          <a:xfrm>
            <a:off x="4976031" y="1153287"/>
            <a:ext cx="6453969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Very large k (equal instance training set)</a:t>
            </a:r>
          </a:p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every training instance is represented in the final  vote</a:t>
            </a:r>
          </a:p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the most common training class always has a  majority vote</a:t>
            </a:r>
          </a:p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this predicts the majority class, regardless of  which neighbours are nearest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0AFBFE8-A2B5-4C47-B520-3EE87F79203C}"/>
              </a:ext>
            </a:extLst>
          </p:cNvPr>
          <p:cNvSpPr txBox="1">
            <a:spLocks/>
          </p:cNvSpPr>
          <p:nvPr/>
        </p:nvSpPr>
        <p:spPr>
          <a:xfrm>
            <a:off x="761996" y="1153287"/>
            <a:ext cx="3570566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3200" b="1" cap="all" spc="200">
                <a:solidFill>
                  <a:schemeClr val="tx2"/>
                </a:solidFill>
              </a:rPr>
              <a:t>Selecting k: Large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46E0EA8-27A2-4543-AEF6-C7EAECCAFE71}"/>
              </a:ext>
            </a:extLst>
          </p:cNvPr>
          <p:cNvSpPr txBox="1">
            <a:spLocks/>
          </p:cNvSpPr>
          <p:nvPr/>
        </p:nvSpPr>
        <p:spPr>
          <a:xfrm>
            <a:off x="4976031" y="1153287"/>
            <a:ext cx="6453969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Large k</a:t>
            </a:r>
          </a:p>
          <a:p>
            <a:pPr marL="36195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  <a:buNone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Reduces the impact or variance caused by noisy data, but can bias the learner such that it runs the risk of ignoring small, but important patterns.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3AB84C9-E919-42F8-B873-F9249FC9D29B}"/>
              </a:ext>
            </a:extLst>
          </p:cNvPr>
          <p:cNvSpPr txBox="1">
            <a:spLocks/>
          </p:cNvSpPr>
          <p:nvPr/>
        </p:nvSpPr>
        <p:spPr>
          <a:xfrm>
            <a:off x="761996" y="1153287"/>
            <a:ext cx="3570566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3200" b="1" cap="all" spc="200">
                <a:solidFill>
                  <a:schemeClr val="tx2"/>
                </a:solidFill>
              </a:rPr>
              <a:t>Selecting k: Very Small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9CF4697-D3D9-45D4-8034-41EB34228D25}"/>
              </a:ext>
            </a:extLst>
          </p:cNvPr>
          <p:cNvSpPr txBox="1">
            <a:spLocks/>
          </p:cNvSpPr>
          <p:nvPr/>
        </p:nvSpPr>
        <p:spPr>
          <a:xfrm>
            <a:off x="4976031" y="1153287"/>
            <a:ext cx="6453969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k = 1:</a:t>
            </a:r>
          </a:p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allows noisy data or outliers to strongly influence the classification</a:t>
            </a:r>
          </a:p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e.g. mislabelled instances: Instances nearest the incorrectly labelled neighbours will be assigned to the incorrect class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BBB5E12-6C32-43E9-906F-56C1FA1D63FA}"/>
              </a:ext>
            </a:extLst>
          </p:cNvPr>
          <p:cNvSpPr txBox="1">
            <a:spLocks/>
          </p:cNvSpPr>
          <p:nvPr/>
        </p:nvSpPr>
        <p:spPr>
          <a:xfrm>
            <a:off x="4348316" y="331995"/>
            <a:ext cx="5084135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SELECTING K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A33F64E0-97E9-7BDF-F4A9-ACBAEF7AA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681902"/>
              </p:ext>
            </p:extLst>
          </p:nvPr>
        </p:nvGraphicFramePr>
        <p:xfrm>
          <a:off x="1244010" y="1954043"/>
          <a:ext cx="9945100" cy="3994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2FA40649-D6DF-4194-AEB1-2E5083179BC8}"/>
              </a:ext>
            </a:extLst>
          </p:cNvPr>
          <p:cNvSpPr/>
          <p:nvPr/>
        </p:nvSpPr>
        <p:spPr>
          <a:xfrm>
            <a:off x="2930436" y="3220873"/>
            <a:ext cx="2545253" cy="2364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24EF019B-7FFB-4195-B227-EC188F447F8E}"/>
              </a:ext>
            </a:extLst>
          </p:cNvPr>
          <p:cNvSpPr/>
          <p:nvPr/>
        </p:nvSpPr>
        <p:spPr>
          <a:xfrm>
            <a:off x="6409753" y="3237612"/>
            <a:ext cx="2486273" cy="2364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BF10CB92-BF24-4F5D-8059-40E5F20E940B}"/>
              </a:ext>
            </a:extLst>
          </p:cNvPr>
          <p:cNvSpPr txBox="1"/>
          <p:nvPr/>
        </p:nvSpPr>
        <p:spPr>
          <a:xfrm>
            <a:off x="3806930" y="5626604"/>
            <a:ext cx="948795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920"/>
              </a:lnSpc>
            </a:pPr>
            <a:r>
              <a:rPr sz="1784" b="1" spc="-30" dirty="0">
                <a:latin typeface="Arial"/>
                <a:cs typeface="Arial"/>
              </a:rPr>
              <a:t>Larger</a:t>
            </a:r>
            <a:r>
              <a:rPr sz="1784" b="1" spc="-119" dirty="0">
                <a:latin typeface="Arial"/>
                <a:cs typeface="Arial"/>
              </a:rPr>
              <a:t> </a:t>
            </a:r>
            <a:r>
              <a:rPr sz="2675" b="1" spc="133" baseline="3086" dirty="0">
                <a:latin typeface="Arial"/>
                <a:cs typeface="Arial"/>
              </a:rPr>
              <a:t>k</a:t>
            </a:r>
            <a:endParaRPr sz="2675" baseline="3086">
              <a:latin typeface="Arial"/>
              <a:cs typeface="Arial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709B7891-8651-49FB-8020-8983D5EF9EB7}"/>
              </a:ext>
            </a:extLst>
          </p:cNvPr>
          <p:cNvSpPr txBox="1"/>
          <p:nvPr/>
        </p:nvSpPr>
        <p:spPr>
          <a:xfrm>
            <a:off x="7327779" y="5675792"/>
            <a:ext cx="105827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932"/>
              </a:lnSpc>
            </a:pPr>
            <a:r>
              <a:rPr sz="1784" b="1" spc="-30" dirty="0">
                <a:latin typeface="Arial"/>
                <a:cs typeface="Arial"/>
              </a:rPr>
              <a:t>Smaller</a:t>
            </a:r>
            <a:r>
              <a:rPr sz="1784" b="1" spc="-119" dirty="0">
                <a:latin typeface="Arial"/>
                <a:cs typeface="Arial"/>
              </a:rPr>
              <a:t> </a:t>
            </a:r>
            <a:r>
              <a:rPr sz="2675" b="1" spc="133" baseline="3086" dirty="0">
                <a:latin typeface="Arial"/>
                <a:cs typeface="Arial"/>
              </a:rPr>
              <a:t>k</a:t>
            </a:r>
            <a:endParaRPr sz="2675" baseline="3086">
              <a:latin typeface="Arial"/>
              <a:cs typeface="Arial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CAD2E42-BA03-4348-A8D5-05DB7074ADCB}"/>
              </a:ext>
            </a:extLst>
          </p:cNvPr>
          <p:cNvSpPr txBox="1">
            <a:spLocks/>
          </p:cNvSpPr>
          <p:nvPr/>
        </p:nvSpPr>
        <p:spPr>
          <a:xfrm>
            <a:off x="1265274" y="1954043"/>
            <a:ext cx="8686799" cy="1519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350838">
              <a:buClr>
                <a:schemeClr val="tx1"/>
              </a:buClr>
              <a:buSzPct val="100000"/>
            </a:pPr>
            <a:r>
              <a:rPr lang="en-GB" dirty="0"/>
              <a:t>So, how is the decision boundary  affected by larger and smaller values for k?</a:t>
            </a:r>
            <a:endParaRPr lang="en-IE" sz="20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4652C-4484-432D-A782-B6F5CEE84777}"/>
              </a:ext>
            </a:extLst>
          </p:cNvPr>
          <p:cNvSpPr txBox="1">
            <a:spLocks/>
          </p:cNvSpPr>
          <p:nvPr/>
        </p:nvSpPr>
        <p:spPr>
          <a:xfrm>
            <a:off x="2104453" y="309016"/>
            <a:ext cx="8610600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dirty="0"/>
              <a:t>KNN: DECISION BOUNDARY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2FA40649-D6DF-4194-AEB1-2E5083179BC8}"/>
              </a:ext>
            </a:extLst>
          </p:cNvPr>
          <p:cNvSpPr/>
          <p:nvPr/>
        </p:nvSpPr>
        <p:spPr>
          <a:xfrm>
            <a:off x="2930436" y="1466498"/>
            <a:ext cx="2545253" cy="23646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BF10CB92-BF24-4F5D-8059-40E5F20E940B}"/>
              </a:ext>
            </a:extLst>
          </p:cNvPr>
          <p:cNvSpPr txBox="1"/>
          <p:nvPr/>
        </p:nvSpPr>
        <p:spPr>
          <a:xfrm>
            <a:off x="3806930" y="3872229"/>
            <a:ext cx="948795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920"/>
              </a:lnSpc>
            </a:pPr>
            <a:r>
              <a:rPr sz="1784" b="1" spc="-30" dirty="0">
                <a:latin typeface="Arial"/>
                <a:cs typeface="Arial"/>
              </a:rPr>
              <a:t>Larger</a:t>
            </a:r>
            <a:r>
              <a:rPr sz="1784" b="1" spc="-119" dirty="0">
                <a:latin typeface="Arial"/>
                <a:cs typeface="Arial"/>
              </a:rPr>
              <a:t> </a:t>
            </a:r>
            <a:r>
              <a:rPr sz="2675" b="1" spc="133" baseline="3086" dirty="0">
                <a:latin typeface="Arial"/>
                <a:cs typeface="Arial"/>
              </a:rPr>
              <a:t>k</a:t>
            </a:r>
            <a:endParaRPr sz="2675" baseline="3086">
              <a:latin typeface="Arial"/>
              <a:cs typeface="Arial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72D7DA19-B7D7-44C2-BED1-373294C42CD3}"/>
              </a:ext>
            </a:extLst>
          </p:cNvPr>
          <p:cNvSpPr/>
          <p:nvPr/>
        </p:nvSpPr>
        <p:spPr>
          <a:xfrm>
            <a:off x="6409752" y="1487763"/>
            <a:ext cx="2486273" cy="23646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709B7891-8651-49FB-8020-8983D5EF9EB7}"/>
              </a:ext>
            </a:extLst>
          </p:cNvPr>
          <p:cNvSpPr txBox="1"/>
          <p:nvPr/>
        </p:nvSpPr>
        <p:spPr>
          <a:xfrm>
            <a:off x="7327779" y="3921417"/>
            <a:ext cx="1058271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>
              <a:lnSpc>
                <a:spcPts val="1932"/>
              </a:lnSpc>
            </a:pPr>
            <a:r>
              <a:rPr sz="1784" b="1" spc="-30" dirty="0">
                <a:latin typeface="Arial"/>
                <a:cs typeface="Arial"/>
              </a:rPr>
              <a:t>Smaller</a:t>
            </a:r>
            <a:r>
              <a:rPr sz="1784" b="1" spc="-119" dirty="0">
                <a:latin typeface="Arial"/>
                <a:cs typeface="Arial"/>
              </a:rPr>
              <a:t> </a:t>
            </a:r>
            <a:r>
              <a:rPr sz="2675" b="1" spc="133" baseline="3086" dirty="0">
                <a:latin typeface="Arial"/>
                <a:cs typeface="Arial"/>
              </a:rPr>
              <a:t>k</a:t>
            </a:r>
            <a:endParaRPr sz="2675" baseline="3086">
              <a:latin typeface="Arial"/>
              <a:cs typeface="Arial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CAD2E42-BA03-4348-A8D5-05DB7074ADCB}"/>
              </a:ext>
            </a:extLst>
          </p:cNvPr>
          <p:cNvSpPr txBox="1">
            <a:spLocks/>
          </p:cNvSpPr>
          <p:nvPr/>
        </p:nvSpPr>
        <p:spPr>
          <a:xfrm>
            <a:off x="1233377" y="4339105"/>
            <a:ext cx="8963246" cy="2127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8038" indent="-361950">
              <a:lnSpc>
                <a:spcPct val="110000"/>
              </a:lnSpc>
              <a:buClr>
                <a:schemeClr val="tx1"/>
              </a:buClr>
              <a:buSzPct val="100000"/>
            </a:pPr>
            <a:r>
              <a:rPr lang="en-GB" sz="2400" b="1" dirty="0">
                <a:solidFill>
                  <a:srgbClr val="FF0000"/>
                </a:solidFill>
              </a:rPr>
              <a:t>Smaller values </a:t>
            </a:r>
            <a:r>
              <a:rPr lang="en-GB" sz="2400" dirty="0"/>
              <a:t>allow more complex decision boundaries that </a:t>
            </a:r>
            <a:r>
              <a:rPr lang="en-GB" sz="2400" b="1" dirty="0">
                <a:solidFill>
                  <a:srgbClr val="FF0000"/>
                </a:solidFill>
              </a:rPr>
              <a:t>more carefully fit</a:t>
            </a:r>
            <a:r>
              <a:rPr lang="en-GB" sz="2400" dirty="0"/>
              <a:t> the training data.</a:t>
            </a:r>
          </a:p>
          <a:p>
            <a:pPr marL="808038" indent="-361950">
              <a:lnSpc>
                <a:spcPct val="110000"/>
              </a:lnSpc>
              <a:buClr>
                <a:schemeClr val="tx1"/>
              </a:buClr>
              <a:buSzPct val="100000"/>
            </a:pPr>
            <a:r>
              <a:rPr lang="en-GB" sz="2400" dirty="0"/>
              <a:t>BUT we do not know whether the straight or curved  boundary better represents the true underlying concept to  be learned.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4652C-4484-432D-A782-B6F5CEE84777}"/>
              </a:ext>
            </a:extLst>
          </p:cNvPr>
          <p:cNvSpPr txBox="1">
            <a:spLocks/>
          </p:cNvSpPr>
          <p:nvPr/>
        </p:nvSpPr>
        <p:spPr>
          <a:xfrm>
            <a:off x="3306096" y="199868"/>
            <a:ext cx="6545827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KNN: DECISION BOUNDARY</a:t>
            </a:r>
          </a:p>
        </p:txBody>
      </p:sp>
    </p:spTree>
    <p:extLst>
      <p:ext uri="{BB962C8B-B14F-4D97-AF65-F5344CB8AC3E}">
        <p14:creationId xmlns:p14="http://schemas.microsoft.com/office/powerpoint/2010/main" val="30474118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D9E7F7D-641C-4AC2-86B2-27EFFA75E9D4}"/>
              </a:ext>
            </a:extLst>
          </p:cNvPr>
          <p:cNvSpPr txBox="1">
            <a:spLocks/>
          </p:cNvSpPr>
          <p:nvPr/>
        </p:nvSpPr>
        <p:spPr>
          <a:xfrm>
            <a:off x="1265273" y="1707615"/>
            <a:ext cx="8306335" cy="4439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361950">
              <a:lnSpc>
                <a:spcPct val="11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sz="2600" dirty="0"/>
              <a:t>In practice, choosing k depends on:</a:t>
            </a:r>
          </a:p>
          <a:p>
            <a:pPr marL="1073150" indent="-265113">
              <a:lnSpc>
                <a:spcPct val="120000"/>
              </a:lnSpc>
              <a:buClr>
                <a:schemeClr val="tx1"/>
              </a:buClr>
              <a:buSzPct val="100000"/>
            </a:pPr>
            <a:r>
              <a:rPr lang="en-GB" sz="2200" dirty="0"/>
              <a:t>the difficulty of the concept to be learned</a:t>
            </a:r>
          </a:p>
          <a:p>
            <a:pPr marL="1073150" indent="-265113">
              <a:lnSpc>
                <a:spcPct val="120000"/>
              </a:lnSpc>
              <a:buClr>
                <a:schemeClr val="tx1"/>
              </a:buClr>
              <a:buSzPct val="100000"/>
            </a:pPr>
            <a:r>
              <a:rPr lang="en-GB" sz="2200" dirty="0"/>
              <a:t>the number of instances in the training data</a:t>
            </a:r>
          </a:p>
          <a:p>
            <a:pPr marL="712788" indent="-361950">
              <a:lnSpc>
                <a:spcPct val="11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sz="2600" dirty="0"/>
              <a:t>Typically: 3 ≤ k ≤ 10</a:t>
            </a:r>
          </a:p>
          <a:p>
            <a:pPr marL="712788" indent="-361950">
              <a:lnSpc>
                <a:spcPct val="11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sz="2400" dirty="0"/>
              <a:t>Common practice:  </a:t>
            </a:r>
          </a:p>
          <a:p>
            <a:pPr marL="712788" indent="-361950">
              <a:lnSpc>
                <a:spcPct val="11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endParaRPr lang="en-GB" sz="2400" dirty="0"/>
          </a:p>
          <a:p>
            <a:pPr marL="712788" indent="-361950">
              <a:lnSpc>
                <a:spcPct val="110000"/>
              </a:lnSpc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GB" sz="2400" spc="-30" baseline="-3968" dirty="0">
                <a:cs typeface="Arial"/>
              </a:rPr>
              <a:t> </a:t>
            </a:r>
            <a:r>
              <a:rPr lang="en-GB" sz="4400" spc="-30" baseline="-3968" dirty="0">
                <a:latin typeface="Arial"/>
                <a:cs typeface="Arial"/>
              </a:rPr>
              <a:t>→</a:t>
            </a:r>
            <a:r>
              <a:rPr lang="en-GB" sz="2400" spc="-30" baseline="-3968" dirty="0">
                <a:latin typeface="Arial"/>
                <a:cs typeface="Arial"/>
              </a:rPr>
              <a:t> </a:t>
            </a:r>
            <a:r>
              <a:rPr lang="en-GB" sz="2400" b="1" dirty="0"/>
              <a:t>Does not always result in the best </a:t>
            </a:r>
            <a:r>
              <a:rPr lang="en-GB" sz="2400" b="1" dirty="0">
                <a:solidFill>
                  <a:srgbClr val="FF0000"/>
                </a:solidFill>
              </a:rPr>
              <a:t>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0C5E53-BF4C-40AC-8216-07E0EC312D14}"/>
                  </a:ext>
                </a:extLst>
              </p:cNvPr>
              <p:cNvSpPr/>
              <p:nvPr/>
            </p:nvSpPr>
            <p:spPr>
              <a:xfrm>
                <a:off x="4488355" y="3835315"/>
                <a:ext cx="3566810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E" sz="2800" dirty="0">
                    <a:solidFill>
                      <a:srgbClr val="FF0000"/>
                    </a:solidFill>
                  </a:rPr>
                  <a:t>k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E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E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training</m:t>
                            </m:r>
                            <m:r>
                              <a:rPr lang="en-GB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GB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instances</m:t>
                            </m:r>
                            <m:r>
                              <a:rPr lang="en-GB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GB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e>
                    </m:rad>
                  </m:oMath>
                </a14:m>
                <a:endParaRPr lang="en-IE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0C5E53-BF4C-40AC-8216-07E0EC312D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355" y="3835315"/>
                <a:ext cx="3566810" cy="539571"/>
              </a:xfrm>
              <a:prstGeom prst="rect">
                <a:avLst/>
              </a:prstGeom>
              <a:blipFill>
                <a:blip r:embed="rId3"/>
                <a:stretch>
                  <a:fillRect l="-3419" t="-7865" b="-303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9E31E98A-9D75-465C-A0AE-D28E6EBE5AE3}"/>
              </a:ext>
            </a:extLst>
          </p:cNvPr>
          <p:cNvSpPr txBox="1">
            <a:spLocks/>
          </p:cNvSpPr>
          <p:nvPr/>
        </p:nvSpPr>
        <p:spPr>
          <a:xfrm>
            <a:off x="2418744" y="400821"/>
            <a:ext cx="7706032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dirty="0"/>
              <a:t>PRAGMATICALLY SELECTING 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3AB84C9-E919-42F8-B873-F9249FC9D29B}"/>
              </a:ext>
            </a:extLst>
          </p:cNvPr>
          <p:cNvSpPr txBox="1">
            <a:spLocks/>
          </p:cNvSpPr>
          <p:nvPr/>
        </p:nvSpPr>
        <p:spPr>
          <a:xfrm>
            <a:off x="754144" y="484631"/>
            <a:ext cx="6340519" cy="16384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100" b="1" cap="all" spc="200">
                <a:solidFill>
                  <a:schemeClr val="tx2"/>
                </a:solidFill>
              </a:rPr>
              <a:t>Data Preparation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9CF4697-D3D9-45D4-8034-41EB34228D25}"/>
              </a:ext>
            </a:extLst>
          </p:cNvPr>
          <p:cNvSpPr txBox="1">
            <a:spLocks/>
          </p:cNvSpPr>
          <p:nvPr/>
        </p:nvSpPr>
        <p:spPr>
          <a:xfrm>
            <a:off x="765051" y="2443140"/>
            <a:ext cx="6306309" cy="3930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r>
              <a:rPr lang="en-US" sz="2600">
                <a:solidFill>
                  <a:srgbClr val="000000"/>
                </a:solidFill>
              </a:rPr>
              <a:t>Distance function can be affected by the potential  ranges of the dimensions</a:t>
            </a:r>
          </a:p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r>
              <a:rPr lang="en-US" sz="2600">
                <a:solidFill>
                  <a:srgbClr val="000000"/>
                </a:solidFill>
              </a:rPr>
              <a:t>What could happen if one dimension has values  between </a:t>
            </a:r>
            <a:r>
              <a:rPr lang="en-US" sz="2600" b="1">
                <a:solidFill>
                  <a:srgbClr val="000000"/>
                </a:solidFill>
              </a:rPr>
              <a:t>1</a:t>
            </a:r>
            <a:r>
              <a:rPr lang="en-US" sz="2600">
                <a:solidFill>
                  <a:srgbClr val="000000"/>
                </a:solidFill>
              </a:rPr>
              <a:t> and </a:t>
            </a:r>
            <a:r>
              <a:rPr lang="en-US" sz="2600" b="1">
                <a:solidFill>
                  <a:srgbClr val="000000"/>
                </a:solidFill>
              </a:rPr>
              <a:t>10</a:t>
            </a:r>
            <a:r>
              <a:rPr lang="en-US" sz="2600">
                <a:solidFill>
                  <a:srgbClr val="000000"/>
                </a:solidFill>
              </a:rPr>
              <a:t> and another has values between </a:t>
            </a:r>
            <a:r>
              <a:rPr lang="en-US" sz="2600" b="1">
                <a:solidFill>
                  <a:srgbClr val="000000"/>
                </a:solidFill>
              </a:rPr>
              <a:t>0</a:t>
            </a:r>
            <a:r>
              <a:rPr lang="en-US" sz="2600">
                <a:solidFill>
                  <a:srgbClr val="000000"/>
                </a:solidFill>
              </a:rPr>
              <a:t> and </a:t>
            </a:r>
            <a:r>
              <a:rPr lang="en-US" sz="2600" b="1">
                <a:solidFill>
                  <a:srgbClr val="000000"/>
                </a:solidFill>
              </a:rPr>
              <a:t>1000</a:t>
            </a:r>
            <a:r>
              <a:rPr lang="en-US" sz="2600">
                <a:solidFill>
                  <a:srgbClr val="000000"/>
                </a:solidFill>
              </a:rPr>
              <a:t>?</a:t>
            </a:r>
          </a:p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endParaRPr lang="en-US" sz="2600">
              <a:solidFill>
                <a:srgbClr val="000000"/>
              </a:solidFill>
            </a:endParaRPr>
          </a:p>
          <a:p>
            <a:pPr marL="712788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100000"/>
            </a:pPr>
            <a:r>
              <a:rPr lang="en-US" sz="2600">
                <a:solidFill>
                  <a:srgbClr val="000000"/>
                </a:solidFill>
              </a:rPr>
              <a:t>So what can we do?</a:t>
            </a:r>
          </a:p>
        </p:txBody>
      </p:sp>
    </p:spTree>
    <p:extLst>
      <p:ext uri="{BB962C8B-B14F-4D97-AF65-F5344CB8AC3E}">
        <p14:creationId xmlns:p14="http://schemas.microsoft.com/office/powerpoint/2010/main" val="3863488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3AB84C9-E919-42F8-B873-F9249FC9D29B}"/>
              </a:ext>
            </a:extLst>
          </p:cNvPr>
          <p:cNvSpPr txBox="1">
            <a:spLocks/>
          </p:cNvSpPr>
          <p:nvPr/>
        </p:nvSpPr>
        <p:spPr>
          <a:xfrm>
            <a:off x="754144" y="484631"/>
            <a:ext cx="6340519" cy="16384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100" b="1" cap="all" spc="200">
                <a:solidFill>
                  <a:schemeClr val="tx2"/>
                </a:solidFill>
              </a:rPr>
              <a:t>Data Preparation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9CF4697-D3D9-45D4-8034-41EB34228D25}"/>
              </a:ext>
            </a:extLst>
          </p:cNvPr>
          <p:cNvSpPr txBox="1">
            <a:spLocks/>
          </p:cNvSpPr>
          <p:nvPr/>
        </p:nvSpPr>
        <p:spPr>
          <a:xfrm>
            <a:off x="1244010" y="1954043"/>
            <a:ext cx="9188930" cy="33409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indent="-361950"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b="1" dirty="0"/>
              <a:t>So what can we do? </a:t>
            </a:r>
          </a:p>
          <a:p>
            <a:pPr marL="712788" indent="0">
              <a:lnSpc>
                <a:spcPct val="150000"/>
              </a:lnSpc>
              <a:buClr>
                <a:schemeClr val="tx1"/>
              </a:buClr>
              <a:buSzPct val="100000"/>
              <a:buNone/>
            </a:pPr>
            <a:r>
              <a:rPr lang="en-GB" b="1" dirty="0">
                <a:solidFill>
                  <a:srgbClr val="0070C0"/>
                </a:solidFill>
              </a:rPr>
              <a:t>Transform</a:t>
            </a:r>
            <a:r>
              <a:rPr lang="en-GB" dirty="0"/>
              <a:t> the data (as with z-scores etc.).</a:t>
            </a:r>
          </a:p>
          <a:p>
            <a:pPr marL="712788" indent="-361950">
              <a:lnSpc>
                <a:spcPct val="110000"/>
              </a:lnSpc>
              <a:buClr>
                <a:schemeClr val="tx1"/>
              </a:buClr>
              <a:buSzPct val="100000"/>
            </a:pPr>
            <a:r>
              <a:rPr lang="en-GB" dirty="0"/>
              <a:t>Traditional method for </a:t>
            </a:r>
            <a:r>
              <a:rPr lang="en-GB" b="1" dirty="0">
                <a:solidFill>
                  <a:srgbClr val="0070C0"/>
                </a:solidFill>
              </a:rPr>
              <a:t>rescaling</a:t>
            </a:r>
            <a:r>
              <a:rPr lang="en-GB" dirty="0"/>
              <a:t> </a:t>
            </a:r>
            <a:r>
              <a:rPr lang="en-GB" i="1" dirty="0"/>
              <a:t>kNN</a:t>
            </a:r>
            <a:r>
              <a:rPr lang="en-GB" dirty="0"/>
              <a:t> features is </a:t>
            </a:r>
            <a:r>
              <a:rPr lang="en-GB" b="1" i="1" dirty="0"/>
              <a:t>min-max normalization</a:t>
            </a:r>
            <a:r>
              <a:rPr lang="en-GB" dirty="0"/>
              <a:t>.</a:t>
            </a:r>
          </a:p>
          <a:p>
            <a:pPr marL="712788" indent="-361950">
              <a:lnSpc>
                <a:spcPct val="150000"/>
              </a:lnSpc>
              <a:buClr>
                <a:schemeClr val="tx1"/>
              </a:buClr>
              <a:buSzPct val="100000"/>
            </a:pPr>
            <a:r>
              <a:rPr lang="en-GB" dirty="0"/>
              <a:t>Transform a feature so that all values are [0, 1] </a:t>
            </a:r>
          </a:p>
        </p:txBody>
      </p:sp>
    </p:spTree>
    <p:extLst>
      <p:ext uri="{BB962C8B-B14F-4D97-AF65-F5344CB8AC3E}">
        <p14:creationId xmlns:p14="http://schemas.microsoft.com/office/powerpoint/2010/main" val="414431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9CF4697-D3D9-45D4-8034-41EB34228D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8420" y="3599038"/>
                <a:ext cx="5454501" cy="14832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712788" marR="420299" indent="-361950">
                  <a:spcBef>
                    <a:spcPts val="188"/>
                  </a:spcBef>
                </a:pPr>
                <a14:m>
                  <m:oMath xmlns:m="http://schemas.openxmlformats.org/officeDocument/2006/math">
                    <m:r>
                      <a:rPr lang="en-IE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E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cs typeface="Times New Roman"/>
                  </a:rPr>
                  <a:t>= Score</a:t>
                </a:r>
              </a:p>
              <a:p>
                <a:pPr marL="712788" marR="420299" indent="-361950">
                  <a:spcBef>
                    <a:spcPts val="188"/>
                  </a:spcBef>
                </a:pPr>
                <a14:m>
                  <m:oMath xmlns:m="http://schemas.openxmlformats.org/officeDocument/2006/math">
                    <m:r>
                      <a:rPr lang="en-IE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E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cs typeface="Times New Roman"/>
                  </a:rPr>
                  <a:t>= Mean</a:t>
                </a:r>
              </a:p>
              <a:p>
                <a:pPr marL="712788" marR="420299" indent="-361950">
                  <a:spcBef>
                    <a:spcPts val="188"/>
                  </a:spcBef>
                </a:pPr>
                <a14:m>
                  <m:oMath xmlns:m="http://schemas.openxmlformats.org/officeDocument/2006/math">
                    <m:r>
                      <a:rPr lang="en-IE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E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>
                    <a:cs typeface="Times New Roman"/>
                  </a:rPr>
                  <a:t>= Standard Deviation</a:t>
                </a:r>
                <a:endParaRPr lang="en-GB" b="1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9CF4697-D3D9-45D4-8034-41EB34228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420" y="3599038"/>
                <a:ext cx="5454501" cy="1483243"/>
              </a:xfrm>
              <a:prstGeom prst="rect">
                <a:avLst/>
              </a:prstGeom>
              <a:blipFill>
                <a:blip r:embed="rId3"/>
                <a:stretch>
                  <a:fillRect t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D6128F-058B-403C-937E-E2E65AD22AD2}"/>
                  </a:ext>
                </a:extLst>
              </p:cNvPr>
              <p:cNvSpPr txBox="1"/>
              <p:nvPr/>
            </p:nvSpPr>
            <p:spPr>
              <a:xfrm>
                <a:off x="2159457" y="2659357"/>
                <a:ext cx="3380107" cy="9396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3567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E" sz="3567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E" sz="35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35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E" sz="3567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E" sz="35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IE" sz="3567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IE" sz="3567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D6128F-058B-403C-937E-E2E65AD22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457" y="2659357"/>
                <a:ext cx="3380107" cy="9396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F060E78-7542-DABE-94D4-5D39E2232F5F}"/>
              </a:ext>
            </a:extLst>
          </p:cNvPr>
          <p:cNvSpPr txBox="1">
            <a:spLocks/>
          </p:cNvSpPr>
          <p:nvPr/>
        </p:nvSpPr>
        <p:spPr>
          <a:xfrm>
            <a:off x="3827206" y="312330"/>
            <a:ext cx="5084135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dirty="0"/>
              <a:t>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2040471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B6E02A5-FF40-4129-B63F-B4927E69B1D7}"/>
              </a:ext>
            </a:extLst>
          </p:cNvPr>
          <p:cNvSpPr txBox="1">
            <a:spLocks/>
          </p:cNvSpPr>
          <p:nvPr/>
        </p:nvSpPr>
        <p:spPr>
          <a:xfrm>
            <a:off x="761996" y="382385"/>
            <a:ext cx="10668004" cy="11132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5100" cap="all" spc="200" dirty="0">
                <a:solidFill>
                  <a:schemeClr val="tx2"/>
                </a:solidFill>
              </a:rPr>
              <a:t>Learning Class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239D965-9ED2-4918-90D4-6CE3F332FE2C}"/>
              </a:ext>
            </a:extLst>
          </p:cNvPr>
          <p:cNvSpPr txBox="1">
            <a:spLocks/>
          </p:cNvSpPr>
          <p:nvPr/>
        </p:nvSpPr>
        <p:spPr>
          <a:xfrm>
            <a:off x="761996" y="1785257"/>
            <a:ext cx="10668004" cy="3440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8038" marR="420299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700" spc="4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is the kNN algorithm lazy?</a:t>
            </a:r>
          </a:p>
          <a:p>
            <a:pPr marL="1169988" marR="420299" lvl="1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</a:pPr>
            <a:r>
              <a:rPr lang="en-US" sz="1700" spc="4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Technically speaking, no abstraction occurs.</a:t>
            </a:r>
          </a:p>
          <a:p>
            <a:pPr marL="808038" marR="420299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endParaRPr lang="en-US" sz="1700" spc="4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8038" marR="420299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700" spc="4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Based on the definition of learning, a lazy  learner is not learning anything</a:t>
            </a:r>
          </a:p>
          <a:p>
            <a:pPr marL="808038" marR="420299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endParaRPr lang="en-US" sz="1700" spc="4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8038" marR="420299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700" spc="4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Instead, it stores the training data verbatim</a:t>
            </a:r>
          </a:p>
          <a:p>
            <a:pPr marL="808038" marR="420299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endParaRPr lang="en-US" sz="1700" spc="4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8038" marR="420299">
              <a:lnSpc>
                <a:spcPct val="10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700" spc="4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As mentioned earlier, it is a type of </a:t>
            </a:r>
            <a:r>
              <a:rPr lang="en-US" sz="1700" b="1" spc="4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instance-based learning</a:t>
            </a:r>
            <a:r>
              <a:rPr lang="en-US" sz="1700" spc="4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 which means it produces a class label/predication based on the similarity of the query to its nearest neighbor(s) in the training set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6127E49-9E0F-4476-801C-201D4C24B440}"/>
              </a:ext>
            </a:extLst>
          </p:cNvPr>
          <p:cNvSpPr txBox="1">
            <a:spLocks/>
          </p:cNvSpPr>
          <p:nvPr/>
        </p:nvSpPr>
        <p:spPr>
          <a:xfrm>
            <a:off x="1255923" y="1480887"/>
            <a:ext cx="9153281" cy="1533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5963" marR="420299" indent="-365125">
              <a:lnSpc>
                <a:spcPct val="10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400" spc="40" dirty="0">
                <a:cs typeface="Times New Roman"/>
              </a:rPr>
              <a:t>Although kNN classifiers may be considered lazy,  they are still quite powerful.</a:t>
            </a:r>
          </a:p>
          <a:p>
            <a:pPr marL="715963" marR="420299" indent="-365125">
              <a:lnSpc>
                <a:spcPct val="10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400" spc="40" dirty="0">
                <a:cs typeface="Times New Roman"/>
              </a:rPr>
              <a:t>Will our client David respond to our credit card  marketing offer or not?</a:t>
            </a:r>
          </a:p>
        </p:txBody>
      </p:sp>
      <p:graphicFrame>
        <p:nvGraphicFramePr>
          <p:cNvPr id="20" name="Table 10">
            <a:extLst>
              <a:ext uri="{FF2B5EF4-FFF2-40B4-BE49-F238E27FC236}">
                <a16:creationId xmlns:a16="http://schemas.microsoft.com/office/drawing/2014/main" id="{2F6105A0-E9BA-4B4C-8E8D-B69421D4D67F}"/>
              </a:ext>
            </a:extLst>
          </p:cNvPr>
          <p:cNvGraphicFramePr>
            <a:graphicFrameLocks noGrp="1"/>
          </p:cNvGraphicFramePr>
          <p:nvPr/>
        </p:nvGraphicFramePr>
        <p:xfrm>
          <a:off x="1892966" y="3184374"/>
          <a:ext cx="8406069" cy="3184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0610">
                  <a:extLst>
                    <a:ext uri="{9D8B030D-6E8A-4147-A177-3AD203B41FA5}">
                      <a16:colId xmlns:a16="http://schemas.microsoft.com/office/drawing/2014/main" val="1004544670"/>
                    </a:ext>
                  </a:extLst>
                </a:gridCol>
                <a:gridCol w="722584">
                  <a:extLst>
                    <a:ext uri="{9D8B030D-6E8A-4147-A177-3AD203B41FA5}">
                      <a16:colId xmlns:a16="http://schemas.microsoft.com/office/drawing/2014/main" val="2185987153"/>
                    </a:ext>
                  </a:extLst>
                </a:gridCol>
                <a:gridCol w="1320390">
                  <a:extLst>
                    <a:ext uri="{9D8B030D-6E8A-4147-A177-3AD203B41FA5}">
                      <a16:colId xmlns:a16="http://schemas.microsoft.com/office/drawing/2014/main" val="348980651"/>
                    </a:ext>
                  </a:extLst>
                </a:gridCol>
                <a:gridCol w="919623">
                  <a:extLst>
                    <a:ext uri="{9D8B030D-6E8A-4147-A177-3AD203B41FA5}">
                      <a16:colId xmlns:a16="http://schemas.microsoft.com/office/drawing/2014/main" val="15449307"/>
                    </a:ext>
                  </a:extLst>
                </a:gridCol>
                <a:gridCol w="1340271">
                  <a:extLst>
                    <a:ext uri="{9D8B030D-6E8A-4147-A177-3AD203B41FA5}">
                      <a16:colId xmlns:a16="http://schemas.microsoft.com/office/drawing/2014/main" val="166886163"/>
                    </a:ext>
                  </a:extLst>
                </a:gridCol>
                <a:gridCol w="3012591">
                  <a:extLst>
                    <a:ext uri="{9D8B030D-6E8A-4147-A177-3AD203B41FA5}">
                      <a16:colId xmlns:a16="http://schemas.microsoft.com/office/drawing/2014/main" val="2338827496"/>
                    </a:ext>
                  </a:extLst>
                </a:gridCol>
              </a:tblGrid>
              <a:tr h="454968">
                <a:tc>
                  <a:txBody>
                    <a:bodyPr/>
                    <a:lstStyle/>
                    <a:p>
                      <a:r>
                        <a:rPr lang="en-GB" sz="1800" b="1" dirty="0"/>
                        <a:t>Client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Age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Income(k)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Cards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Response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/>
                        <a:t>Distance to David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7838690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1800" dirty="0"/>
                        <a:t>David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37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GB" sz="1800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4346917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1800" dirty="0"/>
                        <a:t>John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Yes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7224312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1800" dirty="0"/>
                        <a:t>Rachael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219315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1800" dirty="0"/>
                        <a:t>Ruth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63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8755427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1800" dirty="0"/>
                        <a:t>Bill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59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8843021"/>
                  </a:ext>
                </a:extLst>
              </a:tr>
              <a:tr h="454968">
                <a:tc>
                  <a:txBody>
                    <a:bodyPr/>
                    <a:lstStyle/>
                    <a:p>
                      <a:r>
                        <a:rPr lang="en-GB" sz="1800" dirty="0"/>
                        <a:t>Norah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40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Yes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5049256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B64FCA37-E9EF-4D86-B3A6-41E290FF2653}"/>
              </a:ext>
            </a:extLst>
          </p:cNvPr>
          <p:cNvGrpSpPr/>
          <p:nvPr/>
        </p:nvGrpSpPr>
        <p:grpSpPr>
          <a:xfrm>
            <a:off x="7220097" y="4182699"/>
            <a:ext cx="3189107" cy="2070011"/>
            <a:chOff x="7220097" y="4286339"/>
            <a:chExt cx="3189107" cy="20700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0122F0D-29EF-42ED-90DA-CEE778613FD1}"/>
                    </a:ext>
                  </a:extLst>
                </p:cNvPr>
                <p:cNvSpPr txBox="1"/>
                <p:nvPr/>
              </p:nvSpPr>
              <p:spPr>
                <a:xfrm>
                  <a:off x="7220097" y="6095445"/>
                  <a:ext cx="3012491" cy="2609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IE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E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Times New Roman"/>
                                  </a:rPr>
                                  <m:t>25</m:t>
                                </m:r>
                                <m:r>
                                  <m:rPr>
                                    <m:nor/>
                                  </m:rPr>
                                  <a:rPr lang="en-GB" sz="140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37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40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50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Times New Roman"/>
                                  </a:rPr>
                                  <m:t>4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30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103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50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40" dirty="0" smtClean="0">
                                    <a:cs typeface="Times New Roman"/>
                                  </a:rPr>
                                  <m:t>15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40" dirty="0" smtClean="0">
                                    <a:cs typeface="Dotum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40" dirty="0" smtClean="0">
                                    <a:cs typeface="Times New Roman"/>
                                  </a:rPr>
                                  <m:t>74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I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0122F0D-29EF-42ED-90DA-CEE778613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0097" y="6095445"/>
                  <a:ext cx="3012491" cy="260905"/>
                </a:xfrm>
                <a:prstGeom prst="rect">
                  <a:avLst/>
                </a:prstGeom>
                <a:blipFill>
                  <a:blip r:embed="rId3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5B579A2-4CB2-4C84-BC30-615584CD9ACA}"/>
                    </a:ext>
                  </a:extLst>
                </p:cNvPr>
                <p:cNvSpPr txBox="1"/>
                <p:nvPr/>
              </p:nvSpPr>
              <p:spPr>
                <a:xfrm>
                  <a:off x="7222947" y="5635285"/>
                  <a:ext cx="2974019" cy="2609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IE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E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Times New Roman"/>
                                  </a:rPr>
                                  <m:t>5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168" dirty="0" smtClean="0">
                                    <a:cs typeface="Times New Roman"/>
                                  </a:rPr>
                                  <m:t>9</m:t>
                                </m:r>
                                <m:r>
                                  <m:rPr>
                                    <m:nor/>
                                  </m:rPr>
                                  <a:rPr lang="en-GB" sz="140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37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30" dirty="0" smtClean="0">
                                    <a:cs typeface="Verdana"/>
                                  </a:rPr>
                                  <m:t>170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50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20" dirty="0" smtClean="0">
                                    <a:cs typeface="Verdana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30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103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50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40" dirty="0" smtClean="0">
                                    <a:cs typeface="Times New Roman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40" dirty="0" smtClean="0">
                                    <a:cs typeface="Times New Roman"/>
                                  </a:rPr>
                                  <m:t>22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I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5B579A2-4CB2-4C84-BC30-615584CD9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47" y="5635285"/>
                  <a:ext cx="2974019" cy="260905"/>
                </a:xfrm>
                <a:prstGeom prst="rect">
                  <a:avLst/>
                </a:prstGeom>
                <a:blipFill>
                  <a:blip r:embed="rId4"/>
                  <a:stretch>
                    <a:fillRect b="-2093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BC4D18-0014-4A63-BED7-E076647E88D6}"/>
                    </a:ext>
                  </a:extLst>
                </p:cNvPr>
                <p:cNvSpPr txBox="1"/>
                <p:nvPr/>
              </p:nvSpPr>
              <p:spPr>
                <a:xfrm>
                  <a:off x="7222947" y="5196642"/>
                  <a:ext cx="3186257" cy="2609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IE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E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168" dirty="0" smtClean="0">
                                    <a:cs typeface="Verdana"/>
                                  </a:rPr>
                                  <m:t>63</m:t>
                                </m:r>
                                <m:r>
                                  <m:rPr>
                                    <m:nor/>
                                  </m:rPr>
                                  <a:rPr lang="en-GB" sz="140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37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30" dirty="0" smtClean="0">
                                    <a:cs typeface="Verdana"/>
                                  </a:rPr>
                                  <m:t>20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50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20" dirty="0" smtClean="0">
                                    <a:cs typeface="Verdana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30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103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50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40" dirty="0" smtClean="0">
                                    <a:cs typeface="Times New Roman"/>
                                  </a:rPr>
                                  <m:t>15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40" dirty="0" smtClean="0">
                                    <a:cs typeface="Times New Roman"/>
                                  </a:rPr>
                                  <m:t>2.23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I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BC4D18-0014-4A63-BED7-E076647E8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47" y="5196642"/>
                  <a:ext cx="3186257" cy="260905"/>
                </a:xfrm>
                <a:prstGeom prst="rect">
                  <a:avLst/>
                </a:prstGeom>
                <a:blipFill>
                  <a:blip r:embed="rId5"/>
                  <a:stretch>
                    <a:fillRect b="-2093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E780BFF-9BF4-471A-B3F2-E20FF07F113C}"/>
                    </a:ext>
                  </a:extLst>
                </p:cNvPr>
                <p:cNvSpPr txBox="1"/>
                <p:nvPr/>
              </p:nvSpPr>
              <p:spPr>
                <a:xfrm>
                  <a:off x="7222947" y="4736482"/>
                  <a:ext cx="2800254" cy="2609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IE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E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168" dirty="0" smtClean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40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37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30" dirty="0" smtClean="0">
                                    <a:cs typeface="Verdana"/>
                                  </a:rPr>
                                  <m:t>5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50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20" dirty="0" smtClean="0">
                                    <a:cs typeface="Verdana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30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103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50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40" dirty="0" smtClean="0">
                                    <a:cs typeface="Times New Roman"/>
                                  </a:rPr>
                                  <m:t>15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I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E780BFF-9BF4-471A-B3F2-E20FF07F11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47" y="4736482"/>
                  <a:ext cx="2800254" cy="260905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CE224EB-F5E4-4A9E-BB18-D09FE07EF0BE}"/>
                    </a:ext>
                  </a:extLst>
                </p:cNvPr>
                <p:cNvSpPr txBox="1"/>
                <p:nvPr/>
              </p:nvSpPr>
              <p:spPr>
                <a:xfrm>
                  <a:off x="7222947" y="4286339"/>
                  <a:ext cx="3012491" cy="2609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IE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IE" sz="1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168" dirty="0" smtClean="0">
                                    <a:cs typeface="Verdana"/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68" dirty="0">
                                    <a:cs typeface="Times New Roman"/>
                                  </a:rPr>
                                  <m:t>5</m:t>
                                </m:r>
                                <m:r>
                                  <m:rPr>
                                    <m:nor/>
                                  </m:rPr>
                                  <a:rPr lang="en-GB" sz="140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37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30" dirty="0" smtClean="0">
                                    <a:cs typeface="Verdana"/>
                                  </a:rPr>
                                  <m:t>35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Times New Roman"/>
                                  </a:rPr>
                                  <m:t>50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3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44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14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+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3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20" dirty="0" smtClean="0">
                                    <a:cs typeface="Verdana"/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10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129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20" dirty="0">
                                    <a:cs typeface="Verdana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-30" baseline="22222" dirty="0">
                                    <a:cs typeface="Times New Roman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GB" sz="1600" spc="103" baseline="22222" dirty="0">
                                    <a:cs typeface="Times New Roman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69" dirty="0">
                                    <a:cs typeface="Verdana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50" dirty="0">
                                    <a:cs typeface="Verdana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40" dirty="0" smtClean="0">
                                    <a:cs typeface="Times New Roman"/>
                                  </a:rPr>
                                  <m:t>15</m:t>
                                </m:r>
                                <m:r>
                                  <m:rPr>
                                    <m:nor/>
                                  </m:rPr>
                                  <a:rPr lang="en-GB" sz="1400" spc="-40" dirty="0" smtClean="0">
                                    <a:cs typeface="Dotum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GB" sz="1400" b="0" i="0" spc="-40" dirty="0" smtClean="0">
                                    <a:cs typeface="Dotum"/>
                                  </a:rPr>
                                  <m:t>16</m:t>
                                </m:r>
                              </m:e>
                              <m:sup>
                                <m:r>
                                  <a:rPr lang="en-GB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IE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CE224EB-F5E4-4A9E-BB18-D09FE07EF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2947" y="4286339"/>
                  <a:ext cx="3012491" cy="260905"/>
                </a:xfrm>
                <a:prstGeom prst="rect">
                  <a:avLst/>
                </a:prstGeom>
                <a:blipFill>
                  <a:blip r:embed="rId7"/>
                  <a:stretch>
                    <a:fillRect b="-2093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A48F7E5F-4EEA-48A9-9390-ECDE2C3CEAF1}"/>
              </a:ext>
            </a:extLst>
          </p:cNvPr>
          <p:cNvSpPr txBox="1">
            <a:spLocks/>
          </p:cNvSpPr>
          <p:nvPr/>
        </p:nvSpPr>
        <p:spPr>
          <a:xfrm>
            <a:off x="3524936" y="352835"/>
            <a:ext cx="6498265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KNN: EXAMPLE - CREDIT CHECK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F9FAA-53CA-3605-6231-395AC53E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8EB2F1-59EB-FEAC-3B18-6B508E08A2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8748" y="2389933"/>
            <a:ext cx="877140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Scenario : Classifying Emails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You are using KNN to classify emails as spam or not spam.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Questions: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would you choose the value of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for this problem? Explain your reasoning.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does increasing or decreasing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affect the model’s bias and variance?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would you handle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imbalanced classes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(e.g., far fewer spam emails than non-spam emails) when using KNN?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9591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9DF2FC-742B-4F08-B66A-EB487159F434}"/>
              </a:ext>
            </a:extLst>
          </p:cNvPr>
          <p:cNvSpPr txBox="1">
            <a:spLocks/>
          </p:cNvSpPr>
          <p:nvPr/>
        </p:nvSpPr>
        <p:spPr>
          <a:xfrm>
            <a:off x="761996" y="1153287"/>
            <a:ext cx="3570566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3200" cap="all" spc="200" dirty="0">
                <a:solidFill>
                  <a:schemeClr val="tx2"/>
                </a:solidFill>
              </a:rPr>
              <a:t>kNN: Example - Credit Check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6ECA9B-528E-452C-896E-34D1AF37448B}"/>
              </a:ext>
            </a:extLst>
          </p:cNvPr>
          <p:cNvSpPr txBox="1">
            <a:spLocks/>
          </p:cNvSpPr>
          <p:nvPr/>
        </p:nvSpPr>
        <p:spPr>
          <a:xfrm>
            <a:off x="4976031" y="1153287"/>
            <a:ext cx="6453969" cy="4551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8038" marR="420299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Using similarity for predictive modelling is beautifully simple.</a:t>
            </a:r>
          </a:p>
          <a:p>
            <a:pPr marL="715963" marR="420299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endParaRPr lang="en-US" sz="1600" spc="4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8038" marR="420299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Given a new instance (whose target attribute we want to  predict) scan through all instances and choose several that  are the most similar.</a:t>
            </a:r>
          </a:p>
          <a:p>
            <a:pPr marL="715963" marR="420299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endParaRPr lang="en-US" sz="1600" spc="4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8038" marR="420299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Then predict new instance’s target attribute, based on Nearest Neighbours’ (known) target attributes.</a:t>
            </a:r>
          </a:p>
          <a:p>
            <a:pPr marL="715963" marR="420299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endParaRPr lang="en-US" sz="1600" spc="4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808038" marR="420299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spc="40">
                <a:solidFill>
                  <a:schemeClr val="tx1">
                    <a:lumMod val="65000"/>
                    <a:lumOff val="35000"/>
                  </a:schemeClr>
                </a:solidFill>
              </a:rPr>
              <a:t>The last step so far has been defined as simple voting.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9DF2FC-742B-4F08-B66A-EB487159F434}"/>
              </a:ext>
            </a:extLst>
          </p:cNvPr>
          <p:cNvSpPr txBox="1">
            <a:spLocks/>
          </p:cNvSpPr>
          <p:nvPr/>
        </p:nvSpPr>
        <p:spPr>
          <a:xfrm>
            <a:off x="3011129" y="292666"/>
            <a:ext cx="6498265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sz="6600" dirty="0"/>
              <a:t>kNN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6ECA9B-528E-452C-896E-34D1AF37448B}"/>
              </a:ext>
            </a:extLst>
          </p:cNvPr>
          <p:cNvSpPr txBox="1">
            <a:spLocks/>
          </p:cNvSpPr>
          <p:nvPr/>
        </p:nvSpPr>
        <p:spPr>
          <a:xfrm>
            <a:off x="1254642" y="1579764"/>
            <a:ext cx="9178298" cy="42130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788" marR="420299" indent="-361950">
              <a:lnSpc>
                <a:spcPct val="15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600" spc="40" dirty="0">
                <a:cs typeface="Times New Roman"/>
              </a:rPr>
              <a:t>So this is great, but is it meaningful!?</a:t>
            </a:r>
          </a:p>
          <a:p>
            <a:pPr marL="712788" marR="420299" indent="-361950">
              <a:lnSpc>
                <a:spcPct val="15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600" spc="40" dirty="0">
                <a:cs typeface="Times New Roman"/>
              </a:rPr>
              <a:t>What if we changed one data mining task with another?</a:t>
            </a:r>
          </a:p>
          <a:p>
            <a:pPr marL="712788" marR="420299" indent="-361950">
              <a:lnSpc>
                <a:spcPct val="15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600" spc="40" dirty="0">
                <a:cs typeface="Times New Roman"/>
              </a:rPr>
              <a:t>Once we retrieved nearest neighbours, we can use them for any potential predictive mining task by combining them in  different ways.</a:t>
            </a:r>
          </a:p>
          <a:p>
            <a:pPr marL="712788" marR="420299" indent="-361950">
              <a:lnSpc>
                <a:spcPct val="15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600" spc="40" dirty="0">
                <a:cs typeface="Times New Roman"/>
              </a:rPr>
              <a:t>e.g. we can build a regression model just using the nearest neighbours.</a:t>
            </a:r>
          </a:p>
          <a:p>
            <a:pPr marL="712788" marR="420299" indent="-361950">
              <a:lnSpc>
                <a:spcPct val="10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endParaRPr lang="en-GB" sz="2600" spc="40" dirty="0">
              <a:cs typeface="Times New Roman"/>
            </a:endParaRPr>
          </a:p>
          <a:p>
            <a:pPr marL="712788" marR="420299" indent="-361950">
              <a:lnSpc>
                <a:spcPct val="10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endParaRPr lang="en-GB" sz="2600" spc="4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6147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C9DF2FC-742B-4F08-B66A-EB487159F434}"/>
              </a:ext>
            </a:extLst>
          </p:cNvPr>
          <p:cNvSpPr txBox="1">
            <a:spLocks/>
          </p:cNvSpPr>
          <p:nvPr/>
        </p:nvSpPr>
        <p:spPr>
          <a:xfrm>
            <a:off x="2932471" y="295294"/>
            <a:ext cx="6498265" cy="101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E" dirty="0"/>
              <a:t>kNN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6ECA9B-528E-452C-896E-34D1AF37448B}"/>
              </a:ext>
            </a:extLst>
          </p:cNvPr>
          <p:cNvSpPr txBox="1">
            <a:spLocks/>
          </p:cNvSpPr>
          <p:nvPr/>
        </p:nvSpPr>
        <p:spPr>
          <a:xfrm>
            <a:off x="1254642" y="1306906"/>
            <a:ext cx="9178298" cy="44018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0838" marR="420299" indent="0">
              <a:lnSpc>
                <a:spcPct val="150000"/>
              </a:lnSpc>
              <a:spcBef>
                <a:spcPts val="188"/>
              </a:spcBef>
              <a:buSzPct val="75000"/>
              <a:buNone/>
            </a:pPr>
            <a:r>
              <a:rPr lang="en-GB" sz="2200" b="1" spc="40" dirty="0">
                <a:cs typeface="Times New Roman"/>
              </a:rPr>
              <a:t>Advantages</a:t>
            </a:r>
          </a:p>
          <a:p>
            <a:pPr marL="712788" marR="420299" indent="-361950">
              <a:lnSpc>
                <a:spcPct val="15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200" spc="40" dirty="0">
                <a:cs typeface="Times New Roman"/>
              </a:rPr>
              <a:t>The algorithm is simple and easy to implement.</a:t>
            </a:r>
          </a:p>
          <a:p>
            <a:pPr marL="712788" marR="420299" indent="-361950">
              <a:lnSpc>
                <a:spcPct val="15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200" spc="40" dirty="0">
                <a:cs typeface="Times New Roman"/>
              </a:rPr>
              <a:t>There’s no need to tune several parameters, or make additional assumptions.</a:t>
            </a:r>
          </a:p>
          <a:p>
            <a:pPr marL="712788" marR="420299" indent="-361950">
              <a:lnSpc>
                <a:spcPct val="15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200" spc="40" dirty="0">
                <a:cs typeface="Times New Roman"/>
              </a:rPr>
              <a:t>The algorithm is versatile. It can be used for classification and  regression.</a:t>
            </a:r>
          </a:p>
          <a:p>
            <a:pPr marL="350838" marR="420299" indent="0">
              <a:lnSpc>
                <a:spcPct val="150000"/>
              </a:lnSpc>
              <a:spcBef>
                <a:spcPts val="188"/>
              </a:spcBef>
              <a:buSzPct val="75000"/>
              <a:buNone/>
            </a:pPr>
            <a:r>
              <a:rPr lang="en-GB" sz="2200" b="1" spc="40" dirty="0">
                <a:cs typeface="Times New Roman"/>
              </a:rPr>
              <a:t>Disadvantages</a:t>
            </a:r>
          </a:p>
          <a:p>
            <a:pPr marL="712788" marR="420299" indent="-361950">
              <a:lnSpc>
                <a:spcPct val="150000"/>
              </a:lnSpc>
              <a:spcBef>
                <a:spcPts val="188"/>
              </a:spcBef>
              <a:buSzPct val="75000"/>
              <a:buFont typeface="Wingdings" panose="05000000000000000000" pitchFamily="2" charset="2"/>
              <a:buChar char="Ø"/>
            </a:pPr>
            <a:r>
              <a:rPr lang="en-GB" sz="2200" spc="40" dirty="0">
                <a:cs typeface="Times New Roman"/>
              </a:rPr>
              <a:t>The algorithm gets significantly slower as the number of examples and/or predictors/independent variables increase.</a:t>
            </a:r>
          </a:p>
        </p:txBody>
      </p:sp>
    </p:spTree>
    <p:extLst>
      <p:ext uri="{BB962C8B-B14F-4D97-AF65-F5344CB8AC3E}">
        <p14:creationId xmlns:p14="http://schemas.microsoft.com/office/powerpoint/2010/main" val="319001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05363d4-13d0-4762-b738-6a9c138604a9" xsi:nil="true"/>
    <lcf76f155ced4ddcb4097134ff3c332f xmlns="a6489827-0745-4635-9708-560f8f9828d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CABB96CE8FB4D995EFD8D93DD8345" ma:contentTypeVersion="15" ma:contentTypeDescription="Create a new document." ma:contentTypeScope="" ma:versionID="1653fcb53d30f201cab3ac581a726732">
  <xsd:schema xmlns:xsd="http://www.w3.org/2001/XMLSchema" xmlns:xs="http://www.w3.org/2001/XMLSchema" xmlns:p="http://schemas.microsoft.com/office/2006/metadata/properties" xmlns:ns2="a6489827-0745-4635-9708-560f8f9828da" xmlns:ns3="e05363d4-13d0-4762-b738-6a9c138604a9" targetNamespace="http://schemas.microsoft.com/office/2006/metadata/properties" ma:root="true" ma:fieldsID="2fc0be962a59606a97b1008e6d5914f2" ns2:_="" ns3:_="">
    <xsd:import namespace="a6489827-0745-4635-9708-560f8f9828da"/>
    <xsd:import namespace="e05363d4-13d0-4762-b738-6a9c138604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489827-0745-4635-9708-560f8f9828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6cfaf09-5f88-45ad-a6a8-dad774d80bd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5363d4-13d0-4762-b738-6a9c138604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a8e14c30-52aa-48ca-b912-e7f4c517d5f2}" ma:internalName="TaxCatchAll" ma:showField="CatchAllData" ma:web="e05363d4-13d0-4762-b738-6a9c138604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10367E-A223-4D59-A9E8-F5951DC20B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D96446-C822-4503-B9EC-D62E7BD40287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9f56a530-d38c-4f5b-8301-2d7e31820d76"/>
    <ds:schemaRef ds:uri="http://purl.org/dc/elements/1.1/"/>
    <ds:schemaRef ds:uri="http://schemas.microsoft.com/office/2006/documentManagement/types"/>
    <ds:schemaRef ds:uri="75858981-c7a9-45e3-9575-68fb2d423878"/>
    <ds:schemaRef ds:uri="http://purl.org/dc/terms/"/>
    <ds:schemaRef ds:uri="http://schemas.microsoft.com/office/2006/metadata/properties"/>
    <ds:schemaRef ds:uri="http://www.w3.org/XML/1998/namespace"/>
    <ds:schemaRef ds:uri="e05363d4-13d0-4762-b738-6a9c138604a9"/>
    <ds:schemaRef ds:uri="a6489827-0745-4635-9708-560f8f9828da"/>
  </ds:schemaRefs>
</ds:datastoreItem>
</file>

<file path=customXml/itemProps3.xml><?xml version="1.0" encoding="utf-8"?>
<ds:datastoreItem xmlns:ds="http://schemas.openxmlformats.org/officeDocument/2006/customXml" ds:itemID="{6D72E78F-9BE1-4EF2-9259-7C3F888D5B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489827-0745-4635-9708-560f8f9828da"/>
    <ds:schemaRef ds:uri="e05363d4-13d0-4762-b738-6a9c138604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5420</TotalTime>
  <Words>1805</Words>
  <Application>Microsoft Macintosh PowerPoint</Application>
  <PresentationFormat>Widescreen</PresentationFormat>
  <Paragraphs>324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Dotum</vt:lpstr>
      <vt:lpstr>Arial</vt:lpstr>
      <vt:lpstr>Arial Black</vt:lpstr>
      <vt:lpstr>Calibri</vt:lpstr>
      <vt:lpstr>Calibri Light</vt:lpstr>
      <vt:lpstr>Cambria Math</vt:lpstr>
      <vt:lpstr>Times New Roman</vt:lpstr>
      <vt:lpstr>Trebuchet MS</vt:lpstr>
      <vt:lpstr>Verdana</vt:lpstr>
      <vt:lpstr>Wingdings</vt:lpstr>
      <vt:lpstr>Office 2013 - 2022 Theme</vt:lpstr>
      <vt:lpstr>K-nearest neighbour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Exercise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Vikas tomer</cp:lastModifiedBy>
  <cp:revision>18</cp:revision>
  <dcterms:created xsi:type="dcterms:W3CDTF">2021-02-02T16:17:00Z</dcterms:created>
  <dcterms:modified xsi:type="dcterms:W3CDTF">2026-01-09T20:27:36Z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0x010100D5BCABB96CE8FB4D995EFD8D93DD8345</vt:lpwstr>
  </property>
</Properties>
</file>