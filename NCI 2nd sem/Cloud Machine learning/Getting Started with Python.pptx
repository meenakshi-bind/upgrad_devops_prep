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43"/>
  </p:normalViewPr>
  <p:slideViewPr>
    <p:cSldViewPr>
      <p:cViewPr varScale="1">
        <p:scale>
          <a:sx n="208" d="100"/>
          <a:sy n="208" d="100"/>
        </p:scale>
        <p:origin x="1632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BFDF-F787-DBF8-77C0-D8A703C8A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263" y="566377"/>
            <a:ext cx="3457575" cy="1204854"/>
          </a:xfrm>
        </p:spPr>
        <p:txBody>
          <a:bodyPr anchor="b"/>
          <a:lstStyle>
            <a:lvl1pPr algn="ctr">
              <a:defRPr sz="2269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425B6-9F4A-0030-F1A3-1595C9246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263" y="1817695"/>
            <a:ext cx="3457575" cy="835547"/>
          </a:xfrm>
        </p:spPr>
        <p:txBody>
          <a:bodyPr/>
          <a:lstStyle>
            <a:lvl1pPr marL="0" indent="0" algn="ctr">
              <a:buNone/>
              <a:defRPr sz="907"/>
            </a:lvl1pPr>
            <a:lvl2pPr marL="172867" indent="0" algn="ctr">
              <a:buNone/>
              <a:defRPr sz="756"/>
            </a:lvl2pPr>
            <a:lvl3pPr marL="345735" indent="0" algn="ctr">
              <a:buNone/>
              <a:defRPr sz="681"/>
            </a:lvl3pPr>
            <a:lvl4pPr marL="518602" indent="0" algn="ctr">
              <a:buNone/>
              <a:defRPr sz="605"/>
            </a:lvl4pPr>
            <a:lvl5pPr marL="691469" indent="0" algn="ctr">
              <a:buNone/>
              <a:defRPr sz="605"/>
            </a:lvl5pPr>
            <a:lvl6pPr marL="864337" indent="0" algn="ctr">
              <a:buNone/>
              <a:defRPr sz="605"/>
            </a:lvl6pPr>
            <a:lvl7pPr marL="1037204" indent="0" algn="ctr">
              <a:buNone/>
              <a:defRPr sz="605"/>
            </a:lvl7pPr>
            <a:lvl8pPr marL="1210071" indent="0" algn="ctr">
              <a:buNone/>
              <a:defRPr sz="605"/>
            </a:lvl8pPr>
            <a:lvl9pPr marL="1382939" indent="0" algn="ctr">
              <a:buNone/>
              <a:defRPr sz="605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E1E16-804A-7C83-DAAC-2A667BB0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186F1-1169-DEAB-2CCC-ED8A5364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6001D-ADA9-0516-9869-4705DEE3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62216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2438-E5EB-97BE-401E-60F56C29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F962C-2A5C-03C8-3F30-AD87245D6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4EA91-81CE-2062-7158-630175FA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517AD-C440-873C-C8CD-B420B246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94019-4CD0-E74F-BF81-035C062B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1327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29426-0BAA-DC3A-47AA-B7D1E759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43" y="862785"/>
            <a:ext cx="3976211" cy="1439576"/>
          </a:xfrm>
        </p:spPr>
        <p:txBody>
          <a:bodyPr anchor="b"/>
          <a:lstStyle>
            <a:lvl1pPr>
              <a:defRPr sz="2269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E12A4-D79E-B055-5A22-B574391BA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543" y="2315979"/>
            <a:ext cx="3976211" cy="757039"/>
          </a:xfrm>
        </p:spPr>
        <p:txBody>
          <a:bodyPr/>
          <a:lstStyle>
            <a:lvl1pPr marL="0" indent="0">
              <a:buNone/>
              <a:defRPr sz="907">
                <a:solidFill>
                  <a:schemeClr val="tx1">
                    <a:tint val="82000"/>
                  </a:schemeClr>
                </a:solidFill>
              </a:defRPr>
            </a:lvl1pPr>
            <a:lvl2pPr marL="17286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2pPr>
            <a:lvl3pPr marL="345735" indent="0">
              <a:buNone/>
              <a:defRPr sz="681">
                <a:solidFill>
                  <a:schemeClr val="tx1">
                    <a:tint val="82000"/>
                  </a:schemeClr>
                </a:solidFill>
              </a:defRPr>
            </a:lvl3pPr>
            <a:lvl4pPr marL="518602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4pPr>
            <a:lvl5pPr marL="691469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5pPr>
            <a:lvl6pPr marL="864337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6pPr>
            <a:lvl7pPr marL="1037204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7pPr>
            <a:lvl8pPr marL="1210071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8pPr>
            <a:lvl9pPr marL="1382939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552A0-205E-8D7B-C215-6C19D7050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29305-C6A0-263D-6DBB-0CD96AA40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E2650-266F-698A-D93B-545DB960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608988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6FAD-E1A1-AC8D-97B8-08A49BD5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B79AA-1069-4C36-62FC-D5C726D0B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944" y="921265"/>
            <a:ext cx="1959293" cy="21958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4CE76-C5F8-2A47-32AB-11D985F18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33863" y="921265"/>
            <a:ext cx="1959293" cy="21958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05AAC-32D6-D04D-C4C1-7314C6F5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79185-E4C0-0659-A57C-A3528D24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9D01F-E34C-3F46-E590-72C50FFD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59823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7675-FE4A-F288-79B2-6522BB67A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45" y="184253"/>
            <a:ext cx="3976211" cy="66891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1005F-462F-DABA-E6E0-B817727D6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545" y="848365"/>
            <a:ext cx="1950288" cy="415770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67" indent="0">
              <a:buNone/>
              <a:defRPr sz="756" b="1"/>
            </a:lvl2pPr>
            <a:lvl3pPr marL="345735" indent="0">
              <a:buNone/>
              <a:defRPr sz="681" b="1"/>
            </a:lvl3pPr>
            <a:lvl4pPr marL="518602" indent="0">
              <a:buNone/>
              <a:defRPr sz="605" b="1"/>
            </a:lvl4pPr>
            <a:lvl5pPr marL="691469" indent="0">
              <a:buNone/>
              <a:defRPr sz="605" b="1"/>
            </a:lvl5pPr>
            <a:lvl6pPr marL="864337" indent="0">
              <a:buNone/>
              <a:defRPr sz="605" b="1"/>
            </a:lvl6pPr>
            <a:lvl7pPr marL="1037204" indent="0">
              <a:buNone/>
              <a:defRPr sz="605" b="1"/>
            </a:lvl7pPr>
            <a:lvl8pPr marL="1210071" indent="0">
              <a:buNone/>
              <a:defRPr sz="605" b="1"/>
            </a:lvl8pPr>
            <a:lvl9pPr marL="1382939" indent="0">
              <a:buNone/>
              <a:defRPr sz="60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885D9-AF74-F4E7-5576-4EBB853B4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545" y="1264135"/>
            <a:ext cx="1950288" cy="18593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EFFDE-15AF-7012-1B17-236ECD04F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333863" y="848365"/>
            <a:ext cx="1959893" cy="415770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67" indent="0">
              <a:buNone/>
              <a:defRPr sz="756" b="1"/>
            </a:lvl2pPr>
            <a:lvl3pPr marL="345735" indent="0">
              <a:buNone/>
              <a:defRPr sz="681" b="1"/>
            </a:lvl3pPr>
            <a:lvl4pPr marL="518602" indent="0">
              <a:buNone/>
              <a:defRPr sz="605" b="1"/>
            </a:lvl4pPr>
            <a:lvl5pPr marL="691469" indent="0">
              <a:buNone/>
              <a:defRPr sz="605" b="1"/>
            </a:lvl5pPr>
            <a:lvl6pPr marL="864337" indent="0">
              <a:buNone/>
              <a:defRPr sz="605" b="1"/>
            </a:lvl6pPr>
            <a:lvl7pPr marL="1037204" indent="0">
              <a:buNone/>
              <a:defRPr sz="605" b="1"/>
            </a:lvl7pPr>
            <a:lvl8pPr marL="1210071" indent="0">
              <a:buNone/>
              <a:defRPr sz="605" b="1"/>
            </a:lvl8pPr>
            <a:lvl9pPr marL="1382939" indent="0">
              <a:buNone/>
              <a:defRPr sz="60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73A9C6-8D19-298D-F2AB-DD7628F73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333863" y="1264135"/>
            <a:ext cx="1959893" cy="18593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AF5394-5385-A9AA-BE66-4D2BAD6D2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BC1387-1B48-990B-9937-B77506CC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B0AFCD-F671-97F7-C719-A4F5F29E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978568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363C-06FA-7E1E-8826-12E4B010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4CEF3-21DB-E522-822C-3C41E619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755AC-DD97-0253-0AA9-0C197D180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F1666-2930-A169-5C26-9575E413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43558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25FCE0-EB71-EB8F-5A05-22A8E2A3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9BA20-380D-6D34-4ADA-189B4118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48F0C-498F-1F9B-F0ED-3608DAE6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220859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3BBC9-B069-E8D0-E684-B3A92C327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45" y="230717"/>
            <a:ext cx="1486877" cy="807508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7261B-E796-26B4-27E8-04BD7B757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893" y="498284"/>
            <a:ext cx="2333863" cy="2459376"/>
          </a:xfrm>
        </p:spPr>
        <p:txBody>
          <a:bodyPr/>
          <a:lstStyle>
            <a:lvl1pPr>
              <a:defRPr sz="1210"/>
            </a:lvl1pPr>
            <a:lvl2pPr>
              <a:defRPr sz="1059"/>
            </a:lvl2pPr>
            <a:lvl3pPr>
              <a:defRPr sz="907"/>
            </a:lvl3pPr>
            <a:lvl4pPr>
              <a:defRPr sz="756"/>
            </a:lvl4pPr>
            <a:lvl5pPr>
              <a:defRPr sz="756"/>
            </a:lvl5pPr>
            <a:lvl6pPr>
              <a:defRPr sz="756"/>
            </a:lvl6pPr>
            <a:lvl7pPr>
              <a:defRPr sz="756"/>
            </a:lvl7pPr>
            <a:lvl8pPr>
              <a:defRPr sz="756"/>
            </a:lvl8pPr>
            <a:lvl9pPr>
              <a:defRPr sz="75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A6783-E722-C24B-35D6-72E3F5EFB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545" y="1038225"/>
            <a:ext cx="1486877" cy="1923440"/>
          </a:xfrm>
        </p:spPr>
        <p:txBody>
          <a:bodyPr/>
          <a:lstStyle>
            <a:lvl1pPr marL="0" indent="0">
              <a:buNone/>
              <a:defRPr sz="605"/>
            </a:lvl1pPr>
            <a:lvl2pPr marL="172867" indent="0">
              <a:buNone/>
              <a:defRPr sz="529"/>
            </a:lvl2pPr>
            <a:lvl3pPr marL="345735" indent="0">
              <a:buNone/>
              <a:defRPr sz="454"/>
            </a:lvl3pPr>
            <a:lvl4pPr marL="518602" indent="0">
              <a:buNone/>
              <a:defRPr sz="378"/>
            </a:lvl4pPr>
            <a:lvl5pPr marL="691469" indent="0">
              <a:buNone/>
              <a:defRPr sz="378"/>
            </a:lvl5pPr>
            <a:lvl6pPr marL="864337" indent="0">
              <a:buNone/>
              <a:defRPr sz="378"/>
            </a:lvl6pPr>
            <a:lvl7pPr marL="1037204" indent="0">
              <a:buNone/>
              <a:defRPr sz="378"/>
            </a:lvl7pPr>
            <a:lvl8pPr marL="1210071" indent="0">
              <a:buNone/>
              <a:defRPr sz="378"/>
            </a:lvl8pPr>
            <a:lvl9pPr marL="1382939" indent="0">
              <a:buNone/>
              <a:defRPr sz="37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266DB-6D3B-48E4-5BCE-A3866095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7B3B2-9F26-9C16-848B-F77CB188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6800E-6259-CCAB-61ED-00E03893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49300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2D54-29B0-DF26-83EF-08119B2D4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45" y="230717"/>
            <a:ext cx="1486877" cy="807508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C19B7-0E20-CA75-0CD1-8F87C27A59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959893" y="498284"/>
            <a:ext cx="2333863" cy="2459376"/>
          </a:xfrm>
        </p:spPr>
        <p:txBody>
          <a:bodyPr/>
          <a:lstStyle>
            <a:lvl1pPr marL="0" indent="0">
              <a:buNone/>
              <a:defRPr sz="1210"/>
            </a:lvl1pPr>
            <a:lvl2pPr marL="172867" indent="0">
              <a:buNone/>
              <a:defRPr sz="1059"/>
            </a:lvl2pPr>
            <a:lvl3pPr marL="345735" indent="0">
              <a:buNone/>
              <a:defRPr sz="907"/>
            </a:lvl3pPr>
            <a:lvl4pPr marL="518602" indent="0">
              <a:buNone/>
              <a:defRPr sz="756"/>
            </a:lvl4pPr>
            <a:lvl5pPr marL="691469" indent="0">
              <a:buNone/>
              <a:defRPr sz="756"/>
            </a:lvl5pPr>
            <a:lvl6pPr marL="864337" indent="0">
              <a:buNone/>
              <a:defRPr sz="756"/>
            </a:lvl6pPr>
            <a:lvl7pPr marL="1037204" indent="0">
              <a:buNone/>
              <a:defRPr sz="756"/>
            </a:lvl7pPr>
            <a:lvl8pPr marL="1210071" indent="0">
              <a:buNone/>
              <a:defRPr sz="756"/>
            </a:lvl8pPr>
            <a:lvl9pPr marL="1382939" indent="0">
              <a:buNone/>
              <a:defRPr sz="756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9BFC0-FDC0-712A-4861-8AC991CC8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545" y="1038225"/>
            <a:ext cx="1486877" cy="1923440"/>
          </a:xfrm>
        </p:spPr>
        <p:txBody>
          <a:bodyPr/>
          <a:lstStyle>
            <a:lvl1pPr marL="0" indent="0">
              <a:buNone/>
              <a:defRPr sz="605"/>
            </a:lvl1pPr>
            <a:lvl2pPr marL="172867" indent="0">
              <a:buNone/>
              <a:defRPr sz="529"/>
            </a:lvl2pPr>
            <a:lvl3pPr marL="345735" indent="0">
              <a:buNone/>
              <a:defRPr sz="454"/>
            </a:lvl3pPr>
            <a:lvl4pPr marL="518602" indent="0">
              <a:buNone/>
              <a:defRPr sz="378"/>
            </a:lvl4pPr>
            <a:lvl5pPr marL="691469" indent="0">
              <a:buNone/>
              <a:defRPr sz="378"/>
            </a:lvl5pPr>
            <a:lvl6pPr marL="864337" indent="0">
              <a:buNone/>
              <a:defRPr sz="378"/>
            </a:lvl6pPr>
            <a:lvl7pPr marL="1037204" indent="0">
              <a:buNone/>
              <a:defRPr sz="378"/>
            </a:lvl7pPr>
            <a:lvl8pPr marL="1210071" indent="0">
              <a:buNone/>
              <a:defRPr sz="378"/>
            </a:lvl8pPr>
            <a:lvl9pPr marL="1382939" indent="0">
              <a:buNone/>
              <a:defRPr sz="37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418C4-B6F3-9D14-625F-F88A5349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C80AA-E3C2-6997-C06B-AB55B49E3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A1E89-0AC0-5E5C-B4AD-A037BB78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5293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CCA3-5035-8064-8EAB-BDB78CD5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6BF93-D8FF-47C0-A441-D5255BE9A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A2C22-B1CB-8706-D5F1-C480EAC67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412E-57F8-B4D1-3274-62329182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B540A-7F8C-33E7-A818-9695D28D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4034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8A892B-A4FC-8849-61CA-B237A99940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299103" y="184253"/>
            <a:ext cx="994053" cy="2932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6D9C3-B292-882E-C7D4-C8B0F5692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16944" y="184253"/>
            <a:ext cx="2924532" cy="2932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A5B2C-4300-3676-4F79-14C607C8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7A554-6838-4C1B-85E4-B7A828A8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1A726-6EF0-1528-11C9-D2325D4F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962046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63660"/>
            <a:ext cx="275272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007170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56258" y="2321960"/>
            <a:ext cx="2297582" cy="581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7170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‹#›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06770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64D8E7-1569-1E3C-6252-9DF9A6F34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45" y="184253"/>
            <a:ext cx="3976211" cy="668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CB27F-AF7D-0A6D-CEA8-CA9E2FCD3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945" y="921265"/>
            <a:ext cx="3976211" cy="2195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0DEA0-9E06-89A4-024D-B56F9F2C8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944" y="3207603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0ECBC-A084-E040-D543-5F7FA6BCD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7096" y="3207603"/>
            <a:ext cx="1555909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B8588-5D7F-33BD-2F28-6718E24E0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55883" y="3207603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30"/>
              <a:t> </a:t>
            </a:r>
            <a:r>
              <a:rPr lang="en-IN"/>
              <a:t>/</a:t>
            </a:r>
            <a:r>
              <a:rPr lang="en-IN" spc="35"/>
              <a:t> </a:t>
            </a:r>
            <a:r>
              <a:rPr lang="en-IN" spc="-25"/>
              <a:t>13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8849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  <p:sldLayoutId id="2147483860" r:id="rId12"/>
  </p:sldLayoutIdLst>
  <p:txStyles>
    <p:titleStyle>
      <a:lvl1pPr algn="l" defTabSz="345735" rtl="0" eaLnBrk="1" latinLnBrk="0" hangingPunct="1">
        <a:lnSpc>
          <a:spcPct val="90000"/>
        </a:lnSpc>
        <a:spcBef>
          <a:spcPct val="0"/>
        </a:spcBef>
        <a:buNone/>
        <a:defRPr sz="16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434" indent="-86434" algn="l" defTabSz="34573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059" kern="1200">
          <a:solidFill>
            <a:schemeClr val="tx1"/>
          </a:solidFill>
          <a:latin typeface="+mn-lt"/>
          <a:ea typeface="+mn-ea"/>
          <a:cs typeface="+mn-cs"/>
        </a:defRPr>
      </a:lvl1pPr>
      <a:lvl2pPr marL="259301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2pPr>
      <a:lvl3pPr marL="432168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605036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77903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950770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123638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96505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69372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2867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45735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18602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691469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64337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37204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10071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382939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aconda.com/anaconda/install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.8/tutorial/index.html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upyter-notebook.readthedocs.io/en/stable" TargetMode="External"/><Relationship Id="rId4" Type="http://schemas.openxmlformats.org/officeDocument/2006/relationships/hyperlink" Target="http://jupyter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8590" y="1865002"/>
            <a:ext cx="291286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spc="70" dirty="0">
                <a:latin typeface="Arial Narrow"/>
                <a:cs typeface="Arial Narrow"/>
              </a:rPr>
              <a:t>Getting</a:t>
            </a:r>
            <a:r>
              <a:rPr sz="1700" b="1" spc="150" dirty="0">
                <a:latin typeface="Arial Narrow"/>
                <a:cs typeface="Arial Narrow"/>
              </a:rPr>
              <a:t> </a:t>
            </a:r>
            <a:r>
              <a:rPr sz="1700" b="1" spc="55" dirty="0">
                <a:latin typeface="Arial Narrow"/>
                <a:cs typeface="Arial Narrow"/>
              </a:rPr>
              <a:t>Started</a:t>
            </a:r>
            <a:r>
              <a:rPr sz="1700" b="1" spc="155" dirty="0">
                <a:latin typeface="Arial Narrow"/>
                <a:cs typeface="Arial Narrow"/>
              </a:rPr>
              <a:t> </a:t>
            </a:r>
            <a:r>
              <a:rPr sz="1700" b="1" spc="100" dirty="0">
                <a:latin typeface="Arial Narrow"/>
                <a:cs typeface="Arial Narrow"/>
              </a:rPr>
              <a:t>with</a:t>
            </a:r>
            <a:r>
              <a:rPr sz="1700" b="1" spc="155" dirty="0">
                <a:latin typeface="Arial Narrow"/>
                <a:cs typeface="Arial Narrow"/>
              </a:rPr>
              <a:t> </a:t>
            </a:r>
            <a:r>
              <a:rPr sz="1700" b="1" spc="60" dirty="0">
                <a:latin typeface="Arial Narrow"/>
                <a:cs typeface="Arial Narrow"/>
              </a:rPr>
              <a:t>Python</a:t>
            </a:r>
            <a:endParaRPr sz="1700" b="1" dirty="0">
              <a:latin typeface="Arial Narrow"/>
              <a:cs typeface="Arial Narrow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6375EF1-B020-5343-2EB1-6D1A83D91CC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56258" y="2321960"/>
            <a:ext cx="2297582" cy="152349"/>
          </a:xfrm>
        </p:spPr>
        <p:txBody>
          <a:bodyPr/>
          <a:lstStyle/>
          <a:p>
            <a:r>
              <a:rPr lang="en-US" dirty="0"/>
              <a:t>Week 1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Overview:</a:t>
            </a:r>
            <a:r>
              <a:rPr spc="150" dirty="0"/>
              <a:t>  </a:t>
            </a:r>
            <a:r>
              <a:rPr spc="60" dirty="0"/>
              <a:t>Python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2365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20" dirty="0">
                <a:latin typeface="Arial"/>
                <a:cs typeface="Arial"/>
              </a:rPr>
              <a:t>Python</a:t>
            </a:r>
            <a:r>
              <a:rPr spc="-5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is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scripting </a:t>
            </a:r>
            <a:r>
              <a:rPr spc="-60" dirty="0">
                <a:latin typeface="Arial"/>
                <a:cs typeface="Arial"/>
              </a:rPr>
              <a:t>language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like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80" dirty="0">
                <a:latin typeface="Arial Black"/>
                <a:cs typeface="Arial Black"/>
              </a:rPr>
              <a:t>Perl</a:t>
            </a:r>
            <a:r>
              <a:rPr spc="-80" dirty="0">
                <a:latin typeface="Arial"/>
                <a:cs typeface="Arial"/>
              </a:rPr>
              <a:t>,</a:t>
            </a:r>
            <a:r>
              <a:rPr spc="5" dirty="0">
                <a:latin typeface="Arial"/>
                <a:cs typeface="Arial"/>
              </a:rPr>
              <a:t> </a:t>
            </a:r>
            <a:r>
              <a:rPr dirty="0">
                <a:latin typeface="Arial Black"/>
                <a:cs typeface="Arial Black"/>
              </a:rPr>
              <a:t>R</a:t>
            </a:r>
            <a:r>
              <a:rPr dirty="0">
                <a:latin typeface="Arial"/>
                <a:cs typeface="Arial"/>
              </a:rPr>
              <a:t>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25" dirty="0">
                <a:latin typeface="Arial Black"/>
                <a:cs typeface="Arial Black"/>
              </a:rPr>
              <a:t>PHP</a:t>
            </a:r>
          </a:p>
          <a:p>
            <a:pPr marL="12700" marR="70485">
              <a:lnSpc>
                <a:spcPct val="102600"/>
              </a:lnSpc>
              <a:spcBef>
                <a:spcPts val="300"/>
              </a:spcBef>
            </a:pPr>
            <a:r>
              <a:rPr spc="-20" dirty="0">
                <a:latin typeface="Arial"/>
                <a:cs typeface="Arial"/>
              </a:rPr>
              <a:t>Python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is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easy</a:t>
            </a:r>
            <a:r>
              <a:rPr spc="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install,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and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can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be </a:t>
            </a:r>
            <a:r>
              <a:rPr spc="-35" dirty="0">
                <a:latin typeface="Arial"/>
                <a:cs typeface="Arial"/>
              </a:rPr>
              <a:t>installed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on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different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operating </a:t>
            </a:r>
            <a:r>
              <a:rPr spc="-80" dirty="0">
                <a:latin typeface="Arial"/>
                <a:cs typeface="Arial"/>
              </a:rPr>
              <a:t>systems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(Windows, </a:t>
            </a:r>
            <a:r>
              <a:rPr spc="-10" dirty="0">
                <a:latin typeface="Arial"/>
                <a:cs typeface="Arial"/>
              </a:rPr>
              <a:t>Mac </a:t>
            </a:r>
            <a:r>
              <a:rPr dirty="0">
                <a:latin typeface="Arial"/>
                <a:cs typeface="Arial"/>
              </a:rPr>
              <a:t>or</a:t>
            </a:r>
            <a:r>
              <a:rPr spc="-10" dirty="0">
                <a:latin typeface="Arial"/>
                <a:cs typeface="Arial"/>
              </a:rPr>
              <a:t> Linux)</a:t>
            </a:r>
          </a:p>
          <a:p>
            <a:pPr marL="12700" marR="320040">
              <a:lnSpc>
                <a:spcPct val="102600"/>
              </a:lnSpc>
              <a:spcBef>
                <a:spcPts val="300"/>
              </a:spcBef>
            </a:pPr>
            <a:r>
              <a:rPr spc="-40" dirty="0">
                <a:latin typeface="Arial"/>
                <a:cs typeface="Arial"/>
              </a:rPr>
              <a:t>Ideal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for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text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and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data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processing,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50" dirty="0">
                <a:latin typeface="Arial"/>
                <a:cs typeface="Arial"/>
              </a:rPr>
              <a:t>it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35" dirty="0">
                <a:latin typeface="Arial"/>
                <a:cs typeface="Arial"/>
              </a:rPr>
              <a:t>offers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35" dirty="0">
                <a:latin typeface="Arial"/>
                <a:cs typeface="Arial"/>
              </a:rPr>
              <a:t>powerful</a:t>
            </a:r>
            <a:r>
              <a:rPr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libraries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for </a:t>
            </a:r>
            <a:r>
              <a:rPr spc="-30" dirty="0">
                <a:latin typeface="Arial"/>
                <a:cs typeface="Arial"/>
              </a:rPr>
              <a:t>computation</a:t>
            </a:r>
            <a:r>
              <a:rPr spc="3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using</a:t>
            </a:r>
            <a:r>
              <a:rPr spc="40" dirty="0">
                <a:latin typeface="Arial"/>
                <a:cs typeface="Arial"/>
              </a:rPr>
              <a:t> </a:t>
            </a:r>
            <a:r>
              <a:rPr spc="-70" dirty="0">
                <a:latin typeface="Arial"/>
                <a:cs typeface="Arial"/>
              </a:rPr>
              <a:t>large-</a:t>
            </a:r>
            <a:r>
              <a:rPr spc="-60" dirty="0">
                <a:latin typeface="Arial"/>
                <a:cs typeface="Arial"/>
              </a:rPr>
              <a:t>scale</a:t>
            </a:r>
            <a:r>
              <a:rPr spc="4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data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pc="-70" dirty="0">
                <a:latin typeface="Arial"/>
                <a:cs typeface="Arial"/>
              </a:rPr>
              <a:t>Nowadays,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python-</a:t>
            </a:r>
            <a:r>
              <a:rPr spc="-55" dirty="0">
                <a:latin typeface="Arial"/>
                <a:cs typeface="Arial"/>
              </a:rPr>
              <a:t>based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software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and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tools </a:t>
            </a:r>
            <a:r>
              <a:rPr dirty="0">
                <a:latin typeface="Arial"/>
                <a:cs typeface="Arial"/>
              </a:rPr>
              <a:t>(e.g.</a:t>
            </a:r>
            <a:r>
              <a:rPr spc="80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PyTorch)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70" dirty="0">
                <a:latin typeface="Arial"/>
                <a:cs typeface="Arial"/>
              </a:rPr>
              <a:t>are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being </a:t>
            </a:r>
            <a:r>
              <a:rPr spc="-40" dirty="0">
                <a:latin typeface="Arial"/>
                <a:cs typeface="Arial"/>
              </a:rPr>
              <a:t>heavily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85" dirty="0">
                <a:latin typeface="Arial"/>
                <a:cs typeface="Arial"/>
              </a:rPr>
              <a:t>used</a:t>
            </a:r>
            <a:r>
              <a:rPr spc="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 </a:t>
            </a:r>
            <a:r>
              <a:rPr spc="-50" dirty="0">
                <a:latin typeface="Arial"/>
                <a:cs typeface="Arial"/>
              </a:rPr>
              <a:t>machine</a:t>
            </a:r>
            <a:r>
              <a:rPr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and</a:t>
            </a:r>
            <a:r>
              <a:rPr dirty="0">
                <a:latin typeface="Arial"/>
                <a:cs typeface="Arial"/>
              </a:rPr>
              <a:t> </a:t>
            </a:r>
            <a:r>
              <a:rPr spc="-85" dirty="0">
                <a:latin typeface="Arial"/>
                <a:cs typeface="Arial"/>
              </a:rPr>
              <a:t>deep</a:t>
            </a:r>
            <a:r>
              <a:rPr spc="10" dirty="0">
                <a:latin typeface="Arial"/>
                <a:cs typeface="Arial"/>
              </a:rPr>
              <a:t> </a:t>
            </a:r>
            <a:r>
              <a:rPr spc="-40" dirty="0">
                <a:latin typeface="Arial"/>
                <a:cs typeface="Arial"/>
              </a:rPr>
              <a:t>learning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and</a:t>
            </a:r>
            <a:r>
              <a:rPr dirty="0">
                <a:latin typeface="Arial"/>
                <a:cs typeface="Arial"/>
              </a:rPr>
              <a:t> AI </a:t>
            </a:r>
            <a:r>
              <a:rPr spc="-10" dirty="0">
                <a:latin typeface="Arial"/>
                <a:cs typeface="Arial"/>
              </a:rPr>
              <a:t>solutions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Overview:</a:t>
            </a:r>
            <a:r>
              <a:rPr spc="150" dirty="0"/>
              <a:t>  </a:t>
            </a:r>
            <a:r>
              <a:rPr spc="60" dirty="0"/>
              <a:t>Python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6745" y="1166302"/>
            <a:ext cx="3722370" cy="111379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 marR="1248410">
              <a:lnSpc>
                <a:spcPct val="119200"/>
              </a:lnSpc>
              <a:spcBef>
                <a:spcPts val="180"/>
              </a:spcBef>
            </a:pPr>
            <a:r>
              <a:rPr sz="1100" spc="-10" dirty="0">
                <a:latin typeface="Arial"/>
                <a:cs typeface="Arial"/>
              </a:rPr>
              <a:t>Note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Python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constantly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evolving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using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latest </a:t>
            </a:r>
            <a:r>
              <a:rPr sz="1100" spc="-55" dirty="0">
                <a:latin typeface="Arial"/>
                <a:cs typeface="Arial"/>
              </a:rPr>
              <a:t>version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Python Beware:</a:t>
            </a:r>
            <a:endParaRPr sz="1100">
              <a:latin typeface="Arial"/>
              <a:cs typeface="Arial"/>
            </a:endParaRPr>
          </a:p>
          <a:p>
            <a:pPr marL="177800">
              <a:lnSpc>
                <a:spcPts val="1200"/>
              </a:lnSpc>
              <a:spcBef>
                <a:spcPts val="175"/>
              </a:spcBef>
            </a:pPr>
            <a:r>
              <a:rPr sz="900" spc="494" baseline="13888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spc="367" baseline="13888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Python</a:t>
            </a:r>
            <a:r>
              <a:rPr sz="1000" dirty="0">
                <a:latin typeface="Arial"/>
                <a:cs typeface="Arial"/>
              </a:rPr>
              <a:t> 2 </a:t>
            </a:r>
            <a:r>
              <a:rPr sz="1000" spc="-90" dirty="0">
                <a:latin typeface="Arial"/>
                <a:cs typeface="Arial"/>
              </a:rPr>
              <a:t>was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 </a:t>
            </a:r>
            <a:r>
              <a:rPr sz="1000" spc="-75" dirty="0">
                <a:latin typeface="Arial"/>
                <a:cs typeface="Arial"/>
              </a:rPr>
              <a:t>use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 </a:t>
            </a:r>
            <a:r>
              <a:rPr sz="1000" spc="-25" dirty="0">
                <a:latin typeface="Arial"/>
                <a:cs typeface="Arial"/>
              </a:rPr>
              <a:t>2000.</a:t>
            </a:r>
            <a:r>
              <a:rPr sz="1000" spc="9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Python</a:t>
            </a:r>
            <a:r>
              <a:rPr sz="1000" dirty="0">
                <a:latin typeface="Arial"/>
                <a:cs typeface="Arial"/>
              </a:rPr>
              <a:t> 3 is in </a:t>
            </a:r>
            <a:r>
              <a:rPr sz="1000" spc="-85" dirty="0">
                <a:latin typeface="Arial"/>
                <a:cs typeface="Arial"/>
              </a:rPr>
              <a:t>use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60" dirty="0">
                <a:latin typeface="Arial"/>
                <a:cs typeface="Arial"/>
              </a:rPr>
              <a:t>since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2008.</a:t>
            </a:r>
            <a:endParaRPr sz="1000">
              <a:latin typeface="Arial"/>
              <a:cs typeface="Arial"/>
            </a:endParaRPr>
          </a:p>
          <a:p>
            <a:pPr marL="314960" marR="30480" indent="-137160">
              <a:lnSpc>
                <a:spcPts val="1200"/>
              </a:lnSpc>
              <a:spcBef>
                <a:spcPts val="40"/>
              </a:spcBef>
            </a:pPr>
            <a:r>
              <a:rPr sz="900" spc="494" baseline="13888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spc="442" baseline="13888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Python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follows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yearly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75" dirty="0">
                <a:latin typeface="Arial"/>
                <a:cs typeface="Arial"/>
              </a:rPr>
              <a:t>release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cycle.</a:t>
            </a:r>
            <a:r>
              <a:rPr sz="1000" spc="10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New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versions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come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in </a:t>
            </a:r>
            <a:r>
              <a:rPr sz="1000" spc="-20" dirty="0">
                <a:latin typeface="Arial"/>
                <a:cs typeface="Arial"/>
              </a:rPr>
              <a:t>autumn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usually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supported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 3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 </a:t>
            </a:r>
            <a:r>
              <a:rPr sz="1000" spc="-10" dirty="0">
                <a:latin typeface="Arial"/>
                <a:cs typeface="Arial"/>
              </a:rPr>
              <a:t>years.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Overview:</a:t>
            </a:r>
            <a:r>
              <a:rPr spc="75" dirty="0"/>
              <a:t>  </a:t>
            </a:r>
            <a:r>
              <a:rPr spc="50" dirty="0"/>
              <a:t>Jupyter</a:t>
            </a:r>
            <a:r>
              <a:rPr spc="315" dirty="0"/>
              <a:t> </a:t>
            </a:r>
            <a:r>
              <a:rPr spc="60" dirty="0"/>
              <a:t>Notebook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4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145" y="915249"/>
            <a:ext cx="4066540" cy="14344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9209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Arial"/>
                <a:cs typeface="Arial"/>
              </a:rPr>
              <a:t>Jupyter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has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support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over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40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different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programming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languages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spc="-20" dirty="0">
                <a:latin typeface="Arial"/>
                <a:cs typeface="Arial"/>
              </a:rPr>
              <a:t>Python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one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them.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Python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requirement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installing</a:t>
            </a:r>
            <a:r>
              <a:rPr sz="1100" spc="-25" dirty="0">
                <a:latin typeface="Arial"/>
                <a:cs typeface="Arial"/>
              </a:rPr>
              <a:t> the </a:t>
            </a:r>
            <a:r>
              <a:rPr sz="1100" spc="-30" dirty="0">
                <a:latin typeface="Arial"/>
                <a:cs typeface="Arial"/>
              </a:rPr>
              <a:t>Jupyter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Notebook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itself.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Arial"/>
                <a:cs typeface="Arial"/>
              </a:rPr>
              <a:t>Jupyter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Notebook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an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open-</a:t>
            </a:r>
            <a:r>
              <a:rPr sz="1100" spc="-60" dirty="0">
                <a:latin typeface="Arial"/>
                <a:cs typeface="Arial"/>
              </a:rPr>
              <a:t>source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web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application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allows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you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create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share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documents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contain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live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code,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equations, </a:t>
            </a:r>
            <a:r>
              <a:rPr sz="1100" spc="-45" dirty="0">
                <a:latin typeface="Arial"/>
                <a:cs typeface="Arial"/>
              </a:rPr>
              <a:t>visualizations,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narrative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text.</a:t>
            </a:r>
            <a:r>
              <a:rPr sz="1100" spc="1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also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used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data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cleaning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spc="-30" dirty="0">
                <a:latin typeface="Arial"/>
                <a:cs typeface="Arial"/>
              </a:rPr>
              <a:t>transformation,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numerical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simulation,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statistical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modeling,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data </a:t>
            </a:r>
            <a:r>
              <a:rPr sz="1100" spc="-40" dirty="0">
                <a:latin typeface="Arial"/>
                <a:cs typeface="Arial"/>
              </a:rPr>
              <a:t>visualization,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machine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learning,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much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more.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Installing</a:t>
            </a:r>
            <a:r>
              <a:rPr spc="125" dirty="0"/>
              <a:t>  </a:t>
            </a:r>
            <a:r>
              <a:rPr spc="-10" dirty="0"/>
              <a:t>Anaconda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5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145" y="800873"/>
            <a:ext cx="4070985" cy="17202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60" dirty="0">
                <a:latin typeface="Arial"/>
                <a:cs typeface="Arial"/>
              </a:rPr>
              <a:t>Anaconda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free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open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source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distribution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Python </a:t>
            </a:r>
            <a:r>
              <a:rPr sz="1100" spc="-40" dirty="0">
                <a:latin typeface="Arial"/>
                <a:cs typeface="Arial"/>
              </a:rPr>
              <a:t>programming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languages</a:t>
            </a:r>
            <a:r>
              <a:rPr sz="1100" dirty="0">
                <a:latin typeface="Arial"/>
                <a:cs typeface="Arial"/>
              </a:rPr>
              <a:t> for </a:t>
            </a:r>
            <a:r>
              <a:rPr sz="1100" spc="-10" dirty="0">
                <a:latin typeface="Arial"/>
                <a:cs typeface="Arial"/>
              </a:rPr>
              <a:t>data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science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machine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learning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related </a:t>
            </a:r>
            <a:r>
              <a:rPr sz="1100" spc="-35" dirty="0">
                <a:latin typeface="Arial"/>
                <a:cs typeface="Arial"/>
              </a:rPr>
              <a:t>applications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(large-</a:t>
            </a:r>
            <a:r>
              <a:rPr sz="1100" spc="-60" dirty="0">
                <a:latin typeface="Arial"/>
                <a:cs typeface="Arial"/>
              </a:rPr>
              <a:t>scale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data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processing,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predictive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analytics, </a:t>
            </a:r>
            <a:r>
              <a:rPr sz="1100" spc="-25" dirty="0">
                <a:latin typeface="Arial"/>
                <a:cs typeface="Arial"/>
              </a:rPr>
              <a:t>scientific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computing),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aims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simplify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package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management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spc="-10" dirty="0">
                <a:latin typeface="Arial"/>
                <a:cs typeface="Arial"/>
              </a:rPr>
              <a:t>deployment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60" dirty="0">
                <a:latin typeface="Arial"/>
                <a:cs typeface="Arial"/>
              </a:rPr>
              <a:t>Anaconda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contains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Jupyter.</a:t>
            </a:r>
            <a:endParaRPr sz="1100">
              <a:latin typeface="Arial"/>
              <a:cs typeface="Arial"/>
            </a:endParaRPr>
          </a:p>
          <a:p>
            <a:pPr marL="12700" marR="199390">
              <a:lnSpc>
                <a:spcPct val="125299"/>
              </a:lnSpc>
            </a:pPr>
            <a:r>
              <a:rPr sz="1100" spc="-55" dirty="0">
                <a:latin typeface="Arial"/>
                <a:cs typeface="Arial"/>
              </a:rPr>
              <a:t>Open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0000FF"/>
                </a:solidFill>
                <a:latin typeface="Palatino Linotype"/>
                <a:cs typeface="Palatino Linotype"/>
                <a:hlinkClick r:id="rId2"/>
              </a:rPr>
              <a:t>https://docs.anaconda.com/anaconda/install/</a:t>
            </a:r>
            <a:r>
              <a:rPr sz="1100" spc="500" dirty="0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Arial"/>
                <a:cs typeface="Arial"/>
              </a:rPr>
              <a:t>Python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libraries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included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Anaconda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include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NumPy,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pandas,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etc </a:t>
            </a:r>
            <a:r>
              <a:rPr sz="1100" spc="-55" dirty="0">
                <a:latin typeface="Arial"/>
                <a:cs typeface="Arial"/>
              </a:rPr>
              <a:t>You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can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install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Windows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240" dirty="0">
                <a:latin typeface="Arial"/>
                <a:cs typeface="Arial"/>
              </a:rPr>
              <a:t>/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Mac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240" dirty="0">
                <a:latin typeface="Arial"/>
                <a:cs typeface="Arial"/>
              </a:rPr>
              <a:t>/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65" dirty="0"/>
              <a:t>Starting</a:t>
            </a:r>
            <a:r>
              <a:rPr spc="150" dirty="0"/>
              <a:t> </a:t>
            </a:r>
            <a:r>
              <a:rPr spc="100" dirty="0"/>
              <a:t>with</a:t>
            </a:r>
            <a:r>
              <a:rPr spc="160" dirty="0"/>
              <a:t> </a:t>
            </a:r>
            <a:r>
              <a:rPr spc="50" dirty="0"/>
              <a:t>Jupyter</a:t>
            </a:r>
            <a:r>
              <a:rPr spc="165" dirty="0"/>
              <a:t> </a:t>
            </a:r>
            <a:r>
              <a:rPr spc="60" dirty="0"/>
              <a:t>Notebook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6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145" y="1047595"/>
            <a:ext cx="3935729" cy="1038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50240">
              <a:lnSpc>
                <a:spcPct val="125299"/>
              </a:lnSpc>
              <a:spcBef>
                <a:spcPts val="100"/>
              </a:spcBef>
            </a:pPr>
            <a:r>
              <a:rPr sz="1100" spc="-55" dirty="0">
                <a:latin typeface="Arial"/>
                <a:cs typeface="Arial"/>
              </a:rPr>
              <a:t>Open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40" dirty="0">
                <a:latin typeface="Arial Black"/>
                <a:cs typeface="Arial Black"/>
              </a:rPr>
              <a:t>Jupyter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125" dirty="0">
                <a:latin typeface="Arial Black"/>
                <a:cs typeface="Arial Black"/>
              </a:rPr>
              <a:t>Notebook</a:t>
            </a:r>
            <a:r>
              <a:rPr sz="1100" spc="-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"/>
                <a:cs typeface="Arial"/>
              </a:rPr>
              <a:t>[type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Windows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menu] </a:t>
            </a:r>
            <a:r>
              <a:rPr sz="1100" spc="-65" dirty="0">
                <a:latin typeface="Arial"/>
                <a:cs typeface="Arial"/>
              </a:rPr>
              <a:t>Once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opened,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you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can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35" dirty="0">
                <a:latin typeface="Arial"/>
                <a:cs typeface="Arial"/>
              </a:rPr>
              <a:t>see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Notebook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Dashboard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60" dirty="0">
                <a:latin typeface="Arial"/>
                <a:cs typeface="Arial"/>
              </a:rPr>
              <a:t>Dashboard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show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you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files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sub-</a:t>
            </a:r>
            <a:r>
              <a:rPr sz="1100" spc="-40" dirty="0">
                <a:latin typeface="Arial"/>
                <a:cs typeface="Arial"/>
              </a:rPr>
              <a:t>folders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contained </a:t>
            </a:r>
            <a:r>
              <a:rPr sz="1100" dirty="0">
                <a:latin typeface="Arial"/>
                <a:cs typeface="Arial"/>
              </a:rPr>
              <a:t>within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Jupyter’s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start-</a:t>
            </a:r>
            <a:r>
              <a:rPr sz="1100" dirty="0">
                <a:latin typeface="Arial"/>
                <a:cs typeface="Arial"/>
              </a:rPr>
              <a:t>up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directory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Linux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you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launch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Jupyter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Notebook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20" dirty="0">
                <a:latin typeface="Arial"/>
                <a:cs typeface="Arial"/>
              </a:rPr>
              <a:t> jupyter </a:t>
            </a:r>
            <a:r>
              <a:rPr sz="1100" spc="-10" dirty="0">
                <a:latin typeface="Arial"/>
                <a:cs typeface="Arial"/>
              </a:rPr>
              <a:t>notebook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65" dirty="0"/>
              <a:t>Starting</a:t>
            </a:r>
            <a:r>
              <a:rPr spc="150" dirty="0"/>
              <a:t> </a:t>
            </a:r>
            <a:r>
              <a:rPr spc="100" dirty="0"/>
              <a:t>with</a:t>
            </a:r>
            <a:r>
              <a:rPr spc="160" dirty="0"/>
              <a:t> </a:t>
            </a:r>
            <a:r>
              <a:rPr spc="50" dirty="0"/>
              <a:t>Jupyter</a:t>
            </a:r>
            <a:r>
              <a:rPr spc="165" dirty="0"/>
              <a:t> </a:t>
            </a:r>
            <a:r>
              <a:rPr spc="60" dirty="0"/>
              <a:t>Notebook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7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145" y="1499284"/>
            <a:ext cx="3613785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20" dirty="0">
                <a:latin typeface="Arial"/>
                <a:cs typeface="Arial"/>
              </a:rPr>
              <a:t>Click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“New”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drop-down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button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top-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select </a:t>
            </a:r>
            <a:r>
              <a:rPr sz="1100" dirty="0">
                <a:latin typeface="Arial"/>
                <a:cs typeface="Arial"/>
              </a:rPr>
              <a:t>“Python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3”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Arial"/>
                <a:cs typeface="Arial"/>
              </a:rPr>
              <a:t>“New”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→</a:t>
            </a:r>
            <a:r>
              <a:rPr sz="1100" i="1" spc="3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Python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3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3660"/>
            <a:ext cx="85661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40" dirty="0">
                <a:solidFill>
                  <a:srgbClr val="007170"/>
                </a:solidFill>
                <a:latin typeface="Arial Narrow"/>
                <a:cs typeface="Arial Narrow"/>
              </a:rPr>
              <a:t>test.ipynb</a:t>
            </a:r>
            <a:endParaRPr sz="170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183" y="1092092"/>
            <a:ext cx="3603589" cy="13391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8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65" dirty="0"/>
              <a:t>Starting</a:t>
            </a:r>
            <a:r>
              <a:rPr spc="150" dirty="0"/>
              <a:t> </a:t>
            </a:r>
            <a:r>
              <a:rPr spc="100" dirty="0"/>
              <a:t>with</a:t>
            </a:r>
            <a:r>
              <a:rPr spc="160" dirty="0"/>
              <a:t> </a:t>
            </a:r>
            <a:r>
              <a:rPr spc="50" dirty="0"/>
              <a:t>Jupyter</a:t>
            </a:r>
            <a:r>
              <a:rPr spc="165" dirty="0"/>
              <a:t> </a:t>
            </a:r>
            <a:r>
              <a:rPr spc="60" dirty="0"/>
              <a:t>Notebook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9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145" y="1287485"/>
            <a:ext cx="3655695" cy="1038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28700">
              <a:lnSpc>
                <a:spcPct val="125299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Then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Jupyter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Notebook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 </a:t>
            </a:r>
            <a:r>
              <a:rPr sz="1100" spc="-60" dirty="0">
                <a:latin typeface="Arial"/>
                <a:cs typeface="Arial"/>
              </a:rPr>
              <a:t>open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tab </a:t>
            </a:r>
            <a:r>
              <a:rPr sz="1100" spc="-55" dirty="0">
                <a:latin typeface="Arial"/>
                <a:cs typeface="Arial"/>
              </a:rPr>
              <a:t>You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35" dirty="0">
                <a:latin typeface="Arial"/>
                <a:cs typeface="Arial"/>
              </a:rPr>
              <a:t>see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dirty="0">
                <a:latin typeface="Arial"/>
                <a:cs typeface="Arial"/>
              </a:rPr>
              <a:t> file </a:t>
            </a:r>
            <a:r>
              <a:rPr sz="1100" spc="-10" dirty="0">
                <a:latin typeface="Arial"/>
                <a:cs typeface="Arial"/>
              </a:rPr>
              <a:t>Untitled.ipynb </a:t>
            </a:r>
            <a:r>
              <a:rPr sz="1100" spc="-80" dirty="0">
                <a:latin typeface="Arial"/>
                <a:cs typeface="Arial"/>
              </a:rPr>
              <a:t>Change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name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0" dirty="0">
                <a:latin typeface="Arial"/>
                <a:cs typeface="Arial"/>
              </a:rPr>
              <a:t>say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 </a:t>
            </a:r>
            <a:r>
              <a:rPr sz="1100" spc="-20" dirty="0">
                <a:latin typeface="Arial Black"/>
                <a:cs typeface="Arial Black"/>
              </a:rPr>
              <a:t>test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125" dirty="0">
                <a:latin typeface="Arial Black"/>
                <a:cs typeface="Arial Black"/>
              </a:rPr>
              <a:t>test.ipynb</a:t>
            </a:r>
            <a:r>
              <a:rPr sz="1100" spc="-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text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describes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contents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your </a:t>
            </a:r>
            <a:r>
              <a:rPr sz="1100" spc="-35" dirty="0">
                <a:latin typeface="Arial"/>
                <a:cs typeface="Arial"/>
              </a:rPr>
              <a:t>notebook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called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0" dirty="0">
                <a:latin typeface="Arial Black"/>
                <a:cs typeface="Arial Black"/>
              </a:rPr>
              <a:t>JSON</a:t>
            </a:r>
            <a:endParaRPr sz="1100">
              <a:latin typeface="Arial Black"/>
              <a:cs typeface="Arial Black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3660"/>
            <a:ext cx="85661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40" dirty="0">
                <a:solidFill>
                  <a:srgbClr val="007170"/>
                </a:solidFill>
                <a:latin typeface="Arial Narrow"/>
                <a:cs typeface="Arial Narrow"/>
              </a:rPr>
              <a:t>test.ipynb</a:t>
            </a:r>
            <a:endParaRPr sz="170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183" y="1092092"/>
            <a:ext cx="3603589" cy="13391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10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65" dirty="0"/>
              <a:t>Starting</a:t>
            </a:r>
            <a:r>
              <a:rPr spc="150" dirty="0"/>
              <a:t> </a:t>
            </a:r>
            <a:r>
              <a:rPr spc="100" dirty="0"/>
              <a:t>with</a:t>
            </a:r>
            <a:r>
              <a:rPr spc="160" dirty="0"/>
              <a:t> </a:t>
            </a:r>
            <a:r>
              <a:rPr spc="50" dirty="0"/>
              <a:t>Jupyter</a:t>
            </a:r>
            <a:r>
              <a:rPr spc="165" dirty="0"/>
              <a:t> </a:t>
            </a:r>
            <a:r>
              <a:rPr spc="60" dirty="0"/>
              <a:t>Notebook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11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145" y="1247253"/>
            <a:ext cx="4081145" cy="12039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55" dirty="0">
                <a:latin typeface="Arial Black"/>
                <a:cs typeface="Arial Black"/>
              </a:rPr>
              <a:t>kernel</a:t>
            </a:r>
            <a:r>
              <a:rPr sz="1100" spc="-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an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engine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executes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code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contained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notebook </a:t>
            </a:r>
            <a:r>
              <a:rPr sz="1100" spc="-35" dirty="0">
                <a:latin typeface="Arial"/>
                <a:cs typeface="Arial"/>
              </a:rPr>
              <a:t>document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(e.g.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test.ipynb)</a:t>
            </a:r>
            <a:endParaRPr sz="1100">
              <a:latin typeface="Arial"/>
              <a:cs typeface="Arial"/>
            </a:endParaRPr>
          </a:p>
          <a:p>
            <a:pPr marL="12700" marR="116839">
              <a:lnSpc>
                <a:spcPct val="125299"/>
              </a:lnSpc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55" dirty="0">
                <a:latin typeface="Arial Black"/>
                <a:cs typeface="Arial Black"/>
              </a:rPr>
              <a:t>cell</a:t>
            </a:r>
            <a:r>
              <a:rPr sz="1100" spc="-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 </a:t>
            </a:r>
            <a:r>
              <a:rPr sz="1100" spc="-40" dirty="0">
                <a:latin typeface="Arial"/>
                <a:cs typeface="Arial"/>
              </a:rPr>
              <a:t>container</a:t>
            </a:r>
            <a:r>
              <a:rPr sz="1100" dirty="0">
                <a:latin typeface="Arial"/>
                <a:cs typeface="Arial"/>
              </a:rPr>
              <a:t> for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text </a:t>
            </a:r>
            <a:r>
              <a:rPr sz="1100" spc="-10" dirty="0">
                <a:latin typeface="Arial"/>
                <a:cs typeface="Arial"/>
              </a:rPr>
              <a:t>(code)</a:t>
            </a:r>
            <a:r>
              <a:rPr sz="1100" dirty="0">
                <a:latin typeface="Arial"/>
                <a:cs typeface="Arial"/>
              </a:rPr>
              <a:t> 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displayed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 the </a:t>
            </a:r>
            <a:r>
              <a:rPr sz="1100" spc="-10" dirty="0">
                <a:latin typeface="Arial"/>
                <a:cs typeface="Arial"/>
              </a:rPr>
              <a:t>notebook </a:t>
            </a:r>
            <a:r>
              <a:rPr sz="1100" spc="-70" dirty="0">
                <a:latin typeface="Arial"/>
                <a:cs typeface="Arial"/>
              </a:rPr>
              <a:t>Code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executed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notebook’s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kernel</a:t>
            </a:r>
            <a:endParaRPr sz="1100">
              <a:latin typeface="Arial"/>
              <a:cs typeface="Arial"/>
            </a:endParaRPr>
          </a:p>
          <a:p>
            <a:pPr marL="12700" marR="944880">
              <a:lnSpc>
                <a:spcPct val="125299"/>
              </a:lnSpc>
            </a:pPr>
            <a:r>
              <a:rPr sz="1100" spc="-45" dirty="0">
                <a:latin typeface="Arial"/>
                <a:cs typeface="Arial"/>
              </a:rPr>
              <a:t>Type</a:t>
            </a:r>
            <a:r>
              <a:rPr sz="1100" dirty="0">
                <a:latin typeface="Arial"/>
                <a:cs typeface="Arial"/>
              </a:rPr>
              <a:t> in </a:t>
            </a:r>
            <a:r>
              <a:rPr sz="1100" spc="-10" dirty="0">
                <a:latin typeface="Arial"/>
                <a:cs typeface="Arial"/>
              </a:rPr>
              <a:t>cell: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print ("This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dirty="0">
                <a:latin typeface="Arial"/>
                <a:cs typeface="Arial"/>
              </a:rPr>
              <a:t> my first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code</a:t>
            </a:r>
            <a:r>
              <a:rPr sz="1100" dirty="0">
                <a:latin typeface="Arial"/>
                <a:cs typeface="Arial"/>
              </a:rPr>
              <a:t> in </a:t>
            </a:r>
            <a:r>
              <a:rPr sz="1100" spc="-10" dirty="0">
                <a:latin typeface="Arial"/>
                <a:cs typeface="Arial"/>
              </a:rPr>
              <a:t>Python")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execute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code;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press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35" dirty="0">
                <a:latin typeface="Arial Black"/>
                <a:cs typeface="Arial Black"/>
              </a:rPr>
              <a:t>Run</a:t>
            </a:r>
            <a:r>
              <a:rPr sz="1100" spc="-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"/>
                <a:cs typeface="Arial"/>
              </a:rPr>
              <a:t>button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65" dirty="0"/>
              <a:t>Starting</a:t>
            </a:r>
            <a:r>
              <a:rPr spc="150" dirty="0"/>
              <a:t> </a:t>
            </a:r>
            <a:r>
              <a:rPr spc="100" dirty="0"/>
              <a:t>with</a:t>
            </a:r>
            <a:r>
              <a:rPr spc="160" dirty="0"/>
              <a:t> </a:t>
            </a:r>
            <a:r>
              <a:rPr spc="50" dirty="0"/>
              <a:t>Jupyter</a:t>
            </a:r>
            <a:r>
              <a:rPr spc="165" dirty="0"/>
              <a:t> </a:t>
            </a:r>
            <a:r>
              <a:rPr spc="60" dirty="0"/>
              <a:t>Notebook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77825">
              <a:lnSpc>
                <a:spcPct val="102600"/>
              </a:lnSpc>
              <a:spcBef>
                <a:spcPts val="55"/>
              </a:spcBef>
            </a:pPr>
            <a:r>
              <a:rPr spc="-55" dirty="0">
                <a:latin typeface="Arial"/>
                <a:cs typeface="Arial"/>
              </a:rPr>
              <a:t>When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you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press</a:t>
            </a:r>
            <a:r>
              <a:rPr spc="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button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85" dirty="0">
                <a:latin typeface="Arial Black"/>
                <a:cs typeface="Arial Black"/>
              </a:rPr>
              <a:t>Run</a:t>
            </a:r>
            <a:r>
              <a:rPr spc="-85" dirty="0">
                <a:latin typeface="Arial"/>
                <a:cs typeface="Arial"/>
              </a:rPr>
              <a:t>,</a:t>
            </a:r>
            <a:r>
              <a:rPr spc="10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you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run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code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cell,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i.e.</a:t>
            </a:r>
            <a:r>
              <a:rPr spc="7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print </a:t>
            </a:r>
            <a:r>
              <a:rPr i="1" dirty="0">
                <a:latin typeface="Arial"/>
                <a:cs typeface="Arial"/>
              </a:rPr>
              <a:t>("This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is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my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first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60" dirty="0">
                <a:latin typeface="Arial"/>
                <a:cs typeface="Arial"/>
              </a:rPr>
              <a:t>code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in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Python")</a:t>
            </a:r>
          </a:p>
          <a:p>
            <a:pPr marL="12700" marR="143510">
              <a:lnSpc>
                <a:spcPct val="102600"/>
              </a:lnSpc>
              <a:spcBef>
                <a:spcPts val="275"/>
              </a:spcBef>
            </a:pPr>
            <a:r>
              <a:rPr spc="-30" dirty="0">
                <a:latin typeface="Arial"/>
                <a:cs typeface="Arial"/>
              </a:rPr>
              <a:t>Thereafter,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40" dirty="0">
                <a:latin typeface="Arial"/>
                <a:cs typeface="Arial"/>
              </a:rPr>
              <a:t>program’s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output</a:t>
            </a:r>
            <a:r>
              <a:rPr spc="-10" dirty="0">
                <a:latin typeface="Arial"/>
                <a:cs typeface="Arial"/>
              </a:rPr>
              <a:t> is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displayed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below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label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its </a:t>
            </a:r>
            <a:r>
              <a:rPr dirty="0">
                <a:latin typeface="Arial"/>
                <a:cs typeface="Arial"/>
              </a:rPr>
              <a:t>left</a:t>
            </a:r>
            <a:r>
              <a:rPr spc="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will</a:t>
            </a:r>
            <a:r>
              <a:rPr spc="30" dirty="0">
                <a:latin typeface="Arial"/>
                <a:cs typeface="Arial"/>
              </a:rPr>
              <a:t> </a:t>
            </a:r>
            <a:r>
              <a:rPr spc="-70" dirty="0">
                <a:latin typeface="Arial"/>
                <a:cs typeface="Arial"/>
              </a:rPr>
              <a:t>have</a:t>
            </a:r>
            <a:r>
              <a:rPr spc="30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changed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from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[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]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3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[1]</a:t>
            </a:r>
          </a:p>
          <a:p>
            <a:pPr marL="12700" marR="60960">
              <a:lnSpc>
                <a:spcPct val="102600"/>
              </a:lnSpc>
              <a:spcBef>
                <a:spcPts val="270"/>
              </a:spcBef>
            </a:pPr>
            <a:r>
              <a:rPr dirty="0">
                <a:latin typeface="Arial"/>
                <a:cs typeface="Arial"/>
              </a:rPr>
              <a:t>The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label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40" dirty="0">
                <a:latin typeface="Arial"/>
                <a:cs typeface="Arial"/>
              </a:rPr>
              <a:t>number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40" dirty="0">
                <a:latin typeface="Arial"/>
                <a:cs typeface="Arial"/>
              </a:rPr>
              <a:t>indicates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when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5" dirty="0">
                <a:latin typeface="Arial"/>
                <a:cs typeface="Arial"/>
              </a:rPr>
              <a:t> cell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95" dirty="0">
                <a:latin typeface="Arial"/>
                <a:cs typeface="Arial"/>
              </a:rPr>
              <a:t>was</a:t>
            </a:r>
            <a:r>
              <a:rPr spc="20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executed</a:t>
            </a:r>
            <a:r>
              <a:rPr spc="-10" dirty="0">
                <a:latin typeface="Arial"/>
                <a:cs typeface="Arial"/>
              </a:rPr>
              <a:t> on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kernel </a:t>
            </a:r>
            <a:r>
              <a:rPr dirty="0">
                <a:latin typeface="Arial"/>
                <a:cs typeface="Arial"/>
              </a:rPr>
              <a:t>–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your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case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cell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100" dirty="0">
                <a:latin typeface="Arial"/>
                <a:cs typeface="Arial"/>
              </a:rPr>
              <a:t>was</a:t>
            </a:r>
            <a:r>
              <a:rPr spc="25" dirty="0">
                <a:latin typeface="Arial"/>
                <a:cs typeface="Arial"/>
              </a:rPr>
              <a:t> </a:t>
            </a:r>
            <a:r>
              <a:rPr spc="-70" dirty="0">
                <a:latin typeface="Arial"/>
                <a:cs typeface="Arial"/>
              </a:rPr>
              <a:t>executed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once</a:t>
            </a:r>
          </a:p>
          <a:p>
            <a:pPr marL="12700" marR="5080">
              <a:lnSpc>
                <a:spcPct val="102600"/>
              </a:lnSpc>
              <a:spcBef>
                <a:spcPts val="275"/>
              </a:spcBef>
            </a:pPr>
            <a:r>
              <a:rPr dirty="0">
                <a:latin typeface="Arial"/>
                <a:cs typeface="Arial"/>
              </a:rPr>
              <a:t>If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you</a:t>
            </a:r>
            <a:r>
              <a:rPr spc="15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execute</a:t>
            </a:r>
            <a:r>
              <a:rPr spc="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15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code</a:t>
            </a:r>
            <a:r>
              <a:rPr spc="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that</a:t>
            </a:r>
            <a:r>
              <a:rPr spc="1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cell</a:t>
            </a:r>
            <a:r>
              <a:rPr spc="15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again</a:t>
            </a:r>
            <a:r>
              <a:rPr spc="20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(press</a:t>
            </a:r>
            <a:r>
              <a:rPr spc="20" dirty="0">
                <a:latin typeface="Arial"/>
                <a:cs typeface="Arial"/>
              </a:rPr>
              <a:t> </a:t>
            </a:r>
            <a:r>
              <a:rPr spc="-135" dirty="0">
                <a:latin typeface="Arial Black"/>
                <a:cs typeface="Arial Black"/>
              </a:rPr>
              <a:t>Run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spc="-30" dirty="0">
                <a:latin typeface="Arial"/>
                <a:cs typeface="Arial"/>
              </a:rPr>
              <a:t>again),</a:t>
            </a:r>
            <a:r>
              <a:rPr spc="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2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label </a:t>
            </a:r>
            <a:r>
              <a:rPr spc="-40" dirty="0">
                <a:latin typeface="Arial"/>
                <a:cs typeface="Arial"/>
              </a:rPr>
              <a:t>number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will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be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[2]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and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85" dirty="0">
                <a:latin typeface="Arial"/>
                <a:cs typeface="Arial"/>
              </a:rPr>
              <a:t>so</a:t>
            </a:r>
            <a:r>
              <a:rPr spc="1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on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...</a:t>
            </a:r>
          </a:p>
          <a:p>
            <a:pPr marL="12700" marR="174625">
              <a:lnSpc>
                <a:spcPct val="102699"/>
              </a:lnSpc>
              <a:spcBef>
                <a:spcPts val="275"/>
              </a:spcBef>
            </a:pPr>
            <a:r>
              <a:rPr spc="-55" dirty="0">
                <a:latin typeface="Arial"/>
                <a:cs typeface="Arial"/>
              </a:rPr>
              <a:t>You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can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click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130" dirty="0">
                <a:latin typeface="Arial Black"/>
                <a:cs typeface="Arial Black"/>
              </a:rPr>
              <a:t>Insert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spc="-45" dirty="0">
                <a:latin typeface="Arial"/>
                <a:cs typeface="Arial"/>
              </a:rPr>
              <a:t>and</a:t>
            </a:r>
            <a:r>
              <a:rPr spc="20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select</a:t>
            </a:r>
            <a:r>
              <a:rPr spc="25" dirty="0">
                <a:latin typeface="Arial"/>
                <a:cs typeface="Arial"/>
              </a:rPr>
              <a:t> </a:t>
            </a:r>
            <a:r>
              <a:rPr spc="-130" dirty="0">
                <a:latin typeface="Arial Black"/>
                <a:cs typeface="Arial Black"/>
              </a:rPr>
              <a:t>Insert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spc="-120" dirty="0">
                <a:latin typeface="Arial Black"/>
                <a:cs typeface="Arial Black"/>
              </a:rPr>
              <a:t>Cell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spc="-150" dirty="0">
                <a:latin typeface="Arial Black"/>
                <a:cs typeface="Arial Black"/>
              </a:rPr>
              <a:t>Below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20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create</a:t>
            </a:r>
            <a:r>
              <a:rPr spc="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2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new </a:t>
            </a:r>
            <a:r>
              <a:rPr spc="-60" dirty="0">
                <a:latin typeface="Arial"/>
                <a:cs typeface="Arial"/>
              </a:rPr>
              <a:t>code</a:t>
            </a:r>
            <a:r>
              <a:rPr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cell</a:t>
            </a: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pc="-55" dirty="0">
                <a:latin typeface="Arial"/>
                <a:cs typeface="Arial"/>
              </a:rPr>
              <a:t>You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can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40" dirty="0">
                <a:latin typeface="Arial"/>
                <a:cs typeface="Arial"/>
              </a:rPr>
              <a:t>delete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155" dirty="0">
                <a:latin typeface="Arial Black"/>
                <a:cs typeface="Arial Black"/>
              </a:rPr>
              <a:t>cell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dirty="0">
                <a:latin typeface="Arial"/>
                <a:cs typeface="Arial"/>
              </a:rPr>
              <a:t>from</a:t>
            </a:r>
            <a:r>
              <a:rPr spc="10" dirty="0">
                <a:latin typeface="Arial"/>
                <a:cs typeface="Arial"/>
              </a:rPr>
              <a:t> </a:t>
            </a:r>
            <a:r>
              <a:rPr spc="-90" dirty="0">
                <a:latin typeface="Arial Black"/>
                <a:cs typeface="Arial Black"/>
              </a:rPr>
              <a:t>Edit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spc="-45" dirty="0">
                <a:latin typeface="Arial"/>
                <a:cs typeface="Arial"/>
              </a:rPr>
              <a:t>and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114" dirty="0">
                <a:latin typeface="Arial Black"/>
                <a:cs typeface="Arial Black"/>
              </a:rPr>
              <a:t>Delete</a:t>
            </a:r>
            <a:r>
              <a:rPr spc="25" dirty="0">
                <a:latin typeface="Arial Black"/>
                <a:cs typeface="Arial Black"/>
              </a:rPr>
              <a:t> </a:t>
            </a:r>
            <a:r>
              <a:rPr spc="-20" dirty="0">
                <a:latin typeface="Arial Black"/>
                <a:cs typeface="Arial Black"/>
              </a:rPr>
              <a:t>Cell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12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65" dirty="0"/>
              <a:t>Starting</a:t>
            </a:r>
            <a:r>
              <a:rPr spc="165" dirty="0"/>
              <a:t> </a:t>
            </a:r>
            <a:r>
              <a:rPr spc="100" dirty="0"/>
              <a:t>with</a:t>
            </a:r>
            <a:r>
              <a:rPr spc="165" dirty="0"/>
              <a:t> </a:t>
            </a:r>
            <a:r>
              <a:rPr spc="60" dirty="0"/>
              <a:t>Python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3832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30" dirty="0">
                <a:latin typeface="Arial"/>
                <a:cs typeface="Arial"/>
              </a:rPr>
              <a:t>Python.org</a:t>
            </a:r>
            <a:r>
              <a:rPr spc="180" dirty="0">
                <a:latin typeface="Arial"/>
                <a:cs typeface="Arial"/>
              </a:rPr>
              <a:t> </a:t>
            </a:r>
            <a:r>
              <a:rPr spc="-10" dirty="0">
                <a:hlinkClick r:id="rId2"/>
              </a:rPr>
              <a:t>https://www.python.org/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pc="-20" dirty="0">
                <a:latin typeface="Arial"/>
                <a:cs typeface="Arial"/>
              </a:rPr>
              <a:t>Python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Tutorials: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75" dirty="0">
                <a:hlinkClick r:id="rId3"/>
              </a:rPr>
              <a:t>https://docs.python.org/3.8/tutorial/index.html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20" dirty="0">
                <a:latin typeface="Arial"/>
                <a:cs typeface="Arial"/>
              </a:rPr>
              <a:t>Python </a:t>
            </a:r>
            <a:r>
              <a:rPr spc="-25" dirty="0">
                <a:latin typeface="Arial"/>
                <a:cs typeface="Arial"/>
              </a:rPr>
              <a:t>Tutorials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60" dirty="0">
                <a:hlinkClick r:id="rId4"/>
              </a:rPr>
              <a:t>jupyter.org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pc="-30" dirty="0">
                <a:latin typeface="Arial"/>
                <a:cs typeface="Arial"/>
              </a:rPr>
              <a:t>Jupyter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35" dirty="0">
                <a:latin typeface="Arial"/>
                <a:cs typeface="Arial"/>
              </a:rPr>
              <a:t>Notebook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Documentation: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10" dirty="0">
                <a:hlinkClick r:id="rId5"/>
              </a:rPr>
              <a:t>https://jupyter-</a:t>
            </a:r>
            <a:r>
              <a:rPr spc="55" dirty="0">
                <a:hlinkClick r:id="rId5"/>
              </a:rPr>
              <a:t>notebook.readthedocs.io/en/stable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13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726</Words>
  <Application>Microsoft Macintosh PowerPoint</Application>
  <PresentationFormat>Custom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Arial Black</vt:lpstr>
      <vt:lpstr>Arial Narrow</vt:lpstr>
      <vt:lpstr>Palatino Linotype</vt:lpstr>
      <vt:lpstr>Trebuchet MS</vt:lpstr>
      <vt:lpstr>Office Theme</vt:lpstr>
      <vt:lpstr>PowerPoint Presentation</vt:lpstr>
      <vt:lpstr>Overview:  Python</vt:lpstr>
      <vt:lpstr>Overview:  Python</vt:lpstr>
      <vt:lpstr>Overview:  Jupyter Notebook</vt:lpstr>
      <vt:lpstr>Installing  Anaconda</vt:lpstr>
      <vt:lpstr>Starting with Jupyter Notebook</vt:lpstr>
      <vt:lpstr>Starting with Jupyter Notebook</vt:lpstr>
      <vt:lpstr>PowerPoint Presentation</vt:lpstr>
      <vt:lpstr>Starting with Jupyter Notebook</vt:lpstr>
      <vt:lpstr>PowerPoint Presentation</vt:lpstr>
      <vt:lpstr>Starting with Jupyter Notebook</vt:lpstr>
      <vt:lpstr>Starting with Jupyter Notebook</vt:lpstr>
      <vt:lpstr>Starting with Python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Python</dc:title>
  <dc:subject/>
  <dc:creator/>
  <cp:keywords/>
  <dc:description/>
  <cp:lastModifiedBy>Vikas tomer</cp:lastModifiedBy>
  <cp:revision>5</cp:revision>
  <dcterms:created xsi:type="dcterms:W3CDTF">2026-01-04T11:56:57Z</dcterms:created>
  <dcterms:modified xsi:type="dcterms:W3CDTF">2026-01-04T12:29:18Z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2021-09-04T10:00:00Z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2026-01-04T10:00:00Z</vt:filetime>
  </property>
  <property fmtid="{D5CDD505-2E9C-101B-9397-08002B2CF9AE}" pid="5" name="PTEX.Fullbanner">
    <vt:lpwstr>This is pdfTeX, Version 3.14159265-2.6-1.40.21 (TeX Live 2020) kpathsea version 6.3.2</vt:lpwstr>
  </property>
  <property fmtid="{D5CDD505-2E9C-101B-9397-08002B2CF9AE}" pid="6" name="Producer">
    <vt:lpwstr>3-Heights(TM) PDF Security Shell 4.8.25.2 (http://www.pdf-tools.com)</vt:lpwstr>
  </property>
</Properties>
</file>