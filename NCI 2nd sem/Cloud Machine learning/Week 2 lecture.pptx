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1148" r:id="rId2"/>
    <p:sldId id="257" r:id="rId3"/>
    <p:sldId id="258" r:id="rId4"/>
    <p:sldId id="259" r:id="rId5"/>
    <p:sldId id="306" r:id="rId6"/>
    <p:sldId id="334" r:id="rId7"/>
    <p:sldId id="335" r:id="rId8"/>
    <p:sldId id="337" r:id="rId9"/>
    <p:sldId id="338" r:id="rId10"/>
    <p:sldId id="1043" r:id="rId11"/>
    <p:sldId id="1044" r:id="rId12"/>
    <p:sldId id="1045" r:id="rId13"/>
    <p:sldId id="1140" r:id="rId14"/>
    <p:sldId id="1053" r:id="rId15"/>
    <p:sldId id="1055" r:id="rId16"/>
    <p:sldId id="1056" r:id="rId17"/>
    <p:sldId id="1070" r:id="rId18"/>
    <p:sldId id="1127" r:id="rId19"/>
    <p:sldId id="1149" r:id="rId20"/>
    <p:sldId id="298" r:id="rId21"/>
    <p:sldId id="341" r:id="rId22"/>
    <p:sldId id="302" r:id="rId23"/>
    <p:sldId id="303" r:id="rId24"/>
    <p:sldId id="304" r:id="rId25"/>
    <p:sldId id="1151" r:id="rId26"/>
    <p:sldId id="307" r:id="rId27"/>
    <p:sldId id="308" r:id="rId28"/>
    <p:sldId id="314" r:id="rId29"/>
    <p:sldId id="320" r:id="rId30"/>
    <p:sldId id="1153" r:id="rId31"/>
    <p:sldId id="1119" r:id="rId32"/>
    <p:sldId id="1000" r:id="rId33"/>
    <p:sldId id="995" r:id="rId34"/>
    <p:sldId id="1142" r:id="rId35"/>
    <p:sldId id="1152" r:id="rId36"/>
    <p:sldId id="738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35"/>
  </p:normalViewPr>
  <p:slideViewPr>
    <p:cSldViewPr snapToGrid="0">
      <p:cViewPr varScale="1">
        <p:scale>
          <a:sx n="105" d="100"/>
          <a:sy n="105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E69C98-3837-4496-B579-FF93580EE029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3F23352-850A-4252-82F3-1CE788589B38}">
      <dgm:prSet/>
      <dgm:spPr/>
      <dgm:t>
        <a:bodyPr/>
        <a:lstStyle/>
        <a:p>
          <a:r>
            <a:rPr lang="en-US" dirty="0"/>
            <a:t>Data cleaning</a:t>
          </a:r>
        </a:p>
      </dgm:t>
    </dgm:pt>
    <dgm:pt modelId="{DB8825F3-93F0-40DC-8E71-0645687FA579}" type="parTrans" cxnId="{AC570911-D264-4FEA-B5E2-F69F71892DA9}">
      <dgm:prSet/>
      <dgm:spPr/>
      <dgm:t>
        <a:bodyPr/>
        <a:lstStyle/>
        <a:p>
          <a:endParaRPr lang="en-US"/>
        </a:p>
      </dgm:t>
    </dgm:pt>
    <dgm:pt modelId="{2012EDAB-9939-4029-9751-012842956121}" type="sibTrans" cxnId="{AC570911-D264-4FEA-B5E2-F69F71892DA9}">
      <dgm:prSet/>
      <dgm:spPr/>
      <dgm:t>
        <a:bodyPr/>
        <a:lstStyle/>
        <a:p>
          <a:endParaRPr lang="en-US"/>
        </a:p>
      </dgm:t>
    </dgm:pt>
    <dgm:pt modelId="{3B6D1052-F75C-4C28-99FA-85DED208E35E}">
      <dgm:prSet/>
      <dgm:spPr/>
      <dgm:t>
        <a:bodyPr/>
        <a:lstStyle/>
        <a:p>
          <a:r>
            <a:rPr lang="en-US"/>
            <a:t>Fill in missing values, smooth noisy data,  identify or remove outliers, and resolve  inconsistencies</a:t>
          </a:r>
        </a:p>
      </dgm:t>
    </dgm:pt>
    <dgm:pt modelId="{69EB672D-EE26-4800-BFFB-0A31FB730748}" type="parTrans" cxnId="{B262DFCF-9108-4BA2-ABBE-599A079189D6}">
      <dgm:prSet/>
      <dgm:spPr/>
      <dgm:t>
        <a:bodyPr/>
        <a:lstStyle/>
        <a:p>
          <a:endParaRPr lang="en-US"/>
        </a:p>
      </dgm:t>
    </dgm:pt>
    <dgm:pt modelId="{B47BA54A-DA04-4893-BAE3-439819C14346}" type="sibTrans" cxnId="{B262DFCF-9108-4BA2-ABBE-599A079189D6}">
      <dgm:prSet/>
      <dgm:spPr/>
      <dgm:t>
        <a:bodyPr/>
        <a:lstStyle/>
        <a:p>
          <a:endParaRPr lang="en-US"/>
        </a:p>
      </dgm:t>
    </dgm:pt>
    <dgm:pt modelId="{09D84AD7-9915-42A3-8929-206FEE78C6CC}">
      <dgm:prSet/>
      <dgm:spPr/>
      <dgm:t>
        <a:bodyPr/>
        <a:lstStyle/>
        <a:p>
          <a:r>
            <a:rPr lang="en-US"/>
            <a:t>Data integration (if needed)</a:t>
          </a:r>
        </a:p>
      </dgm:t>
    </dgm:pt>
    <dgm:pt modelId="{61949B44-BC22-48F5-9F77-01120E82287D}" type="parTrans" cxnId="{DE8854E3-62B1-484B-82F5-7BB694D8E061}">
      <dgm:prSet/>
      <dgm:spPr/>
      <dgm:t>
        <a:bodyPr/>
        <a:lstStyle/>
        <a:p>
          <a:endParaRPr lang="en-US"/>
        </a:p>
      </dgm:t>
    </dgm:pt>
    <dgm:pt modelId="{58284E62-F197-4EF3-94E7-5FD82434104F}" type="sibTrans" cxnId="{DE8854E3-62B1-484B-82F5-7BB694D8E061}">
      <dgm:prSet/>
      <dgm:spPr/>
      <dgm:t>
        <a:bodyPr/>
        <a:lstStyle/>
        <a:p>
          <a:endParaRPr lang="en-US"/>
        </a:p>
      </dgm:t>
    </dgm:pt>
    <dgm:pt modelId="{B4535B21-5900-47A3-8FB2-EC40BF5E6C75}">
      <dgm:prSet/>
      <dgm:spPr/>
      <dgm:t>
        <a:bodyPr/>
        <a:lstStyle/>
        <a:p>
          <a:r>
            <a:rPr lang="en-US"/>
            <a:t>Integration of multiple databases, data cubes,  or files</a:t>
          </a:r>
        </a:p>
      </dgm:t>
    </dgm:pt>
    <dgm:pt modelId="{C4518FF9-F238-40AB-A554-D35EAF5C7827}" type="parTrans" cxnId="{EB980F2B-6623-4A6E-B4A4-DA76571D2959}">
      <dgm:prSet/>
      <dgm:spPr/>
      <dgm:t>
        <a:bodyPr/>
        <a:lstStyle/>
        <a:p>
          <a:endParaRPr lang="en-US"/>
        </a:p>
      </dgm:t>
    </dgm:pt>
    <dgm:pt modelId="{EEE39625-BD23-462D-BD65-7F1D46C20B65}" type="sibTrans" cxnId="{EB980F2B-6623-4A6E-B4A4-DA76571D2959}">
      <dgm:prSet/>
      <dgm:spPr/>
      <dgm:t>
        <a:bodyPr/>
        <a:lstStyle/>
        <a:p>
          <a:endParaRPr lang="en-US"/>
        </a:p>
      </dgm:t>
    </dgm:pt>
    <dgm:pt modelId="{C443E670-87DF-4117-B1C6-CE095C962E9C}">
      <dgm:prSet/>
      <dgm:spPr/>
      <dgm:t>
        <a:bodyPr/>
        <a:lstStyle/>
        <a:p>
          <a:r>
            <a:rPr lang="en-US"/>
            <a:t>Data transformation</a:t>
          </a:r>
        </a:p>
      </dgm:t>
    </dgm:pt>
    <dgm:pt modelId="{D0A3D80B-DD77-4D8C-9F21-1FB72CAF544B}" type="parTrans" cxnId="{AE2E70B7-A241-4A1D-B775-F766180C9B18}">
      <dgm:prSet/>
      <dgm:spPr/>
      <dgm:t>
        <a:bodyPr/>
        <a:lstStyle/>
        <a:p>
          <a:endParaRPr lang="en-US"/>
        </a:p>
      </dgm:t>
    </dgm:pt>
    <dgm:pt modelId="{80617504-A5B0-48BB-88BA-FA129B060C59}" type="sibTrans" cxnId="{AE2E70B7-A241-4A1D-B775-F766180C9B18}">
      <dgm:prSet/>
      <dgm:spPr/>
      <dgm:t>
        <a:bodyPr/>
        <a:lstStyle/>
        <a:p>
          <a:endParaRPr lang="en-US"/>
        </a:p>
      </dgm:t>
    </dgm:pt>
    <dgm:pt modelId="{12DAF6FD-64E1-4521-8B00-39F8C7A23C95}">
      <dgm:prSet/>
      <dgm:spPr/>
      <dgm:t>
        <a:bodyPr/>
        <a:lstStyle/>
        <a:p>
          <a:r>
            <a:rPr lang="en-US"/>
            <a:t>Normalization and aggregation</a:t>
          </a:r>
        </a:p>
      </dgm:t>
    </dgm:pt>
    <dgm:pt modelId="{9762FC04-0F0F-40D2-9D0D-2D333DC634E7}" type="parTrans" cxnId="{4A1B119B-9E17-4FD4-9D77-10E273CCF9B3}">
      <dgm:prSet/>
      <dgm:spPr/>
      <dgm:t>
        <a:bodyPr/>
        <a:lstStyle/>
        <a:p>
          <a:endParaRPr lang="en-US"/>
        </a:p>
      </dgm:t>
    </dgm:pt>
    <dgm:pt modelId="{195A754E-A600-4753-8AFA-7CD298CF1635}" type="sibTrans" cxnId="{4A1B119B-9E17-4FD4-9D77-10E273CCF9B3}">
      <dgm:prSet/>
      <dgm:spPr/>
      <dgm:t>
        <a:bodyPr/>
        <a:lstStyle/>
        <a:p>
          <a:endParaRPr lang="en-US"/>
        </a:p>
      </dgm:t>
    </dgm:pt>
    <dgm:pt modelId="{B62C4E86-7C34-4B7A-92DC-FDE4D1B8FC41}">
      <dgm:prSet/>
      <dgm:spPr/>
      <dgm:t>
        <a:bodyPr/>
        <a:lstStyle/>
        <a:p>
          <a:r>
            <a:rPr lang="en-US"/>
            <a:t>Data reduction</a:t>
          </a:r>
        </a:p>
      </dgm:t>
    </dgm:pt>
    <dgm:pt modelId="{F2CC9F14-42D1-4459-93D8-7E09C18C9943}" type="parTrans" cxnId="{8F74A3E3-4BAE-4AE4-B640-56180A9CE399}">
      <dgm:prSet/>
      <dgm:spPr/>
      <dgm:t>
        <a:bodyPr/>
        <a:lstStyle/>
        <a:p>
          <a:endParaRPr lang="en-US"/>
        </a:p>
      </dgm:t>
    </dgm:pt>
    <dgm:pt modelId="{0B54B083-896C-42DE-A717-855B2125169F}" type="sibTrans" cxnId="{8F74A3E3-4BAE-4AE4-B640-56180A9CE399}">
      <dgm:prSet/>
      <dgm:spPr/>
      <dgm:t>
        <a:bodyPr/>
        <a:lstStyle/>
        <a:p>
          <a:endParaRPr lang="en-US"/>
        </a:p>
      </dgm:t>
    </dgm:pt>
    <dgm:pt modelId="{C2C509FB-0B2C-420A-87CB-645C6CD5EBD1}">
      <dgm:prSet/>
      <dgm:spPr/>
      <dgm:t>
        <a:bodyPr/>
        <a:lstStyle/>
        <a:p>
          <a:r>
            <a:rPr lang="en-US"/>
            <a:t>Obtains reduced representation in volume but  produces the same or similar analytical results</a:t>
          </a:r>
        </a:p>
      </dgm:t>
    </dgm:pt>
    <dgm:pt modelId="{15DBA52A-0246-4865-BF8E-F536F99127E9}" type="parTrans" cxnId="{8EE84767-3FED-43DD-B482-FCA8893E06C4}">
      <dgm:prSet/>
      <dgm:spPr/>
      <dgm:t>
        <a:bodyPr/>
        <a:lstStyle/>
        <a:p>
          <a:endParaRPr lang="en-US"/>
        </a:p>
      </dgm:t>
    </dgm:pt>
    <dgm:pt modelId="{AE8C7FB5-A7EA-4B51-AD31-1BC0FECC4C8D}" type="sibTrans" cxnId="{8EE84767-3FED-43DD-B482-FCA8893E06C4}">
      <dgm:prSet/>
      <dgm:spPr/>
      <dgm:t>
        <a:bodyPr/>
        <a:lstStyle/>
        <a:p>
          <a:endParaRPr lang="en-US"/>
        </a:p>
      </dgm:t>
    </dgm:pt>
    <dgm:pt modelId="{77924529-EE87-4CB0-81B8-818F311A7B05}">
      <dgm:prSet/>
      <dgm:spPr/>
      <dgm:t>
        <a:bodyPr/>
        <a:lstStyle/>
        <a:p>
          <a:r>
            <a:rPr lang="en-US"/>
            <a:t>Data discretization</a:t>
          </a:r>
        </a:p>
      </dgm:t>
    </dgm:pt>
    <dgm:pt modelId="{4041EB99-0E3A-47DE-88C8-BE65C217E3D9}" type="parTrans" cxnId="{626EF247-307D-42A6-BABB-C6152F1A3213}">
      <dgm:prSet/>
      <dgm:spPr/>
      <dgm:t>
        <a:bodyPr/>
        <a:lstStyle/>
        <a:p>
          <a:endParaRPr lang="en-US"/>
        </a:p>
      </dgm:t>
    </dgm:pt>
    <dgm:pt modelId="{4D953239-45AB-428B-AD10-EDA712053FE5}" type="sibTrans" cxnId="{626EF247-307D-42A6-BABB-C6152F1A3213}">
      <dgm:prSet/>
      <dgm:spPr/>
      <dgm:t>
        <a:bodyPr/>
        <a:lstStyle/>
        <a:p>
          <a:endParaRPr lang="en-US"/>
        </a:p>
      </dgm:t>
    </dgm:pt>
    <dgm:pt modelId="{E4244357-B536-44FE-ADDC-59957A09DBD1}">
      <dgm:prSet/>
      <dgm:spPr/>
      <dgm:t>
        <a:bodyPr/>
        <a:lstStyle/>
        <a:p>
          <a:r>
            <a:rPr lang="en-US" dirty="0"/>
            <a:t>particular importance for numerical data;</a:t>
          </a:r>
        </a:p>
      </dgm:t>
    </dgm:pt>
    <dgm:pt modelId="{B6115E21-53E2-4D7D-AEA8-AB30F963620C}" type="parTrans" cxnId="{C81ED36B-2EB0-432C-A0B7-AAFC94BA7AA7}">
      <dgm:prSet/>
      <dgm:spPr/>
      <dgm:t>
        <a:bodyPr/>
        <a:lstStyle/>
        <a:p>
          <a:endParaRPr lang="en-US"/>
        </a:p>
      </dgm:t>
    </dgm:pt>
    <dgm:pt modelId="{E1186491-2C52-4AD6-B2C2-4F76A887D868}" type="sibTrans" cxnId="{C81ED36B-2EB0-432C-A0B7-AAFC94BA7AA7}">
      <dgm:prSet/>
      <dgm:spPr/>
      <dgm:t>
        <a:bodyPr/>
        <a:lstStyle/>
        <a:p>
          <a:endParaRPr lang="en-US"/>
        </a:p>
      </dgm:t>
    </dgm:pt>
    <dgm:pt modelId="{D05A4185-4C19-40DF-AB4D-87CF00213A85}">
      <dgm:prSet/>
      <dgm:spPr/>
      <dgm:t>
        <a:bodyPr/>
        <a:lstStyle/>
        <a:p>
          <a:r>
            <a:rPr lang="en-US" b="1" dirty="0"/>
            <a:t>reduces the number of values of attributes</a:t>
          </a:r>
          <a:endParaRPr lang="en-US" dirty="0"/>
        </a:p>
      </dgm:t>
    </dgm:pt>
    <dgm:pt modelId="{2008186F-9EBC-42B4-89F3-8D74718C6997}" type="parTrans" cxnId="{EC5F0F14-EC33-450B-83EF-CE22E17F8B41}">
      <dgm:prSet/>
      <dgm:spPr/>
      <dgm:t>
        <a:bodyPr/>
        <a:lstStyle/>
        <a:p>
          <a:endParaRPr lang="en-US"/>
        </a:p>
      </dgm:t>
    </dgm:pt>
    <dgm:pt modelId="{4D48CE60-9AFB-49F7-AD34-27EDAE4B829B}" type="sibTrans" cxnId="{EC5F0F14-EC33-450B-83EF-CE22E17F8B41}">
      <dgm:prSet/>
      <dgm:spPr/>
      <dgm:t>
        <a:bodyPr/>
        <a:lstStyle/>
        <a:p>
          <a:endParaRPr lang="en-US"/>
        </a:p>
      </dgm:t>
    </dgm:pt>
    <dgm:pt modelId="{A4E15209-8068-49FF-8C5C-8523A0DCE089}">
      <dgm:prSet/>
      <dgm:spPr/>
      <dgm:t>
        <a:bodyPr/>
        <a:lstStyle/>
        <a:p>
          <a:r>
            <a:rPr lang="en-US" dirty="0"/>
            <a:t>Often transform quantitative data into  qualitative</a:t>
          </a:r>
        </a:p>
      </dgm:t>
    </dgm:pt>
    <dgm:pt modelId="{E9982635-06AD-4DF1-A274-5D0C1762D0EC}" type="parTrans" cxnId="{2951B356-84B7-4F20-BC65-F661B4B59BDB}">
      <dgm:prSet/>
      <dgm:spPr/>
      <dgm:t>
        <a:bodyPr/>
        <a:lstStyle/>
        <a:p>
          <a:endParaRPr lang="en-IE"/>
        </a:p>
      </dgm:t>
    </dgm:pt>
    <dgm:pt modelId="{061AD2AB-3F33-42F6-A606-23666E3CA8D9}" type="sibTrans" cxnId="{2951B356-84B7-4F20-BC65-F661B4B59BDB}">
      <dgm:prSet/>
      <dgm:spPr/>
      <dgm:t>
        <a:bodyPr/>
        <a:lstStyle/>
        <a:p>
          <a:endParaRPr lang="en-IE"/>
        </a:p>
      </dgm:t>
    </dgm:pt>
    <dgm:pt modelId="{FC7C2D57-402E-5244-B47F-97D337E31A75}" type="pres">
      <dgm:prSet presAssocID="{77E69C98-3837-4496-B579-FF93580EE029}" presName="vert0" presStyleCnt="0">
        <dgm:presLayoutVars>
          <dgm:dir/>
          <dgm:animOne val="branch"/>
          <dgm:animLvl val="lvl"/>
        </dgm:presLayoutVars>
      </dgm:prSet>
      <dgm:spPr/>
    </dgm:pt>
    <dgm:pt modelId="{BC292F0A-74C1-C246-AE73-0330B8892EA1}" type="pres">
      <dgm:prSet presAssocID="{93F23352-850A-4252-82F3-1CE788589B38}" presName="thickLine" presStyleLbl="alignNode1" presStyleIdx="0" presStyleCnt="5"/>
      <dgm:spPr/>
    </dgm:pt>
    <dgm:pt modelId="{C3FF9845-3D17-BA4B-8848-7047FF8AE4D7}" type="pres">
      <dgm:prSet presAssocID="{93F23352-850A-4252-82F3-1CE788589B38}" presName="horz1" presStyleCnt="0"/>
      <dgm:spPr/>
    </dgm:pt>
    <dgm:pt modelId="{A8A05A13-9EA6-0348-A3A8-56F2C5CC8DE1}" type="pres">
      <dgm:prSet presAssocID="{93F23352-850A-4252-82F3-1CE788589B38}" presName="tx1" presStyleLbl="revTx" presStyleIdx="0" presStyleCnt="12"/>
      <dgm:spPr/>
    </dgm:pt>
    <dgm:pt modelId="{C1191282-6FE4-2944-A91C-E5E24E7BA424}" type="pres">
      <dgm:prSet presAssocID="{93F23352-850A-4252-82F3-1CE788589B38}" presName="vert1" presStyleCnt="0"/>
      <dgm:spPr/>
    </dgm:pt>
    <dgm:pt modelId="{A6F64EED-0FD5-1E4F-B52B-8A132E8CEC0D}" type="pres">
      <dgm:prSet presAssocID="{3B6D1052-F75C-4C28-99FA-85DED208E35E}" presName="vertSpace2a" presStyleCnt="0"/>
      <dgm:spPr/>
    </dgm:pt>
    <dgm:pt modelId="{31C6491E-90B4-104E-A30B-79D37A80C7A6}" type="pres">
      <dgm:prSet presAssocID="{3B6D1052-F75C-4C28-99FA-85DED208E35E}" presName="horz2" presStyleCnt="0"/>
      <dgm:spPr/>
    </dgm:pt>
    <dgm:pt modelId="{A65A357C-8377-804D-B1BE-703E96522786}" type="pres">
      <dgm:prSet presAssocID="{3B6D1052-F75C-4C28-99FA-85DED208E35E}" presName="horzSpace2" presStyleCnt="0"/>
      <dgm:spPr/>
    </dgm:pt>
    <dgm:pt modelId="{11D0A99B-421B-0948-942E-32CA39561CD6}" type="pres">
      <dgm:prSet presAssocID="{3B6D1052-F75C-4C28-99FA-85DED208E35E}" presName="tx2" presStyleLbl="revTx" presStyleIdx="1" presStyleCnt="12"/>
      <dgm:spPr/>
    </dgm:pt>
    <dgm:pt modelId="{52B51955-D187-1D41-A173-F99AF18583FD}" type="pres">
      <dgm:prSet presAssocID="{3B6D1052-F75C-4C28-99FA-85DED208E35E}" presName="vert2" presStyleCnt="0"/>
      <dgm:spPr/>
    </dgm:pt>
    <dgm:pt modelId="{D4439722-03E2-E34B-88CD-8EE251803E32}" type="pres">
      <dgm:prSet presAssocID="{3B6D1052-F75C-4C28-99FA-85DED208E35E}" presName="thinLine2b" presStyleLbl="callout" presStyleIdx="0" presStyleCnt="7"/>
      <dgm:spPr/>
    </dgm:pt>
    <dgm:pt modelId="{5F773BBA-A033-FD4A-8387-30E622CE2D68}" type="pres">
      <dgm:prSet presAssocID="{3B6D1052-F75C-4C28-99FA-85DED208E35E}" presName="vertSpace2b" presStyleCnt="0"/>
      <dgm:spPr/>
    </dgm:pt>
    <dgm:pt modelId="{CF710F9D-2977-F443-B57C-1F3BAB932423}" type="pres">
      <dgm:prSet presAssocID="{09D84AD7-9915-42A3-8929-206FEE78C6CC}" presName="thickLine" presStyleLbl="alignNode1" presStyleIdx="1" presStyleCnt="5"/>
      <dgm:spPr/>
    </dgm:pt>
    <dgm:pt modelId="{A7CDC87D-90A2-7D4A-8315-34653A75C82B}" type="pres">
      <dgm:prSet presAssocID="{09D84AD7-9915-42A3-8929-206FEE78C6CC}" presName="horz1" presStyleCnt="0"/>
      <dgm:spPr/>
    </dgm:pt>
    <dgm:pt modelId="{E1468928-C060-3441-B3BD-FFC4D9811FE5}" type="pres">
      <dgm:prSet presAssocID="{09D84AD7-9915-42A3-8929-206FEE78C6CC}" presName="tx1" presStyleLbl="revTx" presStyleIdx="2" presStyleCnt="12"/>
      <dgm:spPr/>
    </dgm:pt>
    <dgm:pt modelId="{42382231-C430-9E40-AD19-45C3087A532E}" type="pres">
      <dgm:prSet presAssocID="{09D84AD7-9915-42A3-8929-206FEE78C6CC}" presName="vert1" presStyleCnt="0"/>
      <dgm:spPr/>
    </dgm:pt>
    <dgm:pt modelId="{B1D8DD00-F49B-E54E-A488-69061E956362}" type="pres">
      <dgm:prSet presAssocID="{B4535B21-5900-47A3-8FB2-EC40BF5E6C75}" presName="vertSpace2a" presStyleCnt="0"/>
      <dgm:spPr/>
    </dgm:pt>
    <dgm:pt modelId="{5EE07C30-F9C1-D54B-8C42-7CA2E9C1E7A5}" type="pres">
      <dgm:prSet presAssocID="{B4535B21-5900-47A3-8FB2-EC40BF5E6C75}" presName="horz2" presStyleCnt="0"/>
      <dgm:spPr/>
    </dgm:pt>
    <dgm:pt modelId="{7B57297B-4803-2742-9372-C675668F1E14}" type="pres">
      <dgm:prSet presAssocID="{B4535B21-5900-47A3-8FB2-EC40BF5E6C75}" presName="horzSpace2" presStyleCnt="0"/>
      <dgm:spPr/>
    </dgm:pt>
    <dgm:pt modelId="{395E51DD-5479-EB45-906E-AA8157C2BD79}" type="pres">
      <dgm:prSet presAssocID="{B4535B21-5900-47A3-8FB2-EC40BF5E6C75}" presName="tx2" presStyleLbl="revTx" presStyleIdx="3" presStyleCnt="12"/>
      <dgm:spPr/>
    </dgm:pt>
    <dgm:pt modelId="{84008F20-FDC7-E444-87F3-61E4A088C930}" type="pres">
      <dgm:prSet presAssocID="{B4535B21-5900-47A3-8FB2-EC40BF5E6C75}" presName="vert2" presStyleCnt="0"/>
      <dgm:spPr/>
    </dgm:pt>
    <dgm:pt modelId="{767BB296-C20C-3F45-8AEF-2BEB5ED4C9CF}" type="pres">
      <dgm:prSet presAssocID="{B4535B21-5900-47A3-8FB2-EC40BF5E6C75}" presName="thinLine2b" presStyleLbl="callout" presStyleIdx="1" presStyleCnt="7"/>
      <dgm:spPr/>
    </dgm:pt>
    <dgm:pt modelId="{E4434716-3FF0-D64D-BFB1-0E763DD93182}" type="pres">
      <dgm:prSet presAssocID="{B4535B21-5900-47A3-8FB2-EC40BF5E6C75}" presName="vertSpace2b" presStyleCnt="0"/>
      <dgm:spPr/>
    </dgm:pt>
    <dgm:pt modelId="{AFEFAF1E-0B0F-1446-A137-341AF261A6D3}" type="pres">
      <dgm:prSet presAssocID="{C443E670-87DF-4117-B1C6-CE095C962E9C}" presName="thickLine" presStyleLbl="alignNode1" presStyleIdx="2" presStyleCnt="5"/>
      <dgm:spPr/>
    </dgm:pt>
    <dgm:pt modelId="{6ACB09AA-DFFD-9746-95E2-A991B17C82C8}" type="pres">
      <dgm:prSet presAssocID="{C443E670-87DF-4117-B1C6-CE095C962E9C}" presName="horz1" presStyleCnt="0"/>
      <dgm:spPr/>
    </dgm:pt>
    <dgm:pt modelId="{92DAFB44-CCE9-9449-97F7-3B60E5625941}" type="pres">
      <dgm:prSet presAssocID="{C443E670-87DF-4117-B1C6-CE095C962E9C}" presName="tx1" presStyleLbl="revTx" presStyleIdx="4" presStyleCnt="12"/>
      <dgm:spPr/>
    </dgm:pt>
    <dgm:pt modelId="{D3196687-147F-F44A-8C5D-B992AF786E09}" type="pres">
      <dgm:prSet presAssocID="{C443E670-87DF-4117-B1C6-CE095C962E9C}" presName="vert1" presStyleCnt="0"/>
      <dgm:spPr/>
    </dgm:pt>
    <dgm:pt modelId="{8F209077-2B6C-824A-97A9-E9E00F9C9B02}" type="pres">
      <dgm:prSet presAssocID="{12DAF6FD-64E1-4521-8B00-39F8C7A23C95}" presName="vertSpace2a" presStyleCnt="0"/>
      <dgm:spPr/>
    </dgm:pt>
    <dgm:pt modelId="{3745A977-D053-D44F-8591-444ADB0D3D41}" type="pres">
      <dgm:prSet presAssocID="{12DAF6FD-64E1-4521-8B00-39F8C7A23C95}" presName="horz2" presStyleCnt="0"/>
      <dgm:spPr/>
    </dgm:pt>
    <dgm:pt modelId="{82D9BB51-1520-0642-A3A3-F8330A2855E7}" type="pres">
      <dgm:prSet presAssocID="{12DAF6FD-64E1-4521-8B00-39F8C7A23C95}" presName="horzSpace2" presStyleCnt="0"/>
      <dgm:spPr/>
    </dgm:pt>
    <dgm:pt modelId="{9DEA016A-18B9-CA4D-8C8D-CF967F1D1431}" type="pres">
      <dgm:prSet presAssocID="{12DAF6FD-64E1-4521-8B00-39F8C7A23C95}" presName="tx2" presStyleLbl="revTx" presStyleIdx="5" presStyleCnt="12"/>
      <dgm:spPr/>
    </dgm:pt>
    <dgm:pt modelId="{08D070AD-FDDE-244E-B288-2B7F1B6D4607}" type="pres">
      <dgm:prSet presAssocID="{12DAF6FD-64E1-4521-8B00-39F8C7A23C95}" presName="vert2" presStyleCnt="0"/>
      <dgm:spPr/>
    </dgm:pt>
    <dgm:pt modelId="{3A4F0F51-6789-794A-A428-7A6F4C0399D6}" type="pres">
      <dgm:prSet presAssocID="{12DAF6FD-64E1-4521-8B00-39F8C7A23C95}" presName="thinLine2b" presStyleLbl="callout" presStyleIdx="2" presStyleCnt="7"/>
      <dgm:spPr/>
    </dgm:pt>
    <dgm:pt modelId="{244CC117-A5A2-DB4B-9153-2A39DEA1DD17}" type="pres">
      <dgm:prSet presAssocID="{12DAF6FD-64E1-4521-8B00-39F8C7A23C95}" presName="vertSpace2b" presStyleCnt="0"/>
      <dgm:spPr/>
    </dgm:pt>
    <dgm:pt modelId="{4CC20C44-B0B6-9E4A-BC72-3860E817DA3C}" type="pres">
      <dgm:prSet presAssocID="{B62C4E86-7C34-4B7A-92DC-FDE4D1B8FC41}" presName="thickLine" presStyleLbl="alignNode1" presStyleIdx="3" presStyleCnt="5"/>
      <dgm:spPr/>
    </dgm:pt>
    <dgm:pt modelId="{93B4D6B9-A860-0249-8A3A-4087D3168644}" type="pres">
      <dgm:prSet presAssocID="{B62C4E86-7C34-4B7A-92DC-FDE4D1B8FC41}" presName="horz1" presStyleCnt="0"/>
      <dgm:spPr/>
    </dgm:pt>
    <dgm:pt modelId="{51F535DA-D099-2A4A-9915-EB45D9D0536D}" type="pres">
      <dgm:prSet presAssocID="{B62C4E86-7C34-4B7A-92DC-FDE4D1B8FC41}" presName="tx1" presStyleLbl="revTx" presStyleIdx="6" presStyleCnt="12"/>
      <dgm:spPr/>
    </dgm:pt>
    <dgm:pt modelId="{B441F681-63BB-144B-9F4C-AC5796D9F366}" type="pres">
      <dgm:prSet presAssocID="{B62C4E86-7C34-4B7A-92DC-FDE4D1B8FC41}" presName="vert1" presStyleCnt="0"/>
      <dgm:spPr/>
    </dgm:pt>
    <dgm:pt modelId="{7C164A00-5C90-3240-A16A-5E61E4A07FF3}" type="pres">
      <dgm:prSet presAssocID="{C2C509FB-0B2C-420A-87CB-645C6CD5EBD1}" presName="vertSpace2a" presStyleCnt="0"/>
      <dgm:spPr/>
    </dgm:pt>
    <dgm:pt modelId="{6BD5753D-ED89-8F49-B855-0F8C1187CA65}" type="pres">
      <dgm:prSet presAssocID="{C2C509FB-0B2C-420A-87CB-645C6CD5EBD1}" presName="horz2" presStyleCnt="0"/>
      <dgm:spPr/>
    </dgm:pt>
    <dgm:pt modelId="{E4DAD060-F376-A845-8A76-0BB33A260240}" type="pres">
      <dgm:prSet presAssocID="{C2C509FB-0B2C-420A-87CB-645C6CD5EBD1}" presName="horzSpace2" presStyleCnt="0"/>
      <dgm:spPr/>
    </dgm:pt>
    <dgm:pt modelId="{ED59C2AE-E3E0-464C-9B56-458E9B2A5E5C}" type="pres">
      <dgm:prSet presAssocID="{C2C509FB-0B2C-420A-87CB-645C6CD5EBD1}" presName="tx2" presStyleLbl="revTx" presStyleIdx="7" presStyleCnt="12"/>
      <dgm:spPr/>
    </dgm:pt>
    <dgm:pt modelId="{0F929B23-2450-1D4C-90C8-AF54194F0454}" type="pres">
      <dgm:prSet presAssocID="{C2C509FB-0B2C-420A-87CB-645C6CD5EBD1}" presName="vert2" presStyleCnt="0"/>
      <dgm:spPr/>
    </dgm:pt>
    <dgm:pt modelId="{25C1074B-5FA3-544F-A839-1E2F42671D16}" type="pres">
      <dgm:prSet presAssocID="{C2C509FB-0B2C-420A-87CB-645C6CD5EBD1}" presName="thinLine2b" presStyleLbl="callout" presStyleIdx="3" presStyleCnt="7"/>
      <dgm:spPr/>
    </dgm:pt>
    <dgm:pt modelId="{DCF8A143-7B35-DE48-A92E-4ABA09B305E9}" type="pres">
      <dgm:prSet presAssocID="{C2C509FB-0B2C-420A-87CB-645C6CD5EBD1}" presName="vertSpace2b" presStyleCnt="0"/>
      <dgm:spPr/>
    </dgm:pt>
    <dgm:pt modelId="{8B0F0805-2EFE-7A4C-8DD7-C2DD5BFA0F55}" type="pres">
      <dgm:prSet presAssocID="{77924529-EE87-4CB0-81B8-818F311A7B05}" presName="thickLine" presStyleLbl="alignNode1" presStyleIdx="4" presStyleCnt="5"/>
      <dgm:spPr/>
    </dgm:pt>
    <dgm:pt modelId="{638A902E-4059-434F-B5CA-F98C95024F20}" type="pres">
      <dgm:prSet presAssocID="{77924529-EE87-4CB0-81B8-818F311A7B05}" presName="horz1" presStyleCnt="0"/>
      <dgm:spPr/>
    </dgm:pt>
    <dgm:pt modelId="{7CC7ADBD-26A4-274E-B555-726C83631EC8}" type="pres">
      <dgm:prSet presAssocID="{77924529-EE87-4CB0-81B8-818F311A7B05}" presName="tx1" presStyleLbl="revTx" presStyleIdx="8" presStyleCnt="12"/>
      <dgm:spPr/>
    </dgm:pt>
    <dgm:pt modelId="{0AE7C2C3-E5D0-5942-9866-4427C22F6C8C}" type="pres">
      <dgm:prSet presAssocID="{77924529-EE87-4CB0-81B8-818F311A7B05}" presName="vert1" presStyleCnt="0"/>
      <dgm:spPr/>
    </dgm:pt>
    <dgm:pt modelId="{B846DCF8-1EDA-9444-A2C6-DE6EB0691159}" type="pres">
      <dgm:prSet presAssocID="{E4244357-B536-44FE-ADDC-59957A09DBD1}" presName="vertSpace2a" presStyleCnt="0"/>
      <dgm:spPr/>
    </dgm:pt>
    <dgm:pt modelId="{9DE70924-2AF9-B545-9535-5E1A9C520539}" type="pres">
      <dgm:prSet presAssocID="{E4244357-B536-44FE-ADDC-59957A09DBD1}" presName="horz2" presStyleCnt="0"/>
      <dgm:spPr/>
    </dgm:pt>
    <dgm:pt modelId="{CC9159F4-EE25-E643-8D27-3AED166CA329}" type="pres">
      <dgm:prSet presAssocID="{E4244357-B536-44FE-ADDC-59957A09DBD1}" presName="horzSpace2" presStyleCnt="0"/>
      <dgm:spPr/>
    </dgm:pt>
    <dgm:pt modelId="{A0DFCF70-8A94-AE40-B24E-1C7732D19FCF}" type="pres">
      <dgm:prSet presAssocID="{E4244357-B536-44FE-ADDC-59957A09DBD1}" presName="tx2" presStyleLbl="revTx" presStyleIdx="9" presStyleCnt="12"/>
      <dgm:spPr/>
    </dgm:pt>
    <dgm:pt modelId="{59531BAA-3959-8A42-A062-7B60090491AB}" type="pres">
      <dgm:prSet presAssocID="{E4244357-B536-44FE-ADDC-59957A09DBD1}" presName="vert2" presStyleCnt="0"/>
      <dgm:spPr/>
    </dgm:pt>
    <dgm:pt modelId="{BCD9C6E5-FE1C-E045-B2A8-205B16797FC4}" type="pres">
      <dgm:prSet presAssocID="{E4244357-B536-44FE-ADDC-59957A09DBD1}" presName="thinLine2b" presStyleLbl="callout" presStyleIdx="4" presStyleCnt="7"/>
      <dgm:spPr/>
    </dgm:pt>
    <dgm:pt modelId="{6B52A9A8-6E7E-5A4D-A8BD-85768079125C}" type="pres">
      <dgm:prSet presAssocID="{E4244357-B536-44FE-ADDC-59957A09DBD1}" presName="vertSpace2b" presStyleCnt="0"/>
      <dgm:spPr/>
    </dgm:pt>
    <dgm:pt modelId="{D751AAC2-8070-134F-BC9E-7442A090CB93}" type="pres">
      <dgm:prSet presAssocID="{D05A4185-4C19-40DF-AB4D-87CF00213A85}" presName="horz2" presStyleCnt="0"/>
      <dgm:spPr/>
    </dgm:pt>
    <dgm:pt modelId="{C49057BD-891A-084D-8CF5-6B141FC2CDAB}" type="pres">
      <dgm:prSet presAssocID="{D05A4185-4C19-40DF-AB4D-87CF00213A85}" presName="horzSpace2" presStyleCnt="0"/>
      <dgm:spPr/>
    </dgm:pt>
    <dgm:pt modelId="{F21A6A0A-8B00-6A49-95CA-793E9C7A55E8}" type="pres">
      <dgm:prSet presAssocID="{D05A4185-4C19-40DF-AB4D-87CF00213A85}" presName="tx2" presStyleLbl="revTx" presStyleIdx="10" presStyleCnt="12"/>
      <dgm:spPr/>
    </dgm:pt>
    <dgm:pt modelId="{0850DBE1-AD81-C547-A3B0-1CD09F613A45}" type="pres">
      <dgm:prSet presAssocID="{D05A4185-4C19-40DF-AB4D-87CF00213A85}" presName="vert2" presStyleCnt="0"/>
      <dgm:spPr/>
    </dgm:pt>
    <dgm:pt modelId="{50251C03-FFA4-5C49-BA4B-6A620A01FB2B}" type="pres">
      <dgm:prSet presAssocID="{D05A4185-4C19-40DF-AB4D-87CF00213A85}" presName="thinLine2b" presStyleLbl="callout" presStyleIdx="5" presStyleCnt="7"/>
      <dgm:spPr/>
    </dgm:pt>
    <dgm:pt modelId="{F655713F-E3F2-654D-8227-A6D72732D7B3}" type="pres">
      <dgm:prSet presAssocID="{D05A4185-4C19-40DF-AB4D-87CF00213A85}" presName="vertSpace2b" presStyleCnt="0"/>
      <dgm:spPr/>
    </dgm:pt>
    <dgm:pt modelId="{38985597-3171-EC45-8D34-056AFF6D0E38}" type="pres">
      <dgm:prSet presAssocID="{A4E15209-8068-49FF-8C5C-8523A0DCE089}" presName="horz2" presStyleCnt="0"/>
      <dgm:spPr/>
    </dgm:pt>
    <dgm:pt modelId="{62A1A1E0-9653-F343-8862-C9DB1F01823C}" type="pres">
      <dgm:prSet presAssocID="{A4E15209-8068-49FF-8C5C-8523A0DCE089}" presName="horzSpace2" presStyleCnt="0"/>
      <dgm:spPr/>
    </dgm:pt>
    <dgm:pt modelId="{2CC57FA3-6B0B-D244-B928-3E57E6C487A9}" type="pres">
      <dgm:prSet presAssocID="{A4E15209-8068-49FF-8C5C-8523A0DCE089}" presName="tx2" presStyleLbl="revTx" presStyleIdx="11" presStyleCnt="12"/>
      <dgm:spPr/>
    </dgm:pt>
    <dgm:pt modelId="{B60C8B81-A66B-B640-8270-0D438EE99D8B}" type="pres">
      <dgm:prSet presAssocID="{A4E15209-8068-49FF-8C5C-8523A0DCE089}" presName="vert2" presStyleCnt="0"/>
      <dgm:spPr/>
    </dgm:pt>
    <dgm:pt modelId="{B216CDC9-B0C5-E341-9EA4-DF5923DA3FBC}" type="pres">
      <dgm:prSet presAssocID="{A4E15209-8068-49FF-8C5C-8523A0DCE089}" presName="thinLine2b" presStyleLbl="callout" presStyleIdx="6" presStyleCnt="7"/>
      <dgm:spPr/>
    </dgm:pt>
    <dgm:pt modelId="{9E4D6E38-AD40-FC43-81AE-D5D472DD5502}" type="pres">
      <dgm:prSet presAssocID="{A4E15209-8068-49FF-8C5C-8523A0DCE089}" presName="vertSpace2b" presStyleCnt="0"/>
      <dgm:spPr/>
    </dgm:pt>
  </dgm:ptLst>
  <dgm:cxnLst>
    <dgm:cxn modelId="{B9FC550F-DE76-7C42-BC7A-89984DA7CA8B}" type="presOf" srcId="{3B6D1052-F75C-4C28-99FA-85DED208E35E}" destId="{11D0A99B-421B-0948-942E-32CA39561CD6}" srcOrd="0" destOrd="0" presId="urn:microsoft.com/office/officeart/2008/layout/LinedList"/>
    <dgm:cxn modelId="{AC570911-D264-4FEA-B5E2-F69F71892DA9}" srcId="{77E69C98-3837-4496-B579-FF93580EE029}" destId="{93F23352-850A-4252-82F3-1CE788589B38}" srcOrd="0" destOrd="0" parTransId="{DB8825F3-93F0-40DC-8E71-0645687FA579}" sibTransId="{2012EDAB-9939-4029-9751-012842956121}"/>
    <dgm:cxn modelId="{EC5F0F14-EC33-450B-83EF-CE22E17F8B41}" srcId="{77924529-EE87-4CB0-81B8-818F311A7B05}" destId="{D05A4185-4C19-40DF-AB4D-87CF00213A85}" srcOrd="1" destOrd="0" parTransId="{2008186F-9EBC-42B4-89F3-8D74718C6997}" sibTransId="{4D48CE60-9AFB-49F7-AD34-27EDAE4B829B}"/>
    <dgm:cxn modelId="{E6106120-CA7F-284E-884A-E7041BBF8D2F}" type="presOf" srcId="{77924529-EE87-4CB0-81B8-818F311A7B05}" destId="{7CC7ADBD-26A4-274E-B555-726C83631EC8}" srcOrd="0" destOrd="0" presId="urn:microsoft.com/office/officeart/2008/layout/LinedList"/>
    <dgm:cxn modelId="{602D2022-223C-DA4E-87D1-812990B0F9CD}" type="presOf" srcId="{77E69C98-3837-4496-B579-FF93580EE029}" destId="{FC7C2D57-402E-5244-B47F-97D337E31A75}" srcOrd="0" destOrd="0" presId="urn:microsoft.com/office/officeart/2008/layout/LinedList"/>
    <dgm:cxn modelId="{EB980F2B-6623-4A6E-B4A4-DA76571D2959}" srcId="{09D84AD7-9915-42A3-8929-206FEE78C6CC}" destId="{B4535B21-5900-47A3-8FB2-EC40BF5E6C75}" srcOrd="0" destOrd="0" parTransId="{C4518FF9-F238-40AB-A554-D35EAF5C7827}" sibTransId="{EEE39625-BD23-462D-BD65-7F1D46C20B65}"/>
    <dgm:cxn modelId="{FB242E2E-C5E5-5D41-B252-5FB128F24746}" type="presOf" srcId="{A4E15209-8068-49FF-8C5C-8523A0DCE089}" destId="{2CC57FA3-6B0B-D244-B928-3E57E6C487A9}" srcOrd="0" destOrd="0" presId="urn:microsoft.com/office/officeart/2008/layout/LinedList"/>
    <dgm:cxn modelId="{CB94CF3E-DBB2-BC4D-BF33-E14212B580E0}" type="presOf" srcId="{E4244357-B536-44FE-ADDC-59957A09DBD1}" destId="{A0DFCF70-8A94-AE40-B24E-1C7732D19FCF}" srcOrd="0" destOrd="0" presId="urn:microsoft.com/office/officeart/2008/layout/LinedList"/>
    <dgm:cxn modelId="{90DE8E44-1023-3F46-855A-D904EC77F6DF}" type="presOf" srcId="{09D84AD7-9915-42A3-8929-206FEE78C6CC}" destId="{E1468928-C060-3441-B3BD-FFC4D9811FE5}" srcOrd="0" destOrd="0" presId="urn:microsoft.com/office/officeart/2008/layout/LinedList"/>
    <dgm:cxn modelId="{626EF247-307D-42A6-BABB-C6152F1A3213}" srcId="{77E69C98-3837-4496-B579-FF93580EE029}" destId="{77924529-EE87-4CB0-81B8-818F311A7B05}" srcOrd="4" destOrd="0" parTransId="{4041EB99-0E3A-47DE-88C8-BE65C217E3D9}" sibTransId="{4D953239-45AB-428B-AD10-EDA712053FE5}"/>
    <dgm:cxn modelId="{2951B356-84B7-4F20-BC65-F661B4B59BDB}" srcId="{77924529-EE87-4CB0-81B8-818F311A7B05}" destId="{A4E15209-8068-49FF-8C5C-8523A0DCE089}" srcOrd="2" destOrd="0" parTransId="{E9982635-06AD-4DF1-A274-5D0C1762D0EC}" sibTransId="{061AD2AB-3F33-42F6-A606-23666E3CA8D9}"/>
    <dgm:cxn modelId="{E4AC135B-741E-A64A-B5D8-6D15EE1F0B00}" type="presOf" srcId="{D05A4185-4C19-40DF-AB4D-87CF00213A85}" destId="{F21A6A0A-8B00-6A49-95CA-793E9C7A55E8}" srcOrd="0" destOrd="0" presId="urn:microsoft.com/office/officeart/2008/layout/LinedList"/>
    <dgm:cxn modelId="{8EE84767-3FED-43DD-B482-FCA8893E06C4}" srcId="{B62C4E86-7C34-4B7A-92DC-FDE4D1B8FC41}" destId="{C2C509FB-0B2C-420A-87CB-645C6CD5EBD1}" srcOrd="0" destOrd="0" parTransId="{15DBA52A-0246-4865-BF8E-F536F99127E9}" sibTransId="{AE8C7FB5-A7EA-4B51-AD31-1BC0FECC4C8D}"/>
    <dgm:cxn modelId="{5FD61C69-8D86-2C49-A59E-0A9DCDD9227B}" type="presOf" srcId="{93F23352-850A-4252-82F3-1CE788589B38}" destId="{A8A05A13-9EA6-0348-A3A8-56F2C5CC8DE1}" srcOrd="0" destOrd="0" presId="urn:microsoft.com/office/officeart/2008/layout/LinedList"/>
    <dgm:cxn modelId="{C81ED36B-2EB0-432C-A0B7-AAFC94BA7AA7}" srcId="{77924529-EE87-4CB0-81B8-818F311A7B05}" destId="{E4244357-B536-44FE-ADDC-59957A09DBD1}" srcOrd="0" destOrd="0" parTransId="{B6115E21-53E2-4D7D-AEA8-AB30F963620C}" sibTransId="{E1186491-2C52-4AD6-B2C2-4F76A887D868}"/>
    <dgm:cxn modelId="{4A1B119B-9E17-4FD4-9D77-10E273CCF9B3}" srcId="{C443E670-87DF-4117-B1C6-CE095C962E9C}" destId="{12DAF6FD-64E1-4521-8B00-39F8C7A23C95}" srcOrd="0" destOrd="0" parTransId="{9762FC04-0F0F-40D2-9D0D-2D333DC634E7}" sibTransId="{195A754E-A600-4753-8AFA-7CD298CF1635}"/>
    <dgm:cxn modelId="{6C4C5FA8-A753-B244-8690-08644F29DF02}" type="presOf" srcId="{12DAF6FD-64E1-4521-8B00-39F8C7A23C95}" destId="{9DEA016A-18B9-CA4D-8C8D-CF967F1D1431}" srcOrd="0" destOrd="0" presId="urn:microsoft.com/office/officeart/2008/layout/LinedList"/>
    <dgm:cxn modelId="{2B619BA9-966A-594C-85D4-FF73B94A06B8}" type="presOf" srcId="{B62C4E86-7C34-4B7A-92DC-FDE4D1B8FC41}" destId="{51F535DA-D099-2A4A-9915-EB45D9D0536D}" srcOrd="0" destOrd="0" presId="urn:microsoft.com/office/officeart/2008/layout/LinedList"/>
    <dgm:cxn modelId="{AE2E70B7-A241-4A1D-B775-F766180C9B18}" srcId="{77E69C98-3837-4496-B579-FF93580EE029}" destId="{C443E670-87DF-4117-B1C6-CE095C962E9C}" srcOrd="2" destOrd="0" parTransId="{D0A3D80B-DD77-4D8C-9F21-1FB72CAF544B}" sibTransId="{80617504-A5B0-48BB-88BA-FA129B060C59}"/>
    <dgm:cxn modelId="{BA6ED8C7-9DC5-2644-B84F-FB0855DDCA38}" type="presOf" srcId="{C2C509FB-0B2C-420A-87CB-645C6CD5EBD1}" destId="{ED59C2AE-E3E0-464C-9B56-458E9B2A5E5C}" srcOrd="0" destOrd="0" presId="urn:microsoft.com/office/officeart/2008/layout/LinedList"/>
    <dgm:cxn modelId="{B262DFCF-9108-4BA2-ABBE-599A079189D6}" srcId="{93F23352-850A-4252-82F3-1CE788589B38}" destId="{3B6D1052-F75C-4C28-99FA-85DED208E35E}" srcOrd="0" destOrd="0" parTransId="{69EB672D-EE26-4800-BFFB-0A31FB730748}" sibTransId="{B47BA54A-DA04-4893-BAE3-439819C14346}"/>
    <dgm:cxn modelId="{4F5A4EE0-E551-6043-8359-02B913ABC1C8}" type="presOf" srcId="{B4535B21-5900-47A3-8FB2-EC40BF5E6C75}" destId="{395E51DD-5479-EB45-906E-AA8157C2BD79}" srcOrd="0" destOrd="0" presId="urn:microsoft.com/office/officeart/2008/layout/LinedList"/>
    <dgm:cxn modelId="{DE8854E3-62B1-484B-82F5-7BB694D8E061}" srcId="{77E69C98-3837-4496-B579-FF93580EE029}" destId="{09D84AD7-9915-42A3-8929-206FEE78C6CC}" srcOrd="1" destOrd="0" parTransId="{61949B44-BC22-48F5-9F77-01120E82287D}" sibTransId="{58284E62-F197-4EF3-94E7-5FD82434104F}"/>
    <dgm:cxn modelId="{8F74A3E3-4BAE-4AE4-B640-56180A9CE399}" srcId="{77E69C98-3837-4496-B579-FF93580EE029}" destId="{B62C4E86-7C34-4B7A-92DC-FDE4D1B8FC41}" srcOrd="3" destOrd="0" parTransId="{F2CC9F14-42D1-4459-93D8-7E09C18C9943}" sibTransId="{0B54B083-896C-42DE-A717-855B2125169F}"/>
    <dgm:cxn modelId="{C0DE9BF3-0A51-C54D-BED3-14A686174380}" type="presOf" srcId="{C443E670-87DF-4117-B1C6-CE095C962E9C}" destId="{92DAFB44-CCE9-9449-97F7-3B60E5625941}" srcOrd="0" destOrd="0" presId="urn:microsoft.com/office/officeart/2008/layout/LinedList"/>
    <dgm:cxn modelId="{DB7295BC-9BEF-EE4B-AC94-3F9D7A833092}" type="presParOf" srcId="{FC7C2D57-402E-5244-B47F-97D337E31A75}" destId="{BC292F0A-74C1-C246-AE73-0330B8892EA1}" srcOrd="0" destOrd="0" presId="urn:microsoft.com/office/officeart/2008/layout/LinedList"/>
    <dgm:cxn modelId="{DE10C0A2-4C9D-FE49-A38E-CAE0E8722B72}" type="presParOf" srcId="{FC7C2D57-402E-5244-B47F-97D337E31A75}" destId="{C3FF9845-3D17-BA4B-8848-7047FF8AE4D7}" srcOrd="1" destOrd="0" presId="urn:microsoft.com/office/officeart/2008/layout/LinedList"/>
    <dgm:cxn modelId="{824749FF-3D6F-EE4B-A055-AEF6AF90CEB6}" type="presParOf" srcId="{C3FF9845-3D17-BA4B-8848-7047FF8AE4D7}" destId="{A8A05A13-9EA6-0348-A3A8-56F2C5CC8DE1}" srcOrd="0" destOrd="0" presId="urn:microsoft.com/office/officeart/2008/layout/LinedList"/>
    <dgm:cxn modelId="{858A04A3-EF1F-D949-9163-52323280817C}" type="presParOf" srcId="{C3FF9845-3D17-BA4B-8848-7047FF8AE4D7}" destId="{C1191282-6FE4-2944-A91C-E5E24E7BA424}" srcOrd="1" destOrd="0" presId="urn:microsoft.com/office/officeart/2008/layout/LinedList"/>
    <dgm:cxn modelId="{44E076AE-E4A4-6A4B-881F-0D30046D9671}" type="presParOf" srcId="{C1191282-6FE4-2944-A91C-E5E24E7BA424}" destId="{A6F64EED-0FD5-1E4F-B52B-8A132E8CEC0D}" srcOrd="0" destOrd="0" presId="urn:microsoft.com/office/officeart/2008/layout/LinedList"/>
    <dgm:cxn modelId="{94CF57A1-6437-9F41-8763-6275E0717CC4}" type="presParOf" srcId="{C1191282-6FE4-2944-A91C-E5E24E7BA424}" destId="{31C6491E-90B4-104E-A30B-79D37A80C7A6}" srcOrd="1" destOrd="0" presId="urn:microsoft.com/office/officeart/2008/layout/LinedList"/>
    <dgm:cxn modelId="{6E7DFB04-1611-F742-81B2-1FD0AD0DD966}" type="presParOf" srcId="{31C6491E-90B4-104E-A30B-79D37A80C7A6}" destId="{A65A357C-8377-804D-B1BE-703E96522786}" srcOrd="0" destOrd="0" presId="urn:microsoft.com/office/officeart/2008/layout/LinedList"/>
    <dgm:cxn modelId="{872BCEB3-EBD7-7543-B609-C5AB6F49147C}" type="presParOf" srcId="{31C6491E-90B4-104E-A30B-79D37A80C7A6}" destId="{11D0A99B-421B-0948-942E-32CA39561CD6}" srcOrd="1" destOrd="0" presId="urn:microsoft.com/office/officeart/2008/layout/LinedList"/>
    <dgm:cxn modelId="{14DC44EA-47E3-7447-AC01-6B80EEF2006C}" type="presParOf" srcId="{31C6491E-90B4-104E-A30B-79D37A80C7A6}" destId="{52B51955-D187-1D41-A173-F99AF18583FD}" srcOrd="2" destOrd="0" presId="urn:microsoft.com/office/officeart/2008/layout/LinedList"/>
    <dgm:cxn modelId="{4ACC92F3-73CF-A14D-AFC6-A95230BF9E48}" type="presParOf" srcId="{C1191282-6FE4-2944-A91C-E5E24E7BA424}" destId="{D4439722-03E2-E34B-88CD-8EE251803E32}" srcOrd="2" destOrd="0" presId="urn:microsoft.com/office/officeart/2008/layout/LinedList"/>
    <dgm:cxn modelId="{BBCFB787-9D1C-DD48-9DCE-E9013DDB92CD}" type="presParOf" srcId="{C1191282-6FE4-2944-A91C-E5E24E7BA424}" destId="{5F773BBA-A033-FD4A-8387-30E622CE2D68}" srcOrd="3" destOrd="0" presId="urn:microsoft.com/office/officeart/2008/layout/LinedList"/>
    <dgm:cxn modelId="{20609F56-AF2A-3840-B4AA-A4D31D484C00}" type="presParOf" srcId="{FC7C2D57-402E-5244-B47F-97D337E31A75}" destId="{CF710F9D-2977-F443-B57C-1F3BAB932423}" srcOrd="2" destOrd="0" presId="urn:microsoft.com/office/officeart/2008/layout/LinedList"/>
    <dgm:cxn modelId="{54BFAC86-BF48-7C48-BD50-644E66676C77}" type="presParOf" srcId="{FC7C2D57-402E-5244-B47F-97D337E31A75}" destId="{A7CDC87D-90A2-7D4A-8315-34653A75C82B}" srcOrd="3" destOrd="0" presId="urn:microsoft.com/office/officeart/2008/layout/LinedList"/>
    <dgm:cxn modelId="{6E138F32-320D-1E48-907B-4C6CC277D423}" type="presParOf" srcId="{A7CDC87D-90A2-7D4A-8315-34653A75C82B}" destId="{E1468928-C060-3441-B3BD-FFC4D9811FE5}" srcOrd="0" destOrd="0" presId="urn:microsoft.com/office/officeart/2008/layout/LinedList"/>
    <dgm:cxn modelId="{236A33D8-2002-6E4A-AA6F-96C92C79A6DE}" type="presParOf" srcId="{A7CDC87D-90A2-7D4A-8315-34653A75C82B}" destId="{42382231-C430-9E40-AD19-45C3087A532E}" srcOrd="1" destOrd="0" presId="urn:microsoft.com/office/officeart/2008/layout/LinedList"/>
    <dgm:cxn modelId="{7405A6AE-3BF0-1849-BB13-F9F33EA0BD97}" type="presParOf" srcId="{42382231-C430-9E40-AD19-45C3087A532E}" destId="{B1D8DD00-F49B-E54E-A488-69061E956362}" srcOrd="0" destOrd="0" presId="urn:microsoft.com/office/officeart/2008/layout/LinedList"/>
    <dgm:cxn modelId="{D0AAC689-23B0-C145-BAA2-05E4850070C9}" type="presParOf" srcId="{42382231-C430-9E40-AD19-45C3087A532E}" destId="{5EE07C30-F9C1-D54B-8C42-7CA2E9C1E7A5}" srcOrd="1" destOrd="0" presId="urn:microsoft.com/office/officeart/2008/layout/LinedList"/>
    <dgm:cxn modelId="{0614F5CA-0568-1F4F-A14C-436D2A444A50}" type="presParOf" srcId="{5EE07C30-F9C1-D54B-8C42-7CA2E9C1E7A5}" destId="{7B57297B-4803-2742-9372-C675668F1E14}" srcOrd="0" destOrd="0" presId="urn:microsoft.com/office/officeart/2008/layout/LinedList"/>
    <dgm:cxn modelId="{93CC3BB4-7088-F346-8D93-A58761ADE2D7}" type="presParOf" srcId="{5EE07C30-F9C1-D54B-8C42-7CA2E9C1E7A5}" destId="{395E51DD-5479-EB45-906E-AA8157C2BD79}" srcOrd="1" destOrd="0" presId="urn:microsoft.com/office/officeart/2008/layout/LinedList"/>
    <dgm:cxn modelId="{E543CA14-3CD5-6548-A2CE-9FA8247CC94F}" type="presParOf" srcId="{5EE07C30-F9C1-D54B-8C42-7CA2E9C1E7A5}" destId="{84008F20-FDC7-E444-87F3-61E4A088C930}" srcOrd="2" destOrd="0" presId="urn:microsoft.com/office/officeart/2008/layout/LinedList"/>
    <dgm:cxn modelId="{A4112412-6252-F94C-BB6E-43FE967A377D}" type="presParOf" srcId="{42382231-C430-9E40-AD19-45C3087A532E}" destId="{767BB296-C20C-3F45-8AEF-2BEB5ED4C9CF}" srcOrd="2" destOrd="0" presId="urn:microsoft.com/office/officeart/2008/layout/LinedList"/>
    <dgm:cxn modelId="{D97BE5C7-7069-3E42-A7BF-375E558F1BBB}" type="presParOf" srcId="{42382231-C430-9E40-AD19-45C3087A532E}" destId="{E4434716-3FF0-D64D-BFB1-0E763DD93182}" srcOrd="3" destOrd="0" presId="urn:microsoft.com/office/officeart/2008/layout/LinedList"/>
    <dgm:cxn modelId="{27B6E5DC-510F-834A-8D34-CA1A483CCC46}" type="presParOf" srcId="{FC7C2D57-402E-5244-B47F-97D337E31A75}" destId="{AFEFAF1E-0B0F-1446-A137-341AF261A6D3}" srcOrd="4" destOrd="0" presId="urn:microsoft.com/office/officeart/2008/layout/LinedList"/>
    <dgm:cxn modelId="{EFB1A4D3-F912-7E48-B69C-47DCCFF02B75}" type="presParOf" srcId="{FC7C2D57-402E-5244-B47F-97D337E31A75}" destId="{6ACB09AA-DFFD-9746-95E2-A991B17C82C8}" srcOrd="5" destOrd="0" presId="urn:microsoft.com/office/officeart/2008/layout/LinedList"/>
    <dgm:cxn modelId="{594A0118-45DB-F546-ACB5-FD22B0CEE167}" type="presParOf" srcId="{6ACB09AA-DFFD-9746-95E2-A991B17C82C8}" destId="{92DAFB44-CCE9-9449-97F7-3B60E5625941}" srcOrd="0" destOrd="0" presId="urn:microsoft.com/office/officeart/2008/layout/LinedList"/>
    <dgm:cxn modelId="{4B0088FA-566B-4144-99F9-072560065596}" type="presParOf" srcId="{6ACB09AA-DFFD-9746-95E2-A991B17C82C8}" destId="{D3196687-147F-F44A-8C5D-B992AF786E09}" srcOrd="1" destOrd="0" presId="urn:microsoft.com/office/officeart/2008/layout/LinedList"/>
    <dgm:cxn modelId="{2CD4C701-D98B-1445-89DF-B91A87BAC848}" type="presParOf" srcId="{D3196687-147F-F44A-8C5D-B992AF786E09}" destId="{8F209077-2B6C-824A-97A9-E9E00F9C9B02}" srcOrd="0" destOrd="0" presId="urn:microsoft.com/office/officeart/2008/layout/LinedList"/>
    <dgm:cxn modelId="{2F9E4F3F-8D0B-0447-B08F-8B6C08390F41}" type="presParOf" srcId="{D3196687-147F-F44A-8C5D-B992AF786E09}" destId="{3745A977-D053-D44F-8591-444ADB0D3D41}" srcOrd="1" destOrd="0" presId="urn:microsoft.com/office/officeart/2008/layout/LinedList"/>
    <dgm:cxn modelId="{A6D4ED42-FA51-A149-A0F8-662532CF3B46}" type="presParOf" srcId="{3745A977-D053-D44F-8591-444ADB0D3D41}" destId="{82D9BB51-1520-0642-A3A3-F8330A2855E7}" srcOrd="0" destOrd="0" presId="urn:microsoft.com/office/officeart/2008/layout/LinedList"/>
    <dgm:cxn modelId="{ECBC106C-1E50-7C47-894E-A7835630A898}" type="presParOf" srcId="{3745A977-D053-D44F-8591-444ADB0D3D41}" destId="{9DEA016A-18B9-CA4D-8C8D-CF967F1D1431}" srcOrd="1" destOrd="0" presId="urn:microsoft.com/office/officeart/2008/layout/LinedList"/>
    <dgm:cxn modelId="{F103B882-B976-4E47-B358-44BC55CD956E}" type="presParOf" srcId="{3745A977-D053-D44F-8591-444ADB0D3D41}" destId="{08D070AD-FDDE-244E-B288-2B7F1B6D4607}" srcOrd="2" destOrd="0" presId="urn:microsoft.com/office/officeart/2008/layout/LinedList"/>
    <dgm:cxn modelId="{567EB402-80BC-754F-86B6-9EDC8CDB34AB}" type="presParOf" srcId="{D3196687-147F-F44A-8C5D-B992AF786E09}" destId="{3A4F0F51-6789-794A-A428-7A6F4C0399D6}" srcOrd="2" destOrd="0" presId="urn:microsoft.com/office/officeart/2008/layout/LinedList"/>
    <dgm:cxn modelId="{81D2B5CF-0B46-A744-9906-D7619E6C6A9E}" type="presParOf" srcId="{D3196687-147F-F44A-8C5D-B992AF786E09}" destId="{244CC117-A5A2-DB4B-9153-2A39DEA1DD17}" srcOrd="3" destOrd="0" presId="urn:microsoft.com/office/officeart/2008/layout/LinedList"/>
    <dgm:cxn modelId="{D636601B-92B8-CA45-9056-171C291A442F}" type="presParOf" srcId="{FC7C2D57-402E-5244-B47F-97D337E31A75}" destId="{4CC20C44-B0B6-9E4A-BC72-3860E817DA3C}" srcOrd="6" destOrd="0" presId="urn:microsoft.com/office/officeart/2008/layout/LinedList"/>
    <dgm:cxn modelId="{6BE13EFE-2712-FD4C-8224-435527C36785}" type="presParOf" srcId="{FC7C2D57-402E-5244-B47F-97D337E31A75}" destId="{93B4D6B9-A860-0249-8A3A-4087D3168644}" srcOrd="7" destOrd="0" presId="urn:microsoft.com/office/officeart/2008/layout/LinedList"/>
    <dgm:cxn modelId="{F91AB9B0-62E3-A04F-B45A-97DACB662961}" type="presParOf" srcId="{93B4D6B9-A860-0249-8A3A-4087D3168644}" destId="{51F535DA-D099-2A4A-9915-EB45D9D0536D}" srcOrd="0" destOrd="0" presId="urn:microsoft.com/office/officeart/2008/layout/LinedList"/>
    <dgm:cxn modelId="{5797F2E9-18B3-2048-A748-965F85BEF507}" type="presParOf" srcId="{93B4D6B9-A860-0249-8A3A-4087D3168644}" destId="{B441F681-63BB-144B-9F4C-AC5796D9F366}" srcOrd="1" destOrd="0" presId="urn:microsoft.com/office/officeart/2008/layout/LinedList"/>
    <dgm:cxn modelId="{8C9DB6AD-9349-9748-9FB2-751733B8F10B}" type="presParOf" srcId="{B441F681-63BB-144B-9F4C-AC5796D9F366}" destId="{7C164A00-5C90-3240-A16A-5E61E4A07FF3}" srcOrd="0" destOrd="0" presId="urn:microsoft.com/office/officeart/2008/layout/LinedList"/>
    <dgm:cxn modelId="{5C40CE35-CA74-9048-9C05-4E03B2E154AD}" type="presParOf" srcId="{B441F681-63BB-144B-9F4C-AC5796D9F366}" destId="{6BD5753D-ED89-8F49-B855-0F8C1187CA65}" srcOrd="1" destOrd="0" presId="urn:microsoft.com/office/officeart/2008/layout/LinedList"/>
    <dgm:cxn modelId="{63B075F9-6709-AD41-BA78-5FFCEBE8D559}" type="presParOf" srcId="{6BD5753D-ED89-8F49-B855-0F8C1187CA65}" destId="{E4DAD060-F376-A845-8A76-0BB33A260240}" srcOrd="0" destOrd="0" presId="urn:microsoft.com/office/officeart/2008/layout/LinedList"/>
    <dgm:cxn modelId="{7BBD575C-1BB2-4445-B269-4ED4342FC1C1}" type="presParOf" srcId="{6BD5753D-ED89-8F49-B855-0F8C1187CA65}" destId="{ED59C2AE-E3E0-464C-9B56-458E9B2A5E5C}" srcOrd="1" destOrd="0" presId="urn:microsoft.com/office/officeart/2008/layout/LinedList"/>
    <dgm:cxn modelId="{9C3D66D7-8E37-8A41-A169-CD27EB1D840A}" type="presParOf" srcId="{6BD5753D-ED89-8F49-B855-0F8C1187CA65}" destId="{0F929B23-2450-1D4C-90C8-AF54194F0454}" srcOrd="2" destOrd="0" presId="urn:microsoft.com/office/officeart/2008/layout/LinedList"/>
    <dgm:cxn modelId="{F9F623C7-2A5B-D449-AA35-F5CEC0A25681}" type="presParOf" srcId="{B441F681-63BB-144B-9F4C-AC5796D9F366}" destId="{25C1074B-5FA3-544F-A839-1E2F42671D16}" srcOrd="2" destOrd="0" presId="urn:microsoft.com/office/officeart/2008/layout/LinedList"/>
    <dgm:cxn modelId="{B0CD4496-A6F7-324F-A125-D711277BF40C}" type="presParOf" srcId="{B441F681-63BB-144B-9F4C-AC5796D9F366}" destId="{DCF8A143-7B35-DE48-A92E-4ABA09B305E9}" srcOrd="3" destOrd="0" presId="urn:microsoft.com/office/officeart/2008/layout/LinedList"/>
    <dgm:cxn modelId="{514CF008-87A8-C344-BFC2-33E8DE0036A9}" type="presParOf" srcId="{FC7C2D57-402E-5244-B47F-97D337E31A75}" destId="{8B0F0805-2EFE-7A4C-8DD7-C2DD5BFA0F55}" srcOrd="8" destOrd="0" presId="urn:microsoft.com/office/officeart/2008/layout/LinedList"/>
    <dgm:cxn modelId="{D7140723-4D1B-974E-835D-AA866D807BFB}" type="presParOf" srcId="{FC7C2D57-402E-5244-B47F-97D337E31A75}" destId="{638A902E-4059-434F-B5CA-F98C95024F20}" srcOrd="9" destOrd="0" presId="urn:microsoft.com/office/officeart/2008/layout/LinedList"/>
    <dgm:cxn modelId="{FCA8BDFD-9B86-E649-A45A-324ACCDC68C2}" type="presParOf" srcId="{638A902E-4059-434F-B5CA-F98C95024F20}" destId="{7CC7ADBD-26A4-274E-B555-726C83631EC8}" srcOrd="0" destOrd="0" presId="urn:microsoft.com/office/officeart/2008/layout/LinedList"/>
    <dgm:cxn modelId="{E06B552B-CB13-9648-930C-80531B667A15}" type="presParOf" srcId="{638A902E-4059-434F-B5CA-F98C95024F20}" destId="{0AE7C2C3-E5D0-5942-9866-4427C22F6C8C}" srcOrd="1" destOrd="0" presId="urn:microsoft.com/office/officeart/2008/layout/LinedList"/>
    <dgm:cxn modelId="{A9B78D4A-7400-A641-83B2-1AA341D98D27}" type="presParOf" srcId="{0AE7C2C3-E5D0-5942-9866-4427C22F6C8C}" destId="{B846DCF8-1EDA-9444-A2C6-DE6EB0691159}" srcOrd="0" destOrd="0" presId="urn:microsoft.com/office/officeart/2008/layout/LinedList"/>
    <dgm:cxn modelId="{7EDFB344-7717-F846-A9E8-E963AF3F89EA}" type="presParOf" srcId="{0AE7C2C3-E5D0-5942-9866-4427C22F6C8C}" destId="{9DE70924-2AF9-B545-9535-5E1A9C520539}" srcOrd="1" destOrd="0" presId="urn:microsoft.com/office/officeart/2008/layout/LinedList"/>
    <dgm:cxn modelId="{B49E4AE0-50AE-9540-A135-EDE713637AAC}" type="presParOf" srcId="{9DE70924-2AF9-B545-9535-5E1A9C520539}" destId="{CC9159F4-EE25-E643-8D27-3AED166CA329}" srcOrd="0" destOrd="0" presId="urn:microsoft.com/office/officeart/2008/layout/LinedList"/>
    <dgm:cxn modelId="{1E6D0F67-293E-3E4B-B30E-8C08F12183C7}" type="presParOf" srcId="{9DE70924-2AF9-B545-9535-5E1A9C520539}" destId="{A0DFCF70-8A94-AE40-B24E-1C7732D19FCF}" srcOrd="1" destOrd="0" presId="urn:microsoft.com/office/officeart/2008/layout/LinedList"/>
    <dgm:cxn modelId="{87C47336-F5DA-9147-94B6-59F09B94A48D}" type="presParOf" srcId="{9DE70924-2AF9-B545-9535-5E1A9C520539}" destId="{59531BAA-3959-8A42-A062-7B60090491AB}" srcOrd="2" destOrd="0" presId="urn:microsoft.com/office/officeart/2008/layout/LinedList"/>
    <dgm:cxn modelId="{456E623B-8939-9A4F-8C23-B8FF55D189F3}" type="presParOf" srcId="{0AE7C2C3-E5D0-5942-9866-4427C22F6C8C}" destId="{BCD9C6E5-FE1C-E045-B2A8-205B16797FC4}" srcOrd="2" destOrd="0" presId="urn:microsoft.com/office/officeart/2008/layout/LinedList"/>
    <dgm:cxn modelId="{5BA3680B-2D4B-EC4E-B189-2FFED5AD2111}" type="presParOf" srcId="{0AE7C2C3-E5D0-5942-9866-4427C22F6C8C}" destId="{6B52A9A8-6E7E-5A4D-A8BD-85768079125C}" srcOrd="3" destOrd="0" presId="urn:microsoft.com/office/officeart/2008/layout/LinedList"/>
    <dgm:cxn modelId="{64C7DAC0-F111-DD41-880C-CB0B44025CB9}" type="presParOf" srcId="{0AE7C2C3-E5D0-5942-9866-4427C22F6C8C}" destId="{D751AAC2-8070-134F-BC9E-7442A090CB93}" srcOrd="4" destOrd="0" presId="urn:microsoft.com/office/officeart/2008/layout/LinedList"/>
    <dgm:cxn modelId="{2CB2493B-80EE-7D4F-B93D-4298C476236F}" type="presParOf" srcId="{D751AAC2-8070-134F-BC9E-7442A090CB93}" destId="{C49057BD-891A-084D-8CF5-6B141FC2CDAB}" srcOrd="0" destOrd="0" presId="urn:microsoft.com/office/officeart/2008/layout/LinedList"/>
    <dgm:cxn modelId="{4A4C3C6C-E732-5A4C-A7AA-C0AC7B73F75D}" type="presParOf" srcId="{D751AAC2-8070-134F-BC9E-7442A090CB93}" destId="{F21A6A0A-8B00-6A49-95CA-793E9C7A55E8}" srcOrd="1" destOrd="0" presId="urn:microsoft.com/office/officeart/2008/layout/LinedList"/>
    <dgm:cxn modelId="{E2FD9DCB-9ED9-8F4D-AF22-D12A1BB06E41}" type="presParOf" srcId="{D751AAC2-8070-134F-BC9E-7442A090CB93}" destId="{0850DBE1-AD81-C547-A3B0-1CD09F613A45}" srcOrd="2" destOrd="0" presId="urn:microsoft.com/office/officeart/2008/layout/LinedList"/>
    <dgm:cxn modelId="{F1097350-0AD6-C44C-95D4-3C8FC63237F3}" type="presParOf" srcId="{0AE7C2C3-E5D0-5942-9866-4427C22F6C8C}" destId="{50251C03-FFA4-5C49-BA4B-6A620A01FB2B}" srcOrd="5" destOrd="0" presId="urn:microsoft.com/office/officeart/2008/layout/LinedList"/>
    <dgm:cxn modelId="{590E0103-F05C-204C-B992-8E91477EA37A}" type="presParOf" srcId="{0AE7C2C3-E5D0-5942-9866-4427C22F6C8C}" destId="{F655713F-E3F2-654D-8227-A6D72732D7B3}" srcOrd="6" destOrd="0" presId="urn:microsoft.com/office/officeart/2008/layout/LinedList"/>
    <dgm:cxn modelId="{A316032F-E63A-B84F-9971-741682999954}" type="presParOf" srcId="{0AE7C2C3-E5D0-5942-9866-4427C22F6C8C}" destId="{38985597-3171-EC45-8D34-056AFF6D0E38}" srcOrd="7" destOrd="0" presId="urn:microsoft.com/office/officeart/2008/layout/LinedList"/>
    <dgm:cxn modelId="{2FDA7FFC-5250-6F4F-B314-8BE33BAF5EA1}" type="presParOf" srcId="{38985597-3171-EC45-8D34-056AFF6D0E38}" destId="{62A1A1E0-9653-F343-8862-C9DB1F01823C}" srcOrd="0" destOrd="0" presId="urn:microsoft.com/office/officeart/2008/layout/LinedList"/>
    <dgm:cxn modelId="{15DC59E3-86FE-CA45-BFE8-99628F5E8B76}" type="presParOf" srcId="{38985597-3171-EC45-8D34-056AFF6D0E38}" destId="{2CC57FA3-6B0B-D244-B928-3E57E6C487A9}" srcOrd="1" destOrd="0" presId="urn:microsoft.com/office/officeart/2008/layout/LinedList"/>
    <dgm:cxn modelId="{68E40583-67CB-7545-9CCE-6F910E618CBF}" type="presParOf" srcId="{38985597-3171-EC45-8D34-056AFF6D0E38}" destId="{B60C8B81-A66B-B640-8270-0D438EE99D8B}" srcOrd="2" destOrd="0" presId="urn:microsoft.com/office/officeart/2008/layout/LinedList"/>
    <dgm:cxn modelId="{42689B92-2FFF-8546-8D2C-D6855FDD6FEC}" type="presParOf" srcId="{0AE7C2C3-E5D0-5942-9866-4427C22F6C8C}" destId="{B216CDC9-B0C5-E341-9EA4-DF5923DA3FBC}" srcOrd="8" destOrd="0" presId="urn:microsoft.com/office/officeart/2008/layout/LinedList"/>
    <dgm:cxn modelId="{1B878067-4951-7C43-AAC0-23D5D86F4B0A}" type="presParOf" srcId="{0AE7C2C3-E5D0-5942-9866-4427C22F6C8C}" destId="{9E4D6E38-AD40-FC43-81AE-D5D472DD5502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292F0A-74C1-C246-AE73-0330B8892EA1}">
      <dsp:nvSpPr>
        <dsp:cNvPr id="0" name=""/>
        <dsp:cNvSpPr/>
      </dsp:nvSpPr>
      <dsp:spPr>
        <a:xfrm>
          <a:off x="0" y="506"/>
          <a:ext cx="517063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A05A13-9EA6-0348-A3A8-56F2C5CC8DE1}">
      <dsp:nvSpPr>
        <dsp:cNvPr id="0" name=""/>
        <dsp:cNvSpPr/>
      </dsp:nvSpPr>
      <dsp:spPr>
        <a:xfrm>
          <a:off x="0" y="506"/>
          <a:ext cx="1034127" cy="82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Data cleaning</a:t>
          </a:r>
        </a:p>
      </dsp:txBody>
      <dsp:txXfrm>
        <a:off x="0" y="506"/>
        <a:ext cx="1034127" cy="829456"/>
      </dsp:txXfrm>
    </dsp:sp>
    <dsp:sp modelId="{11D0A99B-421B-0948-942E-32CA39561CD6}">
      <dsp:nvSpPr>
        <dsp:cNvPr id="0" name=""/>
        <dsp:cNvSpPr/>
      </dsp:nvSpPr>
      <dsp:spPr>
        <a:xfrm>
          <a:off x="1111686" y="38172"/>
          <a:ext cx="4058949" cy="753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Fill in missing values, smooth noisy data,  identify or remove outliers, and resolve  inconsistencies</a:t>
          </a:r>
        </a:p>
      </dsp:txBody>
      <dsp:txXfrm>
        <a:off x="1111686" y="38172"/>
        <a:ext cx="4058949" cy="753315"/>
      </dsp:txXfrm>
    </dsp:sp>
    <dsp:sp modelId="{D4439722-03E2-E34B-88CD-8EE251803E32}">
      <dsp:nvSpPr>
        <dsp:cNvPr id="0" name=""/>
        <dsp:cNvSpPr/>
      </dsp:nvSpPr>
      <dsp:spPr>
        <a:xfrm>
          <a:off x="1034127" y="791487"/>
          <a:ext cx="413650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710F9D-2977-F443-B57C-1F3BAB932423}">
      <dsp:nvSpPr>
        <dsp:cNvPr id="0" name=""/>
        <dsp:cNvSpPr/>
      </dsp:nvSpPr>
      <dsp:spPr>
        <a:xfrm>
          <a:off x="0" y="829963"/>
          <a:ext cx="5170636" cy="0"/>
        </a:xfrm>
        <a:prstGeom prst="line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68928-C060-3441-B3BD-FFC4D9811FE5}">
      <dsp:nvSpPr>
        <dsp:cNvPr id="0" name=""/>
        <dsp:cNvSpPr/>
      </dsp:nvSpPr>
      <dsp:spPr>
        <a:xfrm>
          <a:off x="0" y="829963"/>
          <a:ext cx="1034127" cy="82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Data integration (if needed)</a:t>
          </a:r>
        </a:p>
      </dsp:txBody>
      <dsp:txXfrm>
        <a:off x="0" y="829963"/>
        <a:ext cx="1034127" cy="829456"/>
      </dsp:txXfrm>
    </dsp:sp>
    <dsp:sp modelId="{395E51DD-5479-EB45-906E-AA8157C2BD79}">
      <dsp:nvSpPr>
        <dsp:cNvPr id="0" name=""/>
        <dsp:cNvSpPr/>
      </dsp:nvSpPr>
      <dsp:spPr>
        <a:xfrm>
          <a:off x="1111686" y="867628"/>
          <a:ext cx="4058949" cy="753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Integration of multiple databases, data cubes,  or files</a:t>
          </a:r>
        </a:p>
      </dsp:txBody>
      <dsp:txXfrm>
        <a:off x="1111686" y="867628"/>
        <a:ext cx="4058949" cy="753315"/>
      </dsp:txXfrm>
    </dsp:sp>
    <dsp:sp modelId="{767BB296-C20C-3F45-8AEF-2BEB5ED4C9CF}">
      <dsp:nvSpPr>
        <dsp:cNvPr id="0" name=""/>
        <dsp:cNvSpPr/>
      </dsp:nvSpPr>
      <dsp:spPr>
        <a:xfrm>
          <a:off x="1034127" y="1620943"/>
          <a:ext cx="413650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EFAF1E-0B0F-1446-A137-341AF261A6D3}">
      <dsp:nvSpPr>
        <dsp:cNvPr id="0" name=""/>
        <dsp:cNvSpPr/>
      </dsp:nvSpPr>
      <dsp:spPr>
        <a:xfrm>
          <a:off x="0" y="1659419"/>
          <a:ext cx="5170636" cy="0"/>
        </a:xfrm>
        <a:prstGeom prst="line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DAFB44-CCE9-9449-97F7-3B60E5625941}">
      <dsp:nvSpPr>
        <dsp:cNvPr id="0" name=""/>
        <dsp:cNvSpPr/>
      </dsp:nvSpPr>
      <dsp:spPr>
        <a:xfrm>
          <a:off x="0" y="1659419"/>
          <a:ext cx="1034127" cy="82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Data transformation</a:t>
          </a:r>
        </a:p>
      </dsp:txBody>
      <dsp:txXfrm>
        <a:off x="0" y="1659419"/>
        <a:ext cx="1034127" cy="829456"/>
      </dsp:txXfrm>
    </dsp:sp>
    <dsp:sp modelId="{9DEA016A-18B9-CA4D-8C8D-CF967F1D1431}">
      <dsp:nvSpPr>
        <dsp:cNvPr id="0" name=""/>
        <dsp:cNvSpPr/>
      </dsp:nvSpPr>
      <dsp:spPr>
        <a:xfrm>
          <a:off x="1111686" y="1697085"/>
          <a:ext cx="4058949" cy="753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Normalization and aggregation</a:t>
          </a:r>
        </a:p>
      </dsp:txBody>
      <dsp:txXfrm>
        <a:off x="1111686" y="1697085"/>
        <a:ext cx="4058949" cy="753315"/>
      </dsp:txXfrm>
    </dsp:sp>
    <dsp:sp modelId="{3A4F0F51-6789-794A-A428-7A6F4C0399D6}">
      <dsp:nvSpPr>
        <dsp:cNvPr id="0" name=""/>
        <dsp:cNvSpPr/>
      </dsp:nvSpPr>
      <dsp:spPr>
        <a:xfrm>
          <a:off x="1034127" y="2450400"/>
          <a:ext cx="413650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C20C44-B0B6-9E4A-BC72-3860E817DA3C}">
      <dsp:nvSpPr>
        <dsp:cNvPr id="0" name=""/>
        <dsp:cNvSpPr/>
      </dsp:nvSpPr>
      <dsp:spPr>
        <a:xfrm>
          <a:off x="0" y="2488876"/>
          <a:ext cx="5170636" cy="0"/>
        </a:xfrm>
        <a:prstGeom prst="line">
          <a:avLst/>
        </a:prstGeom>
        <a:solidFill>
          <a:schemeClr val="accent2">
            <a:hueOff val="4832709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09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F535DA-D099-2A4A-9915-EB45D9D0536D}">
      <dsp:nvSpPr>
        <dsp:cNvPr id="0" name=""/>
        <dsp:cNvSpPr/>
      </dsp:nvSpPr>
      <dsp:spPr>
        <a:xfrm>
          <a:off x="0" y="2488876"/>
          <a:ext cx="1034127" cy="82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Data reduction</a:t>
          </a:r>
        </a:p>
      </dsp:txBody>
      <dsp:txXfrm>
        <a:off x="0" y="2488876"/>
        <a:ext cx="1034127" cy="829456"/>
      </dsp:txXfrm>
    </dsp:sp>
    <dsp:sp modelId="{ED59C2AE-E3E0-464C-9B56-458E9B2A5E5C}">
      <dsp:nvSpPr>
        <dsp:cNvPr id="0" name=""/>
        <dsp:cNvSpPr/>
      </dsp:nvSpPr>
      <dsp:spPr>
        <a:xfrm>
          <a:off x="1111686" y="2526542"/>
          <a:ext cx="4058949" cy="753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Obtains reduced representation in volume but  produces the same or similar analytical results</a:t>
          </a:r>
        </a:p>
      </dsp:txBody>
      <dsp:txXfrm>
        <a:off x="1111686" y="2526542"/>
        <a:ext cx="4058949" cy="753315"/>
      </dsp:txXfrm>
    </dsp:sp>
    <dsp:sp modelId="{25C1074B-5FA3-544F-A839-1E2F42671D16}">
      <dsp:nvSpPr>
        <dsp:cNvPr id="0" name=""/>
        <dsp:cNvSpPr/>
      </dsp:nvSpPr>
      <dsp:spPr>
        <a:xfrm>
          <a:off x="1034127" y="3279857"/>
          <a:ext cx="413650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0F0805-2EFE-7A4C-8DD7-C2DD5BFA0F55}">
      <dsp:nvSpPr>
        <dsp:cNvPr id="0" name=""/>
        <dsp:cNvSpPr/>
      </dsp:nvSpPr>
      <dsp:spPr>
        <a:xfrm>
          <a:off x="0" y="3318332"/>
          <a:ext cx="5170636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C7ADBD-26A4-274E-B555-726C83631EC8}">
      <dsp:nvSpPr>
        <dsp:cNvPr id="0" name=""/>
        <dsp:cNvSpPr/>
      </dsp:nvSpPr>
      <dsp:spPr>
        <a:xfrm>
          <a:off x="0" y="3318332"/>
          <a:ext cx="1034127" cy="82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Data discretization</a:t>
          </a:r>
        </a:p>
      </dsp:txBody>
      <dsp:txXfrm>
        <a:off x="0" y="3318332"/>
        <a:ext cx="1034127" cy="829456"/>
      </dsp:txXfrm>
    </dsp:sp>
    <dsp:sp modelId="{A0DFCF70-8A94-AE40-B24E-1C7732D19FCF}">
      <dsp:nvSpPr>
        <dsp:cNvPr id="0" name=""/>
        <dsp:cNvSpPr/>
      </dsp:nvSpPr>
      <dsp:spPr>
        <a:xfrm>
          <a:off x="1111686" y="3331293"/>
          <a:ext cx="4058949" cy="2592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particular importance for numerical data;</a:t>
          </a:r>
        </a:p>
      </dsp:txBody>
      <dsp:txXfrm>
        <a:off x="1111686" y="3331293"/>
        <a:ext cx="4058949" cy="259205"/>
      </dsp:txXfrm>
    </dsp:sp>
    <dsp:sp modelId="{BCD9C6E5-FE1C-E045-B2A8-205B16797FC4}">
      <dsp:nvSpPr>
        <dsp:cNvPr id="0" name=""/>
        <dsp:cNvSpPr/>
      </dsp:nvSpPr>
      <dsp:spPr>
        <a:xfrm>
          <a:off x="1034127" y="3590498"/>
          <a:ext cx="413650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1A6A0A-8B00-6A49-95CA-793E9C7A55E8}">
      <dsp:nvSpPr>
        <dsp:cNvPr id="0" name=""/>
        <dsp:cNvSpPr/>
      </dsp:nvSpPr>
      <dsp:spPr>
        <a:xfrm>
          <a:off x="1111686" y="3603458"/>
          <a:ext cx="4058949" cy="2592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reduces the number of values of attributes</a:t>
          </a:r>
          <a:endParaRPr lang="en-US" sz="1100" kern="1200" dirty="0"/>
        </a:p>
      </dsp:txBody>
      <dsp:txXfrm>
        <a:off x="1111686" y="3603458"/>
        <a:ext cx="4058949" cy="259205"/>
      </dsp:txXfrm>
    </dsp:sp>
    <dsp:sp modelId="{50251C03-FFA4-5C49-BA4B-6A620A01FB2B}">
      <dsp:nvSpPr>
        <dsp:cNvPr id="0" name=""/>
        <dsp:cNvSpPr/>
      </dsp:nvSpPr>
      <dsp:spPr>
        <a:xfrm>
          <a:off x="1034127" y="3862663"/>
          <a:ext cx="413650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C57FA3-6B0B-D244-B928-3E57E6C487A9}">
      <dsp:nvSpPr>
        <dsp:cNvPr id="0" name=""/>
        <dsp:cNvSpPr/>
      </dsp:nvSpPr>
      <dsp:spPr>
        <a:xfrm>
          <a:off x="1111686" y="3875624"/>
          <a:ext cx="4058949" cy="2592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Often transform quantitative data into  qualitative</a:t>
          </a:r>
        </a:p>
      </dsp:txBody>
      <dsp:txXfrm>
        <a:off x="1111686" y="3875624"/>
        <a:ext cx="4058949" cy="259205"/>
      </dsp:txXfrm>
    </dsp:sp>
    <dsp:sp modelId="{B216CDC9-B0C5-E341-9EA4-DF5923DA3FBC}">
      <dsp:nvSpPr>
        <dsp:cNvPr id="0" name=""/>
        <dsp:cNvSpPr/>
      </dsp:nvSpPr>
      <dsp:spPr>
        <a:xfrm>
          <a:off x="1034127" y="4134829"/>
          <a:ext cx="413650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7AE511-91AF-704E-9772-6172E8ADAFBE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8F1B6-8294-9C47-AE87-49599CB45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487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A0EEDBD0-C322-A7BD-A2B8-87AED5FB95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7F888E4-6E01-5F4B-898D-FBFBC8B2A6C0}" type="slidenum">
              <a:rPr lang="en-US" altLang="en-US" sz="1200">
                <a:latin typeface="Times New Roman" panose="02020603050405020304" pitchFamily="18" charset="0"/>
              </a:rPr>
              <a:pPr/>
              <a:t>10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5834CCE7-3600-C602-65E0-8DE25FA24A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2150"/>
            <a:ext cx="6157912" cy="3463925"/>
          </a:xfrm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B0C47788-17DE-8EF4-AFAF-6A43A90DE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5336436B-D9CE-3A07-FB96-F5CF658716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E554033-7A87-4049-9983-816BFF86AD93}" type="slidenum">
              <a:rPr lang="en-US" altLang="en-US" sz="1200">
                <a:latin typeface="Times New Roman" panose="02020603050405020304" pitchFamily="18" charset="0"/>
              </a:rPr>
              <a:pPr/>
              <a:t>11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D05033DB-03A0-2B57-AC0C-60FB8FD666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2150"/>
            <a:ext cx="6157912" cy="3463925"/>
          </a:xfrm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C7747EA3-DFE2-A740-8014-27F6987DAE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6687D90B-36F6-C058-EE99-F731DCF8D3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331A37A-0378-C349-88F6-0159C1AE10AD}" type="slidenum">
              <a:rPr lang="en-US" altLang="en-US" sz="1200">
                <a:latin typeface="Times New Roman" panose="02020603050405020304" pitchFamily="18" charset="0"/>
              </a:rPr>
              <a:pPr/>
              <a:t>12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279807A7-682A-209E-E70F-E6C3DE6D7E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2150"/>
            <a:ext cx="6157912" cy="3463925"/>
          </a:xfrm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73D4561C-D3F9-2C0B-41B3-DC98753E0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4F504C15-0C81-0148-D8AB-39721DDD868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037F529E-A1FE-604C-81E7-6F6EBD090192}" type="slidenum">
              <a:rPr lang="en-US" altLang="en-US" sz="1200">
                <a:latin typeface="Times New Roman" panose="02020603050405020304" pitchFamily="18" charset="0"/>
              </a:rPr>
              <a:pPr algn="r"/>
              <a:t>13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4A594346-C702-5E00-76BB-6D6E6BED9C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2150"/>
            <a:ext cx="6157912" cy="3463925"/>
          </a:xfrm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6AE3F717-E1E7-4CAC-0D5B-8B61A96CBA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336998D9-1DA7-DBDD-8604-078CC84A1C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82297E0-D1B4-D143-B2CF-7D0FD4AE0449}" type="slidenum">
              <a:rPr lang="en-US" altLang="en-US" sz="1200">
                <a:latin typeface="Times New Roman" panose="02020603050405020304" pitchFamily="18" charset="0"/>
              </a:rPr>
              <a:pPr/>
              <a:t>14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7F371E08-7A39-A0DB-50D9-7658E59C98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2150"/>
            <a:ext cx="6157912" cy="3463925"/>
          </a:xfrm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BF6FD00A-528B-48F6-A772-A6D3D8B153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3802512A-0DC6-BF0A-39C4-BF42581F8B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915964A-599A-4244-866A-83875221E4E4}" type="slidenum">
              <a:rPr lang="en-US" altLang="en-US" sz="1200">
                <a:latin typeface="Times New Roman" panose="02020603050405020304" pitchFamily="18" charset="0"/>
              </a:rPr>
              <a:pPr/>
              <a:t>15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BE742D4-BBC3-D2A7-31CB-736E3DE21B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2150"/>
            <a:ext cx="6157912" cy="3463925"/>
          </a:xfrm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2C27A105-F31F-3CCE-4965-4296C5A3B9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53CF0E21-4FFC-5E1C-E882-60E8C4B103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C29059A-47D3-2D43-81A1-F9C45FE17D80}" type="slidenum">
              <a:rPr lang="en-US" altLang="en-US" sz="1200">
                <a:latin typeface="Times New Roman" panose="02020603050405020304" pitchFamily="18" charset="0"/>
              </a:rPr>
              <a:pPr/>
              <a:t>16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967B9983-7FFA-EB3A-CA59-5E4632220B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2150"/>
            <a:ext cx="6157912" cy="3463925"/>
          </a:xfrm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0B53A807-ACAE-784E-F88D-A898DB2302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F3645B2D-DE9D-C7C9-826F-1DBBCC83D8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FF17DC21-B664-4DAD-3E07-A8906CB09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E4155171-19B3-D204-7128-0C4BBC0F71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700088"/>
            <a:ext cx="6132513" cy="3449637"/>
          </a:xfrm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743F3593-2172-B5F0-8AF4-970CB55345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7850"/>
            <a:ext cx="5141913" cy="415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CB24D145-90C5-E5ED-635B-A168F9E037E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9A7E79B1-A8DF-7E4F-AB5C-2C8553DF4113}" type="slidenum">
              <a:rPr lang="en-US" altLang="en-US" sz="1200">
                <a:latin typeface="Times New Roman" panose="02020603050405020304" pitchFamily="18" charset="0"/>
              </a:rPr>
              <a:pPr algn="r"/>
              <a:t>31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97E285B8-E570-0202-0587-75DB834488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2150"/>
            <a:ext cx="6157912" cy="3463925"/>
          </a:xfrm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A66359D1-AF0F-FAC4-8974-E208D10B45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D5B4B100-056B-AA0C-3F27-5DF2442B7B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9EC6C13-0666-2E4C-986D-E40A037770F9}" type="slidenum">
              <a:rPr lang="en-US" altLang="en-US" sz="1200">
                <a:latin typeface="Times New Roman" panose="02020603050405020304" pitchFamily="18" charset="0"/>
              </a:rPr>
              <a:pPr/>
              <a:t>32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12AE27A5-D99E-55CC-7FA6-4F9CDCDD6B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2150"/>
            <a:ext cx="6157912" cy="3463925"/>
          </a:xfrm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40E63D02-2C56-8255-EA1A-48AF81BEDB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CF745EB4-E869-04F8-2848-8CD26C4D97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4547052-C625-744B-8B1D-4F0EC69E66B7}" type="slidenum">
              <a:rPr lang="en-US" altLang="en-US" sz="1200">
                <a:latin typeface="Times New Roman" panose="02020603050405020304" pitchFamily="18" charset="0"/>
              </a:rPr>
              <a:pPr/>
              <a:t>33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68E335F2-EC46-3191-6E1F-9C165528DF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2150"/>
            <a:ext cx="6157912" cy="3463925"/>
          </a:xfrm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FB437537-B700-5E12-E3DD-D527E11CC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6E4EA91D-3031-AC8F-3468-94393FA4F7F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62141AFE-54EE-A24B-BA8F-B63AFAFBDA8D}" type="slidenum">
              <a:rPr lang="en-US" altLang="en-US" sz="1200">
                <a:latin typeface="Times New Roman" panose="02020603050405020304" pitchFamily="18" charset="0"/>
              </a:rPr>
              <a:pPr algn="r"/>
              <a:t>34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6B77DE71-234A-C570-765F-9B6F892952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2150"/>
            <a:ext cx="6157912" cy="3463925"/>
          </a:xfrm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B1E0FBD4-F3E4-3449-2844-1D5BC36DC2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EB4826D7-EA16-9313-7E2F-717054E1DD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F94DD30-486C-8D42-957D-E853EF3982B1}" type="slidenum">
              <a:rPr lang="en-US" altLang="en-US" sz="1200">
                <a:latin typeface="Times New Roman" panose="02020603050405020304" pitchFamily="18" charset="0"/>
              </a:rPr>
              <a:pPr/>
              <a:t>36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568AE7A7-4CD5-586E-43D1-34B4EA89DE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A5693291-225A-9B56-D023-0128E3C11D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A265E-F543-BF61-C77E-DB7151A88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0A596-6E0C-DAD3-752A-A180F85C0B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16D2E-DC8D-1A67-1E0C-B39CD898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D55B6-5781-AD45-BA47-243F6DC28401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E62D3-9BE6-1C52-8227-C8119B1DB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DE54F-44CB-3ED2-340C-F8E0B916E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1E1B-A9CD-7142-BCDC-C2E4E9CBF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C015D-D6C8-4547-0682-DFB2D8987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8D460-0C14-BFA3-FE7C-3D8AE8E24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211C0-9CDA-2367-9102-2C4D2CBCF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D55B6-5781-AD45-BA47-243F6DC28401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5212A-4944-FB5D-4769-D7EAF4D8B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E29C1-D00F-3C05-2D36-B4713BBAB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1E1B-A9CD-7142-BCDC-C2E4E9CBF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02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688F-8F1B-8CED-05B1-366DFF1B0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132CB-628B-8391-47BE-EDB850E7A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83AA5-1419-49BF-473D-44798009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D55B6-5781-AD45-BA47-243F6DC28401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8749A-1A4A-FAB8-5EDA-B6DC0FDCD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FE30E-690C-65E2-2C69-CCBDC3343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1E1B-A9CD-7142-BCDC-C2E4E9CBF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EF6A9-1183-0CC2-6D6B-1EB181456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649F2-6084-D64A-D39B-8EE18C948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2533C-732A-25D1-56E4-F4B00F9D4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FD190-B11E-2A11-5E32-C745B5FA9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D55B6-5781-AD45-BA47-243F6DC28401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ACF1A-6A6E-92C1-BD18-50CFA368F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91707-E26C-FF46-001D-EEC408BC8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1E1B-A9CD-7142-BCDC-C2E4E9CBF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61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83CD2-D6B0-E496-3FE1-95BDF84F7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5046F-7362-D013-7191-8921F8AE0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714FA-E021-B444-EE29-8CD36D609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FB0693-271E-A83C-3B15-36978E559E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8087B3-CEA4-5A14-8284-4F6A3428A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D74472-6F6E-1254-044E-AA3BD1A3E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D55B6-5781-AD45-BA47-243F6DC28401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BE033-47E1-55E4-F8C6-BD34A1E1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15FF38-DC92-A0E9-E464-E1C89C0F4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1E1B-A9CD-7142-BCDC-C2E4E9CBF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0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DD612-02E3-A234-CEF4-83C79E81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53055D-CB07-2E1F-124B-B359FFB1B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D55B6-5781-AD45-BA47-243F6DC28401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1F108D-47E4-3893-59FE-0E3B100A1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C56F6-A0DE-814F-FAEB-262D0968C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1E1B-A9CD-7142-BCDC-C2E4E9CBF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731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FFF05F-7FE4-33F7-B1D0-C26F564AB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D55B6-5781-AD45-BA47-243F6DC28401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0C5F62-88A4-D087-6A8C-8E0945141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BAEC5-3326-0C45-26DE-C16E7F74F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1E1B-A9CD-7142-BCDC-C2E4E9CBF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9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38491-4BA8-028F-8D00-3387D5C63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40ED6-8F73-A7D6-A3BA-B8164820F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D3E17-1121-EA91-2FBE-A7D9A95BE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BDEAC-5AD8-D0B9-C133-5DBD76298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D55B6-5781-AD45-BA47-243F6DC28401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F8BF5-7545-F6BD-CA38-F9F5BCC2B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B16BF-1B7F-524D-BC28-ACDCA6B3B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1E1B-A9CD-7142-BCDC-C2E4E9CBF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16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7B4D6-A832-16DB-70B5-246E5FB35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3C37C6-6AC6-9A12-702D-CCF64D2593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B1831-5790-DD0A-B675-708D6593C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E19A5-B2DD-7778-8D09-78B72F25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D55B6-5781-AD45-BA47-243F6DC28401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F8BDF-B4D5-2529-5AD1-F687147EB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146D2-5F8E-5472-B5FD-BEA1B774B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1E1B-A9CD-7142-BCDC-C2E4E9CBF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4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0E1B1-2728-AB10-4F77-5CD5D197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E7EDF-3890-9DEC-7EDA-E27F3E87E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BEF0A-5E1F-9F27-4BCD-6723B4AAC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D55B6-5781-AD45-BA47-243F6DC28401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C11A5-7F68-5A76-080F-93B62C257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57509-CE85-3494-D09D-AFD0B239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1E1B-A9CD-7142-BCDC-C2E4E9CBF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825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C97976-582B-24DD-B192-CE96F02D1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704D6-B481-2B41-E51F-BEE17D939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935C3-6B48-CF4C-8135-F17DF3D89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D55B6-5781-AD45-BA47-243F6DC28401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85380-95C3-88E4-6268-529FABCAA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56CCC-12E3-412A-6DAB-7DDD3F687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1E1B-A9CD-7142-BCDC-C2E4E9CBF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06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1" y="304800"/>
            <a:ext cx="11684001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1" y="1295401"/>
            <a:ext cx="5486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96001" y="1295399"/>
            <a:ext cx="5486400" cy="2514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1" y="3962399"/>
            <a:ext cx="5486400" cy="2514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59">
            <a:extLst>
              <a:ext uri="{FF2B5EF4-FFF2-40B4-BE49-F238E27FC236}">
                <a16:creationId xmlns:a16="http://schemas.microsoft.com/office/drawing/2014/main" id="{659D21C2-798D-9FF4-7980-17D3C063B2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85507-7B91-2548-B292-F0DC0978961F}" type="datetime1">
              <a:rPr lang="en-US"/>
              <a:pPr>
                <a:defRPr/>
              </a:pPr>
              <a:t>1/28/26</a:t>
            </a:fld>
            <a:endParaRPr lang="en-US"/>
          </a:p>
        </p:txBody>
      </p:sp>
      <p:sp>
        <p:nvSpPr>
          <p:cNvPr id="7" name="Rectangle 2060">
            <a:extLst>
              <a:ext uri="{FF2B5EF4-FFF2-40B4-BE49-F238E27FC236}">
                <a16:creationId xmlns:a16="http://schemas.microsoft.com/office/drawing/2014/main" id="{E103767A-8C09-0EBF-2F1D-777B55B813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8" name="Rectangle 2061">
            <a:extLst>
              <a:ext uri="{FF2B5EF4-FFF2-40B4-BE49-F238E27FC236}">
                <a16:creationId xmlns:a16="http://schemas.microsoft.com/office/drawing/2014/main" id="{338B8472-678D-1E95-78E3-1D44FE104B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5DA181-0AF7-974B-83B1-19C029A75D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9569216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0E3F71-8048-92EA-A316-5E5CC9C3D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1EB84-CD75-FBF9-47E0-64D120B7A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D020E-ECDF-BBC7-A26C-A7EA92FA09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D55B6-5781-AD45-BA47-243F6DC28401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B830C-F2F0-7966-C4E2-68F03B887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EA9CF-08F5-7380-C34C-09F48C820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481E1B-A9CD-7142-BCDC-C2E4E9CBF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463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e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1.emf"/><Relationship Id="rId4" Type="http://schemas.openxmlformats.org/officeDocument/2006/relationships/image" Target="../media/image8.e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3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6E2F3-679F-D950-FBBE-CBEB71ACF1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63317-F516-E96E-2AC9-CF2F70CE63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2</a:t>
            </a:r>
          </a:p>
        </p:txBody>
      </p:sp>
    </p:spTree>
    <p:extLst>
      <p:ext uri="{BB962C8B-B14F-4D97-AF65-F5344CB8AC3E}">
        <p14:creationId xmlns:p14="http://schemas.microsoft.com/office/powerpoint/2010/main" val="3869335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Pre-processing is a key step in Knowledge Discovery in Databases (KDD) that prepares raw data for effective data mining.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9D5A9C-117C-501A-1BFB-DDB5039D11A4}"/>
              </a:ext>
            </a:extLst>
          </p:cNvPr>
          <p:cNvSpPr txBox="1"/>
          <p:nvPr/>
        </p:nvSpPr>
        <p:spPr>
          <a:xfrm>
            <a:off x="6778127" y="5800819"/>
            <a:ext cx="3564117" cy="6460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6821"/>
            <a:r>
              <a:rPr lang="en-IN" sz="1799" b="1" dirty="0">
                <a:solidFill>
                  <a:prstClr val="black"/>
                </a:solidFill>
                <a:latin typeface="Calibri"/>
              </a:rPr>
              <a:t>Han, J., Kamber, M., &amp; Pei, J. (2012)</a:t>
            </a:r>
            <a:br>
              <a:rPr lang="en-IN" sz="1799" dirty="0">
                <a:solidFill>
                  <a:prstClr val="black"/>
                </a:solidFill>
                <a:latin typeface="Calibri"/>
              </a:rPr>
            </a:br>
            <a:endParaRPr lang="en-US" sz="1799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Improve data quality</a:t>
            </a:r>
          </a:p>
          <a:p>
            <a:r>
              <a:t>- Reduce noise and inconsistencies</a:t>
            </a:r>
          </a:p>
          <a:p>
            <a:r>
              <a:t>- Prepare data for mining algorithms</a:t>
            </a:r>
          </a:p>
          <a:p>
            <a:r>
              <a:t>- Enhance model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cleaning</a:t>
            </a:r>
          </a:p>
          <a:p>
            <a:r>
              <a:t>- Handling missing values</a:t>
            </a:r>
          </a:p>
          <a:p>
            <a:r>
              <a:t>- Noise removal</a:t>
            </a:r>
          </a:p>
          <a:p>
            <a:r>
              <a:t>- Outlier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94752-5D9D-5F87-1203-AD8CDFD78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</a:rPr>
              <a:t>Data Quality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A277D-1DE5-2C03-176D-E1FB521F4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6444" indent="-256927">
              <a:spcBef>
                <a:spcPts val="75"/>
              </a:spcBef>
              <a:tabLst>
                <a:tab pos="265968" algn="l"/>
                <a:tab pos="266444" algn="l"/>
              </a:tabLst>
            </a:pPr>
            <a:r>
              <a:rPr lang="en-US" sz="1649" dirty="0">
                <a:cs typeface="Arial MT"/>
              </a:rPr>
              <a:t>A</a:t>
            </a:r>
            <a:r>
              <a:rPr lang="en-US" sz="1649" spc="4" dirty="0">
                <a:cs typeface="Arial MT"/>
              </a:rPr>
              <a:t> </a:t>
            </a:r>
            <a:r>
              <a:rPr lang="en-US" sz="1649" spc="-4" dirty="0">
                <a:cs typeface="Arial MT"/>
              </a:rPr>
              <a:t>well-accepted</a:t>
            </a:r>
            <a:r>
              <a:rPr lang="en-US" sz="1649" spc="4" dirty="0">
                <a:cs typeface="Arial MT"/>
              </a:rPr>
              <a:t> </a:t>
            </a:r>
            <a:r>
              <a:rPr lang="en-US" sz="1649" spc="-4" dirty="0">
                <a:cs typeface="Arial MT"/>
              </a:rPr>
              <a:t>multidimensional</a:t>
            </a:r>
            <a:r>
              <a:rPr lang="en-US" sz="1649" spc="4" dirty="0">
                <a:cs typeface="Arial MT"/>
              </a:rPr>
              <a:t> </a:t>
            </a:r>
            <a:r>
              <a:rPr lang="en-US" sz="1649" dirty="0">
                <a:cs typeface="Arial MT"/>
              </a:rPr>
              <a:t>view</a:t>
            </a:r>
            <a:r>
              <a:rPr lang="en-US" sz="1649" spc="4" dirty="0">
                <a:cs typeface="Arial MT"/>
              </a:rPr>
              <a:t> </a:t>
            </a:r>
            <a:r>
              <a:rPr lang="en-US" sz="1649" dirty="0">
                <a:cs typeface="Arial MT"/>
              </a:rPr>
              <a:t>of </a:t>
            </a:r>
            <a:r>
              <a:rPr lang="en-US" sz="1649" spc="-4" dirty="0">
                <a:cs typeface="Arial"/>
              </a:rPr>
              <a:t>data</a:t>
            </a:r>
            <a:r>
              <a:rPr lang="en-US" sz="1649" spc="-26" dirty="0">
                <a:cs typeface="Arial"/>
              </a:rPr>
              <a:t> </a:t>
            </a:r>
            <a:r>
              <a:rPr lang="en-US" sz="1649" spc="-4" dirty="0">
                <a:cs typeface="Arial"/>
              </a:rPr>
              <a:t>quality</a:t>
            </a:r>
            <a:r>
              <a:rPr lang="en-US" sz="1649" spc="-4" dirty="0">
                <a:cs typeface="Arial MT"/>
              </a:rPr>
              <a:t>:</a:t>
            </a:r>
            <a:endParaRPr lang="en-US" dirty="0">
              <a:latin typeface="Arial MT"/>
              <a:cs typeface="Arial MT"/>
            </a:endParaRPr>
          </a:p>
          <a:p>
            <a:pPr marL="566193" lvl="1" indent="-214107">
              <a:spcBef>
                <a:spcPts val="277"/>
              </a:spcBef>
              <a:tabLst>
                <a:tab pos="566193" algn="l"/>
              </a:tabLst>
            </a:pPr>
            <a:r>
              <a:rPr lang="en-US" sz="1649" dirty="0">
                <a:cs typeface="Arial MT"/>
              </a:rPr>
              <a:t>Accuracy</a:t>
            </a:r>
          </a:p>
          <a:p>
            <a:pPr marL="566193" lvl="1" indent="-214107">
              <a:spcBef>
                <a:spcPts val="256"/>
              </a:spcBef>
              <a:tabLst>
                <a:tab pos="566193" algn="l"/>
              </a:tabLst>
            </a:pPr>
            <a:r>
              <a:rPr lang="en-US" sz="1649" spc="-4" dirty="0">
                <a:cs typeface="Arial MT"/>
              </a:rPr>
              <a:t>Completeness</a:t>
            </a:r>
            <a:endParaRPr lang="en-US" dirty="0">
              <a:latin typeface="Arial MT"/>
              <a:cs typeface="Arial MT"/>
            </a:endParaRPr>
          </a:p>
          <a:p>
            <a:pPr marL="566193" lvl="1" indent="-214107">
              <a:spcBef>
                <a:spcPts val="256"/>
              </a:spcBef>
              <a:tabLst>
                <a:tab pos="566193" algn="l"/>
              </a:tabLst>
            </a:pPr>
            <a:r>
              <a:rPr lang="en-US" sz="1649" spc="-4" dirty="0">
                <a:cs typeface="Arial MT"/>
              </a:rPr>
              <a:t>Consistency</a:t>
            </a:r>
            <a:endParaRPr lang="en-US" dirty="0">
              <a:latin typeface="Arial MT"/>
              <a:cs typeface="Arial MT"/>
            </a:endParaRPr>
          </a:p>
          <a:p>
            <a:pPr marL="566193" lvl="1" indent="-214107">
              <a:spcBef>
                <a:spcPts val="180"/>
              </a:spcBef>
              <a:tabLst>
                <a:tab pos="566193" algn="l"/>
              </a:tabLst>
            </a:pPr>
            <a:r>
              <a:rPr lang="en-US" sz="1649" spc="-4" dirty="0">
                <a:cs typeface="Arial MT"/>
              </a:rPr>
              <a:t>Timeliness</a:t>
            </a:r>
            <a:endParaRPr lang="en-US" dirty="0">
              <a:latin typeface="Arial MT"/>
              <a:cs typeface="Arial MT"/>
            </a:endParaRPr>
          </a:p>
          <a:p>
            <a:pPr marL="566193" lvl="1" indent="-214107">
              <a:spcBef>
                <a:spcPts val="256"/>
              </a:spcBef>
              <a:tabLst>
                <a:tab pos="566193" algn="l"/>
              </a:tabLst>
            </a:pPr>
            <a:r>
              <a:rPr lang="en-US" sz="1649" spc="-4" dirty="0">
                <a:cs typeface="Arial MT"/>
              </a:rPr>
              <a:t>Believability</a:t>
            </a:r>
            <a:endParaRPr lang="en-US" dirty="0">
              <a:latin typeface="Arial MT"/>
              <a:cs typeface="Arial MT"/>
            </a:endParaRPr>
          </a:p>
          <a:p>
            <a:pPr marL="566193" lvl="1" indent="-214107">
              <a:spcBef>
                <a:spcPts val="256"/>
              </a:spcBef>
              <a:tabLst>
                <a:tab pos="566193" algn="l"/>
              </a:tabLst>
            </a:pPr>
            <a:r>
              <a:rPr lang="en-US" sz="1649" spc="-4" dirty="0">
                <a:cs typeface="Arial MT"/>
              </a:rPr>
              <a:t>Interpretability</a:t>
            </a:r>
            <a:endParaRPr lang="en-US" dirty="0">
              <a:latin typeface="Arial MT"/>
              <a:cs typeface="Arial MT"/>
            </a:endParaRPr>
          </a:p>
          <a:p>
            <a:pPr marL="566193" lvl="1" indent="-214107">
              <a:spcBef>
                <a:spcPts val="256"/>
              </a:spcBef>
              <a:tabLst>
                <a:tab pos="566193" algn="l"/>
              </a:tabLst>
            </a:pPr>
            <a:r>
              <a:rPr lang="en-US" sz="1649" spc="-4" dirty="0">
                <a:cs typeface="Arial MT"/>
              </a:rPr>
              <a:t>Accessibility</a:t>
            </a:r>
            <a:endParaRPr lang="en-US" dirty="0">
              <a:latin typeface="Arial MT"/>
              <a:cs typeface="Arial M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675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3653F-ABF2-33D0-FECB-B1065B948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009" y="1339784"/>
            <a:ext cx="2561641" cy="4183520"/>
          </a:xfrm>
        </p:spPr>
        <p:txBody>
          <a:bodyPr anchor="ctr">
            <a:normAutofit/>
          </a:bodyPr>
          <a:lstStyle/>
          <a:p>
            <a:r>
              <a:rPr lang="en-GB" sz="4047">
                <a:latin typeface="Calibri"/>
              </a:rPr>
              <a:t>Major tasks in data pre-processing</a:t>
            </a:r>
            <a:endParaRPr lang="en-IE" sz="4047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6D4499-089C-F26C-54D8-6A9643BA8C3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11010" y="1339787"/>
          <a:ext cx="5170636" cy="41482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068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001E4-88AC-E3B9-19C4-4E233EFE4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2697" dirty="0">
                <a:latin typeface="Calibri"/>
              </a:rPr>
              <a:t>Forms of data pre-processing</a:t>
            </a:r>
            <a:endParaRPr lang="en-IE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02BC975-DA45-DCF8-AF8F-E06EEB9D9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2797" y="1949316"/>
            <a:ext cx="7293753" cy="3837303"/>
          </a:xfrm>
        </p:spPr>
      </p:pic>
    </p:spTree>
    <p:extLst>
      <p:ext uri="{BB962C8B-B14F-4D97-AF65-F5344CB8AC3E}">
        <p14:creationId xmlns:p14="http://schemas.microsoft.com/office/powerpoint/2010/main" val="2359726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26A6E-CCAA-0A9B-50DC-7F6B87777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9169" y="1146137"/>
            <a:ext cx="7993663" cy="834206"/>
          </a:xfrm>
        </p:spPr>
        <p:txBody>
          <a:bodyPr anchor="b">
            <a:normAutofit/>
          </a:bodyPr>
          <a:lstStyle/>
          <a:p>
            <a:pPr algn="ctr"/>
            <a:r>
              <a:rPr lang="en-GB" sz="2697" dirty="0">
                <a:latin typeface="Calibri"/>
              </a:rPr>
              <a:t>Data Cleaning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FD9A0-5887-6CDE-B0E0-DA9797C3E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9169" y="2197325"/>
            <a:ext cx="7993663" cy="2578037"/>
          </a:xfrm>
        </p:spPr>
        <p:txBody>
          <a:bodyPr>
            <a:normAutofit/>
          </a:bodyPr>
          <a:lstStyle/>
          <a:p>
            <a:pPr marL="266444" indent="-256927">
              <a:spcBef>
                <a:spcPts val="75"/>
              </a:spcBef>
              <a:buFont typeface="Arial MT"/>
              <a:buChar char="•"/>
              <a:tabLst>
                <a:tab pos="266444" algn="l"/>
              </a:tabLst>
            </a:pPr>
            <a:r>
              <a:rPr lang="en-US" sz="1649" dirty="0">
                <a:latin typeface="Calibri"/>
                <a:cs typeface="Arial"/>
              </a:rPr>
              <a:t>Data</a:t>
            </a:r>
            <a:r>
              <a:rPr lang="en-US" sz="1649" spc="-18" dirty="0">
                <a:latin typeface="Calibri"/>
                <a:cs typeface="Arial"/>
              </a:rPr>
              <a:t> </a:t>
            </a:r>
            <a:r>
              <a:rPr lang="en-US" sz="1649" spc="-4" dirty="0">
                <a:latin typeface="Calibri"/>
                <a:cs typeface="Arial"/>
              </a:rPr>
              <a:t>cleaning</a:t>
            </a:r>
            <a:r>
              <a:rPr lang="en-US" sz="1649" spc="-22" dirty="0">
                <a:latin typeface="Calibri"/>
                <a:cs typeface="Arial"/>
              </a:rPr>
              <a:t> </a:t>
            </a:r>
            <a:r>
              <a:rPr lang="en-US" sz="1649" dirty="0">
                <a:latin typeface="Calibri"/>
                <a:cs typeface="Arial"/>
              </a:rPr>
              <a:t>tasks</a:t>
            </a:r>
            <a:endParaRPr lang="en-US" sz="1797" dirty="0">
              <a:cs typeface="Arial"/>
            </a:endParaRPr>
          </a:p>
          <a:p>
            <a:pPr marL="566193" lvl="1" indent="-214107">
              <a:spcBef>
                <a:spcPts val="1712"/>
              </a:spcBef>
              <a:tabLst>
                <a:tab pos="566193" algn="l"/>
              </a:tabLst>
            </a:pPr>
            <a:r>
              <a:rPr lang="en-US" sz="1649" dirty="0">
                <a:latin typeface="Calibri"/>
                <a:cs typeface="Arial MT"/>
              </a:rPr>
              <a:t>Fill</a:t>
            </a:r>
            <a:r>
              <a:rPr lang="en-US" sz="1649" spc="-18" dirty="0">
                <a:latin typeface="Calibri"/>
                <a:cs typeface="Arial MT"/>
              </a:rPr>
              <a:t> </a:t>
            </a:r>
            <a:r>
              <a:rPr lang="en-US" sz="1649" spc="-4" dirty="0">
                <a:latin typeface="Calibri"/>
                <a:cs typeface="Arial MT"/>
              </a:rPr>
              <a:t>in</a:t>
            </a:r>
            <a:r>
              <a:rPr lang="en-US" sz="1649" spc="-18" dirty="0">
                <a:latin typeface="Calibri"/>
                <a:cs typeface="Arial MT"/>
              </a:rPr>
              <a:t> </a:t>
            </a:r>
            <a:r>
              <a:rPr lang="en-US" sz="1649" dirty="0">
                <a:solidFill>
                  <a:srgbClr val="FF0000"/>
                </a:solidFill>
                <a:latin typeface="Calibri"/>
                <a:cs typeface="Arial MT"/>
              </a:rPr>
              <a:t>missing</a:t>
            </a:r>
            <a:r>
              <a:rPr lang="en-US" sz="1649" spc="-16" dirty="0">
                <a:solidFill>
                  <a:srgbClr val="FF0000"/>
                </a:solidFill>
                <a:latin typeface="Calibri"/>
                <a:cs typeface="Arial MT"/>
              </a:rPr>
              <a:t> </a:t>
            </a:r>
            <a:r>
              <a:rPr lang="en-US" sz="1649" dirty="0">
                <a:solidFill>
                  <a:srgbClr val="FF0000"/>
                </a:solidFill>
                <a:latin typeface="Calibri"/>
                <a:cs typeface="Arial MT"/>
              </a:rPr>
              <a:t>values</a:t>
            </a:r>
          </a:p>
          <a:p>
            <a:pPr marL="561435" marR="3807" lvl="1" indent="-209349">
              <a:spcBef>
                <a:spcPts val="501"/>
              </a:spcBef>
              <a:tabLst>
                <a:tab pos="566193" algn="l"/>
              </a:tabLst>
            </a:pPr>
            <a:r>
              <a:rPr lang="en-US" sz="1649" spc="-4" dirty="0">
                <a:latin typeface="Calibri"/>
                <a:cs typeface="Arial MT"/>
              </a:rPr>
              <a:t>Identify </a:t>
            </a:r>
            <a:r>
              <a:rPr lang="en-US" sz="1649" spc="-4" dirty="0">
                <a:solidFill>
                  <a:srgbClr val="FF0000"/>
                </a:solidFill>
                <a:latin typeface="Calibri"/>
                <a:cs typeface="Arial MT"/>
              </a:rPr>
              <a:t>outliers</a:t>
            </a:r>
            <a:r>
              <a:rPr lang="en-US" sz="1649" spc="-4" dirty="0">
                <a:latin typeface="Calibri"/>
                <a:cs typeface="Arial MT"/>
              </a:rPr>
              <a:t> and </a:t>
            </a:r>
            <a:r>
              <a:rPr lang="en-US" sz="1649" spc="-4" dirty="0">
                <a:latin typeface="Calibri"/>
                <a:cs typeface="Arial"/>
              </a:rPr>
              <a:t>smooth </a:t>
            </a:r>
            <a:r>
              <a:rPr lang="en-US" sz="1649" spc="-4" dirty="0">
                <a:latin typeface="Calibri"/>
                <a:cs typeface="Arial MT"/>
              </a:rPr>
              <a:t>out </a:t>
            </a:r>
            <a:r>
              <a:rPr lang="en-US" sz="1649" dirty="0">
                <a:solidFill>
                  <a:srgbClr val="FF0000"/>
                </a:solidFill>
                <a:latin typeface="Calibri"/>
                <a:cs typeface="Arial MT"/>
              </a:rPr>
              <a:t>noisy </a:t>
            </a:r>
            <a:r>
              <a:rPr lang="en-US" sz="1649" spc="-656" dirty="0">
                <a:solidFill>
                  <a:srgbClr val="FF0000"/>
                </a:solidFill>
                <a:latin typeface="Calibri"/>
                <a:cs typeface="Arial MT"/>
              </a:rPr>
              <a:t> </a:t>
            </a:r>
            <a:r>
              <a:rPr lang="en-US" sz="1649" spc="-4" dirty="0">
                <a:solidFill>
                  <a:srgbClr val="FF0000"/>
                </a:solidFill>
                <a:latin typeface="Calibri"/>
                <a:cs typeface="Arial MT"/>
              </a:rPr>
              <a:t>data</a:t>
            </a:r>
          </a:p>
          <a:p>
            <a:pPr marL="561435" marR="3807" lvl="1" indent="-209349">
              <a:spcBef>
                <a:spcPts val="501"/>
              </a:spcBef>
              <a:tabLst>
                <a:tab pos="566193" algn="l"/>
              </a:tabLst>
            </a:pPr>
            <a:r>
              <a:rPr lang="en-US" sz="1649" dirty="0">
                <a:latin typeface="Calibri"/>
                <a:cs typeface="Arial MT"/>
              </a:rPr>
              <a:t>Correct</a:t>
            </a:r>
            <a:r>
              <a:rPr lang="en-US" sz="1649" spc="-16" dirty="0">
                <a:latin typeface="Calibri"/>
                <a:cs typeface="Arial MT"/>
              </a:rPr>
              <a:t> </a:t>
            </a:r>
            <a:r>
              <a:rPr lang="en-US" sz="1649" spc="-4" dirty="0">
                <a:solidFill>
                  <a:srgbClr val="FF0000"/>
                </a:solidFill>
                <a:latin typeface="Calibri"/>
                <a:cs typeface="Arial MT"/>
              </a:rPr>
              <a:t>inconsistent</a:t>
            </a:r>
            <a:r>
              <a:rPr lang="en-US" sz="1649" spc="-16" dirty="0">
                <a:solidFill>
                  <a:srgbClr val="FF0000"/>
                </a:solidFill>
                <a:latin typeface="Calibri"/>
                <a:cs typeface="Arial MT"/>
              </a:rPr>
              <a:t> </a:t>
            </a:r>
            <a:r>
              <a:rPr lang="en-US" sz="1649" spc="-4" dirty="0">
                <a:solidFill>
                  <a:srgbClr val="FF0000"/>
                </a:solidFill>
                <a:latin typeface="Calibri"/>
                <a:cs typeface="Arial MT"/>
              </a:rPr>
              <a:t>data</a:t>
            </a:r>
            <a:endParaRPr lang="en-US" sz="1797" dirty="0">
              <a:solidFill>
                <a:srgbClr val="FF0000"/>
              </a:solidFill>
              <a:cs typeface="Arial MT"/>
            </a:endParaRPr>
          </a:p>
          <a:p>
            <a:endParaRPr lang="en-IE" sz="1797" dirty="0"/>
          </a:p>
        </p:txBody>
      </p:sp>
    </p:spTree>
    <p:extLst>
      <p:ext uri="{BB962C8B-B14F-4D97-AF65-F5344CB8AC3E}">
        <p14:creationId xmlns:p14="http://schemas.microsoft.com/office/powerpoint/2010/main" val="3442866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E5F12-F7AE-8BBD-33B0-209620024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6093" y="710967"/>
            <a:ext cx="6800946" cy="1621760"/>
          </a:xfrm>
        </p:spPr>
        <p:txBody>
          <a:bodyPr>
            <a:normAutofit/>
          </a:bodyPr>
          <a:lstStyle/>
          <a:p>
            <a:r>
              <a:rPr lang="en-GB" sz="2697" dirty="0">
                <a:latin typeface="Calibri"/>
              </a:rPr>
              <a:t>Missing Data</a:t>
            </a:r>
            <a:endParaRPr lang="en-IE" sz="3298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063AAD8-B509-C9DE-3057-12C53CA3B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9143" y="2392035"/>
            <a:ext cx="7694318" cy="3122972"/>
          </a:xfrm>
        </p:spPr>
        <p:txBody>
          <a:bodyPr>
            <a:normAutofit/>
          </a:bodyPr>
          <a:lstStyle/>
          <a:p>
            <a:pPr marL="266444" indent="-256927">
              <a:spcBef>
                <a:spcPts val="1056"/>
              </a:spcBef>
              <a:buFont typeface="Arial MT"/>
              <a:buChar char="•"/>
              <a:tabLst>
                <a:tab pos="265968" algn="l"/>
                <a:tab pos="266444" algn="l"/>
              </a:tabLst>
            </a:pPr>
            <a:r>
              <a:rPr lang="en-US" sz="1649" dirty="0">
                <a:latin typeface="Calibri"/>
              </a:rPr>
              <a:t>Data is not always available</a:t>
            </a:r>
          </a:p>
          <a:p>
            <a:pPr marL="266444" indent="-256927">
              <a:spcBef>
                <a:spcPts val="985"/>
              </a:spcBef>
              <a:tabLst>
                <a:tab pos="265968" algn="l"/>
                <a:tab pos="266444" algn="l"/>
              </a:tabLst>
            </a:pPr>
            <a:r>
              <a:rPr lang="en-US" sz="1649" dirty="0">
                <a:latin typeface="Calibri"/>
              </a:rPr>
              <a:t>Missing data may be due to</a:t>
            </a:r>
          </a:p>
          <a:p>
            <a:pPr marL="566193" lvl="1" indent="-214107">
              <a:spcBef>
                <a:spcPts val="870"/>
              </a:spcBef>
              <a:tabLst>
                <a:tab pos="566193" algn="l"/>
              </a:tabLst>
            </a:pPr>
            <a:r>
              <a:rPr lang="en-US" sz="1649" dirty="0">
                <a:latin typeface="Calibri"/>
              </a:rPr>
              <a:t>equipment malfunction</a:t>
            </a:r>
          </a:p>
          <a:p>
            <a:pPr marL="561435" marR="549066" lvl="1" indent="-209349">
              <a:spcBef>
                <a:spcPts val="430"/>
              </a:spcBef>
              <a:tabLst>
                <a:tab pos="566193" algn="l"/>
              </a:tabLst>
            </a:pPr>
            <a:r>
              <a:rPr lang="en-US" sz="1649" dirty="0">
                <a:latin typeface="Calibri"/>
              </a:rPr>
              <a:t>inconsistent with other recorded data and thus deleted</a:t>
            </a:r>
          </a:p>
          <a:p>
            <a:pPr marL="561435" marR="549066" lvl="1" indent="-209349">
              <a:spcBef>
                <a:spcPts val="430"/>
              </a:spcBef>
              <a:tabLst>
                <a:tab pos="566193" algn="l"/>
              </a:tabLst>
            </a:pPr>
            <a:r>
              <a:rPr lang="en-US" sz="1649" dirty="0">
                <a:latin typeface="Calibri"/>
              </a:rPr>
              <a:t>data not entered due to misunderstanding</a:t>
            </a:r>
          </a:p>
          <a:p>
            <a:pPr marL="561435" marR="3807" lvl="1" indent="-209349">
              <a:spcBef>
                <a:spcPts val="357"/>
              </a:spcBef>
              <a:tabLst>
                <a:tab pos="566193" algn="l"/>
              </a:tabLst>
            </a:pPr>
            <a:r>
              <a:rPr lang="en-US" sz="1649" dirty="0">
                <a:latin typeface="Calibri"/>
              </a:rPr>
              <a:t>certain data may not be considered important at the  time of entry</a:t>
            </a:r>
          </a:p>
          <a:p>
            <a:pPr marL="566193" lvl="1" indent="-214107">
              <a:spcBef>
                <a:spcPts val="820"/>
              </a:spcBef>
              <a:tabLst>
                <a:tab pos="566193" algn="l"/>
              </a:tabLst>
            </a:pPr>
            <a:r>
              <a:rPr lang="en-US" sz="1649" dirty="0">
                <a:latin typeface="Calibri"/>
              </a:rPr>
              <a:t>not register history or changes of the data</a:t>
            </a:r>
          </a:p>
          <a:p>
            <a:pPr marL="266444" indent="-256927">
              <a:spcBef>
                <a:spcPts val="1044"/>
              </a:spcBef>
              <a:tabLst>
                <a:tab pos="265968" algn="l"/>
                <a:tab pos="266444" algn="l"/>
              </a:tabLst>
            </a:pPr>
            <a:r>
              <a:rPr lang="en-US" sz="1649" dirty="0">
                <a:latin typeface="Calibri"/>
              </a:rPr>
              <a:t>Missing data may need to be inferred.</a:t>
            </a:r>
          </a:p>
          <a:p>
            <a:pPr>
              <a:lnSpc>
                <a:spcPct val="100000"/>
              </a:lnSpc>
            </a:pPr>
            <a:endParaRPr lang="en-IE" sz="1048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7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061">
            <a:extLst>
              <a:ext uri="{FF2B5EF4-FFF2-40B4-BE49-F238E27FC236}">
                <a16:creationId xmlns:a16="http://schemas.microsoft.com/office/drawing/2014/main" id="{0BD7F269-5A32-619B-9A35-CD6C49E3628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335" indent="-285513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056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598877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5699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2520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69344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6165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2987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8513030-A3A0-0444-8A40-9B5AAD711F71}" type="slidenum">
              <a:rPr lang="en-US" altLang="en-US" sz="1199"/>
              <a:pPr eaLnBrk="1" hangingPunct="1"/>
              <a:t>10</a:t>
            </a:fld>
            <a:endParaRPr lang="en-US" altLang="en-US" sz="1199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E1C08DAD-BFAC-C0B3-EC43-5E5287C4C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Data Cleaning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74FB41AA-8B48-EBED-BEC4-1BB2DB2717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1998"/>
              <a:t>Data in the Real World Is Dirty: Lots of potentially incorrect data, e.g., instrument faulty, human or computer error, transmission error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998" u="sng"/>
              <a:t>incomplete</a:t>
            </a:r>
            <a:r>
              <a:rPr lang="en-US" altLang="en-US" sz="1998"/>
              <a:t>: lacking attribute values, lacking certain attributes of interest, or containing only aggregate data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1998"/>
              <a:t>e.g., </a:t>
            </a:r>
            <a:r>
              <a:rPr lang="en-US" altLang="en-US" sz="1998" i="1"/>
              <a:t>Occupation</a:t>
            </a:r>
            <a:r>
              <a:rPr lang="en-US" altLang="en-US" sz="1998"/>
              <a:t>=“ ” (missing data)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998" u="sng"/>
              <a:t>noisy</a:t>
            </a:r>
            <a:r>
              <a:rPr lang="en-US" altLang="en-US" sz="1998"/>
              <a:t>: containing noise, errors, or outliers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1998"/>
              <a:t>e.g., </a:t>
            </a:r>
            <a:r>
              <a:rPr lang="en-US" altLang="en-US" sz="1998" i="1"/>
              <a:t>Salary</a:t>
            </a:r>
            <a:r>
              <a:rPr lang="en-US" altLang="en-US" sz="1998"/>
              <a:t>=“</a:t>
            </a:r>
            <a:r>
              <a:rPr lang="en-US" altLang="en-US" sz="1998">
                <a:cs typeface="Tahoma" panose="020B0604030504040204" pitchFamily="34" charset="0"/>
              </a:rPr>
              <a:t>−</a:t>
            </a:r>
            <a:r>
              <a:rPr lang="en-US" altLang="en-US" sz="1998"/>
              <a:t>10” (an error)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998" u="sng"/>
              <a:t>inconsistent</a:t>
            </a:r>
            <a:r>
              <a:rPr lang="en-US" altLang="en-US" sz="1998"/>
              <a:t>: containing discrepancies in codes or names, e.g.,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1998" i="1"/>
              <a:t>Age</a:t>
            </a:r>
            <a:r>
              <a:rPr lang="en-US" altLang="en-US" sz="1998"/>
              <a:t>=“42”, </a:t>
            </a:r>
            <a:r>
              <a:rPr lang="en-US" altLang="en-US" sz="1998" i="1"/>
              <a:t>Birthday</a:t>
            </a:r>
            <a:r>
              <a:rPr lang="en-US" altLang="en-US" sz="1998"/>
              <a:t>=“03/07/2010”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1998"/>
              <a:t>Was rating “1, 2, 3”, now rating “A, B, C”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1998"/>
              <a:t>discrepancy between duplicate records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998" u="sng"/>
              <a:t>Intentional</a:t>
            </a:r>
            <a:r>
              <a:rPr lang="en-US" altLang="en-US" sz="1998" b="1" u="sng"/>
              <a:t> </a:t>
            </a:r>
            <a:r>
              <a:rPr lang="en-US" altLang="en-US" sz="1998"/>
              <a:t>(e.g., </a:t>
            </a:r>
            <a:r>
              <a:rPr lang="en-US" altLang="en-US" sz="1998" i="1"/>
              <a:t>disguised missing</a:t>
            </a:r>
            <a:r>
              <a:rPr lang="en-US" altLang="en-US" sz="1998"/>
              <a:t> data)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1998"/>
              <a:t>Jan. 1 as everyone’s birthday?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061">
            <a:extLst>
              <a:ext uri="{FF2B5EF4-FFF2-40B4-BE49-F238E27FC236}">
                <a16:creationId xmlns:a16="http://schemas.microsoft.com/office/drawing/2014/main" id="{D8C54E1B-E383-59AF-84B4-EF066B96398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335" indent="-285513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056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598877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5699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2520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69344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6165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2987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AE4DCE6-FB6A-0F45-A227-8847AC960488}" type="slidenum">
              <a:rPr lang="en-US" altLang="en-US" sz="1199"/>
              <a:pPr eaLnBrk="1" hangingPunct="1"/>
              <a:t>11</a:t>
            </a:fld>
            <a:endParaRPr lang="en-US" altLang="en-US" sz="1199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05B0105F-31F3-A029-276A-D8343123A4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97347" y="307667"/>
            <a:ext cx="7162572" cy="60904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Incomplete (Missing) Data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8230D652-C1FE-4D7C-8615-522B397820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8844" y="1373488"/>
            <a:ext cx="8298181" cy="510071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2398"/>
              <a:t>Data is not always available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398"/>
              <a:t>E.g., many tuples have no recorded value for several attributes, such as customer income in sales data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398"/>
              <a:t>Missing data may be due to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398"/>
              <a:t>equipment malfunction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398"/>
              <a:t>inconsistent with other recorded data and thus deleted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398"/>
              <a:t>data not entered due to misunderstanding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398"/>
              <a:t>certain data may not be considered important at the time of entry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398"/>
              <a:t>not register history or changes of the data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398"/>
              <a:t>Missing data may need to be inferred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061">
            <a:extLst>
              <a:ext uri="{FF2B5EF4-FFF2-40B4-BE49-F238E27FC236}">
                <a16:creationId xmlns:a16="http://schemas.microsoft.com/office/drawing/2014/main" id="{368802ED-876C-F128-0426-A9498A7153A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335" indent="-285513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056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598877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5699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2520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69344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6165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2987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7F32AB0-7956-6544-8A8F-08F0A20E6E51}" type="slidenum">
              <a:rPr lang="en-US" altLang="en-US" sz="1199"/>
              <a:pPr eaLnBrk="1" hangingPunct="1"/>
              <a:t>12</a:t>
            </a:fld>
            <a:endParaRPr lang="en-US" altLang="en-US" sz="1199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DB935FB5-C9B7-8990-0F1E-4047CEAE7E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9496" y="231537"/>
            <a:ext cx="7536880" cy="76130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/>
              <a:t>How to Handle Missing Data?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E6C79FD7-E2DD-EA2F-F1D9-ED171D01D4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32715" y="1297358"/>
            <a:ext cx="8526570" cy="525297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398"/>
              <a:t>Ignore the tuple: usually done when class label is missing (when doing classification)—not effective when the % of missing values per attribute varies considerably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398"/>
              <a:t>Fill in the missing value manually: tedious + infeasible?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398"/>
              <a:t>Fill in it automatically with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398"/>
              <a:t>a global constant : e.g., “unknown”, a new class?!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398"/>
              <a:t>the attribute mean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398"/>
              <a:t>the attribute mean for all samples belonging to the same class: smarter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398">
                <a:solidFill>
                  <a:schemeClr val="hlink"/>
                </a:solidFill>
              </a:rPr>
              <a:t>the most probable value: inference-based such as Bayesian formula or decision tree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061">
            <a:extLst>
              <a:ext uri="{FF2B5EF4-FFF2-40B4-BE49-F238E27FC236}">
                <a16:creationId xmlns:a16="http://schemas.microsoft.com/office/drawing/2014/main" id="{ABDEC346-76F6-8D62-9A9E-325F84C8144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760552" y="6474204"/>
            <a:ext cx="1903253" cy="380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BF95D0E5-5442-7845-9956-B538F7E200E3}" type="slidenum">
              <a:rPr lang="en-US" altLang="en-US" sz="1199"/>
              <a:pPr algn="r" eaLnBrk="1" hangingPunct="1"/>
              <a:t>13</a:t>
            </a:fld>
            <a:endParaRPr lang="en-US" altLang="en-US" sz="1199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345DC42C-B71C-67C0-43D7-5737ACCF12E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203057" y="231537"/>
            <a:ext cx="5633627" cy="76130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Noisy Data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EEDA09D0-F4BC-F35C-FC1B-E347869BDFE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32716" y="1373487"/>
            <a:ext cx="8374310" cy="4948457"/>
          </a:xfrm>
        </p:spPr>
        <p:txBody>
          <a:bodyPr/>
          <a:lstStyle/>
          <a:p>
            <a:pPr eaLnBrk="1" hangingPunct="1"/>
            <a:r>
              <a:rPr lang="en-US" altLang="en-US" sz="2398">
                <a:solidFill>
                  <a:schemeClr val="folHlink"/>
                </a:solidFill>
              </a:rPr>
              <a:t>Noise</a:t>
            </a:r>
            <a:r>
              <a:rPr lang="en-US" altLang="en-US" sz="2398"/>
              <a:t>: random error or variance in a measured variable</a:t>
            </a:r>
          </a:p>
          <a:p>
            <a:pPr eaLnBrk="1" hangingPunct="1"/>
            <a:r>
              <a:rPr lang="en-US" altLang="en-US" sz="2398">
                <a:solidFill>
                  <a:schemeClr val="folHlink"/>
                </a:solidFill>
              </a:rPr>
              <a:t>Incorrect attribute values</a:t>
            </a:r>
            <a:r>
              <a:rPr lang="en-US" altLang="en-US" sz="2398"/>
              <a:t> may be due to</a:t>
            </a:r>
          </a:p>
          <a:p>
            <a:pPr lvl="1" eaLnBrk="1" hangingPunct="1"/>
            <a:r>
              <a:rPr lang="en-US" altLang="en-US" sz="2398"/>
              <a:t>faulty data collection instruments</a:t>
            </a:r>
          </a:p>
          <a:p>
            <a:pPr lvl="1" eaLnBrk="1" hangingPunct="1"/>
            <a:r>
              <a:rPr lang="en-US" altLang="en-US" sz="2398"/>
              <a:t>data entry problems</a:t>
            </a:r>
          </a:p>
          <a:p>
            <a:pPr lvl="1" eaLnBrk="1" hangingPunct="1"/>
            <a:r>
              <a:rPr lang="en-US" altLang="en-US" sz="2398"/>
              <a:t>data transmission problems</a:t>
            </a:r>
          </a:p>
          <a:p>
            <a:pPr lvl="1" eaLnBrk="1" hangingPunct="1"/>
            <a:r>
              <a:rPr lang="en-US" altLang="en-US" sz="2398"/>
              <a:t>technology limitation</a:t>
            </a:r>
          </a:p>
          <a:p>
            <a:pPr lvl="1" eaLnBrk="1" hangingPunct="1"/>
            <a:r>
              <a:rPr lang="en-US" altLang="en-US" sz="2398"/>
              <a:t>inconsistency in naming convention </a:t>
            </a:r>
          </a:p>
          <a:p>
            <a:pPr eaLnBrk="1" hangingPunct="1"/>
            <a:r>
              <a:rPr lang="en-US" altLang="en-US" sz="2398">
                <a:solidFill>
                  <a:schemeClr val="folHlink"/>
                </a:solidFill>
              </a:rPr>
              <a:t>Other data problems</a:t>
            </a:r>
            <a:r>
              <a:rPr lang="en-US" altLang="en-US" sz="2398"/>
              <a:t> which require data cleaning</a:t>
            </a:r>
          </a:p>
          <a:p>
            <a:pPr lvl="1" eaLnBrk="1" hangingPunct="1"/>
            <a:r>
              <a:rPr lang="en-US" altLang="en-US" sz="2398"/>
              <a:t>duplicate records</a:t>
            </a:r>
          </a:p>
          <a:p>
            <a:pPr lvl="1" eaLnBrk="1" hangingPunct="1"/>
            <a:r>
              <a:rPr lang="en-US" altLang="en-US" sz="2398"/>
              <a:t>incomplete data</a:t>
            </a:r>
          </a:p>
          <a:p>
            <a:pPr lvl="1" eaLnBrk="1" hangingPunct="1"/>
            <a:r>
              <a:rPr lang="en-US" altLang="en-US" sz="2398"/>
              <a:t>inconsistent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061">
            <a:extLst>
              <a:ext uri="{FF2B5EF4-FFF2-40B4-BE49-F238E27FC236}">
                <a16:creationId xmlns:a16="http://schemas.microsoft.com/office/drawing/2014/main" id="{4155B4D7-41D7-B562-6FF0-D5EC4AA8301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335" indent="-285513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056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598877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5699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2520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69344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6165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2987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8F45D4B-3FEC-6445-84F0-6AFA2A600C89}" type="slidenum">
              <a:rPr lang="en-US" altLang="en-US" sz="1199"/>
              <a:pPr eaLnBrk="1" hangingPunct="1"/>
              <a:t>14</a:t>
            </a:fld>
            <a:endParaRPr lang="en-US" altLang="en-US" sz="1199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062342B-1163-363D-63FE-62F90F4E2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51747" y="307667"/>
            <a:ext cx="8583668" cy="60904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How to Handle Noisy Data?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72F56A78-87DB-A89E-D942-39F35E705E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32716" y="1373490"/>
            <a:ext cx="8374310" cy="5024586"/>
          </a:xfrm>
        </p:spPr>
        <p:txBody>
          <a:bodyPr/>
          <a:lstStyle/>
          <a:p>
            <a:pPr eaLnBrk="1" hangingPunct="1"/>
            <a:r>
              <a:rPr lang="en-US" altLang="en-US" sz="2398">
                <a:solidFill>
                  <a:schemeClr val="folHlink"/>
                </a:solidFill>
              </a:rPr>
              <a:t>Binning</a:t>
            </a:r>
          </a:p>
          <a:p>
            <a:pPr lvl="1" eaLnBrk="1" hangingPunct="1"/>
            <a:r>
              <a:rPr lang="en-US" altLang="en-US" sz="2398"/>
              <a:t>first sort data and partition into (equal-frequency) bins</a:t>
            </a:r>
          </a:p>
          <a:p>
            <a:pPr lvl="1" eaLnBrk="1" hangingPunct="1"/>
            <a:r>
              <a:rPr lang="en-US" altLang="en-US" sz="2398"/>
              <a:t>then one can </a:t>
            </a:r>
            <a:r>
              <a:rPr lang="en-US" altLang="en-US" sz="2398">
                <a:solidFill>
                  <a:schemeClr val="hlink"/>
                </a:solidFill>
              </a:rPr>
              <a:t>smooth by bin means,  smooth by bin median, smooth by bin boundaries</a:t>
            </a:r>
            <a:r>
              <a:rPr lang="en-US" altLang="en-US" sz="2398"/>
              <a:t>, etc.</a:t>
            </a:r>
          </a:p>
          <a:p>
            <a:pPr eaLnBrk="1" hangingPunct="1"/>
            <a:r>
              <a:rPr lang="en-US" altLang="en-US" sz="2398">
                <a:solidFill>
                  <a:schemeClr val="folHlink"/>
                </a:solidFill>
              </a:rPr>
              <a:t>Regression</a:t>
            </a:r>
          </a:p>
          <a:p>
            <a:pPr lvl="1" eaLnBrk="1" hangingPunct="1"/>
            <a:r>
              <a:rPr lang="en-US" altLang="en-US" sz="2398"/>
              <a:t>smooth by fitting the data into regression functions</a:t>
            </a:r>
          </a:p>
          <a:p>
            <a:pPr eaLnBrk="1" hangingPunct="1"/>
            <a:r>
              <a:rPr lang="en-US" altLang="en-US" sz="2398">
                <a:solidFill>
                  <a:schemeClr val="folHlink"/>
                </a:solidFill>
              </a:rPr>
              <a:t>Clustering</a:t>
            </a:r>
          </a:p>
          <a:p>
            <a:pPr lvl="1" eaLnBrk="1" hangingPunct="1"/>
            <a:r>
              <a:rPr lang="en-US" altLang="en-US" sz="2398"/>
              <a:t>detect and remove outliers</a:t>
            </a:r>
          </a:p>
          <a:p>
            <a:pPr eaLnBrk="1" hangingPunct="1"/>
            <a:r>
              <a:rPr lang="en-US" altLang="en-US" sz="2398">
                <a:solidFill>
                  <a:schemeClr val="folHlink"/>
                </a:solidFill>
              </a:rPr>
              <a:t>Combined computer and human inspection</a:t>
            </a:r>
          </a:p>
          <a:p>
            <a:pPr lvl="1" eaLnBrk="1" hangingPunct="1"/>
            <a:r>
              <a:rPr lang="en-US" altLang="en-US" sz="2398"/>
              <a:t>detect suspicious values and check by human (e.g., deal with possible outliers)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061">
            <a:extLst>
              <a:ext uri="{FF2B5EF4-FFF2-40B4-BE49-F238E27FC236}">
                <a16:creationId xmlns:a16="http://schemas.microsoft.com/office/drawing/2014/main" id="{74C7F517-B42D-FCD1-18F4-A7B8E9F28DE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335" indent="-285513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056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598877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5699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2520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69344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6165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2987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AF8FCDF-F871-6349-B5EB-A59A62900E5F}" type="slidenum">
              <a:rPr lang="en-US" altLang="en-US" sz="1199"/>
              <a:pPr eaLnBrk="1" hangingPunct="1"/>
              <a:t>15</a:t>
            </a:fld>
            <a:endParaRPr lang="en-US" altLang="en-US" sz="1199"/>
          </a:p>
        </p:txBody>
      </p:sp>
      <p:sp>
        <p:nvSpPr>
          <p:cNvPr id="17411" name="Slide Number Placeholder 5">
            <a:extLst>
              <a:ext uri="{FF2B5EF4-FFF2-40B4-BE49-F238E27FC236}">
                <a16:creationId xmlns:a16="http://schemas.microsoft.com/office/drawing/2014/main" id="{311E0531-7850-44C3-AD31-DA1281208F7B}"/>
              </a:ext>
            </a:extLst>
          </p:cNvPr>
          <p:cNvSpPr txBox="1">
            <a:spLocks noGrp="1"/>
          </p:cNvSpPr>
          <p:nvPr/>
        </p:nvSpPr>
        <p:spPr bwMode="auto">
          <a:xfrm>
            <a:off x="8760552" y="6474204"/>
            <a:ext cx="1903253" cy="380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5D052672-F213-4B4F-AC5F-95338AC9D0E9}" type="slidenum">
              <a:rPr lang="en-US" altLang="en-US" sz="1199"/>
              <a:pPr algn="r" eaLnBrk="1" hangingPunct="1"/>
              <a:t>15</a:t>
            </a:fld>
            <a:endParaRPr lang="en-US" altLang="en-US" sz="1199"/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AE0165DD-0CB7-548B-8BFF-F290BBDBD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22566" y="307667"/>
            <a:ext cx="6677244" cy="60904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Data Integration</a:t>
            </a:r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CAF42589-A154-EC90-7A87-F549B0565A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32715" y="1297358"/>
            <a:ext cx="8526570" cy="5176846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en-US" sz="1998" b="1"/>
              <a:t>Data integration</a:t>
            </a:r>
            <a:r>
              <a:rPr lang="en-US" altLang="en-US" sz="1998"/>
              <a:t>: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1998"/>
              <a:t>Combines data from multiple sources into a coherent store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998"/>
              <a:t>Schema integration: e.g., A.cust-id </a:t>
            </a:r>
            <a:r>
              <a:rPr lang="en-US" altLang="en-US" sz="1998">
                <a:sym typeface="Symbol" pitchFamily="2" charset="2"/>
              </a:rPr>
              <a:t> B.</a:t>
            </a:r>
            <a:r>
              <a:rPr lang="en-US" altLang="en-US" sz="1998"/>
              <a:t>cust-#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1998"/>
              <a:t>Integrate metadata from different sources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998">
                <a:solidFill>
                  <a:schemeClr val="hlink"/>
                </a:solidFill>
              </a:rPr>
              <a:t>Entity identification problem</a:t>
            </a:r>
            <a:r>
              <a:rPr lang="en-US" altLang="en-US" sz="1998"/>
              <a:t>: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1998"/>
              <a:t>Identify real world entities from multiple data sources, e.g., Bill Clinton = William Clinton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998"/>
              <a:t>Detecting and resolving data value conflicts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1998"/>
              <a:t>For the same real world entity, attribute values from different sources are different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1998"/>
              <a:t>Possible reasons: different representations, different scales, e.g., metric vs. British units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061">
            <a:extLst>
              <a:ext uri="{FF2B5EF4-FFF2-40B4-BE49-F238E27FC236}">
                <a16:creationId xmlns:a16="http://schemas.microsoft.com/office/drawing/2014/main" id="{4217E73D-3044-827A-0EAA-CECFD31B3BE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335" indent="-285513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056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598877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5699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2520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69344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6165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2987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86D0DA1-7590-1948-8081-E6B3FC094AA3}" type="slidenum">
              <a:rPr lang="en-US" altLang="en-US" sz="1199"/>
              <a:pPr eaLnBrk="1" hangingPunct="1"/>
              <a:t>16</a:t>
            </a:fld>
            <a:endParaRPr lang="en-US" altLang="en-US" sz="1199"/>
          </a:p>
        </p:txBody>
      </p:sp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0470F5E3-FE55-F4DD-84DF-C43B8BE69958}"/>
              </a:ext>
            </a:extLst>
          </p:cNvPr>
          <p:cNvSpPr txBox="1">
            <a:spLocks noGrp="1"/>
          </p:cNvSpPr>
          <p:nvPr/>
        </p:nvSpPr>
        <p:spPr bwMode="auto">
          <a:xfrm>
            <a:off x="8760552" y="6474204"/>
            <a:ext cx="1903253" cy="380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CE19582D-A2ED-D042-AD30-C20D09CED38A}" type="slidenum">
              <a:rPr lang="en-US" altLang="en-US" sz="1199"/>
              <a:pPr algn="r" eaLnBrk="1" hangingPunct="1"/>
              <a:t>16</a:t>
            </a:fld>
            <a:endParaRPr lang="en-US" altLang="en-US" sz="1199"/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44F6EEF1-57FA-7EE7-3DEF-A152A3ECD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8195" y="231536"/>
            <a:ext cx="9059482" cy="685172"/>
          </a:xfrm>
        </p:spPr>
        <p:txBody>
          <a:bodyPr/>
          <a:lstStyle/>
          <a:p>
            <a:pPr eaLnBrk="1" hangingPunct="1"/>
            <a:r>
              <a:rPr lang="en-US" altLang="en-US" sz="3196"/>
              <a:t>Handling Redundancy in Data Integration</a:t>
            </a: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F7D24D7E-3E80-47AD-1765-013803878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8844" y="1297358"/>
            <a:ext cx="8298181" cy="5176846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398"/>
              <a:t>Redundant data occur often when integration of multiple databases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398" i="1"/>
              <a:t>Object identification</a:t>
            </a:r>
            <a:r>
              <a:rPr lang="en-US" altLang="en-US" sz="2398"/>
              <a:t>:  The same attribute or object may have different names in different databases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398" i="1"/>
              <a:t>Derivable data:</a:t>
            </a:r>
            <a:r>
              <a:rPr lang="en-US" altLang="en-US" sz="2398"/>
              <a:t> One attribute may be a “derived” attribute in another table, e.g., annual revenue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398">
                <a:solidFill>
                  <a:schemeClr val="folHlink"/>
                </a:solidFill>
              </a:rPr>
              <a:t>Redundant attributes may be able to be detected by </a:t>
            </a:r>
            <a:r>
              <a:rPr lang="en-US" altLang="en-US" sz="2398" i="1">
                <a:solidFill>
                  <a:schemeClr val="folHlink"/>
                </a:solidFill>
              </a:rPr>
              <a:t>correlation analysis </a:t>
            </a:r>
            <a:r>
              <a:rPr lang="en-US" altLang="en-US" sz="2398">
                <a:solidFill>
                  <a:schemeClr val="folHlink"/>
                </a:solidFill>
              </a:rPr>
              <a:t>and</a:t>
            </a:r>
            <a:r>
              <a:rPr lang="en-US" altLang="en-US" sz="2398" i="1">
                <a:solidFill>
                  <a:schemeClr val="folHlink"/>
                </a:solidFill>
              </a:rPr>
              <a:t> covariance analysis</a:t>
            </a:r>
            <a:endParaRPr lang="en-US" altLang="en-US" sz="2398"/>
          </a:p>
          <a:p>
            <a:pPr eaLnBrk="1" hangingPunct="1">
              <a:lnSpc>
                <a:spcPct val="120000"/>
              </a:lnSpc>
            </a:pPr>
            <a:r>
              <a:rPr lang="en-US" altLang="en-US" sz="2398"/>
              <a:t>Careful integration of the data from multiple sources may help reduce/avoid redundancies and inconsistencies and improve mining speed and quality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061">
            <a:extLst>
              <a:ext uri="{FF2B5EF4-FFF2-40B4-BE49-F238E27FC236}">
                <a16:creationId xmlns:a16="http://schemas.microsoft.com/office/drawing/2014/main" id="{6699CBC0-FDEF-3CF6-6757-29CDED49A5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335" indent="-285513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056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598877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5699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2520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69344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6165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2987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AB6C032-9DC6-DB46-84F3-C67A0BA96859}" type="slidenum">
              <a:rPr lang="en-US" altLang="en-US" sz="1199"/>
              <a:pPr eaLnBrk="1" hangingPunct="1"/>
              <a:t>17</a:t>
            </a:fld>
            <a:endParaRPr lang="en-US" altLang="en-US" sz="1199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AB6DFC17-043C-35CF-02C8-90C3C0EB72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8195" y="307667"/>
            <a:ext cx="9135611" cy="609041"/>
          </a:xfrm>
        </p:spPr>
        <p:txBody>
          <a:bodyPr>
            <a:normAutofit/>
          </a:bodyPr>
          <a:lstStyle/>
          <a:p>
            <a:r>
              <a:rPr lang="en-US" altLang="en-US" sz="3196"/>
              <a:t>Correlation Analysis (Numeric Data)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956D81C7-3755-E3DC-B5EF-311BB177F0C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32715" y="1449619"/>
            <a:ext cx="8526570" cy="5024586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398"/>
              <a:t>Correlation coefficient (also called </a:t>
            </a:r>
            <a:r>
              <a:rPr lang="en-US" altLang="en-US" sz="2398">
                <a:solidFill>
                  <a:schemeClr val="folHlink"/>
                </a:solidFill>
              </a:rPr>
              <a:t>Pearson’s product moment coefficient</a:t>
            </a:r>
            <a:r>
              <a:rPr lang="en-US" altLang="en-US" sz="2398"/>
              <a:t>)</a:t>
            </a:r>
          </a:p>
          <a:p>
            <a:pPr>
              <a:lnSpc>
                <a:spcPct val="110000"/>
              </a:lnSpc>
            </a:pPr>
            <a:endParaRPr lang="en-US" altLang="en-US" sz="2398"/>
          </a:p>
          <a:p>
            <a:pPr>
              <a:lnSpc>
                <a:spcPct val="110000"/>
              </a:lnSpc>
            </a:pPr>
            <a:endParaRPr lang="en-US" altLang="en-US" sz="2398"/>
          </a:p>
          <a:p>
            <a:pPr>
              <a:lnSpc>
                <a:spcPct val="110000"/>
              </a:lnSpc>
            </a:pPr>
            <a:endParaRPr lang="en-US" altLang="en-US" sz="2398"/>
          </a:p>
          <a:p>
            <a:pPr lvl="1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1998"/>
              <a:t>where n is the number of tuples,       and      are the respective means of A and B, </a:t>
            </a:r>
            <a:r>
              <a:rPr lang="el-GR" altLang="en-US" sz="1998"/>
              <a:t>σ</a:t>
            </a:r>
            <a:r>
              <a:rPr lang="en-US" altLang="en-US" sz="1998" baseline="-25000"/>
              <a:t>A </a:t>
            </a:r>
            <a:r>
              <a:rPr lang="en-US" altLang="en-US" sz="1998"/>
              <a:t>and </a:t>
            </a:r>
            <a:r>
              <a:rPr lang="el-GR" altLang="en-US" sz="1998"/>
              <a:t>σ</a:t>
            </a:r>
            <a:r>
              <a:rPr lang="en-US" altLang="en-US" sz="1998" baseline="-25000"/>
              <a:t>B </a:t>
            </a:r>
            <a:r>
              <a:rPr lang="en-US" altLang="en-US" sz="1998"/>
              <a:t>are the respective standard deviation of A and B, and </a:t>
            </a:r>
            <a:r>
              <a:rPr lang="el-GR" altLang="en-US" sz="1998"/>
              <a:t>Σ</a:t>
            </a:r>
            <a:r>
              <a:rPr lang="en-US" altLang="en-US" sz="1998"/>
              <a:t>(a</a:t>
            </a:r>
            <a:r>
              <a:rPr lang="en-US" altLang="en-US" sz="1998" baseline="-25000"/>
              <a:t>i</a:t>
            </a:r>
            <a:r>
              <a:rPr lang="en-US" altLang="en-US" sz="1998"/>
              <a:t>b</a:t>
            </a:r>
            <a:r>
              <a:rPr lang="en-US" altLang="en-US" sz="1998" baseline="-25000"/>
              <a:t>i</a:t>
            </a:r>
            <a:r>
              <a:rPr lang="en-US" altLang="en-US" sz="1998"/>
              <a:t>) is the sum of the AB cross-product.</a:t>
            </a:r>
          </a:p>
          <a:p>
            <a:pPr>
              <a:lnSpc>
                <a:spcPct val="110000"/>
              </a:lnSpc>
            </a:pPr>
            <a:r>
              <a:rPr lang="en-US" altLang="en-US" sz="2398"/>
              <a:t>If r</a:t>
            </a:r>
            <a:r>
              <a:rPr lang="en-US" altLang="en-US" sz="2398" baseline="-25000"/>
              <a:t>A,B</a:t>
            </a:r>
            <a:r>
              <a:rPr lang="en-US" altLang="en-US" sz="2398"/>
              <a:t> &gt; 0, A and B are positively correlated (A’s values increase as B’s).  The higher, the stronger correlation.</a:t>
            </a:r>
          </a:p>
          <a:p>
            <a:pPr>
              <a:lnSpc>
                <a:spcPct val="110000"/>
              </a:lnSpc>
            </a:pPr>
            <a:r>
              <a:rPr lang="en-US" altLang="en-US" sz="2398"/>
              <a:t>r</a:t>
            </a:r>
            <a:r>
              <a:rPr lang="en-US" altLang="en-US" sz="2398" baseline="-25000"/>
              <a:t>A,B</a:t>
            </a:r>
            <a:r>
              <a:rPr lang="en-US" altLang="en-US" sz="2398"/>
              <a:t> = 0: independent;  r</a:t>
            </a:r>
            <a:r>
              <a:rPr lang="en-US" altLang="en-US" sz="2398" baseline="-25000"/>
              <a:t>AB</a:t>
            </a:r>
            <a:r>
              <a:rPr lang="en-US" altLang="en-US" sz="2398"/>
              <a:t> &lt; 0: negatively correlated</a:t>
            </a:r>
          </a:p>
        </p:txBody>
      </p:sp>
      <p:graphicFrame>
        <p:nvGraphicFramePr>
          <p:cNvPr id="21509" name="Object 4">
            <a:extLst>
              <a:ext uri="{FF2B5EF4-FFF2-40B4-BE49-F238E27FC236}">
                <a16:creationId xmlns:a16="http://schemas.microsoft.com/office/drawing/2014/main" id="{6C74AD5E-414A-29DB-DBC6-76B5C8EBFF03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431449" y="2474204"/>
          <a:ext cx="5076925" cy="89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6116200" imgH="11696700" progId="Equation.3">
                  <p:embed/>
                </p:oleObj>
              </mc:Choice>
              <mc:Fallback>
                <p:oleObj name="Equation" r:id="rId3" imgW="66116200" imgH="11696700" progId="Equation.3">
                  <p:embed/>
                  <p:pic>
                    <p:nvPicPr>
                      <p:cNvPr id="21509" name="Object 4">
                        <a:extLst>
                          <a:ext uri="{FF2B5EF4-FFF2-40B4-BE49-F238E27FC236}">
                            <a16:creationId xmlns:a16="http://schemas.microsoft.com/office/drawing/2014/main" id="{6C74AD5E-414A-29DB-DBC6-76B5C8EBFF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449" y="2474204"/>
                        <a:ext cx="5076925" cy="89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5">
            <a:extLst>
              <a:ext uri="{FF2B5EF4-FFF2-40B4-BE49-F238E27FC236}">
                <a16:creationId xmlns:a16="http://schemas.microsoft.com/office/drawing/2014/main" id="{A9125BA0-C3A9-7FCF-6626-5FC04A9DF659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6189577" y="3817582"/>
          <a:ext cx="255352" cy="340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05200" imgH="4686300" progId="Equation.3">
                  <p:embed/>
                </p:oleObj>
              </mc:Choice>
              <mc:Fallback>
                <p:oleObj name="Equation" r:id="rId5" imgW="3505200" imgH="4686300" progId="Equation.3">
                  <p:embed/>
                  <p:pic>
                    <p:nvPicPr>
                      <p:cNvPr id="21510" name="Object 5">
                        <a:extLst>
                          <a:ext uri="{FF2B5EF4-FFF2-40B4-BE49-F238E27FC236}">
                            <a16:creationId xmlns:a16="http://schemas.microsoft.com/office/drawing/2014/main" id="{A9125BA0-C3A9-7FCF-6626-5FC04A9DF6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9577" y="3817582"/>
                        <a:ext cx="255352" cy="340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6">
            <a:extLst>
              <a:ext uri="{FF2B5EF4-FFF2-40B4-BE49-F238E27FC236}">
                <a16:creationId xmlns:a16="http://schemas.microsoft.com/office/drawing/2014/main" id="{9C2E9F68-6B94-CAE1-4465-7B96BF9332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5692" y="3760483"/>
          <a:ext cx="295004" cy="391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05200" imgH="4686300" progId="Equation.3">
                  <p:embed/>
                </p:oleObj>
              </mc:Choice>
              <mc:Fallback>
                <p:oleObj name="Equation" r:id="rId7" imgW="3505200" imgH="4686300" progId="Equation.3">
                  <p:embed/>
                  <p:pic>
                    <p:nvPicPr>
                      <p:cNvPr id="21511" name="Object 6">
                        <a:extLst>
                          <a:ext uri="{FF2B5EF4-FFF2-40B4-BE49-F238E27FC236}">
                            <a16:creationId xmlns:a16="http://schemas.microsoft.com/office/drawing/2014/main" id="{9C2E9F68-6B94-CAE1-4465-7B96BF9332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5692" y="3760483"/>
                        <a:ext cx="295004" cy="3917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061">
            <a:extLst>
              <a:ext uri="{FF2B5EF4-FFF2-40B4-BE49-F238E27FC236}">
                <a16:creationId xmlns:a16="http://schemas.microsoft.com/office/drawing/2014/main" id="{6B944607-19B6-6646-879B-192F2DA5723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335" indent="-285513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056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598877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5699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2520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69344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6165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2987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D25005C-3573-664E-9B32-CDE336527BE2}" type="slidenum">
              <a:rPr lang="en-US" altLang="en-US" sz="1199"/>
              <a:pPr eaLnBrk="1" hangingPunct="1"/>
              <a:t>18</a:t>
            </a:fld>
            <a:endParaRPr lang="en-US" altLang="en-US" sz="1199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4905CBB0-E0D1-F71A-D86A-336DE36BDF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8844" y="155406"/>
            <a:ext cx="8272804" cy="551943"/>
          </a:xfrm>
        </p:spPr>
        <p:txBody>
          <a:bodyPr>
            <a:normAutofit/>
          </a:bodyPr>
          <a:lstStyle/>
          <a:p>
            <a:r>
              <a:rPr lang="en-US" altLang="en-US" sz="3196"/>
              <a:t>Visually Evaluating Correlation</a:t>
            </a:r>
          </a:p>
        </p:txBody>
      </p:sp>
      <p:graphicFrame>
        <p:nvGraphicFramePr>
          <p:cNvPr id="22532" name="Object 3">
            <a:extLst>
              <a:ext uri="{FF2B5EF4-FFF2-40B4-BE49-F238E27FC236}">
                <a16:creationId xmlns:a16="http://schemas.microsoft.com/office/drawing/2014/main" id="{F06BAAD2-524E-1C48-CB27-3F7B329A2C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6586" y="992837"/>
          <a:ext cx="6090407" cy="537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5029200" imgH="4819650" progId="Paint.Picture">
                  <p:embed/>
                </p:oleObj>
              </mc:Choice>
              <mc:Fallback>
                <p:oleObj name="Bitmap Image" r:id="rId3" imgW="5029200" imgH="4819650" progId="Paint.Picture">
                  <p:embed/>
                  <p:pic>
                    <p:nvPicPr>
                      <p:cNvPr id="22532" name="Object 3">
                        <a:extLst>
                          <a:ext uri="{FF2B5EF4-FFF2-40B4-BE49-F238E27FC236}">
                            <a16:creationId xmlns:a16="http://schemas.microsoft.com/office/drawing/2014/main" id="{F06BAAD2-524E-1C48-CB27-3F7B329A2C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7918"/>
                      <a:stretch>
                        <a:fillRect/>
                      </a:stretch>
                    </p:blipFill>
                    <p:spPr bwMode="auto">
                      <a:xfrm>
                        <a:off x="1756586" y="992837"/>
                        <a:ext cx="6090407" cy="537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Text Box 4">
            <a:extLst>
              <a:ext uri="{FF2B5EF4-FFF2-40B4-BE49-F238E27FC236}">
                <a16:creationId xmlns:a16="http://schemas.microsoft.com/office/drawing/2014/main" id="{A3F65A61-A358-6944-5BF1-0EDAF3F49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9903" y="2972220"/>
            <a:ext cx="1827122" cy="1199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799" b="1">
                <a:latin typeface="Arial" panose="020B0604020202020204" pitchFamily="34" charset="0"/>
              </a:rPr>
              <a:t>Scatter plots showing the similarity from –1 to 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31887F5-CF79-15A8-6D05-885306DD316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51748" y="2637564"/>
            <a:ext cx="7765269" cy="1468677"/>
          </a:xfrm>
        </p:spPr>
        <p:txBody>
          <a:bodyPr/>
          <a:lstStyle/>
          <a:p>
            <a:r>
              <a:rPr lang="es-ES" altLang="en-US">
                <a:ea typeface="ＭＳ Ｐゴシック" panose="020B0600070205080204" pitchFamily="34" charset="-128"/>
              </a:rPr>
              <a:t>Data Reduction</a:t>
            </a:r>
            <a:endParaRPr lang="es-ES" altLang="en-US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B6C51FC-4A62-3673-841A-8010355F37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ea typeface="ＭＳ Ｐゴシック" panose="020B0600070205080204" pitchFamily="34" charset="-128"/>
              </a:rPr>
              <a:t>Data Reduction</a:t>
            </a:r>
            <a:endParaRPr lang="es-ES" altLang="en-US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E41B026-99E5-5926-2E89-2591A09A67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13924" indent="-513924">
              <a:buFontTx/>
              <a:buAutoNum type="arabicPeriod"/>
            </a:pPr>
            <a:r>
              <a:rPr lang="es-ES" altLang="en-US">
                <a:ea typeface="ＭＳ Ｐゴシック" panose="020B0600070205080204" pitchFamily="34" charset="-128"/>
              </a:rPr>
              <a:t>Overview</a:t>
            </a:r>
          </a:p>
          <a:p>
            <a:pPr marL="513924" indent="-513924">
              <a:buFontTx/>
              <a:buAutoNum type="arabicPeriod"/>
            </a:pPr>
            <a:r>
              <a:rPr lang="es-ES" altLang="en-US">
                <a:ea typeface="ＭＳ Ｐゴシック" panose="020B0600070205080204" pitchFamily="34" charset="-128"/>
              </a:rPr>
              <a:t>The Curse of Dimensionality</a:t>
            </a:r>
          </a:p>
          <a:p>
            <a:pPr marL="513924" indent="-513924">
              <a:buFontTx/>
              <a:buAutoNum type="arabicPeriod"/>
            </a:pPr>
            <a:r>
              <a:rPr lang="es-ES" altLang="en-US">
                <a:ea typeface="ＭＳ Ｐゴシック" panose="020B0600070205080204" pitchFamily="34" charset="-128"/>
              </a:rPr>
              <a:t>Data Sampling</a:t>
            </a:r>
          </a:p>
          <a:p>
            <a:pPr marL="513924" indent="-513924">
              <a:buFontTx/>
              <a:buAutoNum type="arabicPeriod"/>
            </a:pPr>
            <a:r>
              <a:rPr lang="es-ES" altLang="en-US">
                <a:ea typeface="ＭＳ Ｐゴシック" panose="020B0600070205080204" pitchFamily="34" charset="-128"/>
              </a:rPr>
              <a:t>Binning and Reduction of Cardinality</a:t>
            </a:r>
          </a:p>
          <a:p>
            <a:pPr marL="513924" indent="-513924">
              <a:buFontTx/>
              <a:buAutoNum type="arabicPeriod"/>
            </a:pPr>
            <a:endParaRPr lang="es-ES" altLang="en-US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47FEB8A-FE3A-98EB-B5BC-7FC4D5776F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ea typeface="ＭＳ Ｐゴシック" panose="020B0600070205080204" pitchFamily="34" charset="-128"/>
              </a:rPr>
              <a:t>Overview</a:t>
            </a:r>
            <a:endParaRPr lang="es-ES" altLang="en-US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22793A0-F702-1EB6-0BD0-CB941B9FE9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altLang="en-US">
                <a:ea typeface="ＭＳ Ｐゴシック" panose="020B0600070205080204" pitchFamily="34" charset="-128"/>
              </a:rPr>
              <a:t>Data reduction techniques can be applied to achieve a reduced representation of the data set.</a:t>
            </a:r>
          </a:p>
          <a:p>
            <a:pPr algn="just"/>
            <a:r>
              <a:rPr lang="es-ES" altLang="en-US">
                <a:ea typeface="ＭＳ Ｐゴシック" panose="020B0600070205080204" pitchFamily="34" charset="-128"/>
              </a:rPr>
              <a:t>The goal is to provide the mining process with a mechanism to produce the same (or almost the same) outcome when it is applied over reduced data instead of the original data.</a:t>
            </a:r>
          </a:p>
          <a:p>
            <a:endParaRPr lang="es-ES" altLang="en-US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0A7096D-AB86-5E78-2BC7-A08591035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ea typeface="ＭＳ Ｐゴシック" panose="020B0600070205080204" pitchFamily="34" charset="-128"/>
              </a:rPr>
              <a:t>Overview</a:t>
            </a:r>
            <a:endParaRPr lang="es-ES" altLang="en-US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D5C9ACA-5584-FB37-0DA8-0A20A76F88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altLang="en-US">
                <a:ea typeface="ＭＳ Ｐゴシック" panose="020B0600070205080204" pitchFamily="34" charset="-128"/>
              </a:rPr>
              <a:t>Data Reduction techniques are usually </a:t>
            </a:r>
            <a:r>
              <a:rPr lang="es-E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categorized into three main families:</a:t>
            </a:r>
          </a:p>
          <a:p>
            <a:pPr algn="just"/>
            <a:endParaRPr lang="es-ES" altLang="en-US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lvl="1" algn="just"/>
            <a:r>
              <a:rPr lang="es-ES" altLang="en-US" sz="2398" b="1">
                <a:solidFill>
                  <a:srgbClr val="000000"/>
                </a:solidFill>
                <a:ea typeface="ＭＳ Ｐゴシック" panose="020B0600070205080204" pitchFamily="34" charset="-128"/>
              </a:rPr>
              <a:t>Dimensionality Reduction: </a:t>
            </a:r>
            <a:r>
              <a:rPr lang="es-ES" altLang="en-US" sz="2398">
                <a:solidFill>
                  <a:srgbClr val="000000"/>
                </a:solidFill>
                <a:ea typeface="ＭＳ Ｐゴシック" panose="020B0600070205080204" pitchFamily="34" charset="-128"/>
              </a:rPr>
              <a:t>ensures the reduction of the number of attributes or random variables in the data set.</a:t>
            </a:r>
          </a:p>
          <a:p>
            <a:pPr lvl="1" algn="just"/>
            <a:r>
              <a:rPr lang="es-ES" altLang="en-US" sz="2398" b="1">
                <a:solidFill>
                  <a:srgbClr val="000000"/>
                </a:solidFill>
                <a:ea typeface="ＭＳ Ｐゴシック" panose="020B0600070205080204" pitchFamily="34" charset="-128"/>
              </a:rPr>
              <a:t>Sample Numerosity Reduction: </a:t>
            </a:r>
            <a:r>
              <a:rPr lang="es-ES" altLang="en-US" sz="2398">
                <a:solidFill>
                  <a:srgbClr val="000000"/>
                </a:solidFill>
                <a:ea typeface="ＭＳ Ｐゴシック" panose="020B0600070205080204" pitchFamily="34" charset="-128"/>
              </a:rPr>
              <a:t>replaces the original data by an alternative smaller data representation</a:t>
            </a:r>
          </a:p>
          <a:p>
            <a:pPr lvl="1" algn="just"/>
            <a:r>
              <a:rPr lang="es-ES" altLang="en-US" sz="2398" b="1">
                <a:solidFill>
                  <a:srgbClr val="000000"/>
                </a:solidFill>
                <a:ea typeface="ＭＳ Ｐゴシック" panose="020B0600070205080204" pitchFamily="34" charset="-128"/>
              </a:rPr>
              <a:t>Cardinality Reduction: </a:t>
            </a:r>
            <a:r>
              <a:rPr lang="es-ES" altLang="en-US" sz="2398">
                <a:solidFill>
                  <a:srgbClr val="000000"/>
                </a:solidFill>
                <a:ea typeface="ＭＳ Ｐゴシック" panose="020B0600070205080204" pitchFamily="34" charset="-128"/>
              </a:rPr>
              <a:t>transformations applied to obtain a reduced representation of the original 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FD09FBA-395B-5E63-9E51-EDA41999D4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ea typeface="ＭＳ Ｐゴシック" panose="020B0600070205080204" pitchFamily="34" charset="-128"/>
              </a:rPr>
              <a:t>The Curse of Dimensionality</a:t>
            </a:r>
            <a:endParaRPr lang="es-ES" altLang="en-US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6AA32410-A348-9F1C-7DC3-EBEADE3E42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altLang="en-US">
                <a:ea typeface="ＭＳ Ｐゴシック" panose="020B0600070205080204" pitchFamily="34" charset="-128"/>
              </a:rPr>
              <a:t>Dimensionality becomes a serious obstacle for the efficiency of most of the DM algorithms.</a:t>
            </a:r>
          </a:p>
          <a:p>
            <a:pPr algn="just"/>
            <a:endParaRPr lang="es-ES" altLang="en-US">
              <a:ea typeface="ＭＳ Ｐゴシック" panose="020B0600070205080204" pitchFamily="34" charset="-128"/>
            </a:endParaRPr>
          </a:p>
          <a:p>
            <a:pPr algn="just"/>
            <a:r>
              <a:rPr lang="es-ES" altLang="en-US">
                <a:ea typeface="ＭＳ Ｐゴシック" panose="020B0600070205080204" pitchFamily="34" charset="-128"/>
              </a:rPr>
              <a:t>It has been estimated that as the number of dimensions increase, the sample size needs to increase exponentially in order to have an effective estimate of multivariate densities.</a:t>
            </a:r>
            <a:endParaRPr lang="es-ES" altLang="en-US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A02652A-5B38-2B43-66A6-D98ED90927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ea typeface="ＭＳ Ｐゴシック" panose="020B0600070205080204" pitchFamily="34" charset="-128"/>
              </a:rPr>
              <a:t>The Curse of Dimensionality</a:t>
            </a:r>
            <a:endParaRPr lang="es-ES" altLang="en-US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A766C57C-8E24-A601-DB90-8B1815EE65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>
              <a:defRPr/>
            </a:pPr>
            <a:r>
              <a:rPr lang="es-ES">
                <a:ea typeface="ＭＳ Ｐゴシック" pitchFamily="34" charset="-128"/>
              </a:rPr>
              <a:t>Several dimension reducers have been developed over the years.</a:t>
            </a:r>
          </a:p>
          <a:p>
            <a:pPr algn="just">
              <a:defRPr/>
            </a:pPr>
            <a:r>
              <a:rPr lang="es-ES">
                <a:ea typeface="ＭＳ Ｐゴシック" pitchFamily="34" charset="-128"/>
              </a:rPr>
              <a:t>Linear methods:</a:t>
            </a:r>
          </a:p>
          <a:p>
            <a:pPr lvl="1" algn="just">
              <a:defRPr/>
            </a:pPr>
            <a:r>
              <a:rPr lang="es-ES">
                <a:ea typeface="ＭＳ Ｐゴシック" pitchFamily="34" charset="-128"/>
              </a:rPr>
              <a:t>Factor analysis</a:t>
            </a:r>
          </a:p>
          <a:p>
            <a:pPr lvl="1" algn="just">
              <a:defRPr/>
            </a:pPr>
            <a:r>
              <a:rPr lang="es-ES">
                <a:ea typeface="ＭＳ Ｐゴシック" pitchFamily="34" charset="-128"/>
              </a:rPr>
              <a:t>MultiDimensional Scaling</a:t>
            </a:r>
          </a:p>
          <a:p>
            <a:pPr lvl="1" algn="just">
              <a:defRPr/>
            </a:pPr>
            <a:r>
              <a:rPr lang="es-ES">
                <a:ea typeface="ＭＳ Ｐゴシック" pitchFamily="34" charset="-128"/>
              </a:rPr>
              <a:t>Principal Components Analysis</a:t>
            </a:r>
          </a:p>
          <a:p>
            <a:pPr algn="just">
              <a:defRPr/>
            </a:pPr>
            <a:r>
              <a:rPr lang="es-ES">
                <a:ea typeface="ＭＳ Ｐゴシック" pitchFamily="34" charset="-128"/>
              </a:rPr>
              <a:t>Nonlinear methods:</a:t>
            </a:r>
          </a:p>
          <a:p>
            <a:pPr lvl="1" algn="just">
              <a:defRPr/>
            </a:pPr>
            <a:r>
              <a:rPr lang="es-ES">
                <a:ea typeface="ＭＳ Ｐゴシック" pitchFamily="34" charset="-128"/>
              </a:rPr>
              <a:t>Locally Linear Embedding</a:t>
            </a:r>
          </a:p>
          <a:p>
            <a:pPr lvl="1" algn="just">
              <a:defRPr/>
            </a:pPr>
            <a:r>
              <a:rPr lang="es-ES">
                <a:ea typeface="ＭＳ Ｐゴシック" pitchFamily="34" charset="-128"/>
              </a:rPr>
              <a:t>ISOMAP</a:t>
            </a:r>
          </a:p>
          <a:p>
            <a:pPr algn="just">
              <a:defRPr/>
            </a:pPr>
            <a:endParaRPr lang="es-ES">
              <a:solidFill>
                <a:schemeClr val="bg2"/>
              </a:solidFill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5C40E9CF-8862-6C2F-08EF-3E9E45EF54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s-ES">
                <a:ea typeface="ＭＳ Ｐゴシック" pitchFamily="34" charset="-128"/>
              </a:rPr>
              <a:t>The Curse of Dimensionality: Principal Components Analysis</a:t>
            </a:r>
            <a:endParaRPr lang="es-ES">
              <a:solidFill>
                <a:schemeClr val="bg2"/>
              </a:solidFill>
              <a:ea typeface="ＭＳ Ｐゴシック" pitchFamily="34" charset="-128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C3475F6-3220-DBF1-6605-9FEB45609F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4975" y="1641530"/>
            <a:ext cx="8222050" cy="4521809"/>
          </a:xfrm>
        </p:spPr>
        <p:txBody>
          <a:bodyPr/>
          <a:lstStyle/>
          <a:p>
            <a:pPr algn="just"/>
            <a:r>
              <a:rPr lang="es-ES" altLang="en-US" sz="2798">
                <a:ea typeface="ＭＳ Ｐゴシック" panose="020B0600070205080204" pitchFamily="34" charset="-128"/>
              </a:rPr>
              <a:t>Find a set of linear transformations of the original variables which could describe most of the variance using a relatively fewer number of variables.</a:t>
            </a:r>
          </a:p>
          <a:p>
            <a:pPr algn="just"/>
            <a:r>
              <a:rPr lang="es-ES" altLang="en-US" sz="2798">
                <a:ea typeface="ＭＳ Ｐゴシック" panose="020B0600070205080204" pitchFamily="34" charset="-128"/>
              </a:rPr>
              <a:t>It is usual to keep only the first few principal components that may contain 95% or more of the variance of the original data set.</a:t>
            </a:r>
          </a:p>
          <a:p>
            <a:pPr algn="just"/>
            <a:r>
              <a:rPr lang="es-ES" altLang="en-US" sz="2798">
                <a:ea typeface="ＭＳ Ｐゴシック" panose="020B0600070205080204" pitchFamily="34" charset="-128"/>
              </a:rPr>
              <a:t>PCA is useful when there are too many independent variables and they show high correlation.</a:t>
            </a:r>
          </a:p>
          <a:p>
            <a:pPr algn="just"/>
            <a:endParaRPr lang="es-E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8CA3A290-48BC-D142-3B03-D607CF870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s-ES">
                <a:ea typeface="ＭＳ Ｐゴシック" pitchFamily="34" charset="-128"/>
              </a:rPr>
              <a:t>The Curse of Dimensionality: Principal Components Analysis</a:t>
            </a:r>
            <a:endParaRPr lang="es-ES">
              <a:solidFill>
                <a:schemeClr val="bg2"/>
              </a:solidFill>
              <a:ea typeface="ＭＳ Ｐゴシック" pitchFamily="34" charset="-128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7085A6F-7B3D-87E2-054C-7653110B17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altLang="en-US">
                <a:ea typeface="ＭＳ Ｐゴシック" panose="020B0600070205080204" pitchFamily="34" charset="-128"/>
              </a:rPr>
              <a:t>Procedure:</a:t>
            </a:r>
          </a:p>
          <a:p>
            <a:pPr lvl="1" algn="just"/>
            <a:r>
              <a:rPr lang="es-ES" altLang="en-US">
                <a:ea typeface="ＭＳ Ｐゴシック" panose="020B0600070205080204" pitchFamily="34" charset="-128"/>
              </a:rPr>
              <a:t>Normalize input data.</a:t>
            </a:r>
          </a:p>
          <a:p>
            <a:pPr lvl="1" algn="just"/>
            <a:r>
              <a:rPr lang="es-ES" altLang="en-US">
                <a:ea typeface="ＭＳ Ｐゴシック" panose="020B0600070205080204" pitchFamily="34" charset="-128"/>
              </a:rPr>
              <a:t>Compute </a:t>
            </a:r>
            <a:r>
              <a:rPr lang="es-ES" altLang="en-US" i="1">
                <a:ea typeface="ＭＳ Ｐゴシック" panose="020B0600070205080204" pitchFamily="34" charset="-128"/>
              </a:rPr>
              <a:t>k</a:t>
            </a:r>
            <a:r>
              <a:rPr lang="es-ES" altLang="en-US">
                <a:ea typeface="ＭＳ Ｐゴシック" panose="020B0600070205080204" pitchFamily="34" charset="-128"/>
              </a:rPr>
              <a:t> orthonormal vectors (principal components).</a:t>
            </a:r>
          </a:p>
          <a:p>
            <a:pPr lvl="1" algn="just"/>
            <a:r>
              <a:rPr lang="es-ES" altLang="en-US">
                <a:ea typeface="ＭＳ Ｐゴシック" panose="020B0600070205080204" pitchFamily="34" charset="-128"/>
              </a:rPr>
              <a:t>Sort the PCs according to their strength, given by their eigenvalues.</a:t>
            </a:r>
          </a:p>
          <a:p>
            <a:pPr lvl="1" algn="just"/>
            <a:r>
              <a:rPr lang="es-ES" altLang="en-US">
                <a:ea typeface="ＭＳ Ｐゴシック" panose="020B0600070205080204" pitchFamily="34" charset="-128"/>
              </a:rPr>
              <a:t>Reduce data by removing weaker components.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0958596B-C4C2-3CA9-F7E4-99A258D74C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s-ES">
                <a:ea typeface="ＭＳ Ｐゴシック" pitchFamily="34" charset="-128"/>
              </a:rPr>
              <a:t>The Curse of Dimensionality: Principal Components Analysis</a:t>
            </a:r>
            <a:endParaRPr lang="es-ES">
              <a:solidFill>
                <a:schemeClr val="bg2"/>
              </a:solidFill>
              <a:ea typeface="ＭＳ Ｐゴシック" pitchFamily="34" charset="-128"/>
            </a:endParaRPr>
          </a:p>
        </p:txBody>
      </p:sp>
      <p:pic>
        <p:nvPicPr>
          <p:cNvPr id="13315" name="Imagen 1">
            <a:extLst>
              <a:ext uri="{FF2B5EF4-FFF2-40B4-BE49-F238E27FC236}">
                <a16:creationId xmlns:a16="http://schemas.microsoft.com/office/drawing/2014/main" id="{5168B62A-C292-0A55-642B-84981DA8E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0256" y="1586019"/>
            <a:ext cx="6827919" cy="5224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3D036D6-F543-1FE3-96A7-FEC21E96AD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ea typeface="ＭＳ Ｐゴシック" panose="020B0600070205080204" pitchFamily="34" charset="-128"/>
              </a:rPr>
              <a:t>Data Sampling</a:t>
            </a:r>
            <a:endParaRPr lang="es-ES" altLang="en-US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624448D-915D-6D8D-A814-96185D6D8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altLang="en-US" sz="2798" dirty="0" err="1">
                <a:ea typeface="ＭＳ Ｐゴシック" panose="020B0600070205080204" pitchFamily="34" charset="-128"/>
              </a:rPr>
              <a:t>To</a:t>
            </a:r>
            <a:r>
              <a:rPr lang="es-ES" altLang="en-US" sz="2798" dirty="0">
                <a:ea typeface="ＭＳ Ｐゴシック" panose="020B0600070205080204" pitchFamily="34" charset="-128"/>
              </a:rPr>
              <a:t> reduce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the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number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of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instances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submitted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to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the</a:t>
            </a:r>
            <a:r>
              <a:rPr lang="es-ES" altLang="en-US" sz="2798" dirty="0">
                <a:ea typeface="ＭＳ Ｐゴシック" panose="020B0600070205080204" pitchFamily="34" charset="-128"/>
              </a:rPr>
              <a:t> DM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algorithm</a:t>
            </a:r>
            <a:r>
              <a:rPr lang="es-ES" altLang="en-US" sz="2798" dirty="0">
                <a:ea typeface="ＭＳ Ｐゴシック" panose="020B0600070205080204" pitchFamily="34" charset="-128"/>
              </a:rPr>
              <a:t>.</a:t>
            </a:r>
          </a:p>
          <a:p>
            <a:pPr algn="just"/>
            <a:r>
              <a:rPr lang="es-ES" altLang="en-US" sz="2798" dirty="0" err="1">
                <a:ea typeface="ＭＳ Ｐゴシック" panose="020B0600070205080204" pitchFamily="34" charset="-128"/>
              </a:rPr>
              <a:t>To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support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the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selection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of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only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those</a:t>
            </a:r>
            <a:r>
              <a:rPr lang="es-ES" altLang="en-US" sz="2798" dirty="0">
                <a:ea typeface="ＭＳ Ｐゴシック" panose="020B0600070205080204" pitchFamily="34" charset="-128"/>
              </a:rPr>
              <a:t> cases in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which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the</a:t>
            </a:r>
            <a:r>
              <a:rPr lang="es-ES" altLang="en-US" sz="2798" dirty="0">
                <a:ea typeface="ＭＳ Ｐゴシック" panose="020B0600070205080204" pitchFamily="34" charset="-128"/>
              </a:rPr>
              <a:t> response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is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relatively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homogeneous</a:t>
            </a:r>
            <a:r>
              <a:rPr lang="es-ES" altLang="en-US" sz="2798" b="1" dirty="0">
                <a:ea typeface="ＭＳ Ｐゴシック" panose="020B0600070205080204" pitchFamily="34" charset="-128"/>
              </a:rPr>
              <a:t>.</a:t>
            </a:r>
          </a:p>
          <a:p>
            <a:pPr algn="just"/>
            <a:r>
              <a:rPr lang="es-ES" altLang="en-US" sz="2798" dirty="0" err="1">
                <a:ea typeface="ＭＳ Ｐゴシック" panose="020B0600070205080204" pitchFamily="34" charset="-128"/>
              </a:rPr>
              <a:t>To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assist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regarding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the</a:t>
            </a:r>
            <a:r>
              <a:rPr lang="es-ES" altLang="en-US" sz="2798" dirty="0">
                <a:ea typeface="ＭＳ Ｐゴシック" panose="020B0600070205080204" pitchFamily="34" charset="-128"/>
              </a:rPr>
              <a:t> balance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of</a:t>
            </a:r>
            <a:r>
              <a:rPr lang="es-ES" altLang="en-US" sz="2798" dirty="0">
                <a:ea typeface="ＭＳ Ｐゴシック" panose="020B0600070205080204" pitchFamily="34" charset="-128"/>
              </a:rPr>
              <a:t> data and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occurrence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of</a:t>
            </a:r>
            <a:r>
              <a:rPr lang="es-ES" altLang="en-US" sz="2798" dirty="0">
                <a:ea typeface="ＭＳ Ｐゴシック" panose="020B0600070205080204" pitchFamily="34" charset="-128"/>
              </a:rPr>
              <a:t> rare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events</a:t>
            </a:r>
            <a:r>
              <a:rPr lang="es-ES" altLang="en-US" sz="2798" b="1" dirty="0">
                <a:ea typeface="ＭＳ Ｐゴシック" panose="020B0600070205080204" pitchFamily="34" charset="-128"/>
              </a:rPr>
              <a:t>.</a:t>
            </a:r>
          </a:p>
          <a:p>
            <a:pPr algn="just"/>
            <a:r>
              <a:rPr lang="es-ES" altLang="en-US" sz="2798" dirty="0" err="1">
                <a:ea typeface="ＭＳ Ｐゴシック" panose="020B0600070205080204" pitchFamily="34" charset="-128"/>
              </a:rPr>
              <a:t>To</a:t>
            </a:r>
            <a:r>
              <a:rPr lang="es-ES" altLang="en-US" sz="2798" dirty="0">
                <a:ea typeface="ＭＳ Ｐゴシック" panose="020B0600070205080204" pitchFamily="34" charset="-128"/>
              </a:rPr>
              <a:t> divide a data set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into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three</a:t>
            </a:r>
            <a:r>
              <a:rPr lang="es-ES" altLang="en-US" sz="2798" dirty="0">
                <a:ea typeface="ＭＳ Ｐゴシック" panose="020B0600070205080204" pitchFamily="34" charset="-128"/>
              </a:rPr>
              <a:t> data sets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to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carry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out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the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subsequent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analysis</a:t>
            </a:r>
            <a:r>
              <a:rPr lang="es-ES" altLang="en-US" sz="2798" dirty="0">
                <a:ea typeface="ＭＳ Ｐゴシック" panose="020B0600070205080204" pitchFamily="34" charset="-128"/>
              </a:rPr>
              <a:t>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of</a:t>
            </a:r>
            <a:r>
              <a:rPr lang="es-ES" altLang="en-US" sz="2798" dirty="0">
                <a:ea typeface="ＭＳ Ｐゴシック" panose="020B0600070205080204" pitchFamily="34" charset="-128"/>
              </a:rPr>
              <a:t> DM </a:t>
            </a:r>
            <a:r>
              <a:rPr lang="es-ES" altLang="en-US" sz="2798" dirty="0" err="1">
                <a:ea typeface="ＭＳ Ｐゴシック" panose="020B0600070205080204" pitchFamily="34" charset="-128"/>
              </a:rPr>
              <a:t>algorithms</a:t>
            </a:r>
            <a:r>
              <a:rPr lang="es-ES" altLang="en-US" sz="2798" b="1" dirty="0">
                <a:ea typeface="ＭＳ Ｐゴシック" panose="020B0600070205080204" pitchFamily="34" charset="-128"/>
              </a:rPr>
              <a:t>.</a:t>
            </a:r>
          </a:p>
          <a:p>
            <a:endParaRPr lang="es-ES" altLang="en-US" dirty="0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FC0FBA0-EDBA-CAA1-AA99-63DD916C49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n-US">
                <a:ea typeface="ＭＳ Ｐゴシック" panose="020B0600070205080204" pitchFamily="34" charset="-128"/>
              </a:rPr>
              <a:t>Data Sampling: </a:t>
            </a:r>
            <a:br>
              <a:rPr lang="es-ES" altLang="en-US">
                <a:ea typeface="ＭＳ Ｐゴシック" panose="020B0600070205080204" pitchFamily="34" charset="-128"/>
              </a:rPr>
            </a:br>
            <a:r>
              <a:rPr lang="es-ES" altLang="en-US">
                <a:ea typeface="ＭＳ Ｐゴシック" panose="020B0600070205080204" pitchFamily="34" charset="-128"/>
              </a:rPr>
              <a:t>Data Clustering</a:t>
            </a:r>
            <a:endParaRPr lang="es-ES" altLang="en-US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26627" name="Imagen 2">
            <a:extLst>
              <a:ext uri="{FF2B5EF4-FFF2-40B4-BE49-F238E27FC236}">
                <a16:creationId xmlns:a16="http://schemas.microsoft.com/office/drawing/2014/main" id="{D434B378-A8DA-2CFA-F2CF-8D0868F85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226" y="1990458"/>
            <a:ext cx="6978591" cy="4593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65016-E508-688A-2796-37B155EF9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59295DF-4256-91F8-2ECC-D58E74239C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5822" y="2748130"/>
            <a:ext cx="11140357" cy="2506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eaLnBrk="1" fontAlgn="base" hangingPunct="1">
              <a:spcBef>
                <a:spcPts val="1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+mn-lt"/>
                <a:ea typeface="ＭＳ Ｐゴシック" panose="020B0600070205080204" pitchFamily="34" charset="-128"/>
              </a:rPr>
              <a:t>Scenario : Categorical Data</a:t>
            </a:r>
          </a:p>
          <a:p>
            <a:pPr marR="0" lvl="0" algn="just" eaLnBrk="1" fontAlgn="base" hangingPunct="1"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+mn-lt"/>
                <a:ea typeface="ＭＳ Ｐゴシック" panose="020B0600070205080204" pitchFamily="34" charset="-128"/>
              </a:rPr>
              <a:t>A dataset contains a column “Department” with values: Sales, HR, IT, Marketing.</a:t>
            </a:r>
          </a:p>
          <a:p>
            <a:pPr marL="0" marR="0" lvl="0" indent="0" algn="just" eaLnBrk="1" fontAlgn="base" hangingPunct="1">
              <a:spcBef>
                <a:spcPts val="1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+mn-lt"/>
                <a:ea typeface="ＭＳ Ｐゴシック" panose="020B0600070205080204" pitchFamily="34" charset="-128"/>
              </a:rPr>
              <a:t>Questions:</a:t>
            </a:r>
          </a:p>
          <a:p>
            <a:pPr marR="0" lvl="0" algn="just" eaLnBrk="1" fontAlgn="base" hangingPunct="1"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+mn-lt"/>
                <a:ea typeface="ＭＳ Ｐゴシック" panose="020B0600070205080204" pitchFamily="34" charset="-128"/>
              </a:rPr>
              <a:t>How would you preprocess this categorical feature for use in a machine learning model? Explain your choice.</a:t>
            </a:r>
          </a:p>
          <a:p>
            <a:pPr marR="0" lvl="0" algn="just" eaLnBrk="1" fontAlgn="base" hangingPunct="1"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+mn-lt"/>
                <a:ea typeface="ＭＳ Ｐゴシック" panose="020B0600070205080204" pitchFamily="34" charset="-128"/>
              </a:rPr>
              <a:t>What issues could arise if you assign arbitrary numeric values to the categories?</a:t>
            </a:r>
          </a:p>
          <a:p>
            <a:pPr marR="0" lvl="0" algn="just" eaLnBrk="1" fontAlgn="base" hangingPunct="1"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+mn-lt"/>
                <a:ea typeface="ＭＳ Ｐゴシック" panose="020B0600070205080204" pitchFamily="34" charset="-128"/>
              </a:rPr>
              <a:t>How could your preprocessing decision affect model interpretability and accuracy?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1598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061">
            <a:extLst>
              <a:ext uri="{FF2B5EF4-FFF2-40B4-BE49-F238E27FC236}">
                <a16:creationId xmlns:a16="http://schemas.microsoft.com/office/drawing/2014/main" id="{B55DF170-B6D4-07C3-2012-4339479EA207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8760552" y="6474204"/>
            <a:ext cx="1903253" cy="38065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335" indent="-285513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056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598877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5699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2520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69344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6165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2987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C496EAE-E4DA-E144-B216-BBD9FADBE47E}" type="slidenum">
              <a:rPr lang="en-US" altLang="en-US" sz="1199"/>
              <a:pPr eaLnBrk="1" hangingPunct="1"/>
              <a:t>31</a:t>
            </a:fld>
            <a:endParaRPr lang="en-US" altLang="en-US" sz="1199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41CEEE6A-D506-6B99-3A92-26AE4A7788F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023041" y="307667"/>
            <a:ext cx="8047585" cy="60904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Data Transformation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3D721A6E-D7B9-12A4-93A3-CF991A53D6A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32715" y="1221230"/>
            <a:ext cx="8298181" cy="5329106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1998"/>
              <a:t>A function that maps the entire set of values of a given attribute to a new set of replacement values s.t. each old value can be identified with one of the new values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1998"/>
              <a:t>Methods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1998"/>
              <a:t>Smoothing: Remove noise from data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1998"/>
              <a:t>Attribute/feature construction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en-US" sz="1998"/>
              <a:t>New attributes constructed from the given ones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1998"/>
              <a:t>Aggregation: Summarization, data cube construction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1998"/>
              <a:t>Normalization: Scaled to fall within a smaller, specified range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en-US" sz="1998"/>
              <a:t>min-max normalization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en-US" sz="1998"/>
              <a:t>z-score normalization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en-US" sz="1998"/>
              <a:t>normalization by decimal scaling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1998"/>
              <a:t>Discretization: Concept hierarchy climbing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061">
            <a:extLst>
              <a:ext uri="{FF2B5EF4-FFF2-40B4-BE49-F238E27FC236}">
                <a16:creationId xmlns:a16="http://schemas.microsoft.com/office/drawing/2014/main" id="{D99CBC26-0CD7-D63F-BE87-F7E03C0DA0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335" indent="-285513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056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598877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5699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2520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69344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6165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2987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61F8A5D-FB81-5E47-8A16-F10C8B38AEE3}" type="slidenum">
              <a:rPr lang="en-US" altLang="en-US" sz="1199"/>
              <a:pPr eaLnBrk="1" hangingPunct="1"/>
              <a:t>32</a:t>
            </a:fld>
            <a:endParaRPr lang="en-US" altLang="en-US" sz="1199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BD8C0A31-4952-33CB-A354-EEEBED553E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8195" y="383796"/>
            <a:ext cx="9135611" cy="60904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Normalization</a:t>
            </a: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DBC6981B-AA82-E0EC-661F-A35F8CAE7A0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32715" y="1297358"/>
            <a:ext cx="8298181" cy="5024586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1998" b="1"/>
              <a:t>Min-max normalization</a:t>
            </a:r>
            <a:r>
              <a:rPr lang="en-US" altLang="en-US" sz="1998"/>
              <a:t>: to [new_min</a:t>
            </a:r>
            <a:r>
              <a:rPr lang="en-US" altLang="en-US" sz="1998" baseline="-25000"/>
              <a:t>A</a:t>
            </a:r>
            <a:r>
              <a:rPr lang="en-US" altLang="en-US" sz="1998"/>
              <a:t>, new_max</a:t>
            </a:r>
            <a:r>
              <a:rPr lang="en-US" altLang="en-US" sz="1998" baseline="-25000"/>
              <a:t>A</a:t>
            </a:r>
            <a:r>
              <a:rPr lang="en-US" altLang="en-US" sz="1998"/>
              <a:t>]</a:t>
            </a:r>
          </a:p>
          <a:p>
            <a:pPr lvl="1" eaLnBrk="1" hangingPunct="1">
              <a:lnSpc>
                <a:spcPct val="120000"/>
              </a:lnSpc>
            </a:pPr>
            <a:endParaRPr lang="en-US" altLang="en-US" sz="1998"/>
          </a:p>
          <a:p>
            <a:pPr lvl="1" eaLnBrk="1" hangingPunct="1">
              <a:lnSpc>
                <a:spcPct val="120000"/>
              </a:lnSpc>
            </a:pPr>
            <a:endParaRPr lang="en-US" altLang="en-US" sz="1998"/>
          </a:p>
          <a:p>
            <a:pPr lvl="1" eaLnBrk="1" hangingPunct="1">
              <a:lnSpc>
                <a:spcPct val="120000"/>
              </a:lnSpc>
            </a:pPr>
            <a:r>
              <a:rPr lang="en-US" altLang="en-US" sz="1998"/>
              <a:t>Ex.  Let income range $12,000 to $98,000 normalized to [0.0, 1.0].  Then $73,000 is mapped to 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998" b="1"/>
              <a:t>Z-score normalization</a:t>
            </a:r>
            <a:r>
              <a:rPr lang="en-US" altLang="en-US" sz="1998"/>
              <a:t> (</a:t>
            </a:r>
            <a:r>
              <a:rPr lang="el-GR" altLang="en-US" sz="1998"/>
              <a:t>μ</a:t>
            </a:r>
            <a:r>
              <a:rPr lang="en-US" altLang="en-US" sz="1998"/>
              <a:t>: mean, </a:t>
            </a:r>
            <a:r>
              <a:rPr lang="el-GR" altLang="en-US" sz="1998"/>
              <a:t>σ</a:t>
            </a:r>
            <a:r>
              <a:rPr lang="en-US" altLang="en-US" sz="1998"/>
              <a:t>: standard deviation):</a:t>
            </a:r>
          </a:p>
          <a:p>
            <a:pPr eaLnBrk="1" hangingPunct="1">
              <a:lnSpc>
                <a:spcPct val="120000"/>
              </a:lnSpc>
            </a:pPr>
            <a:endParaRPr lang="en-US" altLang="en-US" sz="1998"/>
          </a:p>
          <a:p>
            <a:pPr lvl="1" eaLnBrk="1" hangingPunct="1">
              <a:lnSpc>
                <a:spcPct val="120000"/>
              </a:lnSpc>
            </a:pPr>
            <a:endParaRPr lang="en-US" altLang="en-US" sz="1998"/>
          </a:p>
          <a:p>
            <a:pPr lvl="1" eaLnBrk="1" hangingPunct="1">
              <a:lnSpc>
                <a:spcPct val="120000"/>
              </a:lnSpc>
            </a:pPr>
            <a:r>
              <a:rPr lang="en-US" altLang="en-US" sz="1998"/>
              <a:t>Ex. Let </a:t>
            </a:r>
            <a:r>
              <a:rPr lang="el-GR" altLang="en-US" sz="1998"/>
              <a:t>μ</a:t>
            </a:r>
            <a:r>
              <a:rPr lang="en-US" altLang="en-US" sz="1998"/>
              <a:t> = 54,000, </a:t>
            </a:r>
            <a:r>
              <a:rPr lang="el-GR" altLang="en-US" sz="1998"/>
              <a:t>σ</a:t>
            </a:r>
            <a:r>
              <a:rPr lang="en-US" altLang="en-US" sz="1998"/>
              <a:t> = 16,000.  Then</a:t>
            </a:r>
            <a:endParaRPr lang="el-GR" altLang="en-US" sz="1998"/>
          </a:p>
          <a:p>
            <a:pPr eaLnBrk="1" hangingPunct="1">
              <a:lnSpc>
                <a:spcPct val="120000"/>
              </a:lnSpc>
            </a:pPr>
            <a:r>
              <a:rPr lang="en-US" altLang="en-US" sz="1998" b="1"/>
              <a:t>Normalization by decimal scaling</a:t>
            </a:r>
          </a:p>
        </p:txBody>
      </p:sp>
      <p:graphicFrame>
        <p:nvGraphicFramePr>
          <p:cNvPr id="56325" name="Object 4">
            <a:extLst>
              <a:ext uri="{FF2B5EF4-FFF2-40B4-BE49-F238E27FC236}">
                <a16:creationId xmlns:a16="http://schemas.microsoft.com/office/drawing/2014/main" id="{565BC8F2-953F-A4AF-022B-9FF5F08AE723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6705041" y="2896090"/>
          <a:ext cx="2512294" cy="488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1206400" imgH="9652000" progId="Equation.3">
                  <p:embed/>
                </p:oleObj>
              </mc:Choice>
              <mc:Fallback>
                <p:oleObj name="Equation" r:id="rId3" imgW="51206400" imgH="9652000" progId="Equation.3">
                  <p:embed/>
                  <p:pic>
                    <p:nvPicPr>
                      <p:cNvPr id="56325" name="Object 4">
                        <a:extLst>
                          <a:ext uri="{FF2B5EF4-FFF2-40B4-BE49-F238E27FC236}">
                            <a16:creationId xmlns:a16="http://schemas.microsoft.com/office/drawing/2014/main" id="{565BC8F2-953F-A4AF-022B-9FF5F08AE7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041" y="2896090"/>
                        <a:ext cx="2512294" cy="4885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5">
            <a:extLst>
              <a:ext uri="{FF2B5EF4-FFF2-40B4-BE49-F238E27FC236}">
                <a16:creationId xmlns:a16="http://schemas.microsoft.com/office/drawing/2014/main" id="{1428DAB5-2BB3-E0AC-633E-920F825EB6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1449" y="1830270"/>
          <a:ext cx="5938147" cy="70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949300" imgH="9067800" progId="Equation.3">
                  <p:embed/>
                </p:oleObj>
              </mc:Choice>
              <mc:Fallback>
                <p:oleObj name="Equation" r:id="rId5" imgW="76949300" imgH="9067800" progId="Equation.3">
                  <p:embed/>
                  <p:pic>
                    <p:nvPicPr>
                      <p:cNvPr id="56326" name="Object 5">
                        <a:extLst>
                          <a:ext uri="{FF2B5EF4-FFF2-40B4-BE49-F238E27FC236}">
                            <a16:creationId xmlns:a16="http://schemas.microsoft.com/office/drawing/2014/main" id="{1428DAB5-2BB3-E0AC-633E-920F825EB6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449" y="1830270"/>
                        <a:ext cx="5938147" cy="70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6">
            <a:extLst>
              <a:ext uri="{FF2B5EF4-FFF2-40B4-BE49-F238E27FC236}">
                <a16:creationId xmlns:a16="http://schemas.microsoft.com/office/drawing/2014/main" id="{4EEE1EC0-5DD3-A99C-9083-BBB5AF23BD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7578" y="3885780"/>
          <a:ext cx="1446473" cy="678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630400" imgH="9067800" progId="Equation.3">
                  <p:embed/>
                </p:oleObj>
              </mc:Choice>
              <mc:Fallback>
                <p:oleObj name="Equation" r:id="rId7" imgW="14630400" imgH="9067800" progId="Equation.3">
                  <p:embed/>
                  <p:pic>
                    <p:nvPicPr>
                      <p:cNvPr id="56327" name="Object 6">
                        <a:extLst>
                          <a:ext uri="{FF2B5EF4-FFF2-40B4-BE49-F238E27FC236}">
                            <a16:creationId xmlns:a16="http://schemas.microsoft.com/office/drawing/2014/main" id="{4EEE1EC0-5DD3-A99C-9083-BBB5AF23BD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7578" y="3885780"/>
                        <a:ext cx="1446473" cy="678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8" name="Object 7">
            <a:extLst>
              <a:ext uri="{FF2B5EF4-FFF2-40B4-BE49-F238E27FC236}">
                <a16:creationId xmlns:a16="http://schemas.microsoft.com/office/drawing/2014/main" id="{87F299F7-E131-D6D4-5FBA-838F61C2F7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6277" y="5484514"/>
          <a:ext cx="1065821" cy="846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404600" imgH="9067800" progId="Equation.3">
                  <p:embed/>
                </p:oleObj>
              </mc:Choice>
              <mc:Fallback>
                <p:oleObj name="Equation" r:id="rId9" imgW="11404600" imgH="9067800" progId="Equation.3">
                  <p:embed/>
                  <p:pic>
                    <p:nvPicPr>
                      <p:cNvPr id="56328" name="Object 7">
                        <a:extLst>
                          <a:ext uri="{FF2B5EF4-FFF2-40B4-BE49-F238E27FC236}">
                            <a16:creationId xmlns:a16="http://schemas.microsoft.com/office/drawing/2014/main" id="{87F299F7-E131-D6D4-5FBA-838F61C2F7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277" y="5484514"/>
                        <a:ext cx="1065821" cy="8469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9" name="Object 8">
            <a:extLst>
              <a:ext uri="{FF2B5EF4-FFF2-40B4-BE49-F238E27FC236}">
                <a16:creationId xmlns:a16="http://schemas.microsoft.com/office/drawing/2014/main" id="{C0F9AA9A-C373-F226-26E7-0346617856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8903" y="3321152"/>
          <a:ext cx="112609" cy="214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28900" imgH="4978400" progId="Equation.3">
                  <p:embed/>
                </p:oleObj>
              </mc:Choice>
              <mc:Fallback>
                <p:oleObj name="Equation" r:id="rId11" imgW="2628900" imgH="4978400" progId="Equation.3">
                  <p:embed/>
                  <p:pic>
                    <p:nvPicPr>
                      <p:cNvPr id="56329" name="Object 8">
                        <a:extLst>
                          <a:ext uri="{FF2B5EF4-FFF2-40B4-BE49-F238E27FC236}">
                            <a16:creationId xmlns:a16="http://schemas.microsoft.com/office/drawing/2014/main" id="{C0F9AA9A-C373-F226-26E7-0346617856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903" y="3321152"/>
                        <a:ext cx="112609" cy="214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0" name="Text Box 9">
            <a:extLst>
              <a:ext uri="{FF2B5EF4-FFF2-40B4-BE49-F238E27FC236}">
                <a16:creationId xmlns:a16="http://schemas.microsoft.com/office/drawing/2014/main" id="{D76BB287-D845-9301-12F5-0A4BE2694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0490" y="5636773"/>
            <a:ext cx="6120542" cy="461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998">
                <a:latin typeface="Times New Roman" panose="02020603050405020304" pitchFamily="18" charset="0"/>
              </a:rPr>
              <a:t>Where </a:t>
            </a:r>
            <a:r>
              <a:rPr lang="en-US" altLang="en-US" sz="2398" i="1">
                <a:latin typeface="Times New Roman" panose="02020603050405020304" pitchFamily="18" charset="0"/>
              </a:rPr>
              <a:t>j</a:t>
            </a:r>
            <a:r>
              <a:rPr lang="en-US" altLang="en-US" sz="1998">
                <a:latin typeface="Times New Roman" panose="02020603050405020304" pitchFamily="18" charset="0"/>
              </a:rPr>
              <a:t> is the smallest integer such that Max(|</a:t>
            </a:r>
            <a:r>
              <a:rPr lang="el-GR" altLang="en-US" sz="1998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altLang="en-US" sz="1998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en-US" sz="1998">
                <a:latin typeface="Times New Roman" panose="02020603050405020304" pitchFamily="18" charset="0"/>
              </a:rPr>
              <a:t>|) &lt; 1</a:t>
            </a:r>
            <a:endParaRPr lang="en-US" altLang="en-US" sz="2398">
              <a:latin typeface="Times New Roman" panose="02020603050405020304" pitchFamily="18" charset="0"/>
            </a:endParaRPr>
          </a:p>
        </p:txBody>
      </p:sp>
      <p:graphicFrame>
        <p:nvGraphicFramePr>
          <p:cNvPr id="56331" name="Object 10">
            <a:extLst>
              <a:ext uri="{FF2B5EF4-FFF2-40B4-BE49-F238E27FC236}">
                <a16:creationId xmlns:a16="http://schemas.microsoft.com/office/drawing/2014/main" id="{A011F903-4FA7-C838-1E78-69CAFF9E5415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7085692" y="4591572"/>
          <a:ext cx="1950833" cy="563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4518600" imgH="9652000" progId="Equation.3">
                  <p:embed/>
                </p:oleObj>
              </mc:Choice>
              <mc:Fallback>
                <p:oleObj name="Equation" r:id="rId13" imgW="34518600" imgH="9652000" progId="Equation.3">
                  <p:embed/>
                  <p:pic>
                    <p:nvPicPr>
                      <p:cNvPr id="56331" name="Object 10">
                        <a:extLst>
                          <a:ext uri="{FF2B5EF4-FFF2-40B4-BE49-F238E27FC236}">
                            <a16:creationId xmlns:a16="http://schemas.microsoft.com/office/drawing/2014/main" id="{A011F903-4FA7-C838-1E78-69CAFF9E54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5692" y="4591572"/>
                        <a:ext cx="1950833" cy="563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061">
            <a:extLst>
              <a:ext uri="{FF2B5EF4-FFF2-40B4-BE49-F238E27FC236}">
                <a16:creationId xmlns:a16="http://schemas.microsoft.com/office/drawing/2014/main" id="{A3F8FB63-A55D-6C0B-EE07-E3C32791411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335" indent="-285513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056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598877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5699" indent="-228411" eaLnBrk="0" hangingPunct="0"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2520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69344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6165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2987" indent="-228411" eaLnBrk="0" fontAlgn="base" hangingPunct="0">
              <a:spcBef>
                <a:spcPct val="0"/>
              </a:spcBef>
              <a:spcAft>
                <a:spcPct val="0"/>
              </a:spcAft>
              <a:defRPr sz="239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2314646-86AA-8D43-AD97-C501EB1D63C5}" type="slidenum">
              <a:rPr lang="en-US" altLang="en-US" sz="1199"/>
              <a:pPr eaLnBrk="1" hangingPunct="1"/>
              <a:t>33</a:t>
            </a:fld>
            <a:endParaRPr lang="en-US" altLang="en-US" sz="1199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D7F41DDD-CBD8-BFC3-FF91-5BB2FE327E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Discretization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AABA144C-7AF9-48FB-BAA7-3C147264B1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32715" y="1221230"/>
            <a:ext cx="8526570" cy="5329106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1998"/>
              <a:t>Three types of attributes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998"/>
              <a:t>Nominal—values from an unordered set, e.g., color, profession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998"/>
              <a:t>Ordinal—values from an ordered set, e.g., military or academic rank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998"/>
              <a:t>Numeric—real numbers, e.g., integer or real numbers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998"/>
              <a:t>Discretization: Divide the range of a continuous attribute into intervals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998"/>
              <a:t>Interval labels can then be used to replace actual data values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998"/>
              <a:t>Reduce data size by discretization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998"/>
              <a:t>Supervised vs. unsupervised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998"/>
              <a:t>Split (top-down) vs. merge (bottom-up)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998"/>
              <a:t>Discretization can be performed recursively on an attribute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998"/>
              <a:t>Prepare for further analysis, e.g., classification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061">
            <a:extLst>
              <a:ext uri="{FF2B5EF4-FFF2-40B4-BE49-F238E27FC236}">
                <a16:creationId xmlns:a16="http://schemas.microsoft.com/office/drawing/2014/main" id="{448224AF-7042-D82B-FC49-9A39B99F89D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760552" y="6474204"/>
            <a:ext cx="1903253" cy="380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1BED1153-0FBD-B64B-A169-FD90EF835D37}" type="slidenum">
              <a:rPr lang="en-US" altLang="en-US" sz="1199"/>
              <a:pPr algn="r" eaLnBrk="1" hangingPunct="1"/>
              <a:t>34</a:t>
            </a:fld>
            <a:endParaRPr lang="en-US" altLang="en-US" sz="1199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DD2D38C8-F823-EFEE-9C15-A0098FB101E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8195" y="231537"/>
            <a:ext cx="8983351" cy="76130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/>
              <a:t>Data Discretization Methods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5470AA6A-3E21-61A1-1D44-39634C1299E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32715" y="1297358"/>
            <a:ext cx="8602701" cy="5176846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398"/>
              <a:t>Typical methods: All the methods can be applied recursively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398">
                <a:solidFill>
                  <a:schemeClr val="hlink"/>
                </a:solidFill>
              </a:rPr>
              <a:t>Binning</a:t>
            </a:r>
            <a:r>
              <a:rPr lang="en-US" altLang="en-US" sz="2398"/>
              <a:t> 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/>
              <a:t>Top-down split, unsupervised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398">
                <a:solidFill>
                  <a:schemeClr val="hlink"/>
                </a:solidFill>
              </a:rPr>
              <a:t>Histogram analysis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/>
              <a:t>Top-down split, unsupervised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398">
                <a:solidFill>
                  <a:schemeClr val="hlink"/>
                </a:solidFill>
              </a:rPr>
              <a:t>Clustering analysis</a:t>
            </a:r>
            <a:r>
              <a:rPr lang="en-US" altLang="en-US" sz="2398"/>
              <a:t> (unsupervised, top-down split or bottom-up merge)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398">
                <a:solidFill>
                  <a:schemeClr val="hlink"/>
                </a:solidFill>
              </a:rPr>
              <a:t>Decision-tree analysis</a:t>
            </a:r>
            <a:r>
              <a:rPr lang="en-US" altLang="en-US" sz="2398"/>
              <a:t> (supervised, top-down split)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398">
                <a:solidFill>
                  <a:schemeClr val="hlink"/>
                </a:solidFill>
                <a:sym typeface="Symbol" pitchFamily="2" charset="2"/>
              </a:rPr>
              <a:t>Correlation (e.g., </a:t>
            </a:r>
            <a:r>
              <a:rPr lang="en-US" altLang="en-US" sz="2398" baseline="30000">
                <a:solidFill>
                  <a:schemeClr val="hlink"/>
                </a:solidFill>
              </a:rPr>
              <a:t>2</a:t>
            </a:r>
            <a:r>
              <a:rPr lang="en-US" altLang="en-US" sz="2398">
                <a:solidFill>
                  <a:schemeClr val="hlink"/>
                </a:solidFill>
              </a:rPr>
              <a:t>) analysis</a:t>
            </a:r>
            <a:r>
              <a:rPr lang="en-US" altLang="en-US" sz="2398"/>
              <a:t> (unsupervised, bottom-up merge)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B9740-1402-A2AF-C4AB-DE2042E88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F0622-EE77-E326-AB57-3B378DB9A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Scenario : Imbalanced Dataset</a:t>
            </a:r>
          </a:p>
          <a:p>
            <a:r>
              <a:rPr lang="en-IN" dirty="0"/>
              <a:t>You are working with a fraud detection dataset where 95% of transactions are legitimate and 5% are fraudulent.</a:t>
            </a:r>
          </a:p>
          <a:p>
            <a:r>
              <a:rPr lang="en-IN" b="1" dirty="0"/>
              <a:t>Questions:</a:t>
            </a:r>
            <a:endParaRPr lang="en-IN" dirty="0"/>
          </a:p>
          <a:p>
            <a:r>
              <a:rPr lang="en-IN" dirty="0"/>
              <a:t>What preprocessing steps would you take to handle the class imbalance?</a:t>
            </a:r>
          </a:p>
          <a:p>
            <a:r>
              <a:rPr lang="en-IN" dirty="0"/>
              <a:t>How would imbalance affect model training if not addressed?</a:t>
            </a:r>
          </a:p>
          <a:p>
            <a:r>
              <a:rPr lang="en-IN" dirty="0"/>
              <a:t>What techniques could be used to mitigate imbalance, and what are their trade-offs?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8537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061">
            <a:extLst>
              <a:ext uri="{FF2B5EF4-FFF2-40B4-BE49-F238E27FC236}">
                <a16:creationId xmlns:a16="http://schemas.microsoft.com/office/drawing/2014/main" id="{FF01D356-4C54-C0D2-5155-BB14D7AFD5F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17401563" y="12835156"/>
            <a:ext cx="3775046" cy="755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1202" tIns="90601" rIns="181202" bIns="90601" numCol="1" rtlCol="0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2378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906033" algn="l" rtl="0" fontAlgn="base">
              <a:spcBef>
                <a:spcPct val="0"/>
              </a:spcBef>
              <a:spcAft>
                <a:spcPct val="0"/>
              </a:spcAft>
              <a:defRPr sz="4756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812066" algn="l" rtl="0" fontAlgn="base">
              <a:spcBef>
                <a:spcPct val="0"/>
              </a:spcBef>
              <a:spcAft>
                <a:spcPct val="0"/>
              </a:spcAft>
              <a:defRPr sz="4756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2718100" algn="l" rtl="0" fontAlgn="base">
              <a:spcBef>
                <a:spcPct val="0"/>
              </a:spcBef>
              <a:spcAft>
                <a:spcPct val="0"/>
              </a:spcAft>
              <a:defRPr sz="4756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3624133" algn="l" rtl="0" fontAlgn="base">
              <a:spcBef>
                <a:spcPct val="0"/>
              </a:spcBef>
              <a:spcAft>
                <a:spcPct val="0"/>
              </a:spcAft>
              <a:defRPr sz="4756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4530166" algn="l" defTabSz="1812066" rtl="0" eaLnBrk="1" latinLnBrk="0" hangingPunct="1">
              <a:defRPr sz="4756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5436199" algn="l" defTabSz="1812066" rtl="0" eaLnBrk="1" latinLnBrk="0" hangingPunct="1">
              <a:defRPr sz="4756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6342233" algn="l" defTabSz="1812066" rtl="0" eaLnBrk="1" latinLnBrk="0" hangingPunct="1">
              <a:defRPr sz="4756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7248266" algn="l" defTabSz="1812066" rtl="0" eaLnBrk="1" latinLnBrk="0" hangingPunct="1">
              <a:defRPr sz="4756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6FBE71F5-F3A2-0E4A-9EE9-DF25CB6E396D}" type="slidenum">
              <a:rPr lang="en-US" altLang="en-US" smtClean="0"/>
              <a:pPr eaLnBrk="1" hangingPunct="1"/>
              <a:t>36</a:t>
            </a:fld>
            <a:endParaRPr lang="en-US" altLang="en-US" sz="1199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4238BE60-BF07-B8BB-3BD1-CA8DBE957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25455" y="257962"/>
            <a:ext cx="8341090" cy="33544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References</a:t>
            </a:r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5759E74A-9B4E-974E-E40F-EBA1038CA5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69952" y="1163972"/>
            <a:ext cx="8096592" cy="3926048"/>
          </a:xfrm>
        </p:spPr>
        <p:txBody>
          <a:bodyPr/>
          <a:lstStyle/>
          <a:p>
            <a:pPr marL="456821" indent="-456821"/>
            <a:r>
              <a:rPr lang="en-US" altLang="en-US" sz="1599" dirty="0">
                <a:latin typeface="Calibri" panose="020F0502020204030204" pitchFamily="34" charset="0"/>
                <a:cs typeface="Calibri" panose="020F0502020204030204" pitchFamily="34" charset="0"/>
              </a:rPr>
              <a:t>D. P. Ballou and G. K. </a:t>
            </a:r>
            <a:r>
              <a:rPr lang="en-US" altLang="en-US" sz="1599" dirty="0" err="1">
                <a:latin typeface="Calibri" panose="020F0502020204030204" pitchFamily="34" charset="0"/>
                <a:cs typeface="Calibri" panose="020F0502020204030204" pitchFamily="34" charset="0"/>
              </a:rPr>
              <a:t>Tayi</a:t>
            </a:r>
            <a:r>
              <a:rPr lang="en-US" altLang="en-US" sz="1599" dirty="0">
                <a:latin typeface="Calibri" panose="020F0502020204030204" pitchFamily="34" charset="0"/>
                <a:cs typeface="Calibri" panose="020F0502020204030204" pitchFamily="34" charset="0"/>
              </a:rPr>
              <a:t>. Enhancing data quality in data warehouse environments. Comm. of ACM, 42:73-78, 1999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84" dirty="0">
                <a:latin typeface="Arial" panose="020B0604020202020204" pitchFamily="34" charset="0"/>
              </a:rPr>
              <a:t>Han, Kamber &amp; Pei, </a:t>
            </a:r>
            <a:r>
              <a:rPr lang="en-US" altLang="en-US" sz="1784" i="1" dirty="0">
                <a:latin typeface="Arial" panose="020B0604020202020204" pitchFamily="34" charset="0"/>
              </a:rPr>
              <a:t>Data Mining: Concepts and Techniques</a:t>
            </a:r>
            <a:r>
              <a:rPr lang="en-US" altLang="en-US" sz="1784" dirty="0">
                <a:latin typeface="Arial" panose="020B0604020202020204" pitchFamily="34" charset="0"/>
              </a:rPr>
              <a:t> (2012)</a:t>
            </a:r>
          </a:p>
          <a:p>
            <a:pPr marL="456821" indent="-456821"/>
            <a:r>
              <a:rPr lang="en-US" altLang="en-US" sz="1599" dirty="0">
                <a:latin typeface="Calibri" panose="020F0502020204030204" pitchFamily="34" charset="0"/>
                <a:cs typeface="Calibri" panose="020F0502020204030204" pitchFamily="34" charset="0"/>
              </a:rPr>
              <a:t>A. Bruce, D. Donoho, and H.-Y. Gao. Wavelet analysis. </a:t>
            </a:r>
            <a:r>
              <a:rPr lang="en-US" altLang="en-US" sz="1599" i="1" dirty="0">
                <a:latin typeface="Calibri" panose="020F0502020204030204" pitchFamily="34" charset="0"/>
                <a:cs typeface="Calibri" panose="020F0502020204030204" pitchFamily="34" charset="0"/>
              </a:rPr>
              <a:t>IEEE Spectrum</a:t>
            </a:r>
            <a:r>
              <a:rPr lang="en-US" altLang="en-US" sz="1599" dirty="0">
                <a:latin typeface="Calibri" panose="020F0502020204030204" pitchFamily="34" charset="0"/>
                <a:cs typeface="Calibri" panose="020F0502020204030204" pitchFamily="34" charset="0"/>
              </a:rPr>
              <a:t>, Oct 1996</a:t>
            </a:r>
          </a:p>
          <a:p>
            <a:pPr marL="456821" indent="-456821"/>
            <a:r>
              <a:rPr lang="en-US" altLang="en-US" sz="1599" dirty="0">
                <a:solidFill>
                  <a:schemeClr val="hlin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T. Dasu and T. Johnson.  Exploratory Data Mining and Data Cleaning. John Wiley, 2003</a:t>
            </a:r>
          </a:p>
          <a:p>
            <a:pPr marL="456821" indent="-456821"/>
            <a:r>
              <a:rPr lang="en-US" altLang="en-US" sz="1599" dirty="0">
                <a:latin typeface="Calibri" panose="020F0502020204030204" pitchFamily="34" charset="0"/>
                <a:cs typeface="Calibri" panose="020F0502020204030204" pitchFamily="34" charset="0"/>
              </a:rPr>
              <a:t>J. Devore and R. Peck. </a:t>
            </a:r>
            <a:r>
              <a:rPr lang="en-US" altLang="en-US" sz="1599" i="1" dirty="0">
                <a:latin typeface="Calibri" panose="020F0502020204030204" pitchFamily="34" charset="0"/>
                <a:cs typeface="Calibri" panose="020F0502020204030204" pitchFamily="34" charset="0"/>
              </a:rPr>
              <a:t>Statistics: The Exploration and Analysis of Data</a:t>
            </a:r>
            <a:r>
              <a:rPr lang="en-US" altLang="en-US" sz="1599" dirty="0">
                <a:latin typeface="Calibri" panose="020F0502020204030204" pitchFamily="34" charset="0"/>
                <a:cs typeface="Calibri" panose="020F0502020204030204" pitchFamily="34" charset="0"/>
              </a:rPr>
              <a:t>. Duxbury Press, 1997.</a:t>
            </a:r>
            <a:endParaRPr lang="en-US" altLang="en-US" sz="1599" b="1" dirty="0">
              <a:solidFill>
                <a:schemeClr val="hlin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1996</Words>
  <Application>Microsoft Macintosh PowerPoint</Application>
  <PresentationFormat>Widescreen</PresentationFormat>
  <Paragraphs>267</Paragraphs>
  <Slides>36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ＭＳ Ｐゴシック</vt:lpstr>
      <vt:lpstr>Aptos</vt:lpstr>
      <vt:lpstr>Aptos Display</vt:lpstr>
      <vt:lpstr>Arial</vt:lpstr>
      <vt:lpstr>Arial MT</vt:lpstr>
      <vt:lpstr>Calibri</vt:lpstr>
      <vt:lpstr>Symbol</vt:lpstr>
      <vt:lpstr>Tahoma</vt:lpstr>
      <vt:lpstr>Times New Roman</vt:lpstr>
      <vt:lpstr>Wingdings</vt:lpstr>
      <vt:lpstr>Office Theme</vt:lpstr>
      <vt:lpstr>Equation</vt:lpstr>
      <vt:lpstr>Bitmap Image</vt:lpstr>
      <vt:lpstr>Data Preprocessing</vt:lpstr>
      <vt:lpstr>Definition</vt:lpstr>
      <vt:lpstr>Objectives</vt:lpstr>
      <vt:lpstr>Common Techniques</vt:lpstr>
      <vt:lpstr>Data Quality</vt:lpstr>
      <vt:lpstr>Major tasks in data pre-processing</vt:lpstr>
      <vt:lpstr>Forms of data pre-processing</vt:lpstr>
      <vt:lpstr>Data Cleaning</vt:lpstr>
      <vt:lpstr>Missing Data</vt:lpstr>
      <vt:lpstr>Data Cleaning</vt:lpstr>
      <vt:lpstr>Incomplete (Missing) Data</vt:lpstr>
      <vt:lpstr>How to Handle Missing Data?</vt:lpstr>
      <vt:lpstr>Noisy Data</vt:lpstr>
      <vt:lpstr>How to Handle Noisy Data?</vt:lpstr>
      <vt:lpstr>Data Integration</vt:lpstr>
      <vt:lpstr>Handling Redundancy in Data Integration</vt:lpstr>
      <vt:lpstr>Correlation Analysis (Numeric Data)</vt:lpstr>
      <vt:lpstr>Visually Evaluating Correlation</vt:lpstr>
      <vt:lpstr>Data Reduction</vt:lpstr>
      <vt:lpstr>Data Reduction</vt:lpstr>
      <vt:lpstr>Overview</vt:lpstr>
      <vt:lpstr>Overview</vt:lpstr>
      <vt:lpstr>The Curse of Dimensionality</vt:lpstr>
      <vt:lpstr>The Curse of Dimensionality</vt:lpstr>
      <vt:lpstr>The Curse of Dimensionality: Principal Components Analysis</vt:lpstr>
      <vt:lpstr>The Curse of Dimensionality: Principal Components Analysis</vt:lpstr>
      <vt:lpstr>The Curse of Dimensionality: Principal Components Analysis</vt:lpstr>
      <vt:lpstr>Data Sampling</vt:lpstr>
      <vt:lpstr>Data Sampling:  Data Clustering</vt:lpstr>
      <vt:lpstr>Exercise</vt:lpstr>
      <vt:lpstr>Data Transformation</vt:lpstr>
      <vt:lpstr>Normalization</vt:lpstr>
      <vt:lpstr>Discretization </vt:lpstr>
      <vt:lpstr>Data Discretization Methods</vt:lpstr>
      <vt:lpstr>Exercise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Vikas tomer</dc:creator>
  <cp:keywords/>
  <dc:description/>
  <cp:lastModifiedBy>Vikas tomer</cp:lastModifiedBy>
  <cp:revision>8</cp:revision>
  <dcterms:created xsi:type="dcterms:W3CDTF">2026-01-04T12:31:38Z</dcterms:created>
  <dcterms:modified xsi:type="dcterms:W3CDTF">2026-01-28T10:29:22Z</dcterms:modified>
  <cp:category/>
</cp:coreProperties>
</file>