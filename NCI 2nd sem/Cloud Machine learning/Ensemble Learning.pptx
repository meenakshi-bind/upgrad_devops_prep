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3"/>
  </p:notesMasterIdLst>
  <p:sldIdLst>
    <p:sldId id="256"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34" autoAdjust="0"/>
    <p:restoredTop sz="94660"/>
  </p:normalViewPr>
  <p:slideViewPr>
    <p:cSldViewPr snapToGrid="0">
      <p:cViewPr varScale="1">
        <p:scale>
          <a:sx n="111" d="100"/>
          <a:sy n="111" d="100"/>
        </p:scale>
        <p:origin x="320"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C80C38-2BDF-4D7A-97A9-F3DE4438B418}" type="datetimeFigureOut">
              <a:rPr lang="en-IE" smtClean="0"/>
              <a:t>01/04/2026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D7B84-E60B-4A8D-B033-0CA5EDBF6A0A}" type="slidenum">
              <a:rPr lang="en-IE" smtClean="0"/>
              <a:t>‹#›</a:t>
            </a:fld>
            <a:endParaRPr lang="en-IE"/>
          </a:p>
        </p:txBody>
      </p:sp>
    </p:spTree>
    <p:extLst>
      <p:ext uri="{BB962C8B-B14F-4D97-AF65-F5344CB8AC3E}">
        <p14:creationId xmlns:p14="http://schemas.microsoft.com/office/powerpoint/2010/main" val="1203889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936D7B84-E60B-4A8D-B033-0CA5EDBF6A0A}" type="slidenum">
              <a:rPr lang="en-IE" smtClean="0"/>
              <a:t>1</a:t>
            </a:fld>
            <a:endParaRPr lang="en-IE"/>
          </a:p>
        </p:txBody>
      </p:sp>
    </p:spTree>
    <p:extLst>
      <p:ext uri="{BB962C8B-B14F-4D97-AF65-F5344CB8AC3E}">
        <p14:creationId xmlns:p14="http://schemas.microsoft.com/office/powerpoint/2010/main" val="396879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noRot="1" noChangeAspect="1"/>
          </p:cNvSpPr>
          <p:nvPr>
            <p:ph type="sldImg"/>
          </p:nvPr>
        </p:nvSpPr>
        <p:spPr>
          <a:xfrm>
            <a:off x="25400" y="744538"/>
            <a:ext cx="6616700" cy="3722687"/>
          </a:xfrm>
          <a:prstGeom prst="rect">
            <a:avLst/>
          </a:prstGeom>
        </p:spPr>
      </p:sp>
      <p:sp>
        <p:nvSpPr>
          <p:cNvPr id="551"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52"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2F672E2F-155D-4BF8-A5FA-C3B3F0977388}" type="slidenum">
              <a:rPr lang="en-IE" sz="1200" b="0" strike="noStrike" spc="-1">
                <a:solidFill>
                  <a:srgbClr val="000000"/>
                </a:solidFill>
                <a:latin typeface="+mn-lt"/>
                <a:ea typeface="+mn-ea"/>
              </a:rPr>
              <a:t>2</a:t>
            </a:fld>
            <a:endParaRPr lang="en-IE" sz="1200" b="0" strike="noStrike" spc="-1">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noRot="1" noChangeAspect="1"/>
          </p:cNvSpPr>
          <p:nvPr>
            <p:ph type="sldImg"/>
          </p:nvPr>
        </p:nvSpPr>
        <p:spPr>
          <a:xfrm>
            <a:off x="25400" y="744538"/>
            <a:ext cx="6616700" cy="3722687"/>
          </a:xfrm>
          <a:prstGeom prst="rect">
            <a:avLst/>
          </a:prstGeom>
        </p:spPr>
      </p:sp>
      <p:sp>
        <p:nvSpPr>
          <p:cNvPr id="554"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55"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7658D147-3F17-4CCF-A1EE-124F0A5995C1}" type="slidenum">
              <a:rPr lang="en-IE" sz="1200" b="0" strike="noStrike" spc="-1">
                <a:solidFill>
                  <a:srgbClr val="000000"/>
                </a:solidFill>
                <a:latin typeface="+mn-lt"/>
                <a:ea typeface="+mn-ea"/>
              </a:rPr>
              <a:t>3</a:t>
            </a:fld>
            <a:endParaRPr lang="en-IE" sz="12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noRot="1" noChangeAspect="1"/>
          </p:cNvSpPr>
          <p:nvPr>
            <p:ph type="sldImg"/>
          </p:nvPr>
        </p:nvSpPr>
        <p:spPr>
          <a:xfrm>
            <a:off x="25400" y="744538"/>
            <a:ext cx="6616700" cy="3722687"/>
          </a:xfrm>
          <a:prstGeom prst="rect">
            <a:avLst/>
          </a:prstGeom>
        </p:spPr>
      </p:sp>
      <p:sp>
        <p:nvSpPr>
          <p:cNvPr id="557"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58"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8D67AF6-88AD-4539-8731-EC69B419F684}" type="slidenum">
              <a:rPr lang="en-IE" sz="1200" b="0" strike="noStrike" spc="-1">
                <a:solidFill>
                  <a:srgbClr val="000000"/>
                </a:solidFill>
                <a:latin typeface="+mn-lt"/>
                <a:ea typeface="+mn-ea"/>
              </a:rPr>
              <a:t>4</a:t>
            </a:fld>
            <a:endParaRPr lang="en-IE" sz="12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noRot="1" noChangeAspect="1"/>
          </p:cNvSpPr>
          <p:nvPr>
            <p:ph type="sldImg"/>
          </p:nvPr>
        </p:nvSpPr>
        <p:spPr>
          <a:xfrm>
            <a:off x="25400" y="744538"/>
            <a:ext cx="6616700" cy="3722687"/>
          </a:xfrm>
          <a:prstGeom prst="rect">
            <a:avLst/>
          </a:prstGeom>
        </p:spPr>
      </p:sp>
      <p:sp>
        <p:nvSpPr>
          <p:cNvPr id="560"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61"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86F21629-3CD9-43CB-87EC-96DD163A0CB0}" type="slidenum">
              <a:rPr lang="en-IE" sz="1200" b="0" strike="noStrike" spc="-1">
                <a:solidFill>
                  <a:srgbClr val="000000"/>
                </a:solidFill>
                <a:latin typeface="+mn-lt"/>
                <a:ea typeface="+mn-ea"/>
              </a:rPr>
              <a:t>5</a:t>
            </a:fld>
            <a:endParaRPr lang="en-IE" sz="12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936D7B84-E60B-4A8D-B033-0CA5EDBF6A0A}" type="slidenum">
              <a:rPr lang="en-IE" smtClean="0"/>
              <a:t>6</a:t>
            </a:fld>
            <a:endParaRPr lang="en-IE"/>
          </a:p>
        </p:txBody>
      </p:sp>
    </p:spTree>
    <p:extLst>
      <p:ext uri="{BB962C8B-B14F-4D97-AF65-F5344CB8AC3E}">
        <p14:creationId xmlns:p14="http://schemas.microsoft.com/office/powerpoint/2010/main" val="139672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noRot="1" noChangeAspect="1"/>
          </p:cNvSpPr>
          <p:nvPr>
            <p:ph type="sldImg"/>
          </p:nvPr>
        </p:nvSpPr>
        <p:spPr>
          <a:xfrm>
            <a:off x="25400" y="744538"/>
            <a:ext cx="6616700" cy="3722687"/>
          </a:xfrm>
          <a:prstGeom prst="rect">
            <a:avLst/>
          </a:prstGeom>
        </p:spPr>
      </p:sp>
      <p:sp>
        <p:nvSpPr>
          <p:cNvPr id="563"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64"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C799F62-F4E4-4AD0-850A-46B10BD43FFA}" type="slidenum">
              <a:rPr lang="en-IE" sz="1200" b="0" strike="noStrike" spc="-1">
                <a:solidFill>
                  <a:srgbClr val="000000"/>
                </a:solidFill>
                <a:latin typeface="+mn-lt"/>
                <a:ea typeface="+mn-ea"/>
              </a:rPr>
              <a:t>7</a:t>
            </a:fld>
            <a:endParaRPr lang="en-IE" sz="12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25400" y="744538"/>
            <a:ext cx="6616700" cy="3722687"/>
          </a:xfrm>
          <a:prstGeom prst="rect">
            <a:avLst/>
          </a:prstGeom>
        </p:spPr>
      </p:sp>
      <p:sp>
        <p:nvSpPr>
          <p:cNvPr id="566"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67"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A3AD84B-0AC5-4D62-9380-2306F076A55F}" type="slidenum">
              <a:rPr lang="en-IE" sz="1200" b="0" strike="noStrike" spc="-1">
                <a:solidFill>
                  <a:srgbClr val="000000"/>
                </a:solidFill>
                <a:latin typeface="+mn-lt"/>
                <a:ea typeface="+mn-ea"/>
              </a:rPr>
              <a:t>8</a:t>
            </a:fld>
            <a:endParaRPr lang="en-IE" sz="1200" b="0" strike="noStrike" spc="-1">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noRot="1" noChangeAspect="1"/>
          </p:cNvSpPr>
          <p:nvPr>
            <p:ph type="sldImg"/>
          </p:nvPr>
        </p:nvSpPr>
        <p:spPr>
          <a:xfrm>
            <a:off x="25400" y="744538"/>
            <a:ext cx="6616700" cy="3722687"/>
          </a:xfrm>
          <a:prstGeom prst="rect">
            <a:avLst/>
          </a:prstGeom>
        </p:spPr>
      </p:sp>
      <p:sp>
        <p:nvSpPr>
          <p:cNvPr id="569"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70"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675CF4DF-4780-4A20-8E9D-D8C564B21D08}" type="slidenum">
              <a:rPr lang="en-IE" sz="1200" b="0" strike="noStrike" spc="-1">
                <a:solidFill>
                  <a:srgbClr val="000000"/>
                </a:solidFill>
                <a:latin typeface="+mn-lt"/>
                <a:ea typeface="+mn-ea"/>
              </a:rPr>
              <a:t>9</a:t>
            </a:fld>
            <a:endParaRPr lang="en-IE" sz="1200" b="0" strike="noStrike" spc="-1">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PlaceHolder 1"/>
          <p:cNvSpPr>
            <a:spLocks noGrp="1" noRot="1" noChangeAspect="1"/>
          </p:cNvSpPr>
          <p:nvPr>
            <p:ph type="sldImg"/>
          </p:nvPr>
        </p:nvSpPr>
        <p:spPr>
          <a:xfrm>
            <a:off x="25400" y="744538"/>
            <a:ext cx="6616700" cy="3722687"/>
          </a:xfrm>
          <a:prstGeom prst="rect">
            <a:avLst/>
          </a:prstGeom>
        </p:spPr>
      </p:sp>
      <p:sp>
        <p:nvSpPr>
          <p:cNvPr id="572"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73"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FDE6EDD3-1A19-473E-9A54-08D73E2FD95E}" type="slidenum">
              <a:rPr lang="en-IE" sz="1200" b="0" strike="noStrike" spc="-1">
                <a:solidFill>
                  <a:srgbClr val="000000"/>
                </a:solidFill>
                <a:latin typeface="+mn-lt"/>
                <a:ea typeface="+mn-ea"/>
              </a:rPr>
              <a:t>10</a:t>
            </a:fld>
            <a:endParaRPr lang="en-IE" sz="1200" b="0" strike="noStrike" spc="-1">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25400" y="744538"/>
            <a:ext cx="6616700" cy="3722687"/>
          </a:xfrm>
          <a:prstGeom prst="rect">
            <a:avLst/>
          </a:prstGeom>
        </p:spPr>
      </p:sp>
      <p:sp>
        <p:nvSpPr>
          <p:cNvPr id="575" name="PlaceHolder 2"/>
          <p:cNvSpPr>
            <a:spLocks noGrp="1"/>
          </p:cNvSpPr>
          <p:nvPr>
            <p:ph type="body"/>
          </p:nvPr>
        </p:nvSpPr>
        <p:spPr>
          <a:xfrm>
            <a:off x="667080" y="4716000"/>
            <a:ext cx="5334480" cy="4466880"/>
          </a:xfrm>
          <a:prstGeom prst="rect">
            <a:avLst/>
          </a:prstGeom>
        </p:spPr>
        <p:txBody>
          <a:bodyPr lIns="0" tIns="0" rIns="0" bIns="0"/>
          <a:lstStyle/>
          <a:p>
            <a:endParaRPr lang="en-IE" sz="2000" b="0" strike="noStrike" spc="-1">
              <a:latin typeface="Arial"/>
            </a:endParaRPr>
          </a:p>
        </p:txBody>
      </p:sp>
      <p:sp>
        <p:nvSpPr>
          <p:cNvPr id="576"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497F22EA-476D-4380-8669-6E42B96BCBFF}" type="slidenum">
              <a:rPr lang="en-IE" sz="1200" b="0" strike="noStrike" spc="-1">
                <a:solidFill>
                  <a:srgbClr val="000000"/>
                </a:solidFill>
                <a:latin typeface="+mn-lt"/>
                <a:ea typeface="+mn-ea"/>
              </a:rPr>
              <a:t>11</a:t>
            </a:fld>
            <a:endParaRPr lang="en-IE" sz="1200" b="0" strike="noStrike" spc="-1">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25400" y="744538"/>
            <a:ext cx="6616700" cy="3722687"/>
          </a:xfrm>
          <a:prstGeom prst="rect">
            <a:avLst/>
          </a:prstGeom>
        </p:spPr>
      </p:sp>
      <p:sp>
        <p:nvSpPr>
          <p:cNvPr id="578" name="PlaceHolder 2"/>
          <p:cNvSpPr>
            <a:spLocks noGrp="1"/>
          </p:cNvSpPr>
          <p:nvPr>
            <p:ph type="body"/>
          </p:nvPr>
        </p:nvSpPr>
        <p:spPr>
          <a:xfrm>
            <a:off x="667080" y="4716000"/>
            <a:ext cx="5334480" cy="4466880"/>
          </a:xfrm>
          <a:prstGeom prst="rect">
            <a:avLst/>
          </a:prstGeom>
        </p:spPr>
        <p:txBody>
          <a:bodyPr lIns="0" tIns="0" rIns="0" bIns="0"/>
          <a:lstStyle/>
          <a:p>
            <a:endParaRPr lang="en-IE" sz="2000" b="0" strike="noStrike" spc="-1">
              <a:latin typeface="Arial"/>
            </a:endParaRPr>
          </a:p>
        </p:txBody>
      </p:sp>
      <p:sp>
        <p:nvSpPr>
          <p:cNvPr id="579"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06AFF32E-B93A-40B0-8D57-048E871EF027}" type="slidenum">
              <a:rPr lang="en-IE" sz="1200" b="0" strike="noStrike" spc="-1">
                <a:solidFill>
                  <a:srgbClr val="000000"/>
                </a:solidFill>
                <a:latin typeface="+mn-lt"/>
                <a:ea typeface="+mn-ea"/>
              </a:rPr>
              <a:t>12</a:t>
            </a:fld>
            <a:endParaRPr lang="en-IE" sz="1200" b="0" strike="noStrike" spc="-1">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laceHolder 1"/>
          <p:cNvSpPr>
            <a:spLocks noGrp="1" noRot="1" noChangeAspect="1"/>
          </p:cNvSpPr>
          <p:nvPr>
            <p:ph type="sldImg"/>
          </p:nvPr>
        </p:nvSpPr>
        <p:spPr>
          <a:xfrm>
            <a:off x="25400" y="744538"/>
            <a:ext cx="6616700" cy="3722687"/>
          </a:xfrm>
          <a:prstGeom prst="rect">
            <a:avLst/>
          </a:prstGeom>
        </p:spPr>
      </p:sp>
      <p:sp>
        <p:nvSpPr>
          <p:cNvPr id="581" name="PlaceHolder 2"/>
          <p:cNvSpPr>
            <a:spLocks noGrp="1"/>
          </p:cNvSpPr>
          <p:nvPr>
            <p:ph type="body"/>
          </p:nvPr>
        </p:nvSpPr>
        <p:spPr>
          <a:xfrm>
            <a:off x="667080" y="4716000"/>
            <a:ext cx="5334480" cy="4466880"/>
          </a:xfrm>
          <a:prstGeom prst="rect">
            <a:avLst/>
          </a:prstGeom>
        </p:spPr>
        <p:txBody>
          <a:bodyPr lIns="0" tIns="0" rIns="0" bIns="0"/>
          <a:lstStyle/>
          <a:p>
            <a:endParaRPr lang="en-IE" sz="2000" b="0" strike="noStrike" spc="-1">
              <a:latin typeface="Arial"/>
            </a:endParaRPr>
          </a:p>
        </p:txBody>
      </p:sp>
      <p:sp>
        <p:nvSpPr>
          <p:cNvPr id="582"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C0372A8E-BDDB-4C96-82B2-BAD679771385}" type="slidenum">
              <a:rPr lang="en-IE" sz="1200" b="0" strike="noStrike" spc="-1">
                <a:solidFill>
                  <a:srgbClr val="000000"/>
                </a:solidFill>
                <a:latin typeface="+mn-lt"/>
                <a:ea typeface="+mn-ea"/>
              </a:rPr>
              <a:t>13</a:t>
            </a:fld>
            <a:endParaRPr lang="en-IE" sz="1200" b="0" strike="noStrike" spc="-1">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noRot="1" noChangeAspect="1"/>
          </p:cNvSpPr>
          <p:nvPr>
            <p:ph type="sldImg"/>
          </p:nvPr>
        </p:nvSpPr>
        <p:spPr>
          <a:xfrm>
            <a:off x="25400" y="744538"/>
            <a:ext cx="6616700" cy="3722687"/>
          </a:xfrm>
          <a:prstGeom prst="rect">
            <a:avLst/>
          </a:prstGeom>
        </p:spPr>
      </p:sp>
      <p:sp>
        <p:nvSpPr>
          <p:cNvPr id="584"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85"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200A117-E705-4C18-BDA7-5F20B20084F9}" type="slidenum">
              <a:rPr lang="en-IE" sz="1200" b="0" strike="noStrike" spc="-1">
                <a:solidFill>
                  <a:srgbClr val="000000"/>
                </a:solidFill>
                <a:latin typeface="+mn-lt"/>
                <a:ea typeface="+mn-ea"/>
              </a:rPr>
              <a:t>14</a:t>
            </a:fld>
            <a:endParaRPr lang="en-IE" sz="1200" b="0" strike="noStrike" spc="-1">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noRot="1" noChangeAspect="1"/>
          </p:cNvSpPr>
          <p:nvPr>
            <p:ph type="sldImg"/>
          </p:nvPr>
        </p:nvSpPr>
        <p:spPr>
          <a:xfrm>
            <a:off x="25400" y="744538"/>
            <a:ext cx="6616700" cy="3722687"/>
          </a:xfrm>
          <a:prstGeom prst="rect">
            <a:avLst/>
          </a:prstGeom>
        </p:spPr>
      </p:sp>
      <p:sp>
        <p:nvSpPr>
          <p:cNvPr id="587"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88"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3C0F71A2-56FE-4BF7-897D-32C938B0BFE8}" type="slidenum">
              <a:rPr lang="en-IE" sz="1200" b="0" strike="noStrike" spc="-1">
                <a:solidFill>
                  <a:srgbClr val="000000"/>
                </a:solidFill>
                <a:latin typeface="+mn-lt"/>
                <a:ea typeface="+mn-ea"/>
              </a:rPr>
              <a:t>15</a:t>
            </a:fld>
            <a:endParaRPr lang="en-IE" sz="1200" b="0" strike="noStrike" spc="-1">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PlaceHolder 1"/>
          <p:cNvSpPr>
            <a:spLocks noGrp="1" noRot="1" noChangeAspect="1"/>
          </p:cNvSpPr>
          <p:nvPr>
            <p:ph type="sldImg"/>
          </p:nvPr>
        </p:nvSpPr>
        <p:spPr>
          <a:xfrm>
            <a:off x="25400" y="744538"/>
            <a:ext cx="6616700" cy="3722687"/>
          </a:xfrm>
          <a:prstGeom prst="rect">
            <a:avLst/>
          </a:prstGeom>
        </p:spPr>
      </p:sp>
      <p:sp>
        <p:nvSpPr>
          <p:cNvPr id="590"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91"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EBA00F8B-AF1C-4A51-8328-BB8042287A2E}" type="slidenum">
              <a:rPr lang="en-IE" sz="1200" b="0" strike="noStrike" spc="-1">
                <a:solidFill>
                  <a:srgbClr val="000000"/>
                </a:solidFill>
                <a:latin typeface="+mn-lt"/>
                <a:ea typeface="+mn-ea"/>
              </a:rPr>
              <a:t>16</a:t>
            </a:fld>
            <a:endParaRPr lang="en-IE" sz="1200" b="0" strike="noStrike" spc="-1">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25400" y="744538"/>
            <a:ext cx="6616700" cy="3722687"/>
          </a:xfrm>
          <a:prstGeom prst="rect">
            <a:avLst/>
          </a:prstGeom>
        </p:spPr>
      </p:sp>
      <p:sp>
        <p:nvSpPr>
          <p:cNvPr id="593"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94"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B99DF4DD-203A-4CF1-93D0-E4BCDB3C2ECF}" type="slidenum">
              <a:rPr lang="en-IE" sz="1200" b="0" strike="noStrike" spc="-1">
                <a:solidFill>
                  <a:srgbClr val="000000"/>
                </a:solidFill>
                <a:latin typeface="+mn-lt"/>
                <a:ea typeface="+mn-ea"/>
              </a:rPr>
              <a:t>17</a:t>
            </a:fld>
            <a:endParaRPr lang="en-IE" sz="1200" b="0" strike="noStrike" spc="-1">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PlaceHolder 1"/>
          <p:cNvSpPr>
            <a:spLocks noGrp="1" noRot="1" noChangeAspect="1"/>
          </p:cNvSpPr>
          <p:nvPr>
            <p:ph type="sldImg"/>
          </p:nvPr>
        </p:nvSpPr>
        <p:spPr>
          <a:xfrm>
            <a:off x="25400" y="744538"/>
            <a:ext cx="6616700" cy="3722687"/>
          </a:xfrm>
          <a:prstGeom prst="rect">
            <a:avLst/>
          </a:prstGeom>
        </p:spPr>
      </p:sp>
      <p:sp>
        <p:nvSpPr>
          <p:cNvPr id="596" name="PlaceHolder 2"/>
          <p:cNvSpPr>
            <a:spLocks noGrp="1"/>
          </p:cNvSpPr>
          <p:nvPr>
            <p:ph type="body"/>
          </p:nvPr>
        </p:nvSpPr>
        <p:spPr>
          <a:xfrm>
            <a:off x="667080" y="4716000"/>
            <a:ext cx="5334480" cy="4466880"/>
          </a:xfrm>
          <a:prstGeom prst="rect">
            <a:avLst/>
          </a:prstGeom>
        </p:spPr>
        <p:txBody>
          <a:bodyPr lIns="0" tIns="0" rIns="0" bIns="0">
            <a:normAutofit/>
          </a:bodyPr>
          <a:lstStyle/>
          <a:p>
            <a:endParaRPr lang="en-IE" sz="2000" b="0" strike="noStrike" spc="-1">
              <a:latin typeface="Arial"/>
            </a:endParaRPr>
          </a:p>
        </p:txBody>
      </p:sp>
      <p:sp>
        <p:nvSpPr>
          <p:cNvPr id="597" name="CustomShape 3"/>
          <p:cNvSpPr/>
          <p:nvPr/>
        </p:nvSpPr>
        <p:spPr>
          <a:xfrm>
            <a:off x="3777480" y="9430200"/>
            <a:ext cx="2889360" cy="49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gn="r">
              <a:lnSpc>
                <a:spcPct val="100000"/>
              </a:lnSpc>
            </a:pPr>
            <a:fld id="{5A3417D3-1A0B-4D15-8053-46ED8E6BD3D2}" type="slidenum">
              <a:rPr lang="en-IE" sz="1200" b="0" strike="noStrike" spc="-1">
                <a:solidFill>
                  <a:srgbClr val="000000"/>
                </a:solidFill>
                <a:latin typeface="+mn-lt"/>
                <a:ea typeface="+mn-ea"/>
              </a:rPr>
              <a:t>18</a:t>
            </a:fld>
            <a:endParaRPr lang="en-IE"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7FCB2-8EF9-4D9E-3D3D-E91EA1712EF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141059A-27BD-0423-7493-048B9C0827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2EEB9FC-6635-5016-872C-8E0F693180AE}"/>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023E5FA1-7F24-EB46-5FC2-28E56B0EE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52FFF0-CCD5-372F-3C43-751F66E6C3CC}"/>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4146235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7E43C-83F5-71AE-D9C5-5A951514127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94B628-A337-1ECA-806E-75D4AE2407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97FE84F-36F3-3196-1981-5C8562F78891}"/>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4FCC8A99-65B0-4FD3-36E5-8EE9842CF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FC45D-70BE-787A-A9FE-C86C6F359968}"/>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2786764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8DFE8-FE11-9600-D62D-2B95820A0AA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D685601-6E66-D5EB-0401-E8BE17202A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DC91DE-8E9E-1B03-083A-E4E7DC1F399A}"/>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754622E6-A470-F03F-80BB-1153AF3902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3596F6-436C-79DC-928E-101F59E1ED0B}"/>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165025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E2C22-C463-9D73-1A1B-07E427BF16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03A6B07-0C73-7944-4423-DD263370983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FB1B943-BE1F-F4BE-989C-3A08B816F7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86AC09A-735B-751C-DFD3-69005E4B2512}"/>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6" name="Footer Placeholder 5">
            <a:extLst>
              <a:ext uri="{FF2B5EF4-FFF2-40B4-BE49-F238E27FC236}">
                <a16:creationId xmlns:a16="http://schemas.microsoft.com/office/drawing/2014/main" id="{B28EDC50-E7E1-7EB5-36A4-FE66B92FEE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D41A88-4696-DC63-0066-F53F3B1FF3D7}"/>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22825694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1150-EFD6-F2CD-89B6-95F9C4385B6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447A8D1-BB95-E7A7-7AEF-8D8D5DE48F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F37EC5-020D-CDDE-F584-59007B763B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F1DD339-5D85-D03E-CA8C-733ED3F511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5269017-87DD-3AE8-65FA-1E6C38D1A7A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71BB1D5-409E-37B1-A57D-F90B19C06674}"/>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8" name="Footer Placeholder 7">
            <a:extLst>
              <a:ext uri="{FF2B5EF4-FFF2-40B4-BE49-F238E27FC236}">
                <a16:creationId xmlns:a16="http://schemas.microsoft.com/office/drawing/2014/main" id="{2B31E6C4-6F02-E0E2-125D-2606768F9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906219-F42E-D1DE-CC2E-A283817853DE}"/>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194785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9852F-B3ED-F161-A31A-501ABC2B2E4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D6B84-BE26-C073-09E2-ABCB52339C43}"/>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4" name="Footer Placeholder 3">
            <a:extLst>
              <a:ext uri="{FF2B5EF4-FFF2-40B4-BE49-F238E27FC236}">
                <a16:creationId xmlns:a16="http://schemas.microsoft.com/office/drawing/2014/main" id="{1D48F4E4-C443-3B3C-4F9D-75F0D54126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1E9AEA-989D-5855-BF71-5FB5999B7BF9}"/>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2494913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73688B-C580-D358-88CE-FD104379F01B}"/>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3" name="Footer Placeholder 2">
            <a:extLst>
              <a:ext uri="{FF2B5EF4-FFF2-40B4-BE49-F238E27FC236}">
                <a16:creationId xmlns:a16="http://schemas.microsoft.com/office/drawing/2014/main" id="{2AABBA1D-42E6-0FAF-F929-35B09A9AE1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E24FD7-2D4A-6F77-DF10-8E6189F84B15}"/>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833438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37C5A-FE4E-D212-09EF-9EAEFF7071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3187CA3-FB77-FFBA-599A-B9D29412B0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37BEB3-F7C0-4977-D80E-46A5C2E119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C607B05-5613-BE9D-BD4B-D6A7F8331E85}"/>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6" name="Footer Placeholder 5">
            <a:extLst>
              <a:ext uri="{FF2B5EF4-FFF2-40B4-BE49-F238E27FC236}">
                <a16:creationId xmlns:a16="http://schemas.microsoft.com/office/drawing/2014/main" id="{DEF807C9-A8B8-AA34-3E78-D11CB760C5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11C89-51BE-5E1D-7F40-842396D3BE68}"/>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25269181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4E85D-A2E3-7D60-50C4-F5FCF03FB59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0B2BF0D-6565-F07D-3F50-201FFC4096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56E9D4-93F8-30B7-6BB6-C4F7564782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1AC19B-0B56-4C11-B39B-B7E8815BE44A}"/>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6" name="Footer Placeholder 5">
            <a:extLst>
              <a:ext uri="{FF2B5EF4-FFF2-40B4-BE49-F238E27FC236}">
                <a16:creationId xmlns:a16="http://schemas.microsoft.com/office/drawing/2014/main" id="{610F1473-200C-6228-DC6D-66C1AD6A0F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4A4B42-8E19-10E7-934A-C08C3E8882DA}"/>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1058012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52DAA-0F45-2B07-DF97-B67662D542B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A4DFA3D-FA9D-509C-FA44-D98515B2E4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5BADA7-77A0-BA48-5F5D-1FF77ADE4A19}"/>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3D692F1F-DBE4-0726-710C-705C809F00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5AD9E0-11D1-E449-4671-8F97A8729A9E}"/>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2687360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F187C-7194-37F0-0F72-D800EB21F25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66AFAF-A699-3918-5718-80446DAFFA6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4B89254-C624-EE23-4CB4-8AAEB503FA37}"/>
              </a:ext>
            </a:extLst>
          </p:cNvPr>
          <p:cNvSpPr>
            <a:spLocks noGrp="1"/>
          </p:cNvSpPr>
          <p:nvPr>
            <p:ph type="dt" sz="half" idx="10"/>
          </p:nvPr>
        </p:nvSpPr>
        <p:spPr/>
        <p:txBody>
          <a:body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DC7B9E84-0498-C6E9-E40D-47C7DE9D9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488865-9971-E20F-4DB7-5C150D2D7103}"/>
              </a:ext>
            </a:extLst>
          </p:cNvPr>
          <p:cNvSpPr>
            <a:spLocks noGrp="1"/>
          </p:cNvSpPr>
          <p:nvPr>
            <p:ph type="sldNum" sz="quarter" idx="12"/>
          </p:nvPr>
        </p:nvSpPr>
        <p:spPr/>
        <p:txBody>
          <a:bodyPr/>
          <a:lstStyle/>
          <a:p>
            <a:fld id="{40FDDCF6-9A35-44F4-A90E-47FA9EC9BA77}" type="slidenum">
              <a:rPr lang="en-US" smtClean="0"/>
              <a:t>‹#›</a:t>
            </a:fld>
            <a:endParaRPr lang="en-US"/>
          </a:p>
        </p:txBody>
      </p:sp>
    </p:spTree>
    <p:extLst>
      <p:ext uri="{BB962C8B-B14F-4D97-AF65-F5344CB8AC3E}">
        <p14:creationId xmlns:p14="http://schemas.microsoft.com/office/powerpoint/2010/main" val="391507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93CFEB-0A66-E07B-0D76-B106BC8B4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04D62B3-CD64-BA2B-C8C4-4100AA09E7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27385B-7D8F-77A9-1012-3BFC0BF0F5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910F92-6635-4349-8C6C-915DE94B0A8A}" type="datetimeFigureOut">
              <a:rPr lang="en-US" smtClean="0"/>
              <a:t>4/1/26</a:t>
            </a:fld>
            <a:endParaRPr lang="en-US"/>
          </a:p>
        </p:txBody>
      </p:sp>
      <p:sp>
        <p:nvSpPr>
          <p:cNvPr id="5" name="Footer Placeholder 4">
            <a:extLst>
              <a:ext uri="{FF2B5EF4-FFF2-40B4-BE49-F238E27FC236}">
                <a16:creationId xmlns:a16="http://schemas.microsoft.com/office/drawing/2014/main" id="{2800E323-3ECD-3653-97C4-504F578876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8223B5-ECC9-2ACD-461C-9EDA356E72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FDDCF6-9A35-44F4-A90E-47FA9EC9BA77}" type="slidenum">
              <a:rPr lang="en-US" smtClean="0"/>
              <a:t>‹#›</a:t>
            </a:fld>
            <a:endParaRPr lang="en-US"/>
          </a:p>
        </p:txBody>
      </p:sp>
    </p:spTree>
    <p:extLst>
      <p:ext uri="{BB962C8B-B14F-4D97-AF65-F5344CB8AC3E}">
        <p14:creationId xmlns:p14="http://schemas.microsoft.com/office/powerpoint/2010/main" val="9665886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325D-B0FB-4EB6-A7D7-FC89D147D948}"/>
              </a:ext>
            </a:extLst>
          </p:cNvPr>
          <p:cNvSpPr>
            <a:spLocks noGrp="1"/>
          </p:cNvSpPr>
          <p:nvPr>
            <p:ph type="ctrTitle"/>
          </p:nvPr>
        </p:nvSpPr>
        <p:spPr/>
        <p:txBody>
          <a:bodyPr/>
          <a:lstStyle/>
          <a:p>
            <a:r>
              <a:rPr lang="en-US"/>
              <a:t>Ensemble learning</a:t>
            </a:r>
          </a:p>
        </p:txBody>
      </p:sp>
      <p:sp>
        <p:nvSpPr>
          <p:cNvPr id="3" name="Subtitle 2">
            <a:extLst>
              <a:ext uri="{FF2B5EF4-FFF2-40B4-BE49-F238E27FC236}">
                <a16:creationId xmlns:a16="http://schemas.microsoft.com/office/drawing/2014/main" id="{C5158516-F488-4D60-8679-F1E177A56FE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35394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1"/>
          <p:cNvSpPr/>
          <p:nvPr/>
        </p:nvSpPr>
        <p:spPr>
          <a:xfrm>
            <a:off x="1981200" y="19260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Ensemble Learning</a:t>
            </a:r>
            <a:endParaRPr lang="en-IE" sz="4400" spc="-1">
              <a:latin typeface="Arial"/>
            </a:endParaRPr>
          </a:p>
        </p:txBody>
      </p:sp>
      <p:sp>
        <p:nvSpPr>
          <p:cNvPr id="217" name="CustomShape 2"/>
          <p:cNvSpPr/>
          <p:nvPr/>
        </p:nvSpPr>
        <p:spPr>
          <a:xfrm>
            <a:off x="1941240" y="1295280"/>
            <a:ext cx="845316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In machine learning, ensemble methods utilize/</a:t>
            </a:r>
            <a:r>
              <a:rPr lang="en-IE" sz="2000" b="1" spc="-1" dirty="0">
                <a:solidFill>
                  <a:srgbClr val="000000"/>
                </a:solidFill>
                <a:latin typeface="Calibri"/>
                <a:ea typeface="DejaVu Sans"/>
              </a:rPr>
              <a:t>combine the results </a:t>
            </a:r>
            <a:r>
              <a:rPr lang="en-IE" sz="2000" spc="-1" dirty="0">
                <a:solidFill>
                  <a:srgbClr val="000000"/>
                </a:solidFill>
                <a:latin typeface="Calibri"/>
                <a:ea typeface="DejaVu Sans"/>
              </a:rPr>
              <a:t>from a number of learning algorithms to obtain a better predictive performance than could be obtained from any single one of the learning algorithms</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Instead of learning one model, we learn several and combine them. Such combinations are known as model ensembles. </a:t>
            </a:r>
            <a:endParaRPr lang="en-IE" sz="2000" spc="-1" dirty="0">
              <a:latin typeface="Arial"/>
            </a:endParaRPr>
          </a:p>
          <a:p>
            <a:pPr marL="730080" lvl="1"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Note the </a:t>
            </a:r>
            <a:r>
              <a:rPr lang="en-IE" sz="2000" b="1" spc="-1" dirty="0">
                <a:solidFill>
                  <a:srgbClr val="000000"/>
                </a:solidFill>
                <a:latin typeface="Calibri"/>
                <a:ea typeface="DejaVu Sans"/>
              </a:rPr>
              <a:t>base learners </a:t>
            </a:r>
            <a:r>
              <a:rPr lang="en-IE" sz="2000" spc="-1" dirty="0">
                <a:solidFill>
                  <a:srgbClr val="000000"/>
                </a:solidFill>
                <a:latin typeface="Calibri"/>
                <a:ea typeface="DejaVu Sans"/>
              </a:rPr>
              <a:t>could be the same algorithm or different </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They are among the most powerful techniques in machine learning. Typically improve accuracy</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b="1" spc="-1" dirty="0">
                <a:solidFill>
                  <a:srgbClr val="000000"/>
                </a:solidFill>
                <a:latin typeface="Calibri"/>
                <a:ea typeface="DejaVu Sans"/>
              </a:rPr>
              <a:t>Downside</a:t>
            </a:r>
            <a:r>
              <a:rPr lang="en-IE" sz="2000" spc="-1" dirty="0">
                <a:solidFill>
                  <a:srgbClr val="000000"/>
                </a:solidFill>
                <a:latin typeface="Calibri"/>
                <a:ea typeface="DejaVu Sans"/>
              </a:rPr>
              <a:t> is they take much longer to run than a single model. </a:t>
            </a:r>
            <a:endParaRPr lang="en-IE" sz="2000"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Ensemble Learning</a:t>
            </a:r>
            <a:endParaRPr lang="en-IE" sz="4400" spc="-1">
              <a:latin typeface="Arial"/>
            </a:endParaRPr>
          </a:p>
        </p:txBody>
      </p:sp>
      <p:sp>
        <p:nvSpPr>
          <p:cNvPr id="219"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Ensemble methods in machine learning have the following two things in common:</a:t>
            </a:r>
            <a:endParaRPr lang="en-IE" sz="2000" spc="-1">
              <a:latin typeface="Arial"/>
            </a:endParaRPr>
          </a:p>
          <a:p>
            <a:pPr>
              <a:spcBef>
                <a:spcPts val="601"/>
              </a:spcBef>
            </a:pP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They construct multiple, diverse predictive models from </a:t>
            </a:r>
            <a:r>
              <a:rPr lang="en-IE" sz="2000" b="1" u="sng" spc="-1">
                <a:solidFill>
                  <a:srgbClr val="000000"/>
                </a:solidFill>
                <a:latin typeface="Calibri"/>
                <a:ea typeface="DejaVu Sans"/>
              </a:rPr>
              <a:t>adapted</a:t>
            </a:r>
            <a:r>
              <a:rPr lang="en-IE" sz="2000" b="1" spc="-1">
                <a:solidFill>
                  <a:srgbClr val="000000"/>
                </a:solidFill>
                <a:latin typeface="Calibri"/>
                <a:ea typeface="DejaVu Sans"/>
              </a:rPr>
              <a:t> versions </a:t>
            </a:r>
            <a:r>
              <a:rPr lang="en-IE" sz="2000" spc="-1">
                <a:solidFill>
                  <a:srgbClr val="000000"/>
                </a:solidFill>
                <a:latin typeface="Calibri"/>
                <a:ea typeface="DejaVu Sans"/>
              </a:rPr>
              <a:t>of the training data </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They combine the predictions of these models in some way, often by simple averaging or voting </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There are many different methods:</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Bagging</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Random Forests</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Boosting</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Etc.</a:t>
            </a:r>
            <a:endParaRPr lang="en-IE" sz="2000"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Bagging</a:t>
            </a:r>
            <a:endParaRPr lang="en-IE" sz="4400" spc="-1">
              <a:latin typeface="Arial"/>
            </a:endParaRPr>
          </a:p>
        </p:txBody>
      </p:sp>
      <p:sp>
        <p:nvSpPr>
          <p:cNvPr id="221" name="CustomShape 2"/>
          <p:cNvSpPr/>
          <p:nvPr/>
        </p:nvSpPr>
        <p:spPr>
          <a:xfrm>
            <a:off x="1995600" y="1295280"/>
            <a:ext cx="821448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Bagging, short for “bootstrap aggregating” is a simple but highly effective ensemble technique that creates different models on </a:t>
            </a:r>
            <a:r>
              <a:rPr lang="en-IE" sz="2000" b="1" spc="-1">
                <a:solidFill>
                  <a:srgbClr val="000000"/>
                </a:solidFill>
                <a:latin typeface="Calibri"/>
                <a:ea typeface="DejaVu Sans"/>
              </a:rPr>
              <a:t>random samples </a:t>
            </a:r>
            <a:r>
              <a:rPr lang="en-IE" sz="2000" spc="-1">
                <a:solidFill>
                  <a:srgbClr val="000000"/>
                </a:solidFill>
                <a:latin typeface="Calibri"/>
                <a:ea typeface="DejaVu Sans"/>
              </a:rPr>
              <a:t>of the original data set. </a:t>
            </a:r>
            <a:endParaRPr lang="en-IE" sz="2000" spc="-1">
              <a:latin typeface="Arial"/>
            </a:endParaRPr>
          </a:p>
          <a:p>
            <a:pPr marL="730080" lvl="1" indent="-272160">
              <a:spcBef>
                <a:spcPts val="601"/>
              </a:spcBef>
              <a:buClr>
                <a:srgbClr val="4F81BD"/>
              </a:buClr>
              <a:buSzPct val="76000"/>
              <a:buFont typeface="Wingdings 3" charset="2"/>
              <a:buChar char=""/>
            </a:pPr>
            <a:r>
              <a:rPr lang="en-IE" sz="2000" spc="-1">
                <a:solidFill>
                  <a:srgbClr val="000000"/>
                </a:solidFill>
                <a:latin typeface="Calibri"/>
                <a:ea typeface="DejaVu Sans"/>
              </a:rPr>
              <a:t>These samples are taken uniformly with replacement and are known as </a:t>
            </a:r>
            <a:r>
              <a:rPr lang="en-IE" sz="2000" b="1" spc="-1">
                <a:solidFill>
                  <a:srgbClr val="000000"/>
                </a:solidFill>
                <a:latin typeface="Calibri"/>
                <a:ea typeface="DejaVu Sans"/>
              </a:rPr>
              <a:t>bootstrap samples</a:t>
            </a:r>
            <a:r>
              <a:rPr lang="en-IE" sz="2000" spc="-1">
                <a:solidFill>
                  <a:srgbClr val="000000"/>
                </a:solidFill>
                <a:latin typeface="Calibri"/>
                <a:ea typeface="DejaVu Sans"/>
              </a:rPr>
              <a:t>.</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Learn one model for each sample </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Combine and applying as a classifier by uniform voting (the class predicted by the majority of models wins or by averaging for regression problems)</a:t>
            </a:r>
            <a:endParaRPr lang="en-IE" sz="2000"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CustomShape 1"/>
          <p:cNvSpPr/>
          <p:nvPr/>
        </p:nvSpPr>
        <p:spPr>
          <a:xfrm>
            <a:off x="1981200" y="-16200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Bagging</a:t>
            </a:r>
            <a:endParaRPr lang="en-IE" sz="4400" spc="-1">
              <a:latin typeface="Arial"/>
            </a:endParaRPr>
          </a:p>
        </p:txBody>
      </p:sp>
      <p:sp>
        <p:nvSpPr>
          <p:cNvPr id="223" name="CustomShape 2"/>
          <p:cNvSpPr/>
          <p:nvPr/>
        </p:nvSpPr>
        <p:spPr>
          <a:xfrm>
            <a:off x="1838640" y="1099440"/>
            <a:ext cx="8473680" cy="5106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The differences between the different bootstrap samples will create diversity among the models in the ensemble. </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This technique has shown that </a:t>
            </a:r>
            <a:r>
              <a:rPr lang="en-IE" sz="2000" b="1" spc="-1" dirty="0">
                <a:solidFill>
                  <a:srgbClr val="000000"/>
                </a:solidFill>
                <a:latin typeface="Calibri"/>
                <a:ea typeface="DejaVu Sans"/>
              </a:rPr>
              <a:t>statistically each of the samples look very similar </a:t>
            </a:r>
            <a:r>
              <a:rPr lang="en-IE" sz="2000" spc="-1" dirty="0">
                <a:solidFill>
                  <a:srgbClr val="000000"/>
                </a:solidFill>
                <a:latin typeface="Calibri"/>
                <a:ea typeface="DejaVu Sans"/>
              </a:rPr>
              <a:t>(variance, mean, etc. )</a:t>
            </a:r>
            <a:endParaRPr lang="en-IE" sz="2000" spc="-1" dirty="0">
              <a:latin typeface="Arial"/>
            </a:endParaRPr>
          </a:p>
          <a:p>
            <a:pPr marL="730080" lvl="1"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In practice each bootstrap sample is likely to leave out about a third of the data points.</a:t>
            </a:r>
            <a:endParaRPr lang="en-IE" sz="2000" spc="-1" dirty="0">
              <a:latin typeface="Arial"/>
            </a:endParaRPr>
          </a:p>
          <a:p>
            <a:pPr>
              <a:spcBef>
                <a:spcPts val="601"/>
              </a:spcBef>
            </a:pPr>
            <a:endParaRPr lang="en-IE" sz="2000" spc="-1" dirty="0">
              <a:latin typeface="Arial"/>
            </a:endParaRPr>
          </a:p>
          <a:p>
            <a:pPr>
              <a:spcBef>
                <a:spcPts val="601"/>
              </a:spcBef>
            </a:pPr>
            <a:endParaRPr lang="en-IE" sz="2000" spc="-1" dirty="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CustomShape 1"/>
          <p:cNvSpPr/>
          <p:nvPr/>
        </p:nvSpPr>
        <p:spPr>
          <a:xfrm>
            <a:off x="1981200" y="-16200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Bagging</a:t>
            </a:r>
            <a:endParaRPr lang="en-IE" sz="4400" spc="-1">
              <a:latin typeface="Arial"/>
            </a:endParaRPr>
          </a:p>
        </p:txBody>
      </p:sp>
      <p:sp>
        <p:nvSpPr>
          <p:cNvPr id="225" name="CustomShape 2"/>
          <p:cNvSpPr/>
          <p:nvPr/>
        </p:nvSpPr>
        <p:spPr>
          <a:xfrm>
            <a:off x="5257920" y="908640"/>
            <a:ext cx="1370880" cy="913680"/>
          </a:xfrm>
          <a:prstGeom prst="rect">
            <a:avLst/>
          </a:prstGeom>
          <a:solidFill>
            <a:schemeClr val="bg2">
              <a:lumMod val="5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Training Data</a:t>
            </a:r>
            <a:endParaRPr lang="en-IE" spc="-1">
              <a:latin typeface="Arial"/>
            </a:endParaRPr>
          </a:p>
        </p:txBody>
      </p:sp>
      <p:sp>
        <p:nvSpPr>
          <p:cNvPr id="226" name="CustomShape 3"/>
          <p:cNvSpPr/>
          <p:nvPr/>
        </p:nvSpPr>
        <p:spPr>
          <a:xfrm>
            <a:off x="2686080" y="3263040"/>
            <a:ext cx="1599480" cy="761400"/>
          </a:xfrm>
          <a:prstGeom prst="rect">
            <a:avLst/>
          </a:prstGeom>
          <a:solidFill>
            <a:schemeClr val="accent2">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Base Learner </a:t>
            </a:r>
            <a:endParaRPr lang="en-IE" spc="-1">
              <a:latin typeface="Arial"/>
            </a:endParaRPr>
          </a:p>
        </p:txBody>
      </p:sp>
      <p:sp>
        <p:nvSpPr>
          <p:cNvPr id="227" name="CustomShape 4"/>
          <p:cNvSpPr/>
          <p:nvPr/>
        </p:nvSpPr>
        <p:spPr>
          <a:xfrm>
            <a:off x="2647920" y="2200320"/>
            <a:ext cx="1675800" cy="685080"/>
          </a:xfrm>
          <a:prstGeom prst="ellipse">
            <a:avLst/>
          </a:prstGeom>
          <a:solidFill>
            <a:schemeClr val="accent4">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Sample 1</a:t>
            </a:r>
            <a:endParaRPr lang="en-IE" spc="-1">
              <a:latin typeface="Arial"/>
            </a:endParaRPr>
          </a:p>
        </p:txBody>
      </p:sp>
      <p:sp>
        <p:nvSpPr>
          <p:cNvPr id="228" name="CustomShape 5"/>
          <p:cNvSpPr/>
          <p:nvPr/>
        </p:nvSpPr>
        <p:spPr>
          <a:xfrm>
            <a:off x="4972080" y="2200320"/>
            <a:ext cx="1675800" cy="685080"/>
          </a:xfrm>
          <a:prstGeom prst="ellipse">
            <a:avLst/>
          </a:prstGeom>
          <a:solidFill>
            <a:schemeClr val="accent4">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Sample 2</a:t>
            </a:r>
            <a:endParaRPr lang="en-IE" spc="-1">
              <a:latin typeface="Arial"/>
            </a:endParaRPr>
          </a:p>
        </p:txBody>
      </p:sp>
      <p:sp>
        <p:nvSpPr>
          <p:cNvPr id="229" name="CustomShape 6"/>
          <p:cNvSpPr/>
          <p:nvPr/>
        </p:nvSpPr>
        <p:spPr>
          <a:xfrm>
            <a:off x="8153400" y="2200320"/>
            <a:ext cx="1675800" cy="685080"/>
          </a:xfrm>
          <a:prstGeom prst="ellipse">
            <a:avLst/>
          </a:prstGeom>
          <a:solidFill>
            <a:schemeClr val="accent4">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Sample n</a:t>
            </a:r>
            <a:endParaRPr lang="en-IE" spc="-1">
              <a:latin typeface="Arial"/>
            </a:endParaRPr>
          </a:p>
        </p:txBody>
      </p:sp>
      <p:sp>
        <p:nvSpPr>
          <p:cNvPr id="230" name="CustomShape 7"/>
          <p:cNvSpPr/>
          <p:nvPr/>
        </p:nvSpPr>
        <p:spPr>
          <a:xfrm>
            <a:off x="5048400" y="3263040"/>
            <a:ext cx="1599480" cy="761400"/>
          </a:xfrm>
          <a:prstGeom prst="rect">
            <a:avLst/>
          </a:prstGeom>
          <a:solidFill>
            <a:schemeClr val="accent2">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Base Learner </a:t>
            </a:r>
            <a:endParaRPr lang="en-IE" spc="-1">
              <a:latin typeface="Arial"/>
            </a:endParaRPr>
          </a:p>
        </p:txBody>
      </p:sp>
      <p:sp>
        <p:nvSpPr>
          <p:cNvPr id="231" name="CustomShape 8"/>
          <p:cNvSpPr/>
          <p:nvPr/>
        </p:nvSpPr>
        <p:spPr>
          <a:xfrm>
            <a:off x="8153400" y="3263040"/>
            <a:ext cx="1599480" cy="761400"/>
          </a:xfrm>
          <a:prstGeom prst="rect">
            <a:avLst/>
          </a:prstGeom>
          <a:solidFill>
            <a:schemeClr val="accent2">
              <a:lumMod val="75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Base Learner </a:t>
            </a:r>
            <a:endParaRPr lang="en-IE" spc="-1">
              <a:latin typeface="Arial"/>
            </a:endParaRPr>
          </a:p>
        </p:txBody>
      </p:sp>
      <p:sp>
        <p:nvSpPr>
          <p:cNvPr id="232" name="CustomShape 9"/>
          <p:cNvSpPr/>
          <p:nvPr/>
        </p:nvSpPr>
        <p:spPr>
          <a:xfrm>
            <a:off x="2686080" y="4426200"/>
            <a:ext cx="1599480" cy="761400"/>
          </a:xfrm>
          <a:prstGeom prst="flowChartAlternateProcess">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Model 1</a:t>
            </a:r>
            <a:endParaRPr lang="en-IE" spc="-1">
              <a:latin typeface="Arial"/>
            </a:endParaRPr>
          </a:p>
        </p:txBody>
      </p:sp>
      <p:sp>
        <p:nvSpPr>
          <p:cNvPr id="233" name="CustomShape 10"/>
          <p:cNvSpPr/>
          <p:nvPr/>
        </p:nvSpPr>
        <p:spPr>
          <a:xfrm>
            <a:off x="5143440" y="4421160"/>
            <a:ext cx="1599480" cy="761400"/>
          </a:xfrm>
          <a:prstGeom prst="flowChartAlternateProcess">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Model 2</a:t>
            </a:r>
            <a:endParaRPr lang="en-IE" spc="-1">
              <a:latin typeface="Arial"/>
            </a:endParaRPr>
          </a:p>
        </p:txBody>
      </p:sp>
      <p:sp>
        <p:nvSpPr>
          <p:cNvPr id="234" name="CustomShape 11"/>
          <p:cNvSpPr/>
          <p:nvPr/>
        </p:nvSpPr>
        <p:spPr>
          <a:xfrm>
            <a:off x="8191560" y="4421160"/>
            <a:ext cx="1599480" cy="761400"/>
          </a:xfrm>
          <a:prstGeom prst="flowChartAlternateProcess">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Model n</a:t>
            </a:r>
            <a:endParaRPr lang="en-IE" spc="-1">
              <a:latin typeface="Arial"/>
            </a:endParaRPr>
          </a:p>
        </p:txBody>
      </p:sp>
      <p:sp>
        <p:nvSpPr>
          <p:cNvPr id="235" name="CustomShape 12"/>
          <p:cNvSpPr/>
          <p:nvPr/>
        </p:nvSpPr>
        <p:spPr>
          <a:xfrm>
            <a:off x="2133480" y="5812920"/>
            <a:ext cx="1675800" cy="532800"/>
          </a:xfrm>
          <a:prstGeom prst="rect">
            <a:avLst/>
          </a:prstGeom>
          <a:solidFill>
            <a:schemeClr val="bg1">
              <a:lumMod val="5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Example</a:t>
            </a:r>
            <a:endParaRPr lang="en-IE" spc="-1">
              <a:latin typeface="Arial"/>
            </a:endParaRPr>
          </a:p>
        </p:txBody>
      </p:sp>
      <p:sp>
        <p:nvSpPr>
          <p:cNvPr id="236" name="CustomShape 13"/>
          <p:cNvSpPr/>
          <p:nvPr/>
        </p:nvSpPr>
        <p:spPr>
          <a:xfrm>
            <a:off x="4977480" y="5846040"/>
            <a:ext cx="1675800" cy="532800"/>
          </a:xfrm>
          <a:prstGeom prst="rect">
            <a:avLst/>
          </a:prstGeom>
          <a:solidFill>
            <a:schemeClr val="bg1">
              <a:lumMod val="5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Vote</a:t>
            </a:r>
            <a:endParaRPr lang="en-IE" spc="-1">
              <a:latin typeface="Arial"/>
            </a:endParaRPr>
          </a:p>
        </p:txBody>
      </p:sp>
      <p:sp>
        <p:nvSpPr>
          <p:cNvPr id="237" name="CustomShape 14"/>
          <p:cNvSpPr/>
          <p:nvPr/>
        </p:nvSpPr>
        <p:spPr>
          <a:xfrm>
            <a:off x="8191560" y="5727240"/>
            <a:ext cx="1675800" cy="704520"/>
          </a:xfrm>
          <a:prstGeom prst="rect">
            <a:avLst/>
          </a:prstGeom>
          <a:solidFill>
            <a:schemeClr val="bg1">
              <a:lumMod val="5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Predicated Class</a:t>
            </a:r>
            <a:endParaRPr lang="en-IE" spc="-1">
              <a:latin typeface="Arial"/>
            </a:endParaRPr>
          </a:p>
        </p:txBody>
      </p:sp>
      <p:sp>
        <p:nvSpPr>
          <p:cNvPr id="238" name="CustomShape 15"/>
          <p:cNvSpPr/>
          <p:nvPr/>
        </p:nvSpPr>
        <p:spPr>
          <a:xfrm flipH="1">
            <a:off x="4078200" y="1823040"/>
            <a:ext cx="1864080" cy="47664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39" name="CustomShape 16"/>
          <p:cNvSpPr/>
          <p:nvPr/>
        </p:nvSpPr>
        <p:spPr>
          <a:xfrm flipH="1">
            <a:off x="5809440" y="1823040"/>
            <a:ext cx="13248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0" name="CustomShape 17"/>
          <p:cNvSpPr/>
          <p:nvPr/>
        </p:nvSpPr>
        <p:spPr>
          <a:xfrm>
            <a:off x="5943720" y="1823040"/>
            <a:ext cx="304740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1" name="CustomShape 18"/>
          <p:cNvSpPr/>
          <p:nvPr/>
        </p:nvSpPr>
        <p:spPr>
          <a:xfrm>
            <a:off x="3486000" y="288612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2" name="CustomShape 19"/>
          <p:cNvSpPr/>
          <p:nvPr/>
        </p:nvSpPr>
        <p:spPr>
          <a:xfrm>
            <a:off x="5876760" y="288612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3" name="CustomShape 20"/>
          <p:cNvSpPr/>
          <p:nvPr/>
        </p:nvSpPr>
        <p:spPr>
          <a:xfrm>
            <a:off x="9029640" y="291276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4" name="CustomShape 21"/>
          <p:cNvSpPr/>
          <p:nvPr/>
        </p:nvSpPr>
        <p:spPr>
          <a:xfrm>
            <a:off x="3486000" y="404424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5" name="CustomShape 22"/>
          <p:cNvSpPr/>
          <p:nvPr/>
        </p:nvSpPr>
        <p:spPr>
          <a:xfrm>
            <a:off x="5876760" y="404424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6" name="CustomShape 23"/>
          <p:cNvSpPr/>
          <p:nvPr/>
        </p:nvSpPr>
        <p:spPr>
          <a:xfrm>
            <a:off x="9029640" y="4044240"/>
            <a:ext cx="360" cy="3762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7" name="CustomShape 24"/>
          <p:cNvSpPr/>
          <p:nvPr/>
        </p:nvSpPr>
        <p:spPr>
          <a:xfrm>
            <a:off x="3486000" y="5183280"/>
            <a:ext cx="2228040" cy="66204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8" name="CustomShape 25"/>
          <p:cNvSpPr/>
          <p:nvPr/>
        </p:nvSpPr>
        <p:spPr>
          <a:xfrm flipH="1">
            <a:off x="5904840" y="5183280"/>
            <a:ext cx="37440" cy="64188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49" name="CustomShape 26"/>
          <p:cNvSpPr/>
          <p:nvPr/>
        </p:nvSpPr>
        <p:spPr>
          <a:xfrm flipH="1">
            <a:off x="6148200" y="5183280"/>
            <a:ext cx="2841840" cy="62892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50" name="CustomShape 27"/>
          <p:cNvSpPr/>
          <p:nvPr/>
        </p:nvSpPr>
        <p:spPr>
          <a:xfrm>
            <a:off x="3810000" y="6079680"/>
            <a:ext cx="1166760" cy="324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51" name="CustomShape 28"/>
          <p:cNvSpPr/>
          <p:nvPr/>
        </p:nvSpPr>
        <p:spPr>
          <a:xfrm flipV="1">
            <a:off x="6654000" y="6078960"/>
            <a:ext cx="1536840" cy="32400"/>
          </a:xfrm>
          <a:custGeom>
            <a:avLst/>
            <a:gdLst/>
            <a:ahLst/>
            <a:cxnLst/>
            <a:rect l="l" t="t" r="r" b="b"/>
            <a:pathLst>
              <a:path w="21600" h="21600">
                <a:moveTo>
                  <a:pt x="0" y="0"/>
                </a:moveTo>
                <a:lnTo>
                  <a:pt x="21600" y="21600"/>
                </a:lnTo>
              </a:path>
            </a:pathLst>
          </a:custGeom>
          <a:noFill/>
          <a:ln w="28440">
            <a:solidFill>
              <a:schemeClr val="tx1"/>
            </a:solidFill>
            <a:round/>
            <a:tailEnd type="triangle" w="med" len="med"/>
          </a:ln>
        </p:spPr>
        <p:style>
          <a:lnRef idx="1">
            <a:schemeClr val="accent1"/>
          </a:lnRef>
          <a:fillRef idx="0">
            <a:schemeClr val="accent1"/>
          </a:fillRef>
          <a:effectRef idx="0">
            <a:schemeClr val="accent1"/>
          </a:effectRef>
          <a:fontRef idx="minor"/>
        </p:style>
        <p:txBody>
          <a:bodyPr/>
          <a:lstStyle/>
          <a:p>
            <a:endParaRPr lang="en-IE"/>
          </a:p>
        </p:txBody>
      </p:sp>
      <p:sp>
        <p:nvSpPr>
          <p:cNvPr id="252" name="CustomShape 29"/>
          <p:cNvSpPr/>
          <p:nvPr/>
        </p:nvSpPr>
        <p:spPr>
          <a:xfrm>
            <a:off x="2062920" y="5812920"/>
            <a:ext cx="1675800" cy="532800"/>
          </a:xfrm>
          <a:prstGeom prst="rect">
            <a:avLst/>
          </a:prstGeom>
          <a:solidFill>
            <a:schemeClr val="bg1">
              <a:lumMod val="50000"/>
            </a:schemeClr>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Example</a:t>
            </a:r>
            <a:endParaRPr lang="en-IE" spc="-1">
              <a:latin typeface="Arial"/>
            </a:endParaRPr>
          </a:p>
        </p:txBody>
      </p:sp>
    </p:spTree>
    <p:custDataLst>
      <p:tags r:id="rId1"/>
    </p:custData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238"/>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239"/>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240"/>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227"/>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2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241"/>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242"/>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243"/>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226"/>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230"/>
                                        </p:tgtEl>
                                        <p:attrNameLst>
                                          <p:attrName>style.visibility</p:attrName>
                                        </p:attrNameLst>
                                      </p:cBhvr>
                                      <p:to>
                                        <p:strVal val="visible"/>
                                      </p:to>
                                    </p:set>
                                  </p:childTnLst>
                                </p:cTn>
                              </p:par>
                              <p:par>
                                <p:cTn id="33" presetID="1" presetClass="entr" fill="hold" nodeType="withEffect">
                                  <p:stCondLst>
                                    <p:cond delay="0"/>
                                  </p:stCondLst>
                                  <p:childTnLst>
                                    <p:set>
                                      <p:cBhvr>
                                        <p:cTn id="34" dur="1" fill="hold">
                                          <p:stCondLst>
                                            <p:cond delay="0"/>
                                          </p:stCondLst>
                                        </p:cTn>
                                        <p:tgtEl>
                                          <p:spTgt spid="2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244"/>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232"/>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245"/>
                                        </p:tgtEl>
                                        <p:attrNameLst>
                                          <p:attrName>style.visibility</p:attrName>
                                        </p:attrNameLst>
                                      </p:cBhvr>
                                      <p:to>
                                        <p:strVal val="visible"/>
                                      </p:to>
                                    </p:set>
                                  </p:childTnLst>
                                </p:cTn>
                              </p:par>
                              <p:par>
                                <p:cTn id="43" presetID="1" presetClass="entr" fill="hold" nodeType="withEffect">
                                  <p:stCondLst>
                                    <p:cond delay="0"/>
                                  </p:stCondLst>
                                  <p:childTnLst>
                                    <p:set>
                                      <p:cBhvr>
                                        <p:cTn id="44" dur="1" fill="hold">
                                          <p:stCondLst>
                                            <p:cond delay="0"/>
                                          </p:stCondLst>
                                        </p:cTn>
                                        <p:tgtEl>
                                          <p:spTgt spid="233"/>
                                        </p:tgtEl>
                                        <p:attrNameLst>
                                          <p:attrName>style.visibility</p:attrName>
                                        </p:attrNameLst>
                                      </p:cBhvr>
                                      <p:to>
                                        <p:strVal val="visible"/>
                                      </p:to>
                                    </p:set>
                                  </p:childTnLst>
                                </p:cTn>
                              </p:par>
                              <p:par>
                                <p:cTn id="45" presetID="1" presetClass="entr" fill="hold" nodeType="withEffect">
                                  <p:stCondLst>
                                    <p:cond delay="0"/>
                                  </p:stCondLst>
                                  <p:childTnLst>
                                    <p:set>
                                      <p:cBhvr>
                                        <p:cTn id="46" dur="1" fill="hold">
                                          <p:stCondLst>
                                            <p:cond delay="0"/>
                                          </p:stCondLst>
                                        </p:cTn>
                                        <p:tgtEl>
                                          <p:spTgt spid="246"/>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23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247"/>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248"/>
                                        </p:tgtEl>
                                        <p:attrNameLst>
                                          <p:attrName>style.visibility</p:attrName>
                                        </p:attrNameLst>
                                      </p:cBhvr>
                                      <p:to>
                                        <p:strVal val="visible"/>
                                      </p:to>
                                    </p:set>
                                  </p:childTnLst>
                                </p:cTn>
                              </p:par>
                              <p:par>
                                <p:cTn id="55" presetID="1" presetClass="entr" fill="hold" nodeType="withEffect">
                                  <p:stCondLst>
                                    <p:cond delay="0"/>
                                  </p:stCondLst>
                                  <p:childTnLst>
                                    <p:set>
                                      <p:cBhvr>
                                        <p:cTn id="56" dur="1" fill="hold">
                                          <p:stCondLst>
                                            <p:cond delay="0"/>
                                          </p:stCondLst>
                                        </p:cTn>
                                        <p:tgtEl>
                                          <p:spTgt spid="249"/>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23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fill="hold" nodeType="clickEffect">
                                  <p:stCondLst>
                                    <p:cond delay="0"/>
                                  </p:stCondLst>
                                  <p:childTnLst>
                                    <p:set>
                                      <p:cBhvr>
                                        <p:cTn id="62" dur="1" fill="hold">
                                          <p:stCondLst>
                                            <p:cond delay="0"/>
                                          </p:stCondLst>
                                        </p:cTn>
                                        <p:tgtEl>
                                          <p:spTgt spid="235"/>
                                        </p:tgtEl>
                                        <p:attrNameLst>
                                          <p:attrName>style.visibility</p:attrName>
                                        </p:attrNameLst>
                                      </p:cBhvr>
                                      <p:to>
                                        <p:strVal val="visible"/>
                                      </p:to>
                                    </p:set>
                                  </p:childTnLst>
                                </p:cTn>
                              </p:par>
                              <p:par>
                                <p:cTn id="63" presetID="1" presetClass="entr" fill="hold" nodeType="withEffect">
                                  <p:stCondLst>
                                    <p:cond delay="0"/>
                                  </p:stCondLst>
                                  <p:childTnLst>
                                    <p:set>
                                      <p:cBhvr>
                                        <p:cTn id="64" dur="1" fill="hold">
                                          <p:stCondLst>
                                            <p:cond delay="0"/>
                                          </p:stCondLst>
                                        </p:cTn>
                                        <p:tgtEl>
                                          <p:spTgt spid="250"/>
                                        </p:tgtEl>
                                        <p:attrNameLst>
                                          <p:attrName>style.visibility</p:attrName>
                                        </p:attrNameLst>
                                      </p:cBhvr>
                                      <p:to>
                                        <p:strVal val="visible"/>
                                      </p:to>
                                    </p:set>
                                  </p:childTnLst>
                                </p:cTn>
                              </p:par>
                              <p:par>
                                <p:cTn id="65" presetID="1" presetClass="entr" fill="hold" nodeType="withEffect">
                                  <p:stCondLst>
                                    <p:cond delay="0"/>
                                  </p:stCondLst>
                                  <p:childTnLst>
                                    <p:set>
                                      <p:cBhvr>
                                        <p:cTn id="66" dur="1" fill="hold">
                                          <p:stCondLst>
                                            <p:cond delay="0"/>
                                          </p:stCondLst>
                                        </p:cTn>
                                        <p:tgtEl>
                                          <p:spTgt spid="2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fill="hold" nodeType="clickEffect">
                                  <p:stCondLst>
                                    <p:cond delay="0"/>
                                  </p:stCondLst>
                                  <p:childTnLst>
                                    <p:set>
                                      <p:cBhvr>
                                        <p:cTn id="70" dur="1" fill="hold">
                                          <p:stCondLst>
                                            <p:cond delay="0"/>
                                          </p:stCondLst>
                                        </p:cTn>
                                        <p:tgtEl>
                                          <p:spTgt spid="251"/>
                                        </p:tgtEl>
                                        <p:attrNameLst>
                                          <p:attrName>style.visibility</p:attrName>
                                        </p:attrNameLst>
                                      </p:cBhvr>
                                      <p:to>
                                        <p:strVal val="visible"/>
                                      </p:to>
                                    </p:set>
                                  </p:childTnLst>
                                </p:cTn>
                              </p:par>
                              <p:par>
                                <p:cTn id="71" presetID="1" presetClass="entr" fill="hold" nodeType="withEffect">
                                  <p:stCondLst>
                                    <p:cond delay="0"/>
                                  </p:stCondLst>
                                  <p:childTnLst>
                                    <p:set>
                                      <p:cBhvr>
                                        <p:cTn id="72"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Introduction to Bagging</a:t>
            </a:r>
            <a:endParaRPr lang="en-IE" sz="4400" spc="-1">
              <a:latin typeface="Arial"/>
            </a:endParaRPr>
          </a:p>
        </p:txBody>
      </p:sp>
      <p:sp>
        <p:nvSpPr>
          <p:cNvPr id="254"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Bagging is particularly effective with </a:t>
            </a:r>
            <a:r>
              <a:rPr lang="en-IE" sz="2000" b="1" spc="-1" dirty="0">
                <a:solidFill>
                  <a:srgbClr val="000000"/>
                </a:solidFill>
                <a:latin typeface="Calibri"/>
                <a:ea typeface="DejaVu Sans"/>
              </a:rPr>
              <a:t>decision tree models</a:t>
            </a:r>
            <a:r>
              <a:rPr lang="en-IE" sz="2000" spc="-1" dirty="0">
                <a:solidFill>
                  <a:srgbClr val="000000"/>
                </a:solidFill>
                <a:latin typeface="Calibri"/>
                <a:ea typeface="DejaVu Sans"/>
              </a:rPr>
              <a:t>. </a:t>
            </a: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Decision trees they can be </a:t>
            </a:r>
            <a:r>
              <a:rPr lang="en-IE" sz="2000" b="1" spc="-1" dirty="0">
                <a:solidFill>
                  <a:srgbClr val="000000"/>
                </a:solidFill>
                <a:latin typeface="Calibri"/>
                <a:ea typeface="DejaVu Sans"/>
              </a:rPr>
              <a:t>very sensitive to the underlying data</a:t>
            </a:r>
            <a:r>
              <a:rPr lang="en-IE" sz="2000" spc="-1" dirty="0">
                <a:solidFill>
                  <a:srgbClr val="000000"/>
                </a:solidFill>
                <a:latin typeface="Calibri"/>
                <a:ea typeface="DejaVu Sans"/>
              </a:rPr>
              <a:t>. Changing a small percentage of the training data could produce a very different looking tree (in particular the lower levels).</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Once you put an </a:t>
            </a:r>
            <a:r>
              <a:rPr lang="en-IE" sz="2000" b="1" spc="-1" dirty="0">
                <a:solidFill>
                  <a:srgbClr val="000000"/>
                </a:solidFill>
                <a:latin typeface="Calibri"/>
                <a:ea typeface="DejaVu Sans"/>
              </a:rPr>
              <a:t>ensemble</a:t>
            </a:r>
            <a:r>
              <a:rPr lang="en-IE" sz="2000" spc="-1" dirty="0">
                <a:solidFill>
                  <a:srgbClr val="000000"/>
                </a:solidFill>
                <a:latin typeface="Calibri"/>
                <a:ea typeface="DejaVu Sans"/>
              </a:rPr>
              <a:t> over </a:t>
            </a:r>
            <a:r>
              <a:rPr lang="en-IE" sz="2000" b="1" spc="-1" dirty="0">
                <a:solidFill>
                  <a:srgbClr val="000000"/>
                </a:solidFill>
                <a:latin typeface="Calibri"/>
                <a:ea typeface="DejaVu Sans"/>
              </a:rPr>
              <a:t>decision trees pruning</a:t>
            </a:r>
            <a:r>
              <a:rPr lang="en-IE" sz="2000" spc="-1" dirty="0">
                <a:solidFill>
                  <a:srgbClr val="000000"/>
                </a:solidFill>
                <a:latin typeface="Calibri"/>
                <a:ea typeface="DejaVu Sans"/>
              </a:rPr>
              <a:t> does really matter that much as one of the strengths of this approach is that it is </a:t>
            </a:r>
            <a:r>
              <a:rPr lang="en-IE" sz="2000" b="1" spc="-1" dirty="0">
                <a:solidFill>
                  <a:srgbClr val="000000"/>
                </a:solidFill>
                <a:latin typeface="Calibri"/>
                <a:ea typeface="DejaVu Sans"/>
              </a:rPr>
              <a:t>less sensitive to overfitting</a:t>
            </a:r>
            <a:r>
              <a:rPr lang="en-IE" sz="2000" spc="-1" dirty="0">
                <a:solidFill>
                  <a:srgbClr val="000000"/>
                </a:solidFill>
                <a:latin typeface="Calibri"/>
                <a:ea typeface="DejaVu Sans"/>
              </a:rPr>
              <a:t>. </a:t>
            </a:r>
            <a:endParaRPr lang="en-IE" sz="2000" spc="-1" dirty="0">
              <a:latin typeface="Arial"/>
            </a:endParaRPr>
          </a:p>
          <a:p>
            <a:pPr>
              <a:spcBef>
                <a:spcPts val="601"/>
              </a:spcBef>
            </a:pPr>
            <a:endParaRPr lang="en-IE" sz="2000" spc="-1" dirty="0">
              <a:latin typeface="Arial"/>
            </a:endParaRPr>
          </a:p>
          <a:p>
            <a:pPr marL="272880" indent="-272160">
              <a:spcBef>
                <a:spcPts val="601"/>
              </a:spcBef>
              <a:buClr>
                <a:srgbClr val="4F81BD"/>
              </a:buClr>
              <a:buSzPct val="76000"/>
              <a:buFont typeface="Wingdings 3" charset="2"/>
              <a:buChar char=""/>
            </a:pPr>
            <a:r>
              <a:rPr lang="en-IE" sz="2000" spc="-1" dirty="0">
                <a:solidFill>
                  <a:srgbClr val="000000"/>
                </a:solidFill>
                <a:latin typeface="Calibri"/>
                <a:ea typeface="DejaVu Sans"/>
              </a:rPr>
              <a:t>When applied with tree models bagging is often combined with another technique, building each tree from a different random subset of the features (attributes). </a:t>
            </a:r>
            <a:endParaRPr lang="en-IE" sz="2000" spc="-1" dirty="0">
              <a:latin typeface="Arial"/>
            </a:endParaRPr>
          </a:p>
          <a:p>
            <a:pPr>
              <a:spcBef>
                <a:spcPts val="601"/>
              </a:spcBef>
            </a:pPr>
            <a:endParaRPr lang="en-IE" sz="2000" spc="-1" dirty="0">
              <a:latin typeface="Arial"/>
            </a:endParaRPr>
          </a:p>
          <a:p>
            <a:pPr>
              <a:spcBef>
                <a:spcPts val="601"/>
              </a:spcBef>
            </a:pPr>
            <a:endParaRPr lang="en-IE" sz="2000" spc="-1" dirty="0">
              <a:latin typeface="Arial"/>
            </a:endParaRPr>
          </a:p>
          <a:p>
            <a:pPr>
              <a:spcBef>
                <a:spcPts val="601"/>
              </a:spcBef>
            </a:pPr>
            <a:endParaRPr lang="en-IE" sz="2000" spc="-1" dirty="0">
              <a:latin typeface="Arial"/>
            </a:endParaRPr>
          </a:p>
          <a:p>
            <a:pPr>
              <a:spcBef>
                <a:spcPts val="601"/>
              </a:spcBef>
            </a:pPr>
            <a:endParaRPr lang="en-IE" sz="2000" spc="-1" dirty="0">
              <a:latin typeface="Arial"/>
            </a:endParaRPr>
          </a:p>
          <a:p>
            <a:pPr>
              <a:spcBef>
                <a:spcPts val="601"/>
              </a:spcBef>
            </a:pPr>
            <a:endParaRPr lang="en-IE" sz="2000"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Random Forests </a:t>
            </a:r>
            <a:endParaRPr lang="en-IE" sz="4400" spc="-1">
              <a:latin typeface="Arial"/>
            </a:endParaRPr>
          </a:p>
        </p:txBody>
      </p:sp>
      <p:sp>
        <p:nvSpPr>
          <p:cNvPr id="256"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72880" indent="-272160">
              <a:spcBef>
                <a:spcPts val="601"/>
              </a:spcBef>
              <a:buClr>
                <a:srgbClr val="4F81BD"/>
              </a:buClr>
              <a:buSzPct val="76000"/>
              <a:buFont typeface="Wingdings 3" charset="2"/>
              <a:buChar char=""/>
            </a:pPr>
            <a:r>
              <a:rPr lang="en-IE" spc="-1">
                <a:solidFill>
                  <a:srgbClr val="000000"/>
                </a:solidFill>
                <a:latin typeface="Calibri"/>
                <a:ea typeface="DejaVu Sans"/>
              </a:rPr>
              <a:t>The processing of building a tree from a random subset of the features is called </a:t>
            </a:r>
            <a:r>
              <a:rPr lang="en-IE" b="1" spc="-1">
                <a:solidFill>
                  <a:srgbClr val="000000"/>
                </a:solidFill>
                <a:latin typeface="Calibri"/>
                <a:ea typeface="DejaVu Sans"/>
              </a:rPr>
              <a:t>subspace sampling</a:t>
            </a:r>
            <a:r>
              <a:rPr lang="en-IE" spc="-1">
                <a:solidFill>
                  <a:srgbClr val="000000"/>
                </a:solidFill>
                <a:latin typeface="Calibri"/>
                <a:ea typeface="DejaVu Sans"/>
              </a:rPr>
              <a:t>. </a:t>
            </a:r>
            <a:endParaRPr lang="en-IE" spc="-1">
              <a:latin typeface="Arial"/>
            </a:endParaRPr>
          </a:p>
          <a:p>
            <a:pPr marL="730080" lvl="1" indent="-272160">
              <a:spcBef>
                <a:spcPts val="601"/>
              </a:spcBef>
              <a:buClr>
                <a:srgbClr val="4F81BD"/>
              </a:buClr>
              <a:buSzPct val="76000"/>
              <a:buFont typeface="Wingdings 3" charset="2"/>
              <a:buChar char=""/>
            </a:pPr>
            <a:r>
              <a:rPr lang="en-IE" spc="-1">
                <a:solidFill>
                  <a:srgbClr val="000000"/>
                </a:solidFill>
                <a:latin typeface="Calibri"/>
                <a:ea typeface="DejaVu Sans"/>
              </a:rPr>
              <a:t>This process encourages the diversity of the ensemble even more, and has additional advantage that the training time of each tree is reduced. </a:t>
            </a:r>
            <a:endParaRPr lang="en-IE" spc="-1">
              <a:latin typeface="Arial"/>
            </a:endParaRPr>
          </a:p>
          <a:p>
            <a:pPr marL="272880" indent="-272160">
              <a:spcBef>
                <a:spcPts val="601"/>
              </a:spcBef>
              <a:buClr>
                <a:srgbClr val="4F81BD"/>
              </a:buClr>
              <a:buSzPct val="76000"/>
              <a:buFont typeface="Wingdings 3" charset="2"/>
              <a:buChar char=""/>
            </a:pPr>
            <a:r>
              <a:rPr lang="en-IE" spc="-1">
                <a:solidFill>
                  <a:srgbClr val="000000"/>
                </a:solidFill>
                <a:latin typeface="Calibri"/>
                <a:ea typeface="DejaVu Sans"/>
              </a:rPr>
              <a:t>The resulting ensemble method is called Random Forests. </a:t>
            </a:r>
            <a:endParaRPr lang="en-IE" spc="-1">
              <a:latin typeface="Arial"/>
            </a:endParaRPr>
          </a:p>
          <a:p>
            <a:pPr>
              <a:spcBef>
                <a:spcPts val="601"/>
              </a:spcBef>
            </a:pPr>
            <a:endParaRPr lang="en-IE" spc="-1">
              <a:latin typeface="Arial"/>
            </a:endParaRPr>
          </a:p>
          <a:p>
            <a:pPr>
              <a:spcBef>
                <a:spcPts val="601"/>
              </a:spcBef>
            </a:pPr>
            <a:endParaRPr lang="en-IE" spc="-1">
              <a:latin typeface="Arial"/>
            </a:endParaRPr>
          </a:p>
          <a:p>
            <a:pPr>
              <a:spcBef>
                <a:spcPts val="601"/>
              </a:spcBef>
            </a:pPr>
            <a:endParaRPr lang="en-IE" spc="-1">
              <a:latin typeface="Arial"/>
            </a:endParaRPr>
          </a:p>
          <a:p>
            <a:pPr>
              <a:spcBef>
                <a:spcPts val="601"/>
              </a:spcBef>
            </a:pPr>
            <a:endParaRPr lang="en-IE" spc="-1">
              <a:latin typeface="Arial"/>
            </a:endParaRPr>
          </a:p>
        </p:txBody>
      </p:sp>
      <p:sp>
        <p:nvSpPr>
          <p:cNvPr id="257" name="CustomShape 3"/>
          <p:cNvSpPr/>
          <p:nvPr/>
        </p:nvSpPr>
        <p:spPr>
          <a:xfrm>
            <a:off x="1823520" y="3250800"/>
            <a:ext cx="8543880" cy="3915360"/>
          </a:xfrm>
          <a:prstGeom prst="rect">
            <a:avLst/>
          </a:prstGeom>
          <a:solidFill>
            <a:schemeClr val="accent1">
              <a:lumMod val="20000"/>
              <a:lumOff val="80000"/>
            </a:schemeClr>
          </a:solid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b="1" spc="-1">
                <a:solidFill>
                  <a:srgbClr val="000000"/>
                </a:solidFill>
                <a:latin typeface="Calibri"/>
                <a:ea typeface="DejaVu Sans"/>
              </a:rPr>
              <a:t>Input</a:t>
            </a:r>
            <a:r>
              <a:rPr lang="en-IE" sz="2000" spc="-1">
                <a:solidFill>
                  <a:srgbClr val="000000"/>
                </a:solidFill>
                <a:latin typeface="Calibri"/>
                <a:ea typeface="DejaVu Sans"/>
              </a:rPr>
              <a:t>: data set D; ensemble size T; subspace dimension d</a:t>
            </a:r>
            <a:endParaRPr lang="en-IE" sz="2000" spc="-1">
              <a:latin typeface="Arial"/>
            </a:endParaRPr>
          </a:p>
          <a:p>
            <a:pPr>
              <a:lnSpc>
                <a:spcPct val="100000"/>
              </a:lnSpc>
            </a:pPr>
            <a:r>
              <a:rPr lang="en-IE" sz="2000" b="1" spc="-1">
                <a:solidFill>
                  <a:srgbClr val="000000"/>
                </a:solidFill>
                <a:latin typeface="Calibri"/>
                <a:ea typeface="DejaVu Sans"/>
              </a:rPr>
              <a:t>Output</a:t>
            </a:r>
            <a:r>
              <a:rPr lang="en-IE" sz="2000" spc="-1">
                <a:solidFill>
                  <a:srgbClr val="000000"/>
                </a:solidFill>
                <a:latin typeface="Calibri"/>
                <a:ea typeface="DejaVu Sans"/>
              </a:rPr>
              <a:t>: ensemble of tree models whose predictions are to be combined by voting or averaging. </a:t>
            </a:r>
            <a:endParaRPr lang="en-IE" sz="2000" spc="-1">
              <a:latin typeface="Arial"/>
            </a:endParaRPr>
          </a:p>
          <a:p>
            <a:pPr>
              <a:lnSpc>
                <a:spcPct val="100000"/>
              </a:lnSpc>
            </a:pPr>
            <a:endParaRPr lang="en-IE" sz="2000" spc="-1">
              <a:latin typeface="Arial"/>
            </a:endParaRPr>
          </a:p>
          <a:p>
            <a:pPr>
              <a:lnSpc>
                <a:spcPct val="100000"/>
              </a:lnSpc>
            </a:pPr>
            <a:r>
              <a:rPr lang="en-IE" sz="2000" b="1" spc="-1">
                <a:solidFill>
                  <a:srgbClr val="000000"/>
                </a:solidFill>
                <a:latin typeface="Calibri"/>
                <a:ea typeface="DejaVu Sans"/>
              </a:rPr>
              <a:t>for</a:t>
            </a:r>
            <a:r>
              <a:rPr lang="en-IE" sz="2000" spc="-1">
                <a:solidFill>
                  <a:srgbClr val="000000"/>
                </a:solidFill>
                <a:latin typeface="Calibri"/>
                <a:ea typeface="DejaVu Sans"/>
              </a:rPr>
              <a:t> t=1 to T </a:t>
            </a:r>
            <a:r>
              <a:rPr lang="en-IE" sz="2000" b="1" spc="-1">
                <a:solidFill>
                  <a:srgbClr val="000000"/>
                </a:solidFill>
                <a:latin typeface="Calibri"/>
                <a:ea typeface="DejaVu Sans"/>
              </a:rPr>
              <a:t>do</a:t>
            </a:r>
            <a:r>
              <a:rPr lang="en-IE" sz="2000" spc="-1">
                <a:solidFill>
                  <a:srgbClr val="000000"/>
                </a:solidFill>
                <a:latin typeface="Calibri"/>
                <a:ea typeface="DejaVu Sans"/>
              </a:rPr>
              <a:t>:</a:t>
            </a:r>
            <a:endParaRPr lang="en-IE" sz="2000" spc="-1">
              <a:latin typeface="Arial"/>
            </a:endParaRPr>
          </a:p>
          <a:p>
            <a:pPr marL="743040" lvl="1" indent="-285120">
              <a:buClr>
                <a:srgbClr val="000000"/>
              </a:buClr>
              <a:buFont typeface="Arial"/>
              <a:buChar char="•"/>
            </a:pPr>
            <a:r>
              <a:rPr lang="en-IE" sz="2000" spc="-1">
                <a:solidFill>
                  <a:srgbClr val="000000"/>
                </a:solidFill>
                <a:latin typeface="Calibri"/>
                <a:ea typeface="DejaVu Sans"/>
              </a:rPr>
              <a:t>Build a </a:t>
            </a:r>
            <a:r>
              <a:rPr lang="en-IE" sz="2000" u="sng" spc="-1">
                <a:solidFill>
                  <a:srgbClr val="000000"/>
                </a:solidFill>
                <a:latin typeface="Calibri"/>
                <a:ea typeface="DejaVu Sans"/>
              </a:rPr>
              <a:t>bootstrap</a:t>
            </a:r>
            <a:r>
              <a:rPr lang="en-IE" sz="2000" spc="-1">
                <a:solidFill>
                  <a:srgbClr val="000000"/>
                </a:solidFill>
                <a:latin typeface="Calibri"/>
                <a:ea typeface="DejaVu Sans"/>
              </a:rPr>
              <a:t> sample D</a:t>
            </a:r>
            <a:r>
              <a:rPr lang="en-IE" sz="2000" spc="-1" baseline="-25000">
                <a:solidFill>
                  <a:srgbClr val="000000"/>
                </a:solidFill>
                <a:latin typeface="Calibri"/>
                <a:ea typeface="DejaVu Sans"/>
              </a:rPr>
              <a:t>t</a:t>
            </a:r>
            <a:r>
              <a:rPr lang="en-IE" sz="2000" spc="-1">
                <a:solidFill>
                  <a:srgbClr val="000000"/>
                </a:solidFill>
                <a:latin typeface="Calibri"/>
                <a:ea typeface="DejaVu Sans"/>
              </a:rPr>
              <a:t> from D by sampling |D| data points with replacement</a:t>
            </a:r>
            <a:endParaRPr lang="en-IE" sz="2000" spc="-1">
              <a:latin typeface="Arial"/>
            </a:endParaRPr>
          </a:p>
          <a:p>
            <a:pPr marL="743040" lvl="1" indent="-285120">
              <a:buClr>
                <a:srgbClr val="000000"/>
              </a:buClr>
              <a:buFont typeface="Arial"/>
              <a:buChar char="•"/>
            </a:pPr>
            <a:r>
              <a:rPr lang="en-IE" sz="2000" spc="-1">
                <a:solidFill>
                  <a:srgbClr val="000000"/>
                </a:solidFill>
                <a:latin typeface="Calibri"/>
                <a:ea typeface="DejaVu Sans"/>
              </a:rPr>
              <a:t>Select </a:t>
            </a:r>
            <a:r>
              <a:rPr lang="en-IE" sz="2000" u="sng" spc="-1">
                <a:solidFill>
                  <a:srgbClr val="000000"/>
                </a:solidFill>
                <a:latin typeface="Calibri"/>
                <a:ea typeface="DejaVu Sans"/>
              </a:rPr>
              <a:t>d features</a:t>
            </a:r>
            <a:r>
              <a:rPr lang="en-IE" sz="2000" spc="-1">
                <a:solidFill>
                  <a:srgbClr val="000000"/>
                </a:solidFill>
                <a:latin typeface="Calibri"/>
                <a:ea typeface="DejaVu Sans"/>
              </a:rPr>
              <a:t> at random and reduce dimensionality of D</a:t>
            </a:r>
            <a:r>
              <a:rPr lang="en-IE" sz="2000" spc="-1" baseline="-25000">
                <a:solidFill>
                  <a:srgbClr val="000000"/>
                </a:solidFill>
                <a:latin typeface="Calibri"/>
                <a:ea typeface="DejaVu Sans"/>
              </a:rPr>
              <a:t>t</a:t>
            </a:r>
            <a:r>
              <a:rPr lang="en-IE" sz="2000" spc="-1">
                <a:solidFill>
                  <a:srgbClr val="000000"/>
                </a:solidFill>
                <a:latin typeface="Calibri"/>
                <a:ea typeface="DejaVu Sans"/>
              </a:rPr>
              <a:t> accordingly</a:t>
            </a:r>
            <a:endParaRPr lang="en-IE" sz="2000" spc="-1">
              <a:latin typeface="Arial"/>
            </a:endParaRPr>
          </a:p>
          <a:p>
            <a:pPr marL="743040" lvl="1" indent="-285120">
              <a:buClr>
                <a:srgbClr val="000000"/>
              </a:buClr>
              <a:buFont typeface="Arial"/>
              <a:buChar char="•"/>
            </a:pPr>
            <a:r>
              <a:rPr lang="en-IE" sz="2000" spc="-1">
                <a:solidFill>
                  <a:srgbClr val="000000"/>
                </a:solidFill>
                <a:latin typeface="Calibri"/>
                <a:ea typeface="DejaVu Sans"/>
              </a:rPr>
              <a:t>Train a tree Model M</a:t>
            </a:r>
            <a:r>
              <a:rPr lang="en-IE" sz="2000" spc="-1" baseline="-25000">
                <a:solidFill>
                  <a:srgbClr val="000000"/>
                </a:solidFill>
                <a:latin typeface="Calibri"/>
                <a:ea typeface="DejaVu Sans"/>
              </a:rPr>
              <a:t>t</a:t>
            </a:r>
            <a:r>
              <a:rPr lang="en-IE" sz="2000" spc="-1">
                <a:solidFill>
                  <a:srgbClr val="000000"/>
                </a:solidFill>
                <a:latin typeface="Calibri"/>
                <a:ea typeface="DejaVu Sans"/>
              </a:rPr>
              <a:t> on D</a:t>
            </a:r>
            <a:r>
              <a:rPr lang="en-IE" sz="2000" spc="-1" baseline="-25000">
                <a:solidFill>
                  <a:srgbClr val="000000"/>
                </a:solidFill>
                <a:latin typeface="Calibri"/>
                <a:ea typeface="DejaVu Sans"/>
              </a:rPr>
              <a:t>t</a:t>
            </a:r>
            <a:r>
              <a:rPr lang="en-IE" sz="2000" spc="-1">
                <a:solidFill>
                  <a:srgbClr val="000000"/>
                </a:solidFill>
                <a:latin typeface="Calibri"/>
                <a:ea typeface="DejaVu Sans"/>
              </a:rPr>
              <a:t> without pruning</a:t>
            </a:r>
            <a:endParaRPr lang="en-IE" sz="2000" spc="-1">
              <a:latin typeface="Arial"/>
            </a:endParaRPr>
          </a:p>
          <a:p>
            <a:pPr>
              <a:lnSpc>
                <a:spcPct val="100000"/>
              </a:lnSpc>
            </a:pPr>
            <a:r>
              <a:rPr lang="en-IE" sz="2000" b="1" spc="-1">
                <a:solidFill>
                  <a:srgbClr val="000000"/>
                </a:solidFill>
                <a:latin typeface="Calibri"/>
                <a:ea typeface="DejaVu Sans"/>
              </a:rPr>
              <a:t>end</a:t>
            </a:r>
            <a:endParaRPr lang="en-IE" sz="2000" spc="-1">
              <a:latin typeface="Arial"/>
            </a:endParaRPr>
          </a:p>
          <a:p>
            <a:pPr>
              <a:lnSpc>
                <a:spcPct val="100000"/>
              </a:lnSpc>
            </a:pPr>
            <a:r>
              <a:rPr lang="en-IE" sz="2000" b="1" spc="-1">
                <a:solidFill>
                  <a:srgbClr val="000000"/>
                </a:solidFill>
                <a:latin typeface="Calibri"/>
                <a:ea typeface="DejaVu Sans"/>
              </a:rPr>
              <a:t>return</a:t>
            </a:r>
            <a:r>
              <a:rPr lang="en-IE" sz="2000" spc="-1">
                <a:solidFill>
                  <a:srgbClr val="000000"/>
                </a:solidFill>
                <a:latin typeface="Calibri"/>
                <a:ea typeface="DejaVu Sans"/>
              </a:rPr>
              <a:t> M</a:t>
            </a:r>
            <a:r>
              <a:rPr lang="en-IE" sz="2000" spc="-1" baseline="-25000">
                <a:solidFill>
                  <a:srgbClr val="000000"/>
                </a:solidFill>
                <a:latin typeface="Calibri"/>
                <a:ea typeface="DejaVu Sans"/>
              </a:rPr>
              <a:t>t</a:t>
            </a:r>
            <a:endParaRPr lang="en-IE" sz="2000"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259"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Boosting is similar to bagging but more sophisticated. </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As with bagging in Boosting we create many models. However, remember with bagging the dataset used to create each model was randomly predicated. </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The main difference is that </a:t>
            </a:r>
            <a:r>
              <a:rPr lang="en-IE" sz="2000" b="1" spc="-1">
                <a:solidFill>
                  <a:srgbClr val="000000"/>
                </a:solidFill>
                <a:latin typeface="Calibri"/>
                <a:ea typeface="DejaVu Sans"/>
              </a:rPr>
              <a:t>with boosting we apply weights to the selection of data to create a training set</a:t>
            </a:r>
            <a:r>
              <a:rPr lang="en-IE" sz="2000" spc="-1">
                <a:solidFill>
                  <a:srgbClr val="000000"/>
                </a:solidFill>
                <a:latin typeface="Calibri"/>
                <a:ea typeface="DejaVu Sans"/>
              </a:rPr>
              <a:t>. The examples from the training set are going to have weights. </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How about after I learn my initial classification I select the training the second classifier on the data which the first classifier performed poorly. </a:t>
            </a:r>
            <a:endParaRPr lang="en-IE" sz="2000" spc="-1">
              <a:latin typeface="Arial"/>
            </a:endParaRPr>
          </a:p>
          <a:p>
            <a:pPr>
              <a:spcBef>
                <a:spcPts val="601"/>
              </a:spcBef>
            </a:pPr>
            <a:endParaRPr lang="en-IE" sz="2000" spc="-1">
              <a:latin typeface="Arial"/>
            </a:endParaRPr>
          </a:p>
          <a:p>
            <a:pPr>
              <a:spcBef>
                <a:spcPts val="601"/>
              </a:spcBef>
            </a:pPr>
            <a:endParaRPr lang="en-IE" sz="2000"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261"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400" spc="-1">
                <a:solidFill>
                  <a:srgbClr val="000000"/>
                </a:solidFill>
                <a:latin typeface="Calibri"/>
                <a:ea typeface="DejaVu Sans"/>
              </a:rPr>
              <a:t>1. Maintain a vector of weights for each of the examples</a:t>
            </a:r>
            <a:endParaRPr lang="en-IE" sz="2400" spc="-1">
              <a:latin typeface="Arial"/>
            </a:endParaRPr>
          </a:p>
          <a:p>
            <a:pPr>
              <a:spcBef>
                <a:spcPts val="601"/>
              </a:spcBef>
            </a:pPr>
            <a:endParaRPr lang="en-IE" sz="2400" spc="-1">
              <a:latin typeface="Arial"/>
            </a:endParaRPr>
          </a:p>
          <a:p>
            <a:pPr marL="272880" indent="-272160">
              <a:spcBef>
                <a:spcPts val="601"/>
              </a:spcBef>
              <a:buClr>
                <a:srgbClr val="4F81BD"/>
              </a:buClr>
              <a:buSzPct val="76000"/>
              <a:buFont typeface="Wingdings 3" charset="2"/>
              <a:buChar char=""/>
            </a:pPr>
            <a:r>
              <a:rPr lang="en-IE" sz="2400" spc="-1">
                <a:solidFill>
                  <a:srgbClr val="000000"/>
                </a:solidFill>
                <a:latin typeface="Calibri"/>
                <a:ea typeface="DejaVu Sans"/>
              </a:rPr>
              <a:t>2. Initialize with uniform weights</a:t>
            </a:r>
            <a:endParaRPr lang="en-IE" sz="2400" spc="-1">
              <a:latin typeface="Arial"/>
            </a:endParaRPr>
          </a:p>
          <a:p>
            <a:pPr>
              <a:spcBef>
                <a:spcPts val="601"/>
              </a:spcBef>
            </a:pPr>
            <a:endParaRPr lang="en-IE" sz="2400" spc="-1">
              <a:latin typeface="Arial"/>
            </a:endParaRPr>
          </a:p>
          <a:p>
            <a:pPr marL="272880" indent="-272160">
              <a:spcBef>
                <a:spcPts val="601"/>
              </a:spcBef>
              <a:buClr>
                <a:srgbClr val="4F81BD"/>
              </a:buClr>
              <a:buSzPct val="76000"/>
              <a:buFont typeface="Wingdings 3" charset="2"/>
              <a:buChar char=""/>
            </a:pPr>
            <a:r>
              <a:rPr lang="en-IE" sz="2400" spc="-1">
                <a:solidFill>
                  <a:srgbClr val="000000"/>
                </a:solidFill>
                <a:latin typeface="Calibri"/>
                <a:ea typeface="DejaVu Sans"/>
              </a:rPr>
              <a:t>3. Loop</a:t>
            </a:r>
            <a:endParaRPr lang="en-IE" sz="2400" spc="-1">
              <a:latin typeface="Arial"/>
            </a:endParaRPr>
          </a:p>
          <a:p>
            <a:pPr marL="730080" lvl="1" indent="-272160">
              <a:spcBef>
                <a:spcPts val="601"/>
              </a:spcBef>
              <a:buClr>
                <a:srgbClr val="4F81BD"/>
              </a:buClr>
              <a:buSzPct val="76000"/>
              <a:buFont typeface="Wingdings 3" charset="2"/>
              <a:buChar char=""/>
            </a:pPr>
            <a:r>
              <a:rPr lang="en-IE" sz="2400" spc="-1">
                <a:solidFill>
                  <a:srgbClr val="000000"/>
                </a:solidFill>
                <a:latin typeface="Calibri"/>
                <a:ea typeface="DejaVu Sans"/>
              </a:rPr>
              <a:t>Apply learner on weighted examples</a:t>
            </a:r>
            <a:endParaRPr lang="en-IE" sz="2400" spc="-1">
              <a:latin typeface="Arial"/>
            </a:endParaRPr>
          </a:p>
          <a:p>
            <a:pPr marL="730080" lvl="1" indent="-272160">
              <a:spcBef>
                <a:spcPts val="601"/>
              </a:spcBef>
              <a:buClr>
                <a:srgbClr val="4F81BD"/>
              </a:buClr>
              <a:buSzPct val="76000"/>
              <a:buFont typeface="Wingdings 3" charset="2"/>
              <a:buChar char=""/>
            </a:pPr>
            <a:r>
              <a:rPr lang="en-IE" sz="2400" spc="-1">
                <a:solidFill>
                  <a:srgbClr val="000000"/>
                </a:solidFill>
                <a:latin typeface="Calibri"/>
                <a:ea typeface="DejaVu Sans"/>
              </a:rPr>
              <a:t>Increase weights of misclassified examples</a:t>
            </a:r>
            <a:endParaRPr lang="en-IE" sz="2400" spc="-1">
              <a:latin typeface="Arial"/>
            </a:endParaRPr>
          </a:p>
          <a:p>
            <a:pPr>
              <a:spcBef>
                <a:spcPts val="601"/>
              </a:spcBef>
            </a:pPr>
            <a:endParaRPr lang="en-IE" sz="2400" spc="-1">
              <a:latin typeface="Arial"/>
            </a:endParaRPr>
          </a:p>
          <a:p>
            <a:pPr marL="272880" indent="-272160">
              <a:spcBef>
                <a:spcPts val="601"/>
              </a:spcBef>
              <a:buClr>
                <a:srgbClr val="4F81BD"/>
              </a:buClr>
              <a:buSzPct val="76000"/>
              <a:buFont typeface="Wingdings 3" charset="2"/>
              <a:buChar char=""/>
            </a:pPr>
            <a:r>
              <a:rPr lang="en-IE" sz="2400" spc="-1">
                <a:solidFill>
                  <a:srgbClr val="000000"/>
                </a:solidFill>
                <a:latin typeface="Calibri"/>
                <a:ea typeface="DejaVu Sans"/>
              </a:rPr>
              <a:t>4. Combine models by weighted voting</a:t>
            </a:r>
            <a:endParaRPr lang="en-IE" sz="2400" spc="-1">
              <a:latin typeface="Arial"/>
            </a:endParaRPr>
          </a:p>
          <a:p>
            <a:pPr>
              <a:spcBef>
                <a:spcPts val="601"/>
              </a:spcBef>
            </a:pPr>
            <a:endParaRPr lang="en-IE" sz="2400" spc="-1">
              <a:latin typeface="Arial"/>
            </a:endParaRPr>
          </a:p>
          <a:p>
            <a:pPr>
              <a:spcBef>
                <a:spcPts val="601"/>
              </a:spcBef>
            </a:pPr>
            <a:endParaRPr lang="en-IE" sz="2400" spc="-1">
              <a:latin typeface="Arial"/>
            </a:endParaRPr>
          </a:p>
        </p:txBody>
      </p:sp>
      <p:sp>
        <p:nvSpPr>
          <p:cNvPr id="262" name="CustomShape 3"/>
          <p:cNvSpPr/>
          <p:nvPr/>
        </p:nvSpPr>
        <p:spPr>
          <a:xfrm>
            <a:off x="7708800" y="2217600"/>
            <a:ext cx="2958480" cy="2121840"/>
          </a:xfrm>
          <a:prstGeom prst="wedgeRoundRectCallout">
            <a:avLst>
              <a:gd name="adj1" fmla="val -32760"/>
              <a:gd name="adj2" fmla="val 45171"/>
              <a:gd name="adj3" fmla="val 16667"/>
            </a:avLst>
          </a:prstGeom>
          <a:ln>
            <a:solidFill>
              <a:srgbClr val="4A7EBB"/>
            </a:solidFill>
            <a:roun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lstStyle/>
          <a:p>
            <a:pPr algn="ctr">
              <a:lnSpc>
                <a:spcPct val="100000"/>
              </a:lnSpc>
            </a:pPr>
            <a:r>
              <a:rPr lang="en-IE" sz="1600" spc="-1">
                <a:solidFill>
                  <a:srgbClr val="FFFFFF"/>
                </a:solidFill>
                <a:latin typeface="Calibri"/>
                <a:ea typeface="DejaVu Sans"/>
              </a:rPr>
              <a:t>Many rounds of boosting. We apply a learner to the weighted data. We then increase the weights of the training instances that were misclassified by the learner.</a:t>
            </a:r>
            <a:endParaRPr lang="en-IE" sz="1600"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 Example</a:t>
            </a:r>
            <a:endParaRPr lang="en-IE" sz="4400" spc="-1">
              <a:latin typeface="Arial"/>
            </a:endParaRPr>
          </a:p>
        </p:txBody>
      </p:sp>
      <p:sp>
        <p:nvSpPr>
          <p:cNvPr id="264" name="CustomShape 2"/>
          <p:cNvSpPr/>
          <p:nvPr/>
        </p:nvSpPr>
        <p:spPr>
          <a:xfrm>
            <a:off x="1692840" y="10868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65" name="CustomShape 3"/>
          <p:cNvSpPr/>
          <p:nvPr/>
        </p:nvSpPr>
        <p:spPr>
          <a:xfrm>
            <a:off x="2999280" y="14119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66" name="CustomShape 4"/>
          <p:cNvSpPr/>
          <p:nvPr/>
        </p:nvSpPr>
        <p:spPr>
          <a:xfrm>
            <a:off x="3322920" y="17197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67" name="CustomShape 5"/>
          <p:cNvSpPr/>
          <p:nvPr/>
        </p:nvSpPr>
        <p:spPr>
          <a:xfrm>
            <a:off x="3646920" y="1560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68" name="CustomShape 6"/>
          <p:cNvSpPr/>
          <p:nvPr/>
        </p:nvSpPr>
        <p:spPr>
          <a:xfrm>
            <a:off x="1837200" y="23324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69" name="CustomShape 7"/>
          <p:cNvSpPr/>
          <p:nvPr/>
        </p:nvSpPr>
        <p:spPr>
          <a:xfrm>
            <a:off x="1998840" y="27730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70" name="CustomShape 8"/>
          <p:cNvSpPr/>
          <p:nvPr/>
        </p:nvSpPr>
        <p:spPr>
          <a:xfrm>
            <a:off x="2446680" y="21589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71" name="CustomShape 9"/>
          <p:cNvSpPr/>
          <p:nvPr/>
        </p:nvSpPr>
        <p:spPr>
          <a:xfrm>
            <a:off x="2608680" y="3346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72" name="CustomShape 10"/>
          <p:cNvSpPr/>
          <p:nvPr/>
        </p:nvSpPr>
        <p:spPr>
          <a:xfrm>
            <a:off x="3200520" y="23731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73" name="CustomShape 11"/>
          <p:cNvSpPr/>
          <p:nvPr/>
        </p:nvSpPr>
        <p:spPr>
          <a:xfrm>
            <a:off x="4005840" y="17452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74" name="CustomShape 12"/>
          <p:cNvSpPr/>
          <p:nvPr/>
        </p:nvSpPr>
        <p:spPr>
          <a:xfrm>
            <a:off x="3808920" y="29264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75" name="CustomShape 13"/>
          <p:cNvSpPr/>
          <p:nvPr/>
        </p:nvSpPr>
        <p:spPr>
          <a:xfrm>
            <a:off x="1741800" y="407412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76" name="CustomShape 14"/>
          <p:cNvSpPr/>
          <p:nvPr/>
        </p:nvSpPr>
        <p:spPr>
          <a:xfrm>
            <a:off x="3047880" y="4399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77" name="CustomShape 15"/>
          <p:cNvSpPr/>
          <p:nvPr/>
        </p:nvSpPr>
        <p:spPr>
          <a:xfrm>
            <a:off x="3371880" y="47070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78" name="CustomShape 16"/>
          <p:cNvSpPr/>
          <p:nvPr/>
        </p:nvSpPr>
        <p:spPr>
          <a:xfrm>
            <a:off x="3695520" y="45482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79" name="CustomShape 17"/>
          <p:cNvSpPr/>
          <p:nvPr/>
        </p:nvSpPr>
        <p:spPr>
          <a:xfrm>
            <a:off x="1885800" y="53200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80" name="CustomShape 18"/>
          <p:cNvSpPr/>
          <p:nvPr/>
        </p:nvSpPr>
        <p:spPr>
          <a:xfrm>
            <a:off x="2047800" y="57607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81" name="CustomShape 19"/>
          <p:cNvSpPr/>
          <p:nvPr/>
        </p:nvSpPr>
        <p:spPr>
          <a:xfrm>
            <a:off x="2495280" y="5146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82" name="CustomShape 20"/>
          <p:cNvSpPr/>
          <p:nvPr/>
        </p:nvSpPr>
        <p:spPr>
          <a:xfrm>
            <a:off x="2657280" y="6334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83" name="CustomShape 21"/>
          <p:cNvSpPr/>
          <p:nvPr/>
        </p:nvSpPr>
        <p:spPr>
          <a:xfrm>
            <a:off x="3249120" y="53607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84" name="CustomShape 22"/>
          <p:cNvSpPr/>
          <p:nvPr/>
        </p:nvSpPr>
        <p:spPr>
          <a:xfrm>
            <a:off x="4132560" y="47329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85" name="CustomShape 23"/>
          <p:cNvSpPr/>
          <p:nvPr/>
        </p:nvSpPr>
        <p:spPr>
          <a:xfrm>
            <a:off x="3857520" y="59140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286" name="CustomShape 24"/>
          <p:cNvSpPr/>
          <p:nvPr/>
        </p:nvSpPr>
        <p:spPr>
          <a:xfrm>
            <a:off x="1741800" y="4066920"/>
            <a:ext cx="3259440" cy="94392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87" name="CustomShape 25"/>
          <p:cNvSpPr/>
          <p:nvPr/>
        </p:nvSpPr>
        <p:spPr>
          <a:xfrm>
            <a:off x="6583080" y="1143000"/>
            <a:ext cx="3174840" cy="2034720"/>
          </a:xfrm>
          <a:prstGeom prst="wedgeRoundRectCallout">
            <a:avLst>
              <a:gd name="adj1" fmla="val -88383"/>
              <a:gd name="adj2" fmla="val 34077"/>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In this example we depict a dataset with two classes X and Y. For illustrative purposes we use a really simple linear learner</a:t>
            </a:r>
            <a:endParaRPr lang="en-IE" spc="-1">
              <a:latin typeface="Arial"/>
            </a:endParaRPr>
          </a:p>
        </p:txBody>
      </p:sp>
      <p:sp>
        <p:nvSpPr>
          <p:cNvPr id="288" name="CustomShape 26"/>
          <p:cNvSpPr/>
          <p:nvPr/>
        </p:nvSpPr>
        <p:spPr>
          <a:xfrm>
            <a:off x="6631680" y="3346560"/>
            <a:ext cx="3588480" cy="3430800"/>
          </a:xfrm>
          <a:prstGeom prst="wedgeRoundRectCallout">
            <a:avLst>
              <a:gd name="adj1" fmla="val -90440"/>
              <a:gd name="adj2" fmla="val 12073"/>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spc="-1">
                <a:solidFill>
                  <a:srgbClr val="FFFFFF"/>
                </a:solidFill>
                <a:latin typeface="Calibri"/>
                <a:ea typeface="DejaVu Sans"/>
              </a:rPr>
              <a:t>When we apply the algorithm we get the following model. Notice it classifies one instance of Y incorrectly and two instances of X. Boosting will focus the next trainer of those instances by increasing the weight of the instances we got wrong and decreasing the weight of those that we got right. </a:t>
            </a:r>
            <a:endParaRPr lang="en-IE" sz="1600" spc="-1">
              <a:latin typeface="Arial"/>
            </a:endParaRPr>
          </a:p>
        </p:txBody>
      </p:sp>
      <p:sp>
        <p:nvSpPr>
          <p:cNvPr id="289" name="CustomShape 27"/>
          <p:cNvSpPr/>
          <p:nvPr/>
        </p:nvSpPr>
        <p:spPr>
          <a:xfrm>
            <a:off x="3962280" y="4707000"/>
            <a:ext cx="657720" cy="36864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90" name="CustomShape 28"/>
          <p:cNvSpPr/>
          <p:nvPr/>
        </p:nvSpPr>
        <p:spPr>
          <a:xfrm>
            <a:off x="1693920" y="5369400"/>
            <a:ext cx="657720" cy="36864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91" name="CustomShape 29"/>
          <p:cNvSpPr/>
          <p:nvPr/>
        </p:nvSpPr>
        <p:spPr>
          <a:xfrm>
            <a:off x="1947360" y="5792040"/>
            <a:ext cx="657720" cy="36864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 Example</a:t>
            </a:r>
            <a:endParaRPr lang="en-IE" sz="4400" spc="-1">
              <a:latin typeface="Arial"/>
            </a:endParaRPr>
          </a:p>
        </p:txBody>
      </p:sp>
      <p:sp>
        <p:nvSpPr>
          <p:cNvPr id="293" name="CustomShape 2"/>
          <p:cNvSpPr/>
          <p:nvPr/>
        </p:nvSpPr>
        <p:spPr>
          <a:xfrm>
            <a:off x="1692840" y="10868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294" name="CustomShape 3"/>
          <p:cNvSpPr/>
          <p:nvPr/>
        </p:nvSpPr>
        <p:spPr>
          <a:xfrm>
            <a:off x="2999280" y="14119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95" name="CustomShape 4"/>
          <p:cNvSpPr/>
          <p:nvPr/>
        </p:nvSpPr>
        <p:spPr>
          <a:xfrm>
            <a:off x="3322920" y="17197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96" name="CustomShape 5"/>
          <p:cNvSpPr/>
          <p:nvPr/>
        </p:nvSpPr>
        <p:spPr>
          <a:xfrm>
            <a:off x="3646920" y="1560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297" name="CustomShape 6"/>
          <p:cNvSpPr/>
          <p:nvPr/>
        </p:nvSpPr>
        <p:spPr>
          <a:xfrm>
            <a:off x="1837200" y="23324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298" name="CustomShape 7"/>
          <p:cNvSpPr/>
          <p:nvPr/>
        </p:nvSpPr>
        <p:spPr>
          <a:xfrm>
            <a:off x="1998840" y="27698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299" name="CustomShape 8"/>
          <p:cNvSpPr/>
          <p:nvPr/>
        </p:nvSpPr>
        <p:spPr>
          <a:xfrm>
            <a:off x="2446680" y="21589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00" name="CustomShape 9"/>
          <p:cNvSpPr/>
          <p:nvPr/>
        </p:nvSpPr>
        <p:spPr>
          <a:xfrm>
            <a:off x="2608680" y="3346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01" name="CustomShape 10"/>
          <p:cNvSpPr/>
          <p:nvPr/>
        </p:nvSpPr>
        <p:spPr>
          <a:xfrm>
            <a:off x="3200520" y="23731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02" name="CustomShape 11"/>
          <p:cNvSpPr/>
          <p:nvPr/>
        </p:nvSpPr>
        <p:spPr>
          <a:xfrm>
            <a:off x="4005840" y="17452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303" name="CustomShape 12"/>
          <p:cNvSpPr/>
          <p:nvPr/>
        </p:nvSpPr>
        <p:spPr>
          <a:xfrm>
            <a:off x="3808920" y="29264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04" name="CustomShape 13"/>
          <p:cNvSpPr/>
          <p:nvPr/>
        </p:nvSpPr>
        <p:spPr>
          <a:xfrm>
            <a:off x="6400920" y="1103760"/>
            <a:ext cx="3174840" cy="2126880"/>
          </a:xfrm>
          <a:prstGeom prst="wedgeRoundRectCallout">
            <a:avLst>
              <a:gd name="adj1" fmla="val -88383"/>
              <a:gd name="adj2" fmla="val 34077"/>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Notice the instances that we got wrong are depicted as being visually larger and those we got right slightly smaller. We train another classifier on this new data </a:t>
            </a:r>
            <a:endParaRPr lang="en-IE" spc="-1">
              <a:latin typeface="Arial"/>
            </a:endParaRPr>
          </a:p>
        </p:txBody>
      </p:sp>
      <p:sp>
        <p:nvSpPr>
          <p:cNvPr id="305" name="CustomShape 14"/>
          <p:cNvSpPr/>
          <p:nvPr/>
        </p:nvSpPr>
        <p:spPr>
          <a:xfrm>
            <a:off x="1692840" y="400068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06" name="CustomShape 15"/>
          <p:cNvSpPr/>
          <p:nvPr/>
        </p:nvSpPr>
        <p:spPr>
          <a:xfrm>
            <a:off x="2999280" y="43257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07" name="CustomShape 16"/>
          <p:cNvSpPr/>
          <p:nvPr/>
        </p:nvSpPr>
        <p:spPr>
          <a:xfrm>
            <a:off x="3322920" y="4633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08" name="CustomShape 17"/>
          <p:cNvSpPr/>
          <p:nvPr/>
        </p:nvSpPr>
        <p:spPr>
          <a:xfrm>
            <a:off x="3646920" y="44744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09" name="CustomShape 18"/>
          <p:cNvSpPr/>
          <p:nvPr/>
        </p:nvSpPr>
        <p:spPr>
          <a:xfrm>
            <a:off x="1837200" y="52462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10" name="CustomShape 19"/>
          <p:cNvSpPr/>
          <p:nvPr/>
        </p:nvSpPr>
        <p:spPr>
          <a:xfrm>
            <a:off x="1998840" y="56836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11" name="CustomShape 20"/>
          <p:cNvSpPr/>
          <p:nvPr/>
        </p:nvSpPr>
        <p:spPr>
          <a:xfrm>
            <a:off x="2446680" y="50727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12" name="CustomShape 21"/>
          <p:cNvSpPr/>
          <p:nvPr/>
        </p:nvSpPr>
        <p:spPr>
          <a:xfrm>
            <a:off x="2608680" y="62604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13" name="CustomShape 22"/>
          <p:cNvSpPr/>
          <p:nvPr/>
        </p:nvSpPr>
        <p:spPr>
          <a:xfrm>
            <a:off x="3200520" y="52869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14" name="CustomShape 23"/>
          <p:cNvSpPr/>
          <p:nvPr/>
        </p:nvSpPr>
        <p:spPr>
          <a:xfrm>
            <a:off x="4005840" y="46591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315" name="CustomShape 24"/>
          <p:cNvSpPr/>
          <p:nvPr/>
        </p:nvSpPr>
        <p:spPr>
          <a:xfrm>
            <a:off x="3808920" y="58402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16" name="CustomShape 25"/>
          <p:cNvSpPr/>
          <p:nvPr/>
        </p:nvSpPr>
        <p:spPr>
          <a:xfrm rot="16200000">
            <a:off x="726240" y="5020200"/>
            <a:ext cx="2701440" cy="73944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17" name="CustomShape 26"/>
          <p:cNvSpPr/>
          <p:nvPr/>
        </p:nvSpPr>
        <p:spPr>
          <a:xfrm>
            <a:off x="2915760" y="4326120"/>
            <a:ext cx="436320" cy="32112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18" name="CustomShape 27"/>
          <p:cNvSpPr/>
          <p:nvPr/>
        </p:nvSpPr>
        <p:spPr>
          <a:xfrm>
            <a:off x="3212760" y="4674600"/>
            <a:ext cx="436320" cy="32112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19" name="CustomShape 28"/>
          <p:cNvSpPr/>
          <p:nvPr/>
        </p:nvSpPr>
        <p:spPr>
          <a:xfrm>
            <a:off x="3630360" y="4511160"/>
            <a:ext cx="436320" cy="321120"/>
          </a:xfrm>
          <a:prstGeom prst="ellipse">
            <a:avLst/>
          </a:prstGeom>
          <a:no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20" name="CustomShape 29"/>
          <p:cNvSpPr/>
          <p:nvPr/>
        </p:nvSpPr>
        <p:spPr>
          <a:xfrm>
            <a:off x="6283560" y="3504240"/>
            <a:ext cx="4300560" cy="2913120"/>
          </a:xfrm>
          <a:prstGeom prst="wedgeRoundRectCallout">
            <a:avLst>
              <a:gd name="adj1" fmla="val -88383"/>
              <a:gd name="adj2" fmla="val 34077"/>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When we apply the simpler learner we get the following model. Notice the model is more focused on getting the instances with the higher weight right. (Notice it gets 3 of the X instances wrong so we increase the weights of these examples and decrease the weight of the instances got right for the next round)</a:t>
            </a:r>
            <a:endParaRPr lang="en-I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 Example</a:t>
            </a:r>
            <a:endParaRPr lang="en-IE" sz="4400" spc="-1">
              <a:latin typeface="Arial"/>
            </a:endParaRPr>
          </a:p>
        </p:txBody>
      </p:sp>
      <p:sp>
        <p:nvSpPr>
          <p:cNvPr id="322" name="CustomShape 2"/>
          <p:cNvSpPr/>
          <p:nvPr/>
        </p:nvSpPr>
        <p:spPr>
          <a:xfrm>
            <a:off x="6400920" y="1103760"/>
            <a:ext cx="3174840" cy="2126880"/>
          </a:xfrm>
          <a:prstGeom prst="wedgeRoundRectCallout">
            <a:avLst>
              <a:gd name="adj1" fmla="val -88383"/>
              <a:gd name="adj2" fmla="val 34077"/>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Notice here have increased the weight of the instances classified incorrectly and decrease the weight of those classified correctly. </a:t>
            </a:r>
            <a:endParaRPr lang="en-IE" spc="-1">
              <a:latin typeface="Arial"/>
            </a:endParaRPr>
          </a:p>
        </p:txBody>
      </p:sp>
      <p:sp>
        <p:nvSpPr>
          <p:cNvPr id="323" name="CustomShape 3"/>
          <p:cNvSpPr/>
          <p:nvPr/>
        </p:nvSpPr>
        <p:spPr>
          <a:xfrm>
            <a:off x="6366720" y="3504240"/>
            <a:ext cx="4300560" cy="2913120"/>
          </a:xfrm>
          <a:prstGeom prst="wedgeRoundRectCallout">
            <a:avLst>
              <a:gd name="adj1" fmla="val -88383"/>
              <a:gd name="adj2" fmla="val 34077"/>
              <a:gd name="adj3" fmla="val 16667"/>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pc="-1">
                <a:solidFill>
                  <a:srgbClr val="FFFFFF"/>
                </a:solidFill>
                <a:latin typeface="Calibri"/>
                <a:ea typeface="DejaVu Sans"/>
              </a:rPr>
              <a:t>The classifier is focused primarily on getting the larger weighted data points correct. It get all the X instances correct but makes a mistake on a number of small weight Y instances. </a:t>
            </a:r>
            <a:endParaRPr lang="en-IE" spc="-1">
              <a:latin typeface="Arial"/>
            </a:endParaRPr>
          </a:p>
        </p:txBody>
      </p:sp>
      <p:sp>
        <p:nvSpPr>
          <p:cNvPr id="324" name="CustomShape 4"/>
          <p:cNvSpPr/>
          <p:nvPr/>
        </p:nvSpPr>
        <p:spPr>
          <a:xfrm>
            <a:off x="1676280" y="10868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25" name="CustomShape 5"/>
          <p:cNvSpPr/>
          <p:nvPr/>
        </p:nvSpPr>
        <p:spPr>
          <a:xfrm>
            <a:off x="2982720" y="139176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26" name="CustomShape 6"/>
          <p:cNvSpPr/>
          <p:nvPr/>
        </p:nvSpPr>
        <p:spPr>
          <a:xfrm>
            <a:off x="3306360" y="169956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27" name="CustomShape 7"/>
          <p:cNvSpPr/>
          <p:nvPr/>
        </p:nvSpPr>
        <p:spPr>
          <a:xfrm>
            <a:off x="3630360" y="15408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28" name="CustomShape 8"/>
          <p:cNvSpPr/>
          <p:nvPr/>
        </p:nvSpPr>
        <p:spPr>
          <a:xfrm>
            <a:off x="1820640" y="23126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29" name="CustomShape 9"/>
          <p:cNvSpPr/>
          <p:nvPr/>
        </p:nvSpPr>
        <p:spPr>
          <a:xfrm>
            <a:off x="1982280" y="274968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30" name="CustomShape 10"/>
          <p:cNvSpPr/>
          <p:nvPr/>
        </p:nvSpPr>
        <p:spPr>
          <a:xfrm>
            <a:off x="2430120" y="213876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31" name="CustomShape 11"/>
          <p:cNvSpPr/>
          <p:nvPr/>
        </p:nvSpPr>
        <p:spPr>
          <a:xfrm>
            <a:off x="2592120" y="332676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32" name="CustomShape 12"/>
          <p:cNvSpPr/>
          <p:nvPr/>
        </p:nvSpPr>
        <p:spPr>
          <a:xfrm>
            <a:off x="3183960" y="23533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33" name="CustomShape 13"/>
          <p:cNvSpPr/>
          <p:nvPr/>
        </p:nvSpPr>
        <p:spPr>
          <a:xfrm>
            <a:off x="3989280" y="172548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FF0000"/>
                </a:solidFill>
                <a:latin typeface="Calibri"/>
                <a:ea typeface="DejaVu Sans"/>
              </a:rPr>
              <a:t>Y</a:t>
            </a:r>
            <a:endParaRPr lang="en-IE" sz="2000" spc="-1">
              <a:latin typeface="Arial"/>
            </a:endParaRPr>
          </a:p>
        </p:txBody>
      </p:sp>
      <p:sp>
        <p:nvSpPr>
          <p:cNvPr id="334" name="CustomShape 14"/>
          <p:cNvSpPr/>
          <p:nvPr/>
        </p:nvSpPr>
        <p:spPr>
          <a:xfrm>
            <a:off x="3792360" y="290664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35" name="CustomShape 15"/>
          <p:cNvSpPr/>
          <p:nvPr/>
        </p:nvSpPr>
        <p:spPr>
          <a:xfrm>
            <a:off x="1676280" y="402840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36" name="CustomShape 16"/>
          <p:cNvSpPr/>
          <p:nvPr/>
        </p:nvSpPr>
        <p:spPr>
          <a:xfrm>
            <a:off x="2982720" y="43336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37" name="CustomShape 17"/>
          <p:cNvSpPr/>
          <p:nvPr/>
        </p:nvSpPr>
        <p:spPr>
          <a:xfrm>
            <a:off x="3306360" y="46414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38" name="CustomShape 18"/>
          <p:cNvSpPr/>
          <p:nvPr/>
        </p:nvSpPr>
        <p:spPr>
          <a:xfrm>
            <a:off x="3630360" y="448236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39" name="CustomShape 19"/>
          <p:cNvSpPr/>
          <p:nvPr/>
        </p:nvSpPr>
        <p:spPr>
          <a:xfrm>
            <a:off x="1820640" y="525456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40" name="CustomShape 20"/>
          <p:cNvSpPr/>
          <p:nvPr/>
        </p:nvSpPr>
        <p:spPr>
          <a:xfrm>
            <a:off x="1982280" y="569160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41" name="CustomShape 21"/>
          <p:cNvSpPr/>
          <p:nvPr/>
        </p:nvSpPr>
        <p:spPr>
          <a:xfrm>
            <a:off x="2430120" y="508068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42" name="CustomShape 22"/>
          <p:cNvSpPr/>
          <p:nvPr/>
        </p:nvSpPr>
        <p:spPr>
          <a:xfrm>
            <a:off x="2592120" y="626868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43" name="CustomShape 23"/>
          <p:cNvSpPr/>
          <p:nvPr/>
        </p:nvSpPr>
        <p:spPr>
          <a:xfrm>
            <a:off x="3183960" y="529524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44" name="CustomShape 24"/>
          <p:cNvSpPr/>
          <p:nvPr/>
        </p:nvSpPr>
        <p:spPr>
          <a:xfrm>
            <a:off x="3989280" y="46670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FF0000"/>
                </a:solidFill>
                <a:latin typeface="Calibri"/>
                <a:ea typeface="DejaVu Sans"/>
              </a:rPr>
              <a:t>Y</a:t>
            </a:r>
            <a:endParaRPr lang="en-IE" sz="2000" spc="-1">
              <a:latin typeface="Arial"/>
            </a:endParaRPr>
          </a:p>
        </p:txBody>
      </p:sp>
      <p:sp>
        <p:nvSpPr>
          <p:cNvPr id="345" name="CustomShape 25"/>
          <p:cNvSpPr/>
          <p:nvPr/>
        </p:nvSpPr>
        <p:spPr>
          <a:xfrm>
            <a:off x="3792360" y="584820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46" name="CustomShape 26"/>
          <p:cNvSpPr/>
          <p:nvPr/>
        </p:nvSpPr>
        <p:spPr>
          <a:xfrm rot="16200000" flipV="1">
            <a:off x="1507800" y="4208040"/>
            <a:ext cx="2701440" cy="236160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348" name="CustomShape 2"/>
          <p:cNvSpPr/>
          <p:nvPr/>
        </p:nvSpPr>
        <p:spPr>
          <a:xfrm>
            <a:off x="1847640" y="990360"/>
            <a:ext cx="436140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Each of the classifiers we created is assigned a weight and their weighted combination becomes a overall predictor. </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Classifiers that are more accurate have a higher weight</a:t>
            </a:r>
            <a:endParaRPr lang="en-IE" sz="2000" spc="-1">
              <a:latin typeface="Arial"/>
            </a:endParaRPr>
          </a:p>
          <a:p>
            <a:pPr>
              <a:spcBef>
                <a:spcPts val="601"/>
              </a:spcBef>
            </a:pPr>
            <a:endParaRPr lang="en-IE" sz="2000" spc="-1">
              <a:latin typeface="Arial"/>
            </a:endParaRPr>
          </a:p>
        </p:txBody>
      </p:sp>
      <p:sp>
        <p:nvSpPr>
          <p:cNvPr id="349" name="CustomShape 3"/>
          <p:cNvSpPr/>
          <p:nvPr/>
        </p:nvSpPr>
        <p:spPr>
          <a:xfrm>
            <a:off x="6413880" y="108972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50" name="CustomShape 4"/>
          <p:cNvSpPr/>
          <p:nvPr/>
        </p:nvSpPr>
        <p:spPr>
          <a:xfrm>
            <a:off x="7720320" y="1414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51" name="CustomShape 5"/>
          <p:cNvSpPr/>
          <p:nvPr/>
        </p:nvSpPr>
        <p:spPr>
          <a:xfrm>
            <a:off x="8043960" y="1722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52" name="CustomShape 6"/>
          <p:cNvSpPr/>
          <p:nvPr/>
        </p:nvSpPr>
        <p:spPr>
          <a:xfrm>
            <a:off x="8367960" y="1563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53" name="CustomShape 7"/>
          <p:cNvSpPr/>
          <p:nvPr/>
        </p:nvSpPr>
        <p:spPr>
          <a:xfrm>
            <a:off x="6558240" y="2335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54" name="CustomShape 8"/>
          <p:cNvSpPr/>
          <p:nvPr/>
        </p:nvSpPr>
        <p:spPr>
          <a:xfrm>
            <a:off x="6720240" y="27759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55" name="CustomShape 9"/>
          <p:cNvSpPr/>
          <p:nvPr/>
        </p:nvSpPr>
        <p:spPr>
          <a:xfrm>
            <a:off x="7167720" y="2161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56" name="CustomShape 10"/>
          <p:cNvSpPr/>
          <p:nvPr/>
        </p:nvSpPr>
        <p:spPr>
          <a:xfrm>
            <a:off x="7329720" y="3349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57" name="CustomShape 11"/>
          <p:cNvSpPr/>
          <p:nvPr/>
        </p:nvSpPr>
        <p:spPr>
          <a:xfrm>
            <a:off x="7921560" y="23760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58" name="CustomShape 12"/>
          <p:cNvSpPr/>
          <p:nvPr/>
        </p:nvSpPr>
        <p:spPr>
          <a:xfrm>
            <a:off x="8805000" y="17481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59" name="CustomShape 13"/>
          <p:cNvSpPr/>
          <p:nvPr/>
        </p:nvSpPr>
        <p:spPr>
          <a:xfrm>
            <a:off x="8529960" y="2929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60" name="CustomShape 14"/>
          <p:cNvSpPr/>
          <p:nvPr/>
        </p:nvSpPr>
        <p:spPr>
          <a:xfrm>
            <a:off x="6413880" y="1082160"/>
            <a:ext cx="3259440" cy="94392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61" name="CustomShape 15"/>
          <p:cNvSpPr/>
          <p:nvPr/>
        </p:nvSpPr>
        <p:spPr>
          <a:xfrm>
            <a:off x="1524000" y="356760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62" name="CustomShape 16"/>
          <p:cNvSpPr/>
          <p:nvPr/>
        </p:nvSpPr>
        <p:spPr>
          <a:xfrm>
            <a:off x="2830080" y="3892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63" name="CustomShape 17"/>
          <p:cNvSpPr/>
          <p:nvPr/>
        </p:nvSpPr>
        <p:spPr>
          <a:xfrm>
            <a:off x="3154080" y="4200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64" name="CustomShape 18"/>
          <p:cNvSpPr/>
          <p:nvPr/>
        </p:nvSpPr>
        <p:spPr>
          <a:xfrm>
            <a:off x="3477720" y="40413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65" name="CustomShape 19"/>
          <p:cNvSpPr/>
          <p:nvPr/>
        </p:nvSpPr>
        <p:spPr>
          <a:xfrm>
            <a:off x="1668000" y="4813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66" name="CustomShape 20"/>
          <p:cNvSpPr/>
          <p:nvPr/>
        </p:nvSpPr>
        <p:spPr>
          <a:xfrm>
            <a:off x="1830000" y="52506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67" name="CustomShape 21"/>
          <p:cNvSpPr/>
          <p:nvPr/>
        </p:nvSpPr>
        <p:spPr>
          <a:xfrm>
            <a:off x="2277840" y="4639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68" name="CustomShape 22"/>
          <p:cNvSpPr/>
          <p:nvPr/>
        </p:nvSpPr>
        <p:spPr>
          <a:xfrm>
            <a:off x="2439480" y="5827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69" name="CustomShape 23"/>
          <p:cNvSpPr/>
          <p:nvPr/>
        </p:nvSpPr>
        <p:spPr>
          <a:xfrm>
            <a:off x="3031320" y="48538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70" name="CustomShape 24"/>
          <p:cNvSpPr/>
          <p:nvPr/>
        </p:nvSpPr>
        <p:spPr>
          <a:xfrm>
            <a:off x="3836640" y="42260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371" name="CustomShape 25"/>
          <p:cNvSpPr/>
          <p:nvPr/>
        </p:nvSpPr>
        <p:spPr>
          <a:xfrm>
            <a:off x="3639720" y="5407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72" name="CustomShape 26"/>
          <p:cNvSpPr/>
          <p:nvPr/>
        </p:nvSpPr>
        <p:spPr>
          <a:xfrm rot="16200000">
            <a:off x="557040" y="4587120"/>
            <a:ext cx="2701440" cy="73944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73" name="CustomShape 27"/>
          <p:cNvSpPr/>
          <p:nvPr/>
        </p:nvSpPr>
        <p:spPr>
          <a:xfrm>
            <a:off x="6359880" y="39812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74" name="CustomShape 28"/>
          <p:cNvSpPr/>
          <p:nvPr/>
        </p:nvSpPr>
        <p:spPr>
          <a:xfrm>
            <a:off x="7665960" y="42865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75" name="CustomShape 29"/>
          <p:cNvSpPr/>
          <p:nvPr/>
        </p:nvSpPr>
        <p:spPr>
          <a:xfrm>
            <a:off x="7989960" y="45943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76" name="CustomShape 30"/>
          <p:cNvSpPr/>
          <p:nvPr/>
        </p:nvSpPr>
        <p:spPr>
          <a:xfrm>
            <a:off x="8313600" y="4435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377" name="CustomShape 31"/>
          <p:cNvSpPr/>
          <p:nvPr/>
        </p:nvSpPr>
        <p:spPr>
          <a:xfrm>
            <a:off x="6503880" y="52070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78" name="CustomShape 32"/>
          <p:cNvSpPr/>
          <p:nvPr/>
        </p:nvSpPr>
        <p:spPr>
          <a:xfrm>
            <a:off x="6665880" y="56444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379" name="CustomShape 33"/>
          <p:cNvSpPr/>
          <p:nvPr/>
        </p:nvSpPr>
        <p:spPr>
          <a:xfrm>
            <a:off x="7113720" y="50335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80" name="CustomShape 34"/>
          <p:cNvSpPr/>
          <p:nvPr/>
        </p:nvSpPr>
        <p:spPr>
          <a:xfrm>
            <a:off x="7275360" y="622116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81" name="CustomShape 35"/>
          <p:cNvSpPr/>
          <p:nvPr/>
        </p:nvSpPr>
        <p:spPr>
          <a:xfrm>
            <a:off x="7867200" y="52477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82" name="CustomShape 36"/>
          <p:cNvSpPr/>
          <p:nvPr/>
        </p:nvSpPr>
        <p:spPr>
          <a:xfrm>
            <a:off x="8672520" y="461988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FF0000"/>
                </a:solidFill>
                <a:latin typeface="Calibri"/>
                <a:ea typeface="DejaVu Sans"/>
              </a:rPr>
              <a:t>Y</a:t>
            </a:r>
            <a:endParaRPr lang="en-IE" sz="2000" spc="-1">
              <a:latin typeface="Arial"/>
            </a:endParaRPr>
          </a:p>
        </p:txBody>
      </p:sp>
      <p:sp>
        <p:nvSpPr>
          <p:cNvPr id="383" name="CustomShape 37"/>
          <p:cNvSpPr/>
          <p:nvPr/>
        </p:nvSpPr>
        <p:spPr>
          <a:xfrm>
            <a:off x="8475600" y="580104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384" name="CustomShape 38"/>
          <p:cNvSpPr/>
          <p:nvPr/>
        </p:nvSpPr>
        <p:spPr>
          <a:xfrm rot="16200000" flipV="1">
            <a:off x="6190680" y="4160880"/>
            <a:ext cx="2701440" cy="236160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85" name="CustomShape 39"/>
          <p:cNvSpPr/>
          <p:nvPr/>
        </p:nvSpPr>
        <p:spPr>
          <a:xfrm>
            <a:off x="9426360" y="236016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0.33</a:t>
            </a:r>
            <a:endParaRPr lang="en-IE" sz="1600" spc="-1">
              <a:latin typeface="Arial"/>
            </a:endParaRPr>
          </a:p>
        </p:txBody>
      </p:sp>
      <p:sp>
        <p:nvSpPr>
          <p:cNvPr id="386" name="CustomShape 40"/>
          <p:cNvSpPr/>
          <p:nvPr/>
        </p:nvSpPr>
        <p:spPr>
          <a:xfrm>
            <a:off x="9392520" y="514260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0.57</a:t>
            </a:r>
            <a:endParaRPr lang="en-IE" sz="1600" spc="-1">
              <a:latin typeface="Arial"/>
            </a:endParaRPr>
          </a:p>
        </p:txBody>
      </p:sp>
      <p:sp>
        <p:nvSpPr>
          <p:cNvPr id="387" name="CustomShape 41"/>
          <p:cNvSpPr/>
          <p:nvPr/>
        </p:nvSpPr>
        <p:spPr>
          <a:xfrm>
            <a:off x="4496880" y="455832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0.42</a:t>
            </a:r>
            <a:endParaRPr lang="en-IE" sz="1600"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389" name="CustomShape 2"/>
          <p:cNvSpPr/>
          <p:nvPr/>
        </p:nvSpPr>
        <p:spPr>
          <a:xfrm>
            <a:off x="1847640" y="990360"/>
            <a:ext cx="436140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What class is assigned to the query instance below. </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Vote for Y: 0.42+0.33 =0.75</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Vote for X: 0.57</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Classed as Y</a:t>
            </a:r>
            <a:endParaRPr lang="en-IE" sz="2000" spc="-1">
              <a:latin typeface="Arial"/>
            </a:endParaRPr>
          </a:p>
          <a:p>
            <a:pPr>
              <a:spcBef>
                <a:spcPts val="601"/>
              </a:spcBef>
            </a:pPr>
            <a:endParaRPr lang="en-IE" sz="2000" spc="-1">
              <a:latin typeface="Arial"/>
            </a:endParaRPr>
          </a:p>
          <a:p>
            <a:pPr>
              <a:spcBef>
                <a:spcPts val="601"/>
              </a:spcBef>
            </a:pPr>
            <a:endParaRPr lang="en-IE" sz="2000" spc="-1">
              <a:latin typeface="Arial"/>
            </a:endParaRPr>
          </a:p>
        </p:txBody>
      </p:sp>
      <p:sp>
        <p:nvSpPr>
          <p:cNvPr id="390" name="CustomShape 3"/>
          <p:cNvSpPr/>
          <p:nvPr/>
        </p:nvSpPr>
        <p:spPr>
          <a:xfrm>
            <a:off x="6413880" y="108972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391" name="CustomShape 4"/>
          <p:cNvSpPr/>
          <p:nvPr/>
        </p:nvSpPr>
        <p:spPr>
          <a:xfrm>
            <a:off x="7720320" y="1414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92" name="CustomShape 5"/>
          <p:cNvSpPr/>
          <p:nvPr/>
        </p:nvSpPr>
        <p:spPr>
          <a:xfrm>
            <a:off x="8043960" y="1722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93" name="CustomShape 6"/>
          <p:cNvSpPr/>
          <p:nvPr/>
        </p:nvSpPr>
        <p:spPr>
          <a:xfrm>
            <a:off x="8367960" y="1563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94" name="CustomShape 7"/>
          <p:cNvSpPr/>
          <p:nvPr/>
        </p:nvSpPr>
        <p:spPr>
          <a:xfrm>
            <a:off x="6558240" y="2335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95" name="CustomShape 8"/>
          <p:cNvSpPr/>
          <p:nvPr/>
        </p:nvSpPr>
        <p:spPr>
          <a:xfrm>
            <a:off x="6720240" y="27759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396" name="CustomShape 9"/>
          <p:cNvSpPr/>
          <p:nvPr/>
        </p:nvSpPr>
        <p:spPr>
          <a:xfrm>
            <a:off x="7167720" y="2161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97" name="CustomShape 10"/>
          <p:cNvSpPr/>
          <p:nvPr/>
        </p:nvSpPr>
        <p:spPr>
          <a:xfrm>
            <a:off x="7329720" y="3349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98" name="CustomShape 11"/>
          <p:cNvSpPr/>
          <p:nvPr/>
        </p:nvSpPr>
        <p:spPr>
          <a:xfrm>
            <a:off x="7921560" y="23760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399" name="CustomShape 12"/>
          <p:cNvSpPr/>
          <p:nvPr/>
        </p:nvSpPr>
        <p:spPr>
          <a:xfrm>
            <a:off x="8805000" y="17481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00" name="CustomShape 13"/>
          <p:cNvSpPr/>
          <p:nvPr/>
        </p:nvSpPr>
        <p:spPr>
          <a:xfrm>
            <a:off x="8529960" y="2929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01" name="CustomShape 14"/>
          <p:cNvSpPr/>
          <p:nvPr/>
        </p:nvSpPr>
        <p:spPr>
          <a:xfrm>
            <a:off x="6413880" y="1082160"/>
            <a:ext cx="3259440" cy="94392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02" name="CustomShape 15"/>
          <p:cNvSpPr/>
          <p:nvPr/>
        </p:nvSpPr>
        <p:spPr>
          <a:xfrm>
            <a:off x="1524000" y="356760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03" name="CustomShape 16"/>
          <p:cNvSpPr/>
          <p:nvPr/>
        </p:nvSpPr>
        <p:spPr>
          <a:xfrm>
            <a:off x="2830080" y="3892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04" name="CustomShape 17"/>
          <p:cNvSpPr/>
          <p:nvPr/>
        </p:nvSpPr>
        <p:spPr>
          <a:xfrm>
            <a:off x="3154080" y="4200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05" name="CustomShape 18"/>
          <p:cNvSpPr/>
          <p:nvPr/>
        </p:nvSpPr>
        <p:spPr>
          <a:xfrm>
            <a:off x="3477720" y="40413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06" name="CustomShape 19"/>
          <p:cNvSpPr/>
          <p:nvPr/>
        </p:nvSpPr>
        <p:spPr>
          <a:xfrm>
            <a:off x="1668000" y="4813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07" name="CustomShape 20"/>
          <p:cNvSpPr/>
          <p:nvPr/>
        </p:nvSpPr>
        <p:spPr>
          <a:xfrm>
            <a:off x="1830000" y="52506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08" name="CustomShape 21"/>
          <p:cNvSpPr/>
          <p:nvPr/>
        </p:nvSpPr>
        <p:spPr>
          <a:xfrm>
            <a:off x="2277840" y="4639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09" name="CustomShape 22"/>
          <p:cNvSpPr/>
          <p:nvPr/>
        </p:nvSpPr>
        <p:spPr>
          <a:xfrm>
            <a:off x="2439480" y="5827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10" name="CustomShape 23"/>
          <p:cNvSpPr/>
          <p:nvPr/>
        </p:nvSpPr>
        <p:spPr>
          <a:xfrm>
            <a:off x="3031320" y="48538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11" name="CustomShape 24"/>
          <p:cNvSpPr/>
          <p:nvPr/>
        </p:nvSpPr>
        <p:spPr>
          <a:xfrm>
            <a:off x="3836640" y="42260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412" name="CustomShape 25"/>
          <p:cNvSpPr/>
          <p:nvPr/>
        </p:nvSpPr>
        <p:spPr>
          <a:xfrm>
            <a:off x="3639720" y="5407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13" name="CustomShape 26"/>
          <p:cNvSpPr/>
          <p:nvPr/>
        </p:nvSpPr>
        <p:spPr>
          <a:xfrm rot="16200000">
            <a:off x="557040" y="4587120"/>
            <a:ext cx="2701440" cy="73944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14" name="CustomShape 27"/>
          <p:cNvSpPr/>
          <p:nvPr/>
        </p:nvSpPr>
        <p:spPr>
          <a:xfrm>
            <a:off x="6359880" y="39812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15" name="CustomShape 28"/>
          <p:cNvSpPr/>
          <p:nvPr/>
        </p:nvSpPr>
        <p:spPr>
          <a:xfrm>
            <a:off x="7665960" y="42865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16" name="CustomShape 29"/>
          <p:cNvSpPr/>
          <p:nvPr/>
        </p:nvSpPr>
        <p:spPr>
          <a:xfrm>
            <a:off x="7989960" y="45943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17" name="CustomShape 30"/>
          <p:cNvSpPr/>
          <p:nvPr/>
        </p:nvSpPr>
        <p:spPr>
          <a:xfrm>
            <a:off x="8313600" y="4435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18" name="CustomShape 31"/>
          <p:cNvSpPr/>
          <p:nvPr/>
        </p:nvSpPr>
        <p:spPr>
          <a:xfrm>
            <a:off x="6503880" y="52070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419" name="CustomShape 32"/>
          <p:cNvSpPr/>
          <p:nvPr/>
        </p:nvSpPr>
        <p:spPr>
          <a:xfrm>
            <a:off x="6665880" y="56444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420" name="CustomShape 33"/>
          <p:cNvSpPr/>
          <p:nvPr/>
        </p:nvSpPr>
        <p:spPr>
          <a:xfrm>
            <a:off x="7113720" y="50335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21" name="CustomShape 34"/>
          <p:cNvSpPr/>
          <p:nvPr/>
        </p:nvSpPr>
        <p:spPr>
          <a:xfrm>
            <a:off x="7275360" y="622116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22" name="CustomShape 35"/>
          <p:cNvSpPr/>
          <p:nvPr/>
        </p:nvSpPr>
        <p:spPr>
          <a:xfrm>
            <a:off x="7867200" y="52477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23" name="CustomShape 36"/>
          <p:cNvSpPr/>
          <p:nvPr/>
        </p:nvSpPr>
        <p:spPr>
          <a:xfrm>
            <a:off x="8672520" y="461988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FF0000"/>
                </a:solidFill>
                <a:latin typeface="Calibri"/>
                <a:ea typeface="DejaVu Sans"/>
              </a:rPr>
              <a:t>Y</a:t>
            </a:r>
            <a:endParaRPr lang="en-IE" sz="2000" spc="-1">
              <a:latin typeface="Arial"/>
            </a:endParaRPr>
          </a:p>
        </p:txBody>
      </p:sp>
      <p:sp>
        <p:nvSpPr>
          <p:cNvPr id="424" name="CustomShape 37"/>
          <p:cNvSpPr/>
          <p:nvPr/>
        </p:nvSpPr>
        <p:spPr>
          <a:xfrm>
            <a:off x="8475600" y="580104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25" name="CustomShape 38"/>
          <p:cNvSpPr/>
          <p:nvPr/>
        </p:nvSpPr>
        <p:spPr>
          <a:xfrm rot="16200000" flipV="1">
            <a:off x="6190680" y="4160880"/>
            <a:ext cx="2701440" cy="236160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26" name="CustomShape 39"/>
          <p:cNvSpPr/>
          <p:nvPr/>
        </p:nvSpPr>
        <p:spPr>
          <a:xfrm>
            <a:off x="9426360" y="236016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0.33</a:t>
            </a:r>
            <a:endParaRPr lang="en-IE" sz="1600" spc="-1">
              <a:latin typeface="Arial"/>
            </a:endParaRPr>
          </a:p>
        </p:txBody>
      </p:sp>
      <p:sp>
        <p:nvSpPr>
          <p:cNvPr id="427" name="CustomShape 40"/>
          <p:cNvSpPr/>
          <p:nvPr/>
        </p:nvSpPr>
        <p:spPr>
          <a:xfrm>
            <a:off x="9392520" y="514260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0.57</a:t>
            </a:r>
            <a:endParaRPr lang="en-IE" sz="1600" spc="-1">
              <a:latin typeface="Arial"/>
            </a:endParaRPr>
          </a:p>
        </p:txBody>
      </p:sp>
      <p:sp>
        <p:nvSpPr>
          <p:cNvPr id="428" name="CustomShape 41"/>
          <p:cNvSpPr/>
          <p:nvPr/>
        </p:nvSpPr>
        <p:spPr>
          <a:xfrm>
            <a:off x="4496880" y="455832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0.42</a:t>
            </a:r>
            <a:endParaRPr lang="en-IE" sz="1600" spc="-1">
              <a:latin typeface="Arial"/>
            </a:endParaRPr>
          </a:p>
        </p:txBody>
      </p:sp>
      <p:sp>
        <p:nvSpPr>
          <p:cNvPr id="429" name="CustomShape 42"/>
          <p:cNvSpPr/>
          <p:nvPr/>
        </p:nvSpPr>
        <p:spPr>
          <a:xfrm>
            <a:off x="2564760" y="505584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
        <p:nvSpPr>
          <p:cNvPr id="430" name="CustomShape 43"/>
          <p:cNvSpPr/>
          <p:nvPr/>
        </p:nvSpPr>
        <p:spPr>
          <a:xfrm>
            <a:off x="7498200" y="260280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
        <p:nvSpPr>
          <p:cNvPr id="431" name="CustomShape 44"/>
          <p:cNvSpPr/>
          <p:nvPr/>
        </p:nvSpPr>
        <p:spPr>
          <a:xfrm>
            <a:off x="7420440" y="541692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433" name="CustomShape 2"/>
          <p:cNvSpPr/>
          <p:nvPr/>
        </p:nvSpPr>
        <p:spPr>
          <a:xfrm>
            <a:off x="1847640" y="990360"/>
            <a:ext cx="436140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What class is assigned to the query instance below. </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Vote for Y: 0.42+0.57 =0.99</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Vote for X: 0.33</a:t>
            </a: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Classed as Y</a:t>
            </a:r>
            <a:endParaRPr lang="en-IE" sz="2000" spc="-1">
              <a:latin typeface="Arial"/>
            </a:endParaRPr>
          </a:p>
          <a:p>
            <a:pPr>
              <a:spcBef>
                <a:spcPts val="601"/>
              </a:spcBef>
            </a:pPr>
            <a:endParaRPr lang="en-IE" sz="2000" spc="-1">
              <a:latin typeface="Arial"/>
            </a:endParaRPr>
          </a:p>
          <a:p>
            <a:pPr>
              <a:spcBef>
                <a:spcPts val="601"/>
              </a:spcBef>
            </a:pPr>
            <a:endParaRPr lang="en-IE" sz="2000" spc="-1">
              <a:latin typeface="Arial"/>
            </a:endParaRPr>
          </a:p>
        </p:txBody>
      </p:sp>
      <p:sp>
        <p:nvSpPr>
          <p:cNvPr id="434" name="CustomShape 3"/>
          <p:cNvSpPr/>
          <p:nvPr/>
        </p:nvSpPr>
        <p:spPr>
          <a:xfrm>
            <a:off x="6413880" y="108972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35" name="CustomShape 4"/>
          <p:cNvSpPr/>
          <p:nvPr/>
        </p:nvSpPr>
        <p:spPr>
          <a:xfrm>
            <a:off x="7720320" y="1414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36" name="CustomShape 5"/>
          <p:cNvSpPr/>
          <p:nvPr/>
        </p:nvSpPr>
        <p:spPr>
          <a:xfrm>
            <a:off x="8043960" y="1722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37" name="CustomShape 6"/>
          <p:cNvSpPr/>
          <p:nvPr/>
        </p:nvSpPr>
        <p:spPr>
          <a:xfrm>
            <a:off x="8367960" y="1563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38" name="CustomShape 7"/>
          <p:cNvSpPr/>
          <p:nvPr/>
        </p:nvSpPr>
        <p:spPr>
          <a:xfrm>
            <a:off x="6558240" y="2335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39" name="CustomShape 8"/>
          <p:cNvSpPr/>
          <p:nvPr/>
        </p:nvSpPr>
        <p:spPr>
          <a:xfrm>
            <a:off x="6720240" y="27759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40" name="CustomShape 9"/>
          <p:cNvSpPr/>
          <p:nvPr/>
        </p:nvSpPr>
        <p:spPr>
          <a:xfrm>
            <a:off x="7167720" y="2161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41" name="CustomShape 10"/>
          <p:cNvSpPr/>
          <p:nvPr/>
        </p:nvSpPr>
        <p:spPr>
          <a:xfrm>
            <a:off x="7329720" y="33498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42" name="CustomShape 11"/>
          <p:cNvSpPr/>
          <p:nvPr/>
        </p:nvSpPr>
        <p:spPr>
          <a:xfrm>
            <a:off x="7921560" y="23760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43" name="CustomShape 12"/>
          <p:cNvSpPr/>
          <p:nvPr/>
        </p:nvSpPr>
        <p:spPr>
          <a:xfrm>
            <a:off x="8805000" y="17481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44" name="CustomShape 13"/>
          <p:cNvSpPr/>
          <p:nvPr/>
        </p:nvSpPr>
        <p:spPr>
          <a:xfrm>
            <a:off x="8529960" y="2929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45" name="CustomShape 14"/>
          <p:cNvSpPr/>
          <p:nvPr/>
        </p:nvSpPr>
        <p:spPr>
          <a:xfrm>
            <a:off x="6413880" y="1082160"/>
            <a:ext cx="3259440" cy="94392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46" name="CustomShape 15"/>
          <p:cNvSpPr/>
          <p:nvPr/>
        </p:nvSpPr>
        <p:spPr>
          <a:xfrm>
            <a:off x="1524000" y="356760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47" name="CustomShape 16"/>
          <p:cNvSpPr/>
          <p:nvPr/>
        </p:nvSpPr>
        <p:spPr>
          <a:xfrm>
            <a:off x="2830080" y="3892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48" name="CustomShape 17"/>
          <p:cNvSpPr/>
          <p:nvPr/>
        </p:nvSpPr>
        <p:spPr>
          <a:xfrm>
            <a:off x="3154080" y="42004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49" name="CustomShape 18"/>
          <p:cNvSpPr/>
          <p:nvPr/>
        </p:nvSpPr>
        <p:spPr>
          <a:xfrm>
            <a:off x="3477720" y="40413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50" name="CustomShape 19"/>
          <p:cNvSpPr/>
          <p:nvPr/>
        </p:nvSpPr>
        <p:spPr>
          <a:xfrm>
            <a:off x="1668000" y="4813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51" name="CustomShape 20"/>
          <p:cNvSpPr/>
          <p:nvPr/>
        </p:nvSpPr>
        <p:spPr>
          <a:xfrm>
            <a:off x="1830000" y="52506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52" name="CustomShape 21"/>
          <p:cNvSpPr/>
          <p:nvPr/>
        </p:nvSpPr>
        <p:spPr>
          <a:xfrm>
            <a:off x="2277840" y="46396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53" name="CustomShape 22"/>
          <p:cNvSpPr/>
          <p:nvPr/>
        </p:nvSpPr>
        <p:spPr>
          <a:xfrm>
            <a:off x="2439480" y="58273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54" name="CustomShape 23"/>
          <p:cNvSpPr/>
          <p:nvPr/>
        </p:nvSpPr>
        <p:spPr>
          <a:xfrm>
            <a:off x="3031320" y="485388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55" name="CustomShape 24"/>
          <p:cNvSpPr/>
          <p:nvPr/>
        </p:nvSpPr>
        <p:spPr>
          <a:xfrm>
            <a:off x="3836640" y="42260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456" name="CustomShape 25"/>
          <p:cNvSpPr/>
          <p:nvPr/>
        </p:nvSpPr>
        <p:spPr>
          <a:xfrm>
            <a:off x="3639720" y="54072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57" name="CustomShape 26"/>
          <p:cNvSpPr/>
          <p:nvPr/>
        </p:nvSpPr>
        <p:spPr>
          <a:xfrm rot="16200000">
            <a:off x="557040" y="4587120"/>
            <a:ext cx="2701440" cy="73944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58" name="CustomShape 27"/>
          <p:cNvSpPr/>
          <p:nvPr/>
        </p:nvSpPr>
        <p:spPr>
          <a:xfrm>
            <a:off x="6359880" y="398124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59" name="CustomShape 28"/>
          <p:cNvSpPr/>
          <p:nvPr/>
        </p:nvSpPr>
        <p:spPr>
          <a:xfrm>
            <a:off x="7665960" y="42865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60" name="CustomShape 29"/>
          <p:cNvSpPr/>
          <p:nvPr/>
        </p:nvSpPr>
        <p:spPr>
          <a:xfrm>
            <a:off x="7989960" y="459432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61" name="CustomShape 30"/>
          <p:cNvSpPr/>
          <p:nvPr/>
        </p:nvSpPr>
        <p:spPr>
          <a:xfrm>
            <a:off x="8313600" y="443520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62" name="CustomShape 31"/>
          <p:cNvSpPr/>
          <p:nvPr/>
        </p:nvSpPr>
        <p:spPr>
          <a:xfrm>
            <a:off x="6503880" y="52070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463" name="CustomShape 32"/>
          <p:cNvSpPr/>
          <p:nvPr/>
        </p:nvSpPr>
        <p:spPr>
          <a:xfrm>
            <a:off x="6665880" y="564444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000000"/>
                </a:solidFill>
                <a:latin typeface="Calibri"/>
                <a:ea typeface="DejaVu Sans"/>
              </a:rPr>
              <a:t>X</a:t>
            </a:r>
            <a:endParaRPr lang="en-IE" sz="2000" spc="-1">
              <a:latin typeface="Arial"/>
            </a:endParaRPr>
          </a:p>
        </p:txBody>
      </p:sp>
      <p:sp>
        <p:nvSpPr>
          <p:cNvPr id="464" name="CustomShape 33"/>
          <p:cNvSpPr/>
          <p:nvPr/>
        </p:nvSpPr>
        <p:spPr>
          <a:xfrm>
            <a:off x="7113720" y="50335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65" name="CustomShape 34"/>
          <p:cNvSpPr/>
          <p:nvPr/>
        </p:nvSpPr>
        <p:spPr>
          <a:xfrm>
            <a:off x="7275360" y="622116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66" name="CustomShape 35"/>
          <p:cNvSpPr/>
          <p:nvPr/>
        </p:nvSpPr>
        <p:spPr>
          <a:xfrm>
            <a:off x="7867200" y="524772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67" name="CustomShape 36"/>
          <p:cNvSpPr/>
          <p:nvPr/>
        </p:nvSpPr>
        <p:spPr>
          <a:xfrm>
            <a:off x="8672520" y="4619880"/>
            <a:ext cx="32328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000" spc="-1">
                <a:solidFill>
                  <a:srgbClr val="FF0000"/>
                </a:solidFill>
                <a:latin typeface="Calibri"/>
                <a:ea typeface="DejaVu Sans"/>
              </a:rPr>
              <a:t>Y</a:t>
            </a:r>
            <a:endParaRPr lang="en-IE" sz="2000" spc="-1">
              <a:latin typeface="Arial"/>
            </a:endParaRPr>
          </a:p>
        </p:txBody>
      </p:sp>
      <p:sp>
        <p:nvSpPr>
          <p:cNvPr id="468" name="CustomShape 37"/>
          <p:cNvSpPr/>
          <p:nvPr/>
        </p:nvSpPr>
        <p:spPr>
          <a:xfrm>
            <a:off x="8475600" y="5801040"/>
            <a:ext cx="323280" cy="33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1600" spc="-1">
                <a:solidFill>
                  <a:srgbClr val="FF0000"/>
                </a:solidFill>
                <a:latin typeface="Calibri"/>
                <a:ea typeface="DejaVu Sans"/>
              </a:rPr>
              <a:t>Y</a:t>
            </a:r>
            <a:endParaRPr lang="en-IE" sz="1600" spc="-1">
              <a:latin typeface="Arial"/>
            </a:endParaRPr>
          </a:p>
        </p:txBody>
      </p:sp>
      <p:sp>
        <p:nvSpPr>
          <p:cNvPr id="469" name="CustomShape 38"/>
          <p:cNvSpPr/>
          <p:nvPr/>
        </p:nvSpPr>
        <p:spPr>
          <a:xfrm rot="16200000" flipV="1">
            <a:off x="6190680" y="4160880"/>
            <a:ext cx="2701440" cy="236160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70" name="CustomShape 39"/>
          <p:cNvSpPr/>
          <p:nvPr/>
        </p:nvSpPr>
        <p:spPr>
          <a:xfrm>
            <a:off x="9426360" y="236016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0.33</a:t>
            </a:r>
            <a:endParaRPr lang="en-IE" sz="1600" spc="-1">
              <a:latin typeface="Arial"/>
            </a:endParaRPr>
          </a:p>
        </p:txBody>
      </p:sp>
      <p:sp>
        <p:nvSpPr>
          <p:cNvPr id="471" name="CustomShape 40"/>
          <p:cNvSpPr/>
          <p:nvPr/>
        </p:nvSpPr>
        <p:spPr>
          <a:xfrm>
            <a:off x="9392520" y="514260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0.57</a:t>
            </a:r>
            <a:endParaRPr lang="en-IE" sz="1600" spc="-1">
              <a:latin typeface="Arial"/>
            </a:endParaRPr>
          </a:p>
        </p:txBody>
      </p:sp>
      <p:sp>
        <p:nvSpPr>
          <p:cNvPr id="472" name="CustomShape 41"/>
          <p:cNvSpPr/>
          <p:nvPr/>
        </p:nvSpPr>
        <p:spPr>
          <a:xfrm>
            <a:off x="4496880" y="4558320"/>
            <a:ext cx="1065960" cy="657720"/>
          </a:xfrm>
          <a:prstGeom prst="rect">
            <a:avLst/>
          </a:prstGeom>
          <a:ln>
            <a:solidFill>
              <a:schemeClr val="tx1"/>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a:lnSpc>
                <a:spcPct val="100000"/>
              </a:lnSpc>
            </a:pPr>
            <a:r>
              <a:rPr lang="en-IE" sz="1600" b="1" spc="-1">
                <a:solidFill>
                  <a:srgbClr val="FFFFFF"/>
                </a:solidFill>
                <a:latin typeface="Calibri"/>
                <a:ea typeface="DejaVu Sans"/>
              </a:rPr>
              <a:t>Weight </a:t>
            </a:r>
            <a:endParaRPr lang="en-IE" sz="1600" spc="-1">
              <a:latin typeface="Arial"/>
            </a:endParaRPr>
          </a:p>
          <a:p>
            <a:pPr algn="ctr">
              <a:lnSpc>
                <a:spcPct val="100000"/>
              </a:lnSpc>
            </a:pPr>
            <a:r>
              <a:rPr lang="en-IE" sz="1600" b="1" spc="-1">
                <a:solidFill>
                  <a:srgbClr val="FFFFFF"/>
                </a:solidFill>
                <a:latin typeface="Calibri"/>
                <a:ea typeface="DejaVu Sans"/>
              </a:rPr>
              <a:t>0.42</a:t>
            </a:r>
            <a:endParaRPr lang="en-IE" sz="1600" spc="-1">
              <a:latin typeface="Arial"/>
            </a:endParaRPr>
          </a:p>
        </p:txBody>
      </p:sp>
      <p:sp>
        <p:nvSpPr>
          <p:cNvPr id="473" name="CustomShape 42"/>
          <p:cNvSpPr/>
          <p:nvPr/>
        </p:nvSpPr>
        <p:spPr>
          <a:xfrm>
            <a:off x="4285560" y="388008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
        <p:nvSpPr>
          <p:cNvPr id="474" name="CustomShape 43"/>
          <p:cNvSpPr/>
          <p:nvPr/>
        </p:nvSpPr>
        <p:spPr>
          <a:xfrm>
            <a:off x="9254640" y="134028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
        <p:nvSpPr>
          <p:cNvPr id="475" name="CustomShape 44"/>
          <p:cNvSpPr/>
          <p:nvPr/>
        </p:nvSpPr>
        <p:spPr>
          <a:xfrm>
            <a:off x="9121440" y="4199040"/>
            <a:ext cx="323280" cy="455760"/>
          </a:xfrm>
          <a:prstGeom prst="rect">
            <a:avLst/>
          </a:prstGeom>
          <a:noFill/>
          <a:ln>
            <a:solidFill>
              <a:schemeClr val="tx1"/>
            </a:solid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a:t>
            </a:r>
            <a:endParaRPr lang="en-IE" sz="2400"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Boosting</a:t>
            </a:r>
            <a:endParaRPr lang="en-IE" sz="4400" spc="-1">
              <a:latin typeface="Arial"/>
            </a:endParaRPr>
          </a:p>
        </p:txBody>
      </p:sp>
      <p:sp>
        <p:nvSpPr>
          <p:cNvPr id="477" name="CustomShape 2"/>
          <p:cNvSpPr/>
          <p:nvPr/>
        </p:nvSpPr>
        <p:spPr>
          <a:xfrm>
            <a:off x="1847640" y="990360"/>
            <a:ext cx="436140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spcBef>
                <a:spcPts val="601"/>
              </a:spcBef>
            </a:pPr>
            <a:endParaRPr lang="en-IE"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The combination of a number of simple decision models creates a decision region that is more complex and more expressive than any of the individual models</a:t>
            </a:r>
            <a:endParaRPr lang="en-IE" sz="2000" spc="-1">
              <a:latin typeface="Arial"/>
            </a:endParaRPr>
          </a:p>
          <a:p>
            <a:pPr>
              <a:spcBef>
                <a:spcPts val="601"/>
              </a:spcBef>
            </a:pPr>
            <a:endParaRPr lang="en-IE" sz="2000" spc="-1">
              <a:latin typeface="Arial"/>
            </a:endParaRPr>
          </a:p>
          <a:p>
            <a:pPr>
              <a:spcBef>
                <a:spcPts val="601"/>
              </a:spcBef>
            </a:pPr>
            <a:endParaRPr lang="en-IE" sz="2000" spc="-1">
              <a:latin typeface="Arial"/>
            </a:endParaRPr>
          </a:p>
        </p:txBody>
      </p:sp>
      <p:sp>
        <p:nvSpPr>
          <p:cNvPr id="478" name="CustomShape 3"/>
          <p:cNvSpPr/>
          <p:nvPr/>
        </p:nvSpPr>
        <p:spPr>
          <a:xfrm>
            <a:off x="6209400" y="2895480"/>
            <a:ext cx="3259440" cy="2722680"/>
          </a:xfrm>
          <a:prstGeom prst="rect">
            <a:avLst/>
          </a:prstGeom>
          <a:solidFill>
            <a:schemeClr val="bg1"/>
          </a:solidFill>
          <a:ln>
            <a:solidFill>
              <a:schemeClr val="tx1"/>
            </a:solidFill>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79" name="CustomShape 4"/>
          <p:cNvSpPr/>
          <p:nvPr/>
        </p:nvSpPr>
        <p:spPr>
          <a:xfrm>
            <a:off x="7515840" y="3220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80" name="CustomShape 5"/>
          <p:cNvSpPr/>
          <p:nvPr/>
        </p:nvSpPr>
        <p:spPr>
          <a:xfrm>
            <a:off x="7839480" y="35283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81" name="CustomShape 6"/>
          <p:cNvSpPr/>
          <p:nvPr/>
        </p:nvSpPr>
        <p:spPr>
          <a:xfrm>
            <a:off x="8163480" y="336960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000000"/>
                </a:solidFill>
                <a:latin typeface="Calibri"/>
                <a:ea typeface="DejaVu Sans"/>
              </a:rPr>
              <a:t>X</a:t>
            </a:r>
            <a:endParaRPr lang="en-IE" spc="-1">
              <a:latin typeface="Arial"/>
            </a:endParaRPr>
          </a:p>
        </p:txBody>
      </p:sp>
      <p:sp>
        <p:nvSpPr>
          <p:cNvPr id="482" name="CustomShape 7"/>
          <p:cNvSpPr/>
          <p:nvPr/>
        </p:nvSpPr>
        <p:spPr>
          <a:xfrm>
            <a:off x="6353760" y="414144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83" name="CustomShape 8"/>
          <p:cNvSpPr/>
          <p:nvPr/>
        </p:nvSpPr>
        <p:spPr>
          <a:xfrm>
            <a:off x="6515760" y="45784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000000"/>
                </a:solidFill>
                <a:latin typeface="Calibri"/>
                <a:ea typeface="DejaVu Sans"/>
              </a:rPr>
              <a:t>X</a:t>
            </a:r>
            <a:endParaRPr lang="en-IE" sz="2400" spc="-1">
              <a:latin typeface="Arial"/>
            </a:endParaRPr>
          </a:p>
        </p:txBody>
      </p:sp>
      <p:sp>
        <p:nvSpPr>
          <p:cNvPr id="484" name="CustomShape 9"/>
          <p:cNvSpPr/>
          <p:nvPr/>
        </p:nvSpPr>
        <p:spPr>
          <a:xfrm>
            <a:off x="6963240" y="3967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85" name="CustomShape 10"/>
          <p:cNvSpPr/>
          <p:nvPr/>
        </p:nvSpPr>
        <p:spPr>
          <a:xfrm>
            <a:off x="7125240" y="515556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86" name="CustomShape 11"/>
          <p:cNvSpPr/>
          <p:nvPr/>
        </p:nvSpPr>
        <p:spPr>
          <a:xfrm>
            <a:off x="7717080" y="418212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87" name="CustomShape 12"/>
          <p:cNvSpPr/>
          <p:nvPr/>
        </p:nvSpPr>
        <p:spPr>
          <a:xfrm>
            <a:off x="8522400" y="3554280"/>
            <a:ext cx="323280" cy="45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z="2400" spc="-1">
                <a:solidFill>
                  <a:srgbClr val="FF0000"/>
                </a:solidFill>
                <a:latin typeface="Calibri"/>
                <a:ea typeface="DejaVu Sans"/>
              </a:rPr>
              <a:t>Y</a:t>
            </a:r>
            <a:endParaRPr lang="en-IE" sz="2400" spc="-1">
              <a:latin typeface="Arial"/>
            </a:endParaRPr>
          </a:p>
        </p:txBody>
      </p:sp>
      <p:sp>
        <p:nvSpPr>
          <p:cNvPr id="488" name="CustomShape 13"/>
          <p:cNvSpPr/>
          <p:nvPr/>
        </p:nvSpPr>
        <p:spPr>
          <a:xfrm>
            <a:off x="8325480" y="4735440"/>
            <a:ext cx="323280" cy="36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E" spc="-1">
                <a:solidFill>
                  <a:srgbClr val="FF0000"/>
                </a:solidFill>
                <a:latin typeface="Calibri"/>
                <a:ea typeface="DejaVu Sans"/>
              </a:rPr>
              <a:t>Y</a:t>
            </a:r>
            <a:endParaRPr lang="en-IE" spc="-1">
              <a:latin typeface="Arial"/>
            </a:endParaRPr>
          </a:p>
        </p:txBody>
      </p:sp>
      <p:sp>
        <p:nvSpPr>
          <p:cNvPr id="489" name="CustomShape 14"/>
          <p:cNvSpPr/>
          <p:nvPr/>
        </p:nvSpPr>
        <p:spPr>
          <a:xfrm rot="16200000">
            <a:off x="5242080" y="3915360"/>
            <a:ext cx="2701440" cy="73944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
        <p:nvSpPr>
          <p:cNvPr id="490" name="CustomShape 15"/>
          <p:cNvSpPr/>
          <p:nvPr/>
        </p:nvSpPr>
        <p:spPr>
          <a:xfrm>
            <a:off x="6209400" y="2909520"/>
            <a:ext cx="2311920" cy="943920"/>
          </a:xfrm>
          <a:prstGeom prst="rect">
            <a:avLst/>
          </a:prstGeom>
          <a:solidFill>
            <a:schemeClr val="accent1">
              <a:lumMod val="40000"/>
              <a:lumOff val="60000"/>
              <a:alpha val="37000"/>
            </a:schemeClr>
          </a:solidFill>
          <a:ln>
            <a:custDash>
              <a:ds d="300000" sp="100000"/>
            </a:custDash>
            <a:round/>
          </a:ln>
        </p:spPr>
        <p:style>
          <a:lnRef idx="2">
            <a:schemeClr val="accent1">
              <a:shade val="50000"/>
            </a:schemeClr>
          </a:lnRef>
          <a:fillRef idx="1">
            <a:schemeClr val="accent1"/>
          </a:fillRef>
          <a:effectRef idx="0">
            <a:schemeClr val="accent1"/>
          </a:effectRef>
          <a:fontRef idx="minor"/>
        </p:style>
        <p:txBody>
          <a:bodyPr/>
          <a:lstStyle/>
          <a:p>
            <a:endParaRPr lang="en-IE"/>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1"/>
          <p:cNvSpPr/>
          <p:nvPr/>
        </p:nvSpPr>
        <p:spPr>
          <a:xfrm>
            <a:off x="1981200" y="274680"/>
            <a:ext cx="8228880" cy="1142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IE" sz="4400" spc="-1">
                <a:solidFill>
                  <a:srgbClr val="000000"/>
                </a:solidFill>
                <a:latin typeface="Calibri"/>
              </a:rPr>
              <a:t>Ensemble Learning</a:t>
            </a:r>
            <a:endParaRPr lang="en-IE" sz="4400" spc="-1">
              <a:latin typeface="Arial"/>
            </a:endParaRPr>
          </a:p>
        </p:txBody>
      </p:sp>
      <p:sp>
        <p:nvSpPr>
          <p:cNvPr id="492" name="CustomShape 2"/>
          <p:cNvSpPr/>
          <p:nvPr/>
        </p:nvSpPr>
        <p:spPr>
          <a:xfrm>
            <a:off x="1995600" y="1295280"/>
            <a:ext cx="8061840" cy="4898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Ensemble methods utilize/combine the results from a number of learning algorithms to obtain a better predictive performance than could be obtained from any single one of the learning algorithms</a:t>
            </a:r>
            <a:endParaRPr lang="en-IE" sz="2000" spc="-1">
              <a:latin typeface="Arial"/>
            </a:endParaRPr>
          </a:p>
          <a:p>
            <a:pPr>
              <a:spcBef>
                <a:spcPts val="601"/>
              </a:spcBef>
            </a:pPr>
            <a:endParaRPr lang="en-IE" sz="2000" spc="-1">
              <a:latin typeface="Arial"/>
            </a:endParaRPr>
          </a:p>
          <a:p>
            <a:pPr marL="272880" indent="-272160">
              <a:spcBef>
                <a:spcPts val="601"/>
              </a:spcBef>
              <a:buClr>
                <a:srgbClr val="4F81BD"/>
              </a:buClr>
              <a:buSzPct val="76000"/>
              <a:buFont typeface="Wingdings 3" charset="2"/>
              <a:buChar char=""/>
            </a:pPr>
            <a:r>
              <a:rPr lang="en-IE" sz="2000" spc="-1">
                <a:solidFill>
                  <a:srgbClr val="000000"/>
                </a:solidFill>
                <a:latin typeface="Calibri"/>
                <a:ea typeface="DejaVu Sans"/>
              </a:rPr>
              <a:t>Thera are two families of ensemble methods:</a:t>
            </a:r>
            <a:endParaRPr lang="en-IE" sz="2000" spc="-1">
              <a:latin typeface="Arial"/>
            </a:endParaRPr>
          </a:p>
          <a:p>
            <a:pPr marL="272880" indent="-272160">
              <a:spcBef>
                <a:spcPts val="601"/>
              </a:spcBef>
              <a:buClr>
                <a:srgbClr val="4F81BD"/>
              </a:buClr>
              <a:buSzPct val="76000"/>
              <a:buFont typeface="Wingdings 3" charset="2"/>
              <a:buChar char=""/>
            </a:pPr>
            <a:r>
              <a:rPr lang="en-IE" sz="2000" b="1" spc="-1">
                <a:solidFill>
                  <a:srgbClr val="000000"/>
                </a:solidFill>
                <a:latin typeface="Calibri"/>
                <a:ea typeface="DejaVu Sans"/>
              </a:rPr>
              <a:t>Averaging methods</a:t>
            </a:r>
            <a:r>
              <a:rPr lang="en-IE" sz="2000" spc="-1">
                <a:solidFill>
                  <a:srgbClr val="000000"/>
                </a:solidFill>
                <a:latin typeface="Calibri"/>
                <a:ea typeface="DejaVu Sans"/>
              </a:rPr>
              <a:t>, build many estimators independently and then to average/vote based on their predictions. On average, the combined estimator is usually better than any of the single base estimator because its variance is reduced.</a:t>
            </a:r>
            <a:endParaRPr lang="en-IE" sz="2000" spc="-1">
              <a:latin typeface="Arial"/>
            </a:endParaRPr>
          </a:p>
          <a:p>
            <a:pPr marL="272880" indent="-272160">
              <a:spcBef>
                <a:spcPts val="601"/>
              </a:spcBef>
              <a:buClr>
                <a:srgbClr val="4F81BD"/>
              </a:buClr>
              <a:buSzPct val="76000"/>
              <a:buFont typeface="Wingdings 3" charset="2"/>
              <a:buChar char=""/>
            </a:pPr>
            <a:r>
              <a:rPr lang="en-IE" sz="2000" b="1" spc="-1">
                <a:solidFill>
                  <a:srgbClr val="000000"/>
                </a:solidFill>
                <a:latin typeface="Calibri"/>
                <a:ea typeface="DejaVu Sans"/>
              </a:rPr>
              <a:t>Boosting methods</a:t>
            </a:r>
            <a:r>
              <a:rPr lang="en-IE" sz="2000" spc="-1">
                <a:solidFill>
                  <a:srgbClr val="000000"/>
                </a:solidFill>
                <a:latin typeface="Calibri"/>
                <a:ea typeface="DejaVu Sans"/>
              </a:rPr>
              <a:t>, base estimators are built sequentially and one tries to reduce the bias of the combined estimator. The motivation is to combine several weak models to produce a powerful ensemble.</a:t>
            </a:r>
            <a:endParaRPr lang="en-IE" sz="2000" spc="-1">
              <a:latin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8|0.7|0.5|0.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CBBBED3A0302458FF165002C60BCCC" ma:contentTypeVersion="8" ma:contentTypeDescription="Create a new document." ma:contentTypeScope="" ma:versionID="a62cd7cfd8ae7036ece7caf6ae4312ab">
  <xsd:schema xmlns:xsd="http://www.w3.org/2001/XMLSchema" xmlns:xs="http://www.w3.org/2001/XMLSchema" xmlns:p="http://schemas.microsoft.com/office/2006/metadata/properties" xmlns:ns2="86f2d773-b129-4caf-a4fe-c7695bea7ef5" xmlns:ns3="e05363d4-13d0-4762-b738-6a9c138604a9" targetNamespace="http://schemas.microsoft.com/office/2006/metadata/properties" ma:root="true" ma:fieldsID="438c666ba45f17fb7187c2194d829230" ns2:_="" ns3:_="">
    <xsd:import namespace="86f2d773-b129-4caf-a4fe-c7695bea7ef5"/>
    <xsd:import namespace="e05363d4-13d0-4762-b738-6a9c138604a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f2d773-b129-4caf-a4fe-c7695bea7e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05363d4-13d0-4762-b738-6a9c138604a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D4D971-128E-444A-96A8-18AC636C34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f2d773-b129-4caf-a4fe-c7695bea7ef5"/>
    <ds:schemaRef ds:uri="e05363d4-13d0-4762-b738-6a9c138604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C9BA89-1890-4989-87EB-D09D2F079B6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70A875A-C231-4A75-BB52-9DC81F42C4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80</TotalTime>
  <Words>1376</Words>
  <Application>Microsoft Macintosh PowerPoint</Application>
  <PresentationFormat>Widescreen</PresentationFormat>
  <Paragraphs>334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Wingdings 3</vt:lpstr>
      <vt:lpstr>Office Theme</vt:lpstr>
      <vt:lpstr>Ensemble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Vikas tomer</cp:lastModifiedBy>
  <cp:revision>9</cp:revision>
  <dcterms:created xsi:type="dcterms:W3CDTF">2021-07-27T15:16:16Z</dcterms:created>
  <dcterms:modified xsi:type="dcterms:W3CDTF">2026-04-01T10:05:29Z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0x010100BDCBBBED3A0302458FF165002C60BCCC</vt:lpwstr>
  </property>
</Properties>
</file>