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86" r:id="rId3"/>
    <p:sldId id="287" r:id="rId4"/>
    <p:sldId id="288" r:id="rId5"/>
    <p:sldId id="289" r:id="rId6"/>
    <p:sldId id="556" r:id="rId7"/>
    <p:sldId id="557" r:id="rId8"/>
    <p:sldId id="558" r:id="rId9"/>
    <p:sldId id="559" r:id="rId10"/>
    <p:sldId id="560" r:id="rId11"/>
    <p:sldId id="561" r:id="rId12"/>
    <p:sldId id="562" r:id="rId13"/>
    <p:sldId id="569" r:id="rId14"/>
    <p:sldId id="570" r:id="rId15"/>
    <p:sldId id="573" r:id="rId16"/>
    <p:sldId id="571" r:id="rId17"/>
    <p:sldId id="563" r:id="rId18"/>
    <p:sldId id="564" r:id="rId19"/>
    <p:sldId id="565" r:id="rId20"/>
    <p:sldId id="260" r:id="rId21"/>
    <p:sldId id="572" r:id="rId22"/>
    <p:sldId id="574" r:id="rId23"/>
    <p:sldId id="566" r:id="rId24"/>
    <p:sldId id="262" r:id="rId25"/>
    <p:sldId id="263" r:id="rId26"/>
    <p:sldId id="264" r:id="rId27"/>
    <p:sldId id="265" r:id="rId28"/>
    <p:sldId id="266" r:id="rId29"/>
    <p:sldId id="567" r:id="rId30"/>
    <p:sldId id="568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575" r:id="rId51"/>
    <p:sldId id="257" r:id="rId52"/>
    <p:sldId id="258" r:id="rId53"/>
    <p:sldId id="259" r:id="rId54"/>
    <p:sldId id="576" r:id="rId55"/>
    <p:sldId id="261" r:id="rId56"/>
    <p:sldId id="577" r:id="rId57"/>
    <p:sldId id="578" r:id="rId58"/>
    <p:sldId id="579" r:id="rId59"/>
    <p:sldId id="580" r:id="rId60"/>
    <p:sldId id="581" r:id="rId61"/>
    <p:sldId id="582" r:id="rId62"/>
    <p:sldId id="583" r:id="rId63"/>
    <p:sldId id="585" r:id="rId64"/>
    <p:sldId id="584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94668"/>
  </p:normalViewPr>
  <p:slideViewPr>
    <p:cSldViewPr snapToGrid="0">
      <p:cViewPr varScale="1">
        <p:scale>
          <a:sx n="93" d="100"/>
          <a:sy n="93" d="100"/>
        </p:scale>
        <p:origin x="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BC9F3-0278-D346-AE87-9623D1F59309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528FB-70BE-9840-B808-0C3E413D1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45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8DCEB33-68FC-4550-9885-59B78A57E9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8463" y="693738"/>
            <a:ext cx="6142037" cy="3455987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E13C376-8525-4F4E-B261-0849046E8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0" tIns="45361" rIns="90730" bIns="45361"/>
          <a:lstStyle/>
          <a:p>
            <a:pPr defTabSz="908050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42E3-B5B6-E21C-2013-571890BFD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2DA19-7381-D0F7-BC79-B0614A6AA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6532E-1AD5-722E-95DC-055DD62C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95D8B-E921-DAAC-CC0C-33D1924B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C35E1-65B4-A29A-1830-8AC6BC4E1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8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10523-8B73-3B3E-C252-894CA9CBA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36801-F3D4-622D-AF4F-0543A7765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84E9D-EF05-CC76-1F76-1E05976A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A726A-3A87-84BB-4461-49CCDDEB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09B49-2C2E-073A-711E-33B7C6F4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B5F6-8666-3C8F-95D1-76BF9DE2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34937-3C80-A419-5275-36DC37A23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2A644-A775-88DA-C5AC-C7DFCC90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3881A-D705-5754-FE8F-B92D77871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87AA5-1607-9515-1005-FC5A7F3C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79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1243-497D-3BE0-5A78-3792F254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F3633-1D77-351E-A246-E05B19393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5970F-A873-11C2-3EA1-B896529FA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C2996-0823-9DEB-1A20-2AA061ED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3F5EE-C1C2-FEB5-74EE-1BFA80DA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D5D71-047D-BB58-15E5-F7BB949E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7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FE17-C0FC-57A1-2A48-76C04AAAD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8D59A-3968-55BB-DD91-542B94D09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1FF8B-BFFA-31DE-76E3-1B818D2C1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E3868-6399-1F17-EC5B-1C5430E15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DFD4B4-E424-BDBA-F20C-F7194284C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06ED5-90B6-D07F-8B2B-AA96BFAC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CC90D9-F6F3-DEC4-773B-0121D6D9D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78F4FA-BDC7-057A-5E52-1EC5D2DD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9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F82D8-8A51-B750-2689-EB3D35AC0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280E2-8549-1CAA-8A4D-FE667F43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FB510-D490-5B91-7984-C23A007C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B042F-5F2F-D4C6-0A4E-BA4007BA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4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49E073-E2E8-09AD-94E5-C111D8D44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EB921-3670-A36C-DBF6-FDF8EA96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C5F3A-E574-879D-A596-6E2F58A5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F041-2BD6-D4E5-AAA9-C1F8B68B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F69AA-1D9E-F96B-02E5-DCB000187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225DF-A1B2-7815-C399-08B5F6C55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92D28-3EF0-A03F-70DB-D1ECF0421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6C7CA-463B-53E6-B729-69B742D6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489C6-3F25-03C9-A9AC-7D9B2F8D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9B51-C501-DFA1-4F8C-15732CA18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9DAEA-2477-2B16-976A-FA10A7BE09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F1277-C90A-F77D-73A8-39C36073E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BEEC5-60CC-755B-329A-8002874E2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DBD92-3ED9-7F78-7D4C-7CED3D7B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49681-F804-EA26-8A06-1DF7CFF7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3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58E59-1AB8-5EBB-8F2A-D1B840DE4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43584-1026-F1F0-0733-5BA9B8DB7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D9214-BB51-9117-30C8-070DF1264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CAEF1-D974-BFAF-99E7-F289F7C4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A362D-618A-4DE2-8EA8-CCB5E7A1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2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0BE65-D01F-8542-D926-92E66DD8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36CA6-3451-4CFB-F982-7A804F564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4E9CE-54A5-55B8-D051-3187F0D4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4D832-0AEF-1B48-C50E-380B8122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427DD-95A2-4639-BEA7-CF45D812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2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3AC89-0FE4-F10A-8845-03F2D4DE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0C88E-37B2-DA43-F4A4-DE61099C0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B9570-31F9-7BAB-140E-041DDE81B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C1F7E-34BE-BF40-A809-6FF05BC5CD29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E25C-1ED0-512D-9896-1A223A153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C1C11-B3B8-3C31-B4AC-58BE7F4B9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652C5-67BE-DE40-96CD-32FA8DF4EC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5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790CE-60FD-3E97-1BAA-B976B77412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data mining 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73CB00-2281-B83E-44EE-873ABA8BFA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Week-1</a:t>
            </a:r>
          </a:p>
        </p:txBody>
      </p:sp>
    </p:spTree>
    <p:extLst>
      <p:ext uri="{BB962C8B-B14F-4D97-AF65-F5344CB8AC3E}">
        <p14:creationId xmlns:p14="http://schemas.microsoft.com/office/powerpoint/2010/main" val="55387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8F32-2F5B-780D-8792-564BA0FF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84663-78C5-5278-DD4B-B53B63017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dirty="0"/>
              <a:t>Non-trivial extraction of implicit, previously unknown and potentially useful information from data.</a:t>
            </a:r>
          </a:p>
          <a:p>
            <a:pPr algn="just"/>
            <a:r>
              <a:rPr lang="en-US" altLang="en-US" dirty="0"/>
              <a:t>The efficient discovery of previously unknown, valid, potentially useful, understandable patterns in large datasets</a:t>
            </a:r>
          </a:p>
          <a:p>
            <a:pPr algn="just"/>
            <a:r>
              <a:rPr lang="en-US" altLang="en-US" dirty="0"/>
              <a:t>Exploration &amp; analysis, by automatic or semi-automatic means, of large quantities of data in order to discover meaningful patterns.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28FD87-3FAB-D4BE-454A-7A8906CE1F40}"/>
              </a:ext>
            </a:extLst>
          </p:cNvPr>
          <p:cNvSpPr txBox="1"/>
          <p:nvPr/>
        </p:nvSpPr>
        <p:spPr>
          <a:xfrm>
            <a:off x="1357746" y="5666509"/>
            <a:ext cx="9016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Fayyad, U., </a:t>
            </a:r>
            <a:r>
              <a:rPr lang="en-IN" b="1" dirty="0" err="1"/>
              <a:t>Piatetsky</a:t>
            </a:r>
            <a:r>
              <a:rPr lang="en-IN" b="1" dirty="0"/>
              <a:t>-Shapiro, G., &amp; Smyth, P. (1996)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540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704A-A1E9-E19D-D891-1BF7D277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Mining</a:t>
            </a:r>
            <a:endParaRPr 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AD377C11-2B7F-6936-C553-AEF6DDAEAB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609364"/>
            <a:ext cx="8229600" cy="2507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262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54B7-BD4C-247C-2196-E3458445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FAAB5-506E-CE30-19D9-F586293E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Prediction Methods</a:t>
            </a:r>
          </a:p>
          <a:p>
            <a:pPr lvl="1"/>
            <a:r>
              <a:rPr lang="en-US" altLang="en-US" dirty="0"/>
              <a:t>Use some variables to predict unknown or future values of other variables.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Description Methods</a:t>
            </a:r>
          </a:p>
          <a:p>
            <a:pPr lvl="1"/>
            <a:r>
              <a:rPr lang="en-US" altLang="en-US" dirty="0"/>
              <a:t>Find human-interpretable patterns that describe the data.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BB94DE-CA0F-D72D-95BF-F0A3A3E47044}"/>
              </a:ext>
            </a:extLst>
          </p:cNvPr>
          <p:cNvSpPr txBox="1"/>
          <p:nvPr/>
        </p:nvSpPr>
        <p:spPr>
          <a:xfrm>
            <a:off x="4613564" y="6456218"/>
            <a:ext cx="7661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From [Fayyad, </a:t>
            </a:r>
            <a:r>
              <a:rPr lang="en-US" altLang="en-US" dirty="0" err="1">
                <a:latin typeface="Times New Roman" panose="02020603050405020304" pitchFamily="18" charset="0"/>
              </a:rPr>
              <a:t>et.al</a:t>
            </a:r>
            <a:r>
              <a:rPr lang="en-US" altLang="en-US" dirty="0">
                <a:latin typeface="Times New Roman" panose="02020603050405020304" pitchFamily="18" charset="0"/>
              </a:rPr>
              <a:t>.] Advances in Knowledge Discovery and Data Mining, 1996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34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Process of discovering patterns and knowledge from large datasets</a:t>
            </a:r>
          </a:p>
          <a:p>
            <a:r>
              <a:t>Combines machine learning, statistics, and database systems</a:t>
            </a:r>
          </a:p>
          <a:p>
            <a:r>
              <a:t>Predictive: forecasting outcomes</a:t>
            </a:r>
          </a:p>
          <a:p>
            <a:r>
              <a:t>Descriptive: discovering structure and relationships</a:t>
            </a:r>
          </a:p>
          <a:p>
            <a:r>
              <a:t>Applications: fraud detection, marketing, healthcare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3C67B48B-BDE0-493A-9234-2234400D78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1066801"/>
          <a:ext cx="3227388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939284" imgH="2802636" progId="Visio.Drawing.6">
                  <p:embed/>
                </p:oleObj>
              </mc:Choice>
              <mc:Fallback>
                <p:oleObj name="VISIO" r:id="rId3" imgW="4939284" imgH="2802636" progId="Visio.Drawing.6">
                  <p:embed/>
                  <p:pic>
                    <p:nvPicPr>
                      <p:cNvPr id="20482" name="Object 2">
                        <a:extLst>
                          <a:ext uri="{FF2B5EF4-FFF2-40B4-BE49-F238E27FC236}">
                            <a16:creationId xmlns:a16="http://schemas.microsoft.com/office/drawing/2014/main" id="{3C67B48B-BDE0-493A-9234-2234400D78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066801"/>
                        <a:ext cx="3227388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4">
            <a:extLst>
              <a:ext uri="{FF2B5EF4-FFF2-40B4-BE49-F238E27FC236}">
                <a16:creationId xmlns:a16="http://schemas.microsoft.com/office/drawing/2014/main" id="{73B33E09-2F7D-45C8-8A14-CED37B24F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4225" y="2667000"/>
          <a:ext cx="14732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5207508" imgH="8185404" progId="Word.Document.8">
                  <p:embed/>
                </p:oleObj>
              </mc:Choice>
              <mc:Fallback>
                <p:oleObj name="Document" r:id="rId5" imgW="5207508" imgH="8185404" progId="Word.Document.8">
                  <p:embed/>
                  <p:pic>
                    <p:nvPicPr>
                      <p:cNvPr id="20483" name="Object 4">
                        <a:extLst>
                          <a:ext uri="{FF2B5EF4-FFF2-40B4-BE49-F238E27FC236}">
                            <a16:creationId xmlns:a16="http://schemas.microsoft.com/office/drawing/2014/main" id="{73B33E09-2F7D-45C8-8A14-CED37B24F2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2667000"/>
                        <a:ext cx="14732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4" name="Group 5">
            <a:extLst>
              <a:ext uri="{FF2B5EF4-FFF2-40B4-BE49-F238E27FC236}">
                <a16:creationId xmlns:a16="http://schemas.microsoft.com/office/drawing/2014/main" id="{B45C1A8B-0D6F-4F83-AE64-6AC1607D9D3C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143000"/>
            <a:ext cx="1600200" cy="1295400"/>
            <a:chOff x="2160" y="2544"/>
            <a:chExt cx="1920" cy="1687"/>
          </a:xfrm>
        </p:grpSpPr>
        <p:sp>
          <p:nvSpPr>
            <p:cNvPr id="20511" name="Line 6">
              <a:extLst>
                <a:ext uri="{FF2B5EF4-FFF2-40B4-BE49-F238E27FC236}">
                  <a16:creationId xmlns:a16="http://schemas.microsoft.com/office/drawing/2014/main" id="{95E82E67-86BF-4192-98F8-B61CEAB0C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2" name="Line 7">
              <a:extLst>
                <a:ext uri="{FF2B5EF4-FFF2-40B4-BE49-F238E27FC236}">
                  <a16:creationId xmlns:a16="http://schemas.microsoft.com/office/drawing/2014/main" id="{42E0EEE8-C704-4F90-997A-3474241F5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3" name="Freeform 8">
              <a:extLst>
                <a:ext uri="{FF2B5EF4-FFF2-40B4-BE49-F238E27FC236}">
                  <a16:creationId xmlns:a16="http://schemas.microsoft.com/office/drawing/2014/main" id="{7C25A6A8-D163-4F4E-9A2A-F4D62D6FD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4" name="AutoShape 9">
              <a:extLst>
                <a:ext uri="{FF2B5EF4-FFF2-40B4-BE49-F238E27FC236}">
                  <a16:creationId xmlns:a16="http://schemas.microsoft.com/office/drawing/2014/main" id="{2D8E6BD0-BF7F-4A3B-A2E6-9B65C73F5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5" name="AutoShape 10">
              <a:extLst>
                <a:ext uri="{FF2B5EF4-FFF2-40B4-BE49-F238E27FC236}">
                  <a16:creationId xmlns:a16="http://schemas.microsoft.com/office/drawing/2014/main" id="{CAD82A16-4731-4437-8E0D-DF3707AFF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6" name="AutoShape 11">
              <a:extLst>
                <a:ext uri="{FF2B5EF4-FFF2-40B4-BE49-F238E27FC236}">
                  <a16:creationId xmlns:a16="http://schemas.microsoft.com/office/drawing/2014/main" id="{4460BDA1-10A4-4A33-AB51-29258158C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7" name="AutoShape 12">
              <a:extLst>
                <a:ext uri="{FF2B5EF4-FFF2-40B4-BE49-F238E27FC236}">
                  <a16:creationId xmlns:a16="http://schemas.microsoft.com/office/drawing/2014/main" id="{7B47AA91-531D-4DD5-AEE3-10BBA69DE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8" name="AutoShape 13">
              <a:extLst>
                <a:ext uri="{FF2B5EF4-FFF2-40B4-BE49-F238E27FC236}">
                  <a16:creationId xmlns:a16="http://schemas.microsoft.com/office/drawing/2014/main" id="{FD8A0D6F-0D64-4904-A38A-763150DB8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9" name="AutoShape 14">
              <a:extLst>
                <a:ext uri="{FF2B5EF4-FFF2-40B4-BE49-F238E27FC236}">
                  <a16:creationId xmlns:a16="http://schemas.microsoft.com/office/drawing/2014/main" id="{8E34DDD0-C945-457D-8D6E-87697EE04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0" name="AutoShape 15">
              <a:extLst>
                <a:ext uri="{FF2B5EF4-FFF2-40B4-BE49-F238E27FC236}">
                  <a16:creationId xmlns:a16="http://schemas.microsoft.com/office/drawing/2014/main" id="{A36E90E0-9CF9-4B03-A31B-91597D63C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1" name="AutoShape 16">
              <a:extLst>
                <a:ext uri="{FF2B5EF4-FFF2-40B4-BE49-F238E27FC236}">
                  <a16:creationId xmlns:a16="http://schemas.microsoft.com/office/drawing/2014/main" id="{766117DC-C801-482A-B24C-219D94DE1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2" name="AutoShape 17">
              <a:extLst>
                <a:ext uri="{FF2B5EF4-FFF2-40B4-BE49-F238E27FC236}">
                  <a16:creationId xmlns:a16="http://schemas.microsoft.com/office/drawing/2014/main" id="{5448ACC0-DA1B-4D80-8DA5-10A1703B0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3" name="AutoShape 18">
              <a:extLst>
                <a:ext uri="{FF2B5EF4-FFF2-40B4-BE49-F238E27FC236}">
                  <a16:creationId xmlns:a16="http://schemas.microsoft.com/office/drawing/2014/main" id="{631081F8-B781-44CE-A959-63A9F3BA6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4" name="AutoShape 19">
              <a:extLst>
                <a:ext uri="{FF2B5EF4-FFF2-40B4-BE49-F238E27FC236}">
                  <a16:creationId xmlns:a16="http://schemas.microsoft.com/office/drawing/2014/main" id="{8F8E8653-26BB-4B7F-82EE-DC83C638A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5" name="AutoShape 20">
              <a:extLst>
                <a:ext uri="{FF2B5EF4-FFF2-40B4-BE49-F238E27FC236}">
                  <a16:creationId xmlns:a16="http://schemas.microsoft.com/office/drawing/2014/main" id="{F9474974-DABF-49F7-AD21-C71FAC8F1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6" name="AutoShape 21">
              <a:extLst>
                <a:ext uri="{FF2B5EF4-FFF2-40B4-BE49-F238E27FC236}">
                  <a16:creationId xmlns:a16="http://schemas.microsoft.com/office/drawing/2014/main" id="{2EF0438F-54D7-431E-9D71-D34F70188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7" name="AutoShape 22">
              <a:extLst>
                <a:ext uri="{FF2B5EF4-FFF2-40B4-BE49-F238E27FC236}">
                  <a16:creationId xmlns:a16="http://schemas.microsoft.com/office/drawing/2014/main" id="{2CEB2C21-A5ED-4D58-9D29-69E8F147F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8" name="AutoShape 23">
              <a:extLst>
                <a:ext uri="{FF2B5EF4-FFF2-40B4-BE49-F238E27FC236}">
                  <a16:creationId xmlns:a16="http://schemas.microsoft.com/office/drawing/2014/main" id="{4F48C2B4-CDA8-45C2-A901-193FB36D1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9" name="AutoShape 24">
              <a:extLst>
                <a:ext uri="{FF2B5EF4-FFF2-40B4-BE49-F238E27FC236}">
                  <a16:creationId xmlns:a16="http://schemas.microsoft.com/office/drawing/2014/main" id="{927AD4DE-FD1A-45B6-9FD2-CA2291FC0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0" name="AutoShape 25">
              <a:extLst>
                <a:ext uri="{FF2B5EF4-FFF2-40B4-BE49-F238E27FC236}">
                  <a16:creationId xmlns:a16="http://schemas.microsoft.com/office/drawing/2014/main" id="{C7C0397A-7560-420C-811B-6BAF49777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1" name="AutoShape 26">
              <a:extLst>
                <a:ext uri="{FF2B5EF4-FFF2-40B4-BE49-F238E27FC236}">
                  <a16:creationId xmlns:a16="http://schemas.microsoft.com/office/drawing/2014/main" id="{C9F54086-B813-435C-BF90-B4A473A9A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2" name="AutoShape 27">
              <a:extLst>
                <a:ext uri="{FF2B5EF4-FFF2-40B4-BE49-F238E27FC236}">
                  <a16:creationId xmlns:a16="http://schemas.microsoft.com/office/drawing/2014/main" id="{3B95143E-DFB9-4105-9DE6-E65F07313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3" name="AutoShape 28">
              <a:extLst>
                <a:ext uri="{FF2B5EF4-FFF2-40B4-BE49-F238E27FC236}">
                  <a16:creationId xmlns:a16="http://schemas.microsoft.com/office/drawing/2014/main" id="{0252B2D8-3ADF-444E-A041-CBC2C7F2D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4" name="AutoShape 29">
              <a:extLst>
                <a:ext uri="{FF2B5EF4-FFF2-40B4-BE49-F238E27FC236}">
                  <a16:creationId xmlns:a16="http://schemas.microsoft.com/office/drawing/2014/main" id="{8D91F722-4E1B-4FA7-8284-2AC4A0613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5" name="AutoShape 30">
              <a:extLst>
                <a:ext uri="{FF2B5EF4-FFF2-40B4-BE49-F238E27FC236}">
                  <a16:creationId xmlns:a16="http://schemas.microsoft.com/office/drawing/2014/main" id="{2F24C198-20AE-474E-A8B9-2DA0E19FD81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6" name="AutoShape 31">
              <a:extLst>
                <a:ext uri="{FF2B5EF4-FFF2-40B4-BE49-F238E27FC236}">
                  <a16:creationId xmlns:a16="http://schemas.microsoft.com/office/drawing/2014/main" id="{BBD9B828-B0C4-4A91-8729-DF0676EE1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20485" name="Line 32">
            <a:extLst>
              <a:ext uri="{FF2B5EF4-FFF2-40B4-BE49-F238E27FC236}">
                <a16:creationId xmlns:a16="http://schemas.microsoft.com/office/drawing/2014/main" id="{BFB5708F-04A7-4BD6-A1CF-CDC3733E1B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2362200"/>
            <a:ext cx="18288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Line 33">
            <a:extLst>
              <a:ext uri="{FF2B5EF4-FFF2-40B4-BE49-F238E27FC236}">
                <a16:creationId xmlns:a16="http://schemas.microsoft.com/office/drawing/2014/main" id="{A604F2E2-400C-41E4-97D7-3D2AAB89F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209800"/>
            <a:ext cx="21336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34">
            <a:extLst>
              <a:ext uri="{FF2B5EF4-FFF2-40B4-BE49-F238E27FC236}">
                <a16:creationId xmlns:a16="http://schemas.microsoft.com/office/drawing/2014/main" id="{A10B6492-BD0C-45A5-B18C-586C09489C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4343400"/>
            <a:ext cx="1524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35">
            <a:extLst>
              <a:ext uri="{FF2B5EF4-FFF2-40B4-BE49-F238E27FC236}">
                <a16:creationId xmlns:a16="http://schemas.microsoft.com/office/drawing/2014/main" id="{9326BF50-E492-47BE-9EE1-0E6FC1635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4191000"/>
            <a:ext cx="16002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Text Box 36">
            <a:extLst>
              <a:ext uri="{FF2B5EF4-FFF2-40B4-BE49-F238E27FC236}">
                <a16:creationId xmlns:a16="http://schemas.microsoft.com/office/drawing/2014/main" id="{C09D064E-F893-416A-9E37-A9915F93F6C9}"/>
              </a:ext>
            </a:extLst>
          </p:cNvPr>
          <p:cNvSpPr txBox="1">
            <a:spLocks noChangeArrowheads="1"/>
          </p:cNvSpPr>
          <p:nvPr/>
        </p:nvSpPr>
        <p:spPr bwMode="auto">
          <a:xfrm rot="19440000">
            <a:off x="5943430" y="3012073"/>
            <a:ext cx="19720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Predictive Modeling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0" name="Text Box 37">
            <a:extLst>
              <a:ext uri="{FF2B5EF4-FFF2-40B4-BE49-F238E27FC236}">
                <a16:creationId xmlns:a16="http://schemas.microsoft.com/office/drawing/2014/main" id="{7D263E8E-2F4F-4CEB-B5E6-509C4A3097AA}"/>
              </a:ext>
            </a:extLst>
          </p:cNvPr>
          <p:cNvSpPr txBox="1">
            <a:spLocks noChangeArrowheads="1"/>
          </p:cNvSpPr>
          <p:nvPr/>
        </p:nvSpPr>
        <p:spPr bwMode="auto">
          <a:xfrm rot="1500000">
            <a:off x="3195685" y="2513598"/>
            <a:ext cx="110639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Clustering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1" name="Text Box 38">
            <a:extLst>
              <a:ext uri="{FF2B5EF4-FFF2-40B4-BE49-F238E27FC236}">
                <a16:creationId xmlns:a16="http://schemas.microsoft.com/office/drawing/2014/main" id="{ED282310-E1DA-445C-8A05-F97CF1D27E6B}"/>
              </a:ext>
            </a:extLst>
          </p:cNvPr>
          <p:cNvSpPr txBox="1">
            <a:spLocks noChangeArrowheads="1"/>
          </p:cNvSpPr>
          <p:nvPr/>
        </p:nvSpPr>
        <p:spPr bwMode="auto">
          <a:xfrm rot="20040000">
            <a:off x="3132138" y="4349750"/>
            <a:ext cx="1363662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Association </a:t>
            </a:r>
            <a:br>
              <a:rPr lang="en-US" altLang="en-US" sz="1600">
                <a:solidFill>
                  <a:srgbClr val="006600"/>
                </a:solidFill>
              </a:rPr>
            </a:br>
            <a:r>
              <a:rPr lang="en-US" altLang="en-US" sz="1600">
                <a:solidFill>
                  <a:srgbClr val="006600"/>
                </a:solidFill>
              </a:rPr>
              <a:t>Rules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2" name="Text Box 39">
            <a:extLst>
              <a:ext uri="{FF2B5EF4-FFF2-40B4-BE49-F238E27FC236}">
                <a16:creationId xmlns:a16="http://schemas.microsoft.com/office/drawing/2014/main" id="{12DA890C-2C0D-4FF6-BB16-1C362A5394B0}"/>
              </a:ext>
            </a:extLst>
          </p:cNvPr>
          <p:cNvSpPr txBox="1">
            <a:spLocks noChangeArrowheads="1"/>
          </p:cNvSpPr>
          <p:nvPr/>
        </p:nvSpPr>
        <p:spPr bwMode="auto">
          <a:xfrm rot="1920000">
            <a:off x="6195537" y="4265326"/>
            <a:ext cx="10502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Anomaly </a:t>
            </a:r>
            <a:br>
              <a:rPr lang="en-US" altLang="en-US" sz="1600">
                <a:solidFill>
                  <a:srgbClr val="006600"/>
                </a:solidFill>
              </a:rPr>
            </a:br>
            <a:r>
              <a:rPr lang="en-US" altLang="en-US" sz="1600">
                <a:solidFill>
                  <a:srgbClr val="006600"/>
                </a:solidFill>
              </a:rPr>
              <a:t>Detection</a:t>
            </a:r>
            <a:endParaRPr lang="en-US" altLang="en-US" sz="1600">
              <a:solidFill>
                <a:schemeClr val="bg2"/>
              </a:solidFill>
            </a:endParaRPr>
          </a:p>
        </p:txBody>
      </p:sp>
      <p:pic>
        <p:nvPicPr>
          <p:cNvPr id="20493" name="Picture 40" descr="fd01226_">
            <a:extLst>
              <a:ext uri="{FF2B5EF4-FFF2-40B4-BE49-F238E27FC236}">
                <a16:creationId xmlns:a16="http://schemas.microsoft.com/office/drawing/2014/main" id="{66983D32-387B-43B1-A1DC-0B3DBD402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5438776"/>
            <a:ext cx="5699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4" name="Rectangle 41">
            <a:extLst>
              <a:ext uri="{FF2B5EF4-FFF2-40B4-BE49-F238E27FC236}">
                <a16:creationId xmlns:a16="http://schemas.microsoft.com/office/drawing/2014/main" id="{AA0A6528-A8F4-438D-B84E-57F9E2CBB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5667375"/>
            <a:ext cx="3994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Milk</a:t>
            </a:r>
          </a:p>
        </p:txBody>
      </p:sp>
      <p:sp>
        <p:nvSpPr>
          <p:cNvPr id="20495" name="Text Box 42">
            <a:extLst>
              <a:ext uri="{FF2B5EF4-FFF2-40B4-BE49-F238E27FC236}">
                <a16:creationId xmlns:a16="http://schemas.microsoft.com/office/drawing/2014/main" id="{7E824631-BC2E-480C-AA48-6F05217B5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286000"/>
            <a:ext cx="1143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0496" name="Text Box 43">
            <a:extLst>
              <a:ext uri="{FF2B5EF4-FFF2-40B4-BE49-F238E27FC236}">
                <a16:creationId xmlns:a16="http://schemas.microsoft.com/office/drawing/2014/main" id="{27B24A8B-903B-4A92-9AA2-2C83481C9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2098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/>
              <a:t>Data</a:t>
            </a:r>
          </a:p>
        </p:txBody>
      </p:sp>
      <p:pic>
        <p:nvPicPr>
          <p:cNvPr id="20497" name="Picture 44">
            <a:extLst>
              <a:ext uri="{FF2B5EF4-FFF2-40B4-BE49-F238E27FC236}">
                <a16:creationId xmlns:a16="http://schemas.microsoft.com/office/drawing/2014/main" id="{07938310-0907-4701-8152-ACAB24967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1" r="63640" b="34026"/>
          <a:stretch>
            <a:fillRect/>
          </a:stretch>
        </p:blipFill>
        <p:spPr bwMode="auto">
          <a:xfrm>
            <a:off x="3048001" y="5257801"/>
            <a:ext cx="1362075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8" name="Line 45">
            <a:extLst>
              <a:ext uri="{FF2B5EF4-FFF2-40B4-BE49-F238E27FC236}">
                <a16:creationId xmlns:a16="http://schemas.microsoft.com/office/drawing/2014/main" id="{F9A7F677-F637-463B-A831-99D2F6DEB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58959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499" name="Group 46">
            <a:extLst>
              <a:ext uri="{FF2B5EF4-FFF2-40B4-BE49-F238E27FC236}">
                <a16:creationId xmlns:a16="http://schemas.microsoft.com/office/drawing/2014/main" id="{75C674CB-7F41-4664-9B48-C6C101AD9762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3429000"/>
            <a:ext cx="3352800" cy="2971800"/>
            <a:chOff x="3648" y="2448"/>
            <a:chExt cx="2112" cy="1872"/>
          </a:xfrm>
        </p:grpSpPr>
        <p:pic>
          <p:nvPicPr>
            <p:cNvPr id="20504" name="Picture 47">
              <a:extLst>
                <a:ext uri="{FF2B5EF4-FFF2-40B4-BE49-F238E27FC236}">
                  <a16:creationId xmlns:a16="http://schemas.microsoft.com/office/drawing/2014/main" id="{B5AB8B92-31DE-4928-BB2C-18FF7CC63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5" name="Oval 48">
              <a:extLst>
                <a:ext uri="{FF2B5EF4-FFF2-40B4-BE49-F238E27FC236}">
                  <a16:creationId xmlns:a16="http://schemas.microsoft.com/office/drawing/2014/main" id="{2DD64B72-B210-44CD-A51A-C820A151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6" name="Oval 49">
              <a:extLst>
                <a:ext uri="{FF2B5EF4-FFF2-40B4-BE49-F238E27FC236}">
                  <a16:creationId xmlns:a16="http://schemas.microsoft.com/office/drawing/2014/main" id="{EFA232D5-F6F7-4891-84B5-DA8B29F25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7" name="Oval 50">
              <a:extLst>
                <a:ext uri="{FF2B5EF4-FFF2-40B4-BE49-F238E27FC236}">
                  <a16:creationId xmlns:a16="http://schemas.microsoft.com/office/drawing/2014/main" id="{7A7EAEA8-BC5E-47A9-AA18-1B92935A9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8" name="Oval 51">
              <a:extLst>
                <a:ext uri="{FF2B5EF4-FFF2-40B4-BE49-F238E27FC236}">
                  <a16:creationId xmlns:a16="http://schemas.microsoft.com/office/drawing/2014/main" id="{58C0E524-3B22-4439-BBC5-5EDCA4FBF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9" name="Rectangle 52">
              <a:extLst>
                <a:ext uri="{FF2B5EF4-FFF2-40B4-BE49-F238E27FC236}">
                  <a16:creationId xmlns:a16="http://schemas.microsoft.com/office/drawing/2014/main" id="{B04238A5-5267-4767-9020-D7CF9F207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0" name="Rectangle 53">
              <a:extLst>
                <a:ext uri="{FF2B5EF4-FFF2-40B4-BE49-F238E27FC236}">
                  <a16:creationId xmlns:a16="http://schemas.microsoft.com/office/drawing/2014/main" id="{357228D4-0225-48F1-8152-F9D7A48B6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20500" name="Rectangle 54">
            <a:extLst>
              <a:ext uri="{FF2B5EF4-FFF2-40B4-BE49-F238E27FC236}">
                <a16:creationId xmlns:a16="http://schemas.microsoft.com/office/drawing/2014/main" id="{26DB9D79-6041-4525-9864-4FC3F6456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200">
                <a:latin typeface="Tahoma" panose="020B0604030504040204" pitchFamily="34" charset="0"/>
              </a:rPr>
              <a:t>Data Mining Tasks …</a:t>
            </a:r>
          </a:p>
        </p:txBody>
      </p:sp>
      <p:sp>
        <p:nvSpPr>
          <p:cNvPr id="58" name="Footer Placeholder 57">
            <a:extLst>
              <a:ext uri="{FF2B5EF4-FFF2-40B4-BE49-F238E27FC236}">
                <a16:creationId xmlns:a16="http://schemas.microsoft.com/office/drawing/2014/main" id="{079A77D9-8D16-4F71-9B54-9FBC6B65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7128164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Introduction to Data Mining, 2nd Edition   Tan, Steinbach, </a:t>
            </a:r>
            <a:r>
              <a:rPr lang="en-US" b="1" dirty="0" err="1">
                <a:solidFill>
                  <a:schemeClr val="tx1"/>
                </a:solidFill>
              </a:rPr>
              <a:t>Karpatne</a:t>
            </a:r>
            <a:r>
              <a:rPr lang="en-US" b="1" dirty="0">
                <a:solidFill>
                  <a:schemeClr val="tx1"/>
                </a:solidFill>
              </a:rPr>
              <a:t>, Kumar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77F8-B35B-6F58-29C1-6EFAEEA9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716C4-6941-B607-2AD1-067895A7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Collection of </a:t>
            </a:r>
            <a:r>
              <a:rPr lang="en-US" sz="2400" b="1" i="1" dirty="0">
                <a:solidFill>
                  <a:srgbClr val="CC6600"/>
                </a:solidFill>
              </a:rPr>
              <a:t>data objects </a:t>
            </a:r>
            <a:r>
              <a:rPr lang="en-US" sz="2400" dirty="0"/>
              <a:t>and their </a:t>
            </a:r>
            <a:r>
              <a:rPr lang="en-US" sz="2400" b="1" i="1" dirty="0">
                <a:solidFill>
                  <a:srgbClr val="CC6600"/>
                </a:solidFill>
              </a:rPr>
              <a:t>attributes</a:t>
            </a:r>
          </a:p>
          <a:p>
            <a:pPr lvl="4"/>
            <a:endParaRPr lang="en-US" sz="600" dirty="0"/>
          </a:p>
          <a:p>
            <a:r>
              <a:rPr lang="en-US" sz="2400" dirty="0"/>
              <a:t>An </a:t>
            </a:r>
            <a:r>
              <a:rPr lang="en-US" sz="2400" b="1" i="1" dirty="0">
                <a:solidFill>
                  <a:srgbClr val="CC6600"/>
                </a:solidFill>
              </a:rPr>
              <a:t>attribute</a:t>
            </a:r>
            <a:r>
              <a:rPr lang="en-US" sz="2400" dirty="0"/>
              <a:t> is a property or characteristic of an object</a:t>
            </a:r>
          </a:p>
          <a:p>
            <a:pPr lvl="1"/>
            <a:r>
              <a:rPr lang="en-US" sz="2000" dirty="0"/>
              <a:t>Examples: eye color of a person, temperature, etc.</a:t>
            </a:r>
          </a:p>
          <a:p>
            <a:pPr lvl="1"/>
            <a:r>
              <a:rPr lang="en-US" sz="2000" dirty="0"/>
              <a:t>Attribute is also known as variable, field, characteristic, dimension, or feature</a:t>
            </a:r>
          </a:p>
          <a:p>
            <a:r>
              <a:rPr lang="en-US" sz="2400" dirty="0"/>
              <a:t>A collection of attributes describe an </a:t>
            </a:r>
            <a:r>
              <a:rPr lang="en-US" sz="2400" b="1" i="1" dirty="0">
                <a:solidFill>
                  <a:srgbClr val="CC6600"/>
                </a:solidFill>
              </a:rPr>
              <a:t>object</a:t>
            </a:r>
          </a:p>
          <a:p>
            <a:pPr lvl="1"/>
            <a:r>
              <a:rPr lang="en-US" sz="2000" dirty="0"/>
              <a:t>Object is also known as record, point, case, sample, entity, or instance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701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7424-10FE-C20E-F9DA-18682FCA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Attributes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D022C-15D2-C93C-B37C-865628BE0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different types of attributes</a:t>
            </a:r>
          </a:p>
          <a:p>
            <a:pPr marL="749300" lvl="1">
              <a:spcBef>
                <a:spcPts val="300"/>
              </a:spcBef>
            </a:pPr>
            <a:r>
              <a:rPr lang="en-US" dirty="0">
                <a:solidFill>
                  <a:srgbClr val="FF0000"/>
                </a:solidFill>
              </a:rPr>
              <a:t>Nominal</a:t>
            </a:r>
            <a:endParaRPr lang="en-US" dirty="0"/>
          </a:p>
          <a:p>
            <a:pPr marL="1257300" lvl="2" indent="-393700">
              <a:spcBef>
                <a:spcPts val="300"/>
              </a:spcBef>
            </a:pPr>
            <a:r>
              <a:rPr lang="en-US" dirty="0"/>
              <a:t>Examples: ID numbers, eye color, zip codes</a:t>
            </a:r>
          </a:p>
          <a:p>
            <a:pPr marL="749300" lvl="1">
              <a:spcBef>
                <a:spcPts val="300"/>
              </a:spcBef>
            </a:pPr>
            <a:r>
              <a:rPr lang="en-US" dirty="0">
                <a:solidFill>
                  <a:srgbClr val="FF0000"/>
                </a:solidFill>
              </a:rPr>
              <a:t>Ordinal</a:t>
            </a:r>
            <a:endParaRPr lang="en-US" dirty="0"/>
          </a:p>
          <a:p>
            <a:pPr marL="1257300" lvl="2" indent="-393700">
              <a:spcBef>
                <a:spcPts val="300"/>
              </a:spcBef>
            </a:pPr>
            <a:r>
              <a:rPr lang="en-US" dirty="0"/>
              <a:t>Examples: rankings (e.g., taste of potato chips on a scale from 1-10), grades, height {tall, medium, short}</a:t>
            </a:r>
          </a:p>
          <a:p>
            <a:pPr marL="749300" lvl="1">
              <a:spcBef>
                <a:spcPts val="300"/>
              </a:spcBef>
            </a:pPr>
            <a:r>
              <a:rPr lang="en-US" dirty="0">
                <a:solidFill>
                  <a:srgbClr val="FF0000"/>
                </a:solidFill>
              </a:rPr>
              <a:t>Interval</a:t>
            </a:r>
            <a:endParaRPr lang="en-US" dirty="0"/>
          </a:p>
          <a:p>
            <a:pPr marL="1257300" lvl="2" indent="-393700">
              <a:spcBef>
                <a:spcPts val="300"/>
              </a:spcBef>
            </a:pPr>
            <a:r>
              <a:rPr lang="en-US" dirty="0"/>
              <a:t>Examples: calendar dates, temperatures in Celsius or Fahrenheit.</a:t>
            </a:r>
          </a:p>
          <a:p>
            <a:pPr marL="749300" lvl="1">
              <a:spcBef>
                <a:spcPts val="300"/>
              </a:spcBef>
            </a:pPr>
            <a:r>
              <a:rPr lang="en-US" dirty="0">
                <a:solidFill>
                  <a:srgbClr val="FF0000"/>
                </a:solidFill>
              </a:rPr>
              <a:t>Ratio</a:t>
            </a:r>
            <a:endParaRPr lang="en-US" dirty="0"/>
          </a:p>
          <a:p>
            <a:pPr marL="1257300" lvl="2" indent="-393700">
              <a:spcBef>
                <a:spcPts val="300"/>
              </a:spcBef>
            </a:pPr>
            <a:r>
              <a:rPr lang="en-US" dirty="0"/>
              <a:t>Examples: temperature in Kelvin, length, counts, elapsed time (e.g., time to run a race)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8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6BE4-C6E4-4A17-FDE2-0775018F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BDD54-3A58-7D72-6D19-A5E0C54DC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of data quality problems: </a:t>
            </a:r>
          </a:p>
          <a:p>
            <a:pPr lvl="1"/>
            <a:r>
              <a:rPr lang="en-US" dirty="0"/>
              <a:t>Noise and outliers </a:t>
            </a:r>
          </a:p>
          <a:p>
            <a:pPr lvl="1"/>
            <a:r>
              <a:rPr lang="en-US" dirty="0"/>
              <a:t>Wrong data </a:t>
            </a:r>
          </a:p>
          <a:p>
            <a:pPr lvl="1"/>
            <a:r>
              <a:rPr lang="en-US" dirty="0"/>
              <a:t>Fake data </a:t>
            </a:r>
          </a:p>
          <a:p>
            <a:pPr lvl="1"/>
            <a:r>
              <a:rPr lang="en-US" dirty="0"/>
              <a:t>Missing values </a:t>
            </a:r>
          </a:p>
          <a:p>
            <a:pPr lvl="1"/>
            <a:r>
              <a:rPr lang="en-US" dirty="0"/>
              <a:t>Duplicate data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818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78FD-4277-F963-F51B-14156279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AC8F-7AAD-B973-114F-B75AE6F97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727"/>
            <a:ext cx="10515600" cy="4722236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Noise refers to modification of original values</a:t>
            </a:r>
          </a:p>
          <a:p>
            <a:pPr lvl="1"/>
            <a:r>
              <a:rPr lang="en-US" sz="2100" dirty="0"/>
              <a:t>Examples: distortion of a person’s voice when talking on a poor phone and “snow” on television screen</a:t>
            </a:r>
          </a:p>
          <a:p>
            <a:r>
              <a:rPr lang="en-US" sz="2600" dirty="0"/>
              <a:t>Outliers are data objects with characteristics that are considerably different than most of the other data objects in the data set</a:t>
            </a:r>
          </a:p>
          <a:p>
            <a:r>
              <a:rPr lang="en-US" sz="2600" dirty="0"/>
              <a:t>Reasons for missing values</a:t>
            </a:r>
          </a:p>
          <a:p>
            <a:pPr lvl="1"/>
            <a:r>
              <a:rPr lang="en-US" sz="2600" dirty="0"/>
              <a:t>Information is not collected </a:t>
            </a:r>
            <a:br>
              <a:rPr lang="en-US" sz="2600" dirty="0"/>
            </a:br>
            <a:r>
              <a:rPr lang="en-US" sz="2600" dirty="0"/>
              <a:t>(e.g., people decline to give their age and weight)</a:t>
            </a:r>
          </a:p>
          <a:p>
            <a:pPr lvl="1"/>
            <a:r>
              <a:rPr lang="en-US" sz="2600" dirty="0"/>
              <a:t>Attributes may not be applicable to all cases </a:t>
            </a:r>
            <a:br>
              <a:rPr lang="en-US" sz="2600" dirty="0"/>
            </a:br>
            <a:r>
              <a:rPr lang="en-US" sz="2600" dirty="0"/>
              <a:t>(e.g., annual income is not applicable to children)</a:t>
            </a:r>
          </a:p>
          <a:p>
            <a:r>
              <a:rPr lang="en-US" sz="2600" dirty="0"/>
              <a:t>Data set may include data objects that are duplicates, or almost duplicates of one another</a:t>
            </a:r>
          </a:p>
          <a:p>
            <a:pPr lvl="1"/>
            <a:r>
              <a:rPr lang="en-US" sz="2600" dirty="0"/>
              <a:t>Major issue when merging data from heterogeneous 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76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A13BD-35F5-4F72-37BB-25AAA3B7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Classification Tasks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1CE58-7FE9-CE7B-50BB-B57A6C520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en-US" sz="2400" dirty="0"/>
              <a:t>Classifying credit card transactions as legitimate or fraudulent</a:t>
            </a:r>
          </a:p>
          <a:p>
            <a:pPr lvl="4"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400" dirty="0"/>
              <a:t>Classifying land covers (water bodies, urban areas, forests, etc.) using satellite data</a:t>
            </a:r>
          </a:p>
          <a:p>
            <a:pPr lvl="4"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400" dirty="0"/>
              <a:t>Categorizing news stories as finance, weather, entertainment, sports, </a:t>
            </a:r>
            <a:r>
              <a:rPr lang="en-US" altLang="en-US" sz="2400" dirty="0" err="1"/>
              <a:t>etc</a:t>
            </a: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400" dirty="0"/>
              <a:t>Identifying intruders in the cyberspace</a:t>
            </a:r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400" dirty="0"/>
              <a:t>Predicting tumor cells as benign or malignant</a:t>
            </a:r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400" dirty="0"/>
              <a:t>Classifying secondary structures of protein as alpha-helix, beta-sheet, or random  coil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299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D9B32-A382-4564-9DE5-A66EF6C1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Classification: Application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2B31C-574B-12E4-B42D-97A44E40B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28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Fraud Detection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Goal:</a:t>
            </a:r>
            <a:r>
              <a:rPr lang="en-US" altLang="en-US" dirty="0"/>
              <a:t> Predict fraudulent cases in credit card transactions.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Approach:</a:t>
            </a:r>
          </a:p>
          <a:p>
            <a:pPr marL="1206500" lvl="2" indent="-292100"/>
            <a:r>
              <a:rPr lang="en-US" altLang="en-US" sz="2400" dirty="0"/>
              <a:t>Use credit card transactions and the information on its account-holder as attributes.</a:t>
            </a:r>
          </a:p>
          <a:p>
            <a:pPr marL="1206500" lvl="2" indent="-292100"/>
            <a:r>
              <a:rPr lang="en-US" altLang="en-US" sz="2400" dirty="0"/>
              <a:t>Label past transactions as fraud or fair transactions. This forms the class attribute.</a:t>
            </a:r>
          </a:p>
          <a:p>
            <a:pPr marL="1206500" lvl="2" indent="-292100"/>
            <a:r>
              <a:rPr lang="en-US" altLang="en-US" sz="2400" dirty="0"/>
              <a:t>Learn a model for the class of the transactions.</a:t>
            </a:r>
          </a:p>
          <a:p>
            <a:pPr marL="1206500" lvl="2" indent="-292100"/>
            <a:r>
              <a:rPr lang="en-US" altLang="en-US" sz="2400" dirty="0"/>
              <a:t>Use this model to detect fraud by observing credit card transactions on an account.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51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14027-542C-1756-61CB-5B3536141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0255-87AF-A2EC-69C4-F2747928F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Decision tree analysis</a:t>
            </a:r>
          </a:p>
          <a:p>
            <a:r>
              <a:rPr lang="en-US" altLang="en-US" dirty="0"/>
              <a:t>Statistical analysis</a:t>
            </a:r>
          </a:p>
          <a:p>
            <a:r>
              <a:rPr lang="en-US" altLang="en-US" dirty="0"/>
              <a:t>Neural networks</a:t>
            </a:r>
          </a:p>
          <a:p>
            <a:r>
              <a:rPr lang="en-US" altLang="en-US" dirty="0"/>
              <a:t>Support vector machines</a:t>
            </a:r>
          </a:p>
          <a:p>
            <a:r>
              <a:rPr lang="en-US" altLang="en-US" dirty="0"/>
              <a:t>Case-based reasoning</a:t>
            </a:r>
          </a:p>
          <a:p>
            <a:r>
              <a:rPr lang="en-US" altLang="en-US" dirty="0"/>
              <a:t>Bayesian classifiers</a:t>
            </a:r>
          </a:p>
          <a:p>
            <a:r>
              <a:rPr lang="en-US" altLang="en-US" dirty="0"/>
              <a:t>Genetic algorithms</a:t>
            </a:r>
          </a:p>
          <a:p>
            <a:r>
              <a:rPr lang="en-US" altLang="en-US" dirty="0"/>
              <a:t>Rough 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517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643B5-B7F0-C5AB-830D-F56F763F5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4968-8060-1A37-C54A-7218136B2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Predictive accuracy</a:t>
            </a:r>
          </a:p>
          <a:p>
            <a:pPr lvl="1"/>
            <a:r>
              <a:rPr lang="en-US" altLang="en-US" dirty="0"/>
              <a:t>Hit rate </a:t>
            </a:r>
          </a:p>
          <a:p>
            <a:r>
              <a:rPr lang="en-US" altLang="en-US" dirty="0"/>
              <a:t>Speed</a:t>
            </a:r>
          </a:p>
          <a:p>
            <a:pPr lvl="1"/>
            <a:r>
              <a:rPr lang="en-US" altLang="en-US" dirty="0"/>
              <a:t>Model building; predicting</a:t>
            </a:r>
          </a:p>
          <a:p>
            <a:r>
              <a:rPr lang="en-US" altLang="en-US" dirty="0"/>
              <a:t>Robustness</a:t>
            </a:r>
          </a:p>
          <a:p>
            <a:r>
              <a:rPr lang="en-US" altLang="en-US" dirty="0"/>
              <a:t>Scalability</a:t>
            </a:r>
          </a:p>
          <a:p>
            <a:r>
              <a:rPr lang="en-US" altLang="en-US" dirty="0"/>
              <a:t>Interpretability</a:t>
            </a:r>
          </a:p>
          <a:p>
            <a:pPr lvl="1"/>
            <a:r>
              <a:rPr lang="en-US" altLang="en-US" dirty="0"/>
              <a:t>Transparency, explainability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158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0DCB0-E620-0D54-9A07-42B84C26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EEE13-3994-C3FF-80A2-589E4D906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  <a:p>
            <a:r>
              <a:rPr lang="en-IN" dirty="0"/>
              <a:t>F1-score, ROC-AUC</a:t>
            </a:r>
          </a:p>
          <a:p>
            <a:r>
              <a:rPr lang="en-IN" dirty="0"/>
              <a:t>Recall, Sensitivity</a:t>
            </a:r>
          </a:p>
          <a:p>
            <a:r>
              <a:rPr lang="en-IN" dirty="0"/>
              <a:t>Precision + Recall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345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FC80-4D42-ABCA-3988-9255FEF0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BDB7B-44D9-A499-B4DA-E08854837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Predict a value of a given continuous valued variable based on the values of other variables, assuming a linear or nonlinear model of dependency.</a:t>
            </a:r>
          </a:p>
          <a:p>
            <a:r>
              <a:rPr lang="en-US" altLang="en-US" sz="2400" dirty="0"/>
              <a:t>Extensively studied in statistics, neural network fields.</a:t>
            </a:r>
          </a:p>
          <a:p>
            <a:r>
              <a:rPr lang="en-US" altLang="en-US" sz="2400" dirty="0"/>
              <a:t>Examples:</a:t>
            </a:r>
          </a:p>
          <a:p>
            <a:pPr lvl="1"/>
            <a:r>
              <a:rPr lang="en-US" altLang="en-US" dirty="0"/>
              <a:t>Predicting sales amounts of new product based on </a:t>
            </a:r>
            <a:r>
              <a:rPr lang="en-US" altLang="en-US" dirty="0" err="1"/>
              <a:t>advetising</a:t>
            </a:r>
            <a:r>
              <a:rPr lang="en-US" altLang="en-US" dirty="0"/>
              <a:t> expenditure.</a:t>
            </a:r>
          </a:p>
          <a:p>
            <a:pPr lvl="1"/>
            <a:r>
              <a:rPr lang="en-US" altLang="en-US" dirty="0"/>
              <a:t>Predicting wind velocities as a function of temperature, humidity, air pressure, etc.</a:t>
            </a:r>
          </a:p>
          <a:p>
            <a:pPr lvl="1"/>
            <a:r>
              <a:rPr lang="en-US" altLang="en-US" dirty="0"/>
              <a:t>Time series prediction of stock market indices.</a:t>
            </a:r>
            <a:endParaRPr lang="en-US" alt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094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A86A-5A74-5FFE-D41E-3DE1B338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Tahoma" panose="020B0604030504040204" pitchFamily="34" charset="0"/>
              </a:rPr>
              <a:t>Clustering</a:t>
            </a:r>
            <a:br>
              <a:rPr lang="en-US" altLang="en-US" dirty="0">
                <a:latin typeface="Tahoma" panose="020B060403050404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581C0-ABBA-3278-7539-88034FDC2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Finding groups of objects such that the objects in a group will be similar (or related) to one another and different from (or unrelated to) the objects in other groups</a:t>
            </a:r>
          </a:p>
          <a:p>
            <a:r>
              <a:rPr lang="en-US" altLang="en-US" sz="2400" dirty="0"/>
              <a:t>Understanding</a:t>
            </a:r>
          </a:p>
          <a:p>
            <a:pPr lvl="1"/>
            <a:r>
              <a:rPr lang="en-US" altLang="en-US" dirty="0"/>
              <a:t>Custom profiling for targeted marketing </a:t>
            </a:r>
          </a:p>
          <a:p>
            <a:pPr lvl="1"/>
            <a:r>
              <a:rPr lang="en-US" altLang="en-US" dirty="0"/>
              <a:t>Group related documents for browsing </a:t>
            </a:r>
          </a:p>
          <a:p>
            <a:pPr lvl="1"/>
            <a:r>
              <a:rPr lang="en-US" altLang="en-US" dirty="0"/>
              <a:t>Group genes and proteins that have similar functionality</a:t>
            </a:r>
          </a:p>
          <a:p>
            <a:pPr lvl="1"/>
            <a:r>
              <a:rPr lang="en-US" altLang="en-US" dirty="0"/>
              <a:t>Group stocks with similar price fluctuations</a:t>
            </a:r>
          </a:p>
          <a:p>
            <a:r>
              <a:rPr lang="en-US" altLang="en-US" sz="2400" dirty="0"/>
              <a:t>Summarization</a:t>
            </a:r>
          </a:p>
          <a:p>
            <a:pPr lvl="1"/>
            <a:r>
              <a:rPr lang="en-US" altLang="en-US" dirty="0"/>
              <a:t>Reduce the size of large data 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81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508B-A2DB-F1E6-55F5-AF292C5C7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Clustering: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CB768-61F6-1E61-A507-BF9862374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Market Segmentation: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</a:pPr>
            <a:r>
              <a:rPr lang="en-US" altLang="en-US" b="1" dirty="0"/>
              <a:t>Goal:</a:t>
            </a:r>
            <a:r>
              <a:rPr lang="en-US" altLang="en-US" dirty="0"/>
              <a:t> subdivide a market into distinct subsets of customers where any subset may conceivably be selected as a market target to be reached with a distinct marketing mix.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Approach:</a:t>
            </a:r>
            <a:r>
              <a:rPr lang="en-US" altLang="en-US" dirty="0"/>
              <a:t> </a:t>
            </a:r>
          </a:p>
          <a:p>
            <a:pPr lvl="2" indent="-279400"/>
            <a:r>
              <a:rPr lang="en-US" altLang="en-US" dirty="0"/>
              <a:t>Collect different attributes of customers based on their geographical and lifestyle related information.</a:t>
            </a:r>
          </a:p>
          <a:p>
            <a:pPr lvl="2" indent="-279400"/>
            <a:r>
              <a:rPr lang="en-US" altLang="en-US" dirty="0"/>
              <a:t>Find clusters of similar customers.</a:t>
            </a:r>
          </a:p>
          <a:p>
            <a:pPr lvl="2" indent="-279400"/>
            <a:r>
              <a:rPr lang="en-US" altLang="en-US" dirty="0"/>
              <a:t>Measure the clustering quality by observing buying patterns of customers in same cluster vs. those from different clusters.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93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68C36-95D2-8031-4A99-52805649B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Association Rule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8966E-C233-209C-64C7-1B4F11C73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dirty="0"/>
              <a:t>Given a set of records each of which contain some number of items from a given collection</a:t>
            </a:r>
          </a:p>
          <a:p>
            <a:pPr lvl="1"/>
            <a:r>
              <a:rPr lang="en-US" altLang="en-US" dirty="0"/>
              <a:t>Produce dependency rules which will predict occurrence of an item based on occurrences of other items.</a:t>
            </a:r>
          </a:p>
          <a:p>
            <a:r>
              <a:rPr lang="en-US" altLang="en-US" dirty="0"/>
              <a:t>Market-basket analysis</a:t>
            </a:r>
          </a:p>
          <a:p>
            <a:pPr lvl="1"/>
            <a:r>
              <a:rPr lang="en-US" altLang="en-US" dirty="0"/>
              <a:t>Rules are used for sales promotion, shelf management, and inventory management</a:t>
            </a:r>
          </a:p>
          <a:p>
            <a:pPr lvl="4"/>
            <a:endParaRPr lang="en-US" altLang="en-US" sz="2400" dirty="0"/>
          </a:p>
          <a:p>
            <a:r>
              <a:rPr lang="en-US" altLang="en-US" dirty="0"/>
              <a:t>Telecommunication alarm diagnosis</a:t>
            </a:r>
          </a:p>
          <a:p>
            <a:pPr lvl="1"/>
            <a:r>
              <a:rPr lang="en-US" altLang="en-US" dirty="0"/>
              <a:t>Rules are used to find combination of alarms that occur together frequently in the same time period</a:t>
            </a:r>
          </a:p>
          <a:p>
            <a:pPr lvl="4"/>
            <a:endParaRPr lang="en-US" altLang="en-US" sz="2400" dirty="0"/>
          </a:p>
          <a:p>
            <a:r>
              <a:rPr lang="en-US" altLang="en-US" dirty="0"/>
              <a:t>Medical Informatics</a:t>
            </a:r>
          </a:p>
          <a:p>
            <a:pPr lvl="1"/>
            <a:r>
              <a:rPr lang="en-US" altLang="en-US" dirty="0"/>
              <a:t>Rules are used to find combination of patient symptoms and test results associated with certain diseases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140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Methodology?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 80% of data mining projects fail without structure</a:t>
            </a:r>
          </a:p>
          <a:p>
            <a:r>
              <a:t>CRISP-DM improves success rates by ~75%</a:t>
            </a:r>
          </a:p>
          <a:p>
            <a:r>
              <a:t>Supports iterative refinement rather than linear execution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283B-EE1A-3F30-BE76-73B4E70D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KDD</a:t>
            </a:r>
          </a:p>
        </p:txBody>
      </p:sp>
      <p:pic>
        <p:nvPicPr>
          <p:cNvPr id="4" name="Picture 2" descr="KDD Process/Overview">
            <a:extLst>
              <a:ext uri="{FF2B5EF4-FFF2-40B4-BE49-F238E27FC236}">
                <a16:creationId xmlns:a16="http://schemas.microsoft.com/office/drawing/2014/main" id="{1CEF9320-BDC5-8668-3C5A-681E31A295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727" y="2157635"/>
            <a:ext cx="6913418" cy="19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ject 3">
            <a:extLst>
              <a:ext uri="{FF2B5EF4-FFF2-40B4-BE49-F238E27FC236}">
                <a16:creationId xmlns:a16="http://schemas.microsoft.com/office/drawing/2014/main" id="{A5054FD9-E4D4-FED7-02C7-D3B964DD8F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9008" y="4369345"/>
            <a:ext cx="4463391" cy="2266981"/>
          </a:xfrm>
          <a:prstGeom prst="rect">
            <a:avLst/>
          </a:prstGeom>
        </p:spPr>
      </p:pic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37258FB5-662B-1D43-E639-286BDB1A5984}"/>
              </a:ext>
            </a:extLst>
          </p:cNvPr>
          <p:cNvCxnSpPr>
            <a:cxnSpLocks/>
          </p:cNvCxnSpPr>
          <p:nvPr/>
        </p:nvCxnSpPr>
        <p:spPr>
          <a:xfrm>
            <a:off x="2635826" y="3933724"/>
            <a:ext cx="990602" cy="577330"/>
          </a:xfrm>
          <a:prstGeom prst="curvedConnector3">
            <a:avLst>
              <a:gd name="adj1" fmla="val 19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057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6A8E-076A-565F-4AFA-3F59A2DD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KDD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D106-15D1-F41B-9B8C-32C93AC68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Selection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Data Integration</a:t>
            </a:r>
          </a:p>
          <a:p>
            <a:r>
              <a:rPr lang="en-US" dirty="0"/>
              <a:t>Data Transformation</a:t>
            </a:r>
          </a:p>
          <a:p>
            <a:r>
              <a:rPr lang="en-US" dirty="0"/>
              <a:t>Data Mining</a:t>
            </a:r>
          </a:p>
          <a:p>
            <a:r>
              <a:rPr lang="en-US" dirty="0"/>
              <a:t>Pattern Evaluation</a:t>
            </a:r>
          </a:p>
          <a:p>
            <a:r>
              <a:rPr lang="en-US" dirty="0"/>
              <a:t>Knowledge 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242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D65-D1A4-42F4-D55D-BFEBE62E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CRISP-DM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DA3B15-1F07-ECFC-3F93-6BCED4CAA8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162" y="1600201"/>
            <a:ext cx="509967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06D361-8663-D131-C899-BBA9D97B09C0}"/>
              </a:ext>
            </a:extLst>
          </p:cNvPr>
          <p:cNvSpPr txBox="1"/>
          <p:nvPr/>
        </p:nvSpPr>
        <p:spPr>
          <a:xfrm>
            <a:off x="9408900" y="6308209"/>
            <a:ext cx="2052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Education</a:t>
            </a:r>
          </a:p>
        </p:txBody>
      </p:sp>
    </p:spTree>
    <p:extLst>
      <p:ext uri="{BB962C8B-B14F-4D97-AF65-F5344CB8AC3E}">
        <p14:creationId xmlns:p14="http://schemas.microsoft.com/office/powerpoint/2010/main" val="2847189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CRISP-DM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Understanding</a:t>
            </a:r>
          </a:p>
          <a:p>
            <a:r>
              <a:t>Data Understanding</a:t>
            </a:r>
          </a:p>
          <a:p>
            <a:r>
              <a:t>Data Preparation</a:t>
            </a:r>
          </a:p>
          <a:p>
            <a:r>
              <a:t>Modeling</a:t>
            </a:r>
          </a:p>
          <a:p>
            <a:r>
              <a:t>Evaluation</a:t>
            </a:r>
          </a:p>
          <a:p>
            <a:r>
              <a:t>Deployment</a:t>
            </a:r>
          </a:p>
          <a:p>
            <a:r>
              <a:t>Strong feedback loops between phases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Iterative Nature of CRISP-DM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revisited as insights evolve</a:t>
            </a:r>
          </a:p>
          <a:p>
            <a:r>
              <a:t>Modeling failures often require new data preparation</a:t>
            </a:r>
          </a:p>
          <a:p>
            <a:r>
              <a:t>Data preparation consumes 60–80% of project time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Phase 1: Business Understanding –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Determine business objectives</a:t>
            </a:r>
          </a:p>
          <a:p>
            <a:r>
              <a:t>Assess situation and constraints</a:t>
            </a:r>
          </a:p>
          <a:p>
            <a:r>
              <a:t>Translate objectives into data mining goals</a:t>
            </a:r>
          </a:p>
          <a:p>
            <a:r>
              <a:t>Produce a project plan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goal: Reduce customer churn by 15%</a:t>
            </a:r>
          </a:p>
          <a:p>
            <a:r>
              <a:t>Data mining goal: Predict churn probability &gt; 0.7</a:t>
            </a:r>
          </a:p>
          <a:p>
            <a:r>
              <a:t>Success metric: ROC-AUC &gt; 0.85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Situation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Available data volume and quality</a:t>
            </a:r>
          </a:p>
          <a:p>
            <a:r>
              <a:t>Tools: Python, R, SQL</a:t>
            </a:r>
          </a:p>
          <a:p>
            <a:r>
              <a:t>Expertise, time, cost, and risk constraints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DB389-4691-E533-E1C6-83E6D6061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</a:rPr>
              <a:t>Step 1:</a:t>
            </a:r>
            <a:r>
              <a:rPr lang="en-US" altLang="en-US" dirty="0"/>
              <a:t> Business Understanding</a:t>
            </a:r>
          </a:p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</a:rPr>
              <a:t>Step 2:</a:t>
            </a:r>
            <a:r>
              <a:rPr lang="en-US" altLang="en-US" dirty="0"/>
              <a:t> Data Understanding</a:t>
            </a:r>
          </a:p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</a:rPr>
              <a:t>Step 3:</a:t>
            </a:r>
            <a:r>
              <a:rPr lang="en-US" altLang="en-US" dirty="0"/>
              <a:t> Data Preparation (!)</a:t>
            </a:r>
          </a:p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</a:rPr>
              <a:t>Step 4:</a:t>
            </a:r>
            <a:r>
              <a:rPr lang="en-US" altLang="en-US" dirty="0"/>
              <a:t> Model Building</a:t>
            </a:r>
          </a:p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</a:rPr>
              <a:t>Step 5:</a:t>
            </a:r>
            <a:r>
              <a:rPr lang="en-US" altLang="en-US" dirty="0"/>
              <a:t> Testing and Evaluation</a:t>
            </a:r>
          </a:p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</a:rPr>
              <a:t>Step 6:</a:t>
            </a:r>
            <a:r>
              <a:rPr lang="en-US" altLang="en-US" dirty="0"/>
              <a:t> 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611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2982-E2F7-D46E-134F-70AA3442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SEMMA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38A751-E352-5F46-1889-54F3D366F1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455" y="1454727"/>
            <a:ext cx="6123709" cy="4084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60A243-88ED-D761-D68A-6C0D02A0CC6A}"/>
              </a:ext>
            </a:extLst>
          </p:cNvPr>
          <p:cNvSpPr txBox="1"/>
          <p:nvPr/>
        </p:nvSpPr>
        <p:spPr>
          <a:xfrm>
            <a:off x="9810682" y="6308209"/>
            <a:ext cx="2052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Education</a:t>
            </a:r>
          </a:p>
        </p:txBody>
      </p:sp>
    </p:spTree>
    <p:extLst>
      <p:ext uri="{BB962C8B-B14F-4D97-AF65-F5344CB8AC3E}">
        <p14:creationId xmlns:p14="http://schemas.microsoft.com/office/powerpoint/2010/main" val="1651221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Outputs of 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Formal project plan and timeline</a:t>
            </a:r>
          </a:p>
          <a:p>
            <a:r>
              <a:t>Defined success criteria</a:t>
            </a:r>
          </a:p>
          <a:p>
            <a:r>
              <a:t>Shared terminology and assumptions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 databases, CSV files, APIs</a:t>
            </a:r>
          </a:p>
          <a:p>
            <a:r>
              <a:t>Initial dataset example: 1M records, 50 attributes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Describe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Attribute types: numeric, categorical, text</a:t>
            </a:r>
          </a:p>
          <a:p>
            <a:r>
              <a:t>Record counts and distributions</a:t>
            </a:r>
          </a:p>
          <a:p>
            <a:r>
              <a:t>Missing data percentages (e.g., income 20% missing)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Visualisation: histograms, boxplots, correlation heatmaps</a:t>
            </a:r>
          </a:p>
          <a:p>
            <a:r>
              <a:t>Basic aggregations and subsets</a:t>
            </a:r>
          </a:p>
          <a:p>
            <a:r>
              <a:t>Early hypothesis generation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missing values and outliers</a:t>
            </a:r>
          </a:p>
          <a:p>
            <a:r>
              <a:t>Check for duplicates and inconsistencies</a:t>
            </a:r>
          </a:p>
          <a:p>
            <a:r>
              <a:t>Produce a data quality report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Select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relevant attributes and records</a:t>
            </a:r>
          </a:p>
          <a:p>
            <a:r>
              <a:t>Balance relevance, quality, and size</a:t>
            </a:r>
          </a:p>
          <a:p>
            <a:r>
              <a:t>Exclude unnecessary variables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 missing values (mean/median/mode)</a:t>
            </a:r>
          </a:p>
          <a:p>
            <a:r>
              <a:t>Noise reduction using binning</a:t>
            </a:r>
          </a:p>
          <a:p>
            <a:r>
              <a:t>Outlier detection using Z-score or IQR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derived attributes (e.g., Age = 2025 − DOB)</a:t>
            </a:r>
          </a:p>
          <a:p>
            <a:r>
              <a:t>Aggregate transactional data into summaries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Merge multiple tables using joins</a:t>
            </a:r>
          </a:p>
          <a:p>
            <a:r>
              <a:t>Resolve schema conflicts</a:t>
            </a:r>
          </a:p>
          <a:p>
            <a:r>
              <a:t>Remove duplicate records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Normalization using min–max scaling</a:t>
            </a:r>
          </a:p>
          <a:p>
            <a:r>
              <a:t>Discretization into categorical bins</a:t>
            </a:r>
          </a:p>
          <a:p>
            <a:r>
              <a:t>Prepare data for modeling algorithms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Consumes 60–80% of total effort</a:t>
            </a:r>
          </a:p>
          <a:p>
            <a:r>
              <a:t>Often repeated multiple times</a:t>
            </a:r>
          </a:p>
          <a:p>
            <a:r>
              <a:t>Critical to model performance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Phase 4: Select Modeling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learning: classification, regression</a:t>
            </a:r>
          </a:p>
          <a:p>
            <a:r>
              <a:t>Unsupervised learning: clustering, association</a:t>
            </a:r>
          </a:p>
          <a:p>
            <a:r>
              <a:t>Technique selection depends on goals and data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data: 70% train, 15% validation, 15% test</a:t>
            </a:r>
          </a:p>
          <a:p>
            <a:r>
              <a:t>K-fold cross-validation (k=5 or 10)</a:t>
            </a:r>
          </a:p>
          <a:p>
            <a:r>
              <a:t>Hyperparameter tuning via grid search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 Logistic regression for churn prediction</a:t>
            </a:r>
          </a:p>
          <a:p>
            <a:r>
              <a:t>Implementation using scikit-learn</a:t>
            </a:r>
          </a:p>
          <a:p>
            <a:r>
              <a:t>Train models on prepared datasets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 accuracy, precision, recall, F1-score</a:t>
            </a:r>
          </a:p>
          <a:p>
            <a:r>
              <a:t>ROC and AUC for classification</a:t>
            </a:r>
          </a:p>
          <a:p>
            <a:r>
              <a:t>Compare multiple models objectively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 alignment with business objectives</a:t>
            </a:r>
          </a:p>
          <a:p>
            <a:r>
              <a:t>Validate discovered patterns</a:t>
            </a:r>
          </a:p>
          <a:p>
            <a:r>
              <a:t>Decide whether to proceed or iterate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models via APIs or batch processes</a:t>
            </a:r>
          </a:p>
          <a:p>
            <a:r>
              <a:t>Monitor performance and data drift</a:t>
            </a:r>
          </a:p>
          <a:p>
            <a:r>
              <a:t>Plan maintenance and updates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Classification: interpretable but may overfit</a:t>
            </a:r>
          </a:p>
          <a:p>
            <a:r>
              <a:t>Clustering: automatic grouping, sensitive to initialization</a:t>
            </a:r>
          </a:p>
          <a:p>
            <a:r>
              <a:t>Regression: fast but assumes linearity</a:t>
            </a:r>
          </a:p>
          <a:p>
            <a:r>
              <a:t>Association rules: intuitive but scalability issues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  <a:p>
            <a:r>
              <a:rPr lang="en-IN" dirty="0"/>
              <a:t>Fayyad, U., </a:t>
            </a:r>
            <a:r>
              <a:rPr lang="en-IN" dirty="0" err="1"/>
              <a:t>Piatetsky</a:t>
            </a:r>
            <a:r>
              <a:rPr lang="en-IN" dirty="0"/>
              <a:t>-Shapiro, G., &amp; Smyth, P. (1996)</a:t>
            </a:r>
          </a:p>
          <a:p>
            <a:r>
              <a:rPr dirty="0"/>
              <a:t>Chapman et al. (2000); Han et al. (2012); Witten et al. (2016)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Ethical Implications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Risks, Challenges, and Responsible AI Practices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(ML) systems influence decisions in healthcare, finance, hiring, and governance.</a:t>
            </a:r>
          </a:p>
          <a:p>
            <a:r>
              <a:t>Ethical implications arise when ML affects human rights, fairness, and accountability.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and Discrimination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ML models learn from historical data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Biased data leads to unfair outcomes</a:t>
            </a:r>
          </a:p>
          <a:p>
            <a:pPr marL="0" indent="0">
              <a:buNone/>
            </a:pPr>
            <a:r>
              <a:rPr dirty="0"/>
              <a:t>• Can reinforce social inequalities</a:t>
            </a:r>
          </a:p>
          <a:p>
            <a:r>
              <a:rPr dirty="0"/>
              <a:t>Example: Hiring or credit scoring bias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Large-scale personal data collection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Risk of surveillance and data misuse</a:t>
            </a:r>
          </a:p>
          <a:p>
            <a:pPr marL="0" indent="0">
              <a:buNone/>
            </a:pPr>
            <a:r>
              <a:rPr dirty="0"/>
              <a:t>• Re-identification of anonymized data</a:t>
            </a:r>
          </a:p>
          <a:p>
            <a:r>
              <a:rPr dirty="0"/>
              <a:t>Example: Tracking user behavior without consent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Lack of Transparency (Black Box Models)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Complex ML models are hard to explain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Users cannot understand decisions</a:t>
            </a:r>
          </a:p>
          <a:p>
            <a:pPr marL="0" indent="0">
              <a:buNone/>
            </a:pPr>
            <a:r>
              <a:rPr dirty="0"/>
              <a:t>• Difficult to challenge unfair outcomes</a:t>
            </a:r>
          </a:p>
          <a:p>
            <a:r>
              <a:rPr dirty="0"/>
              <a:t>Example: Loan rejection without explanation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Accountability and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Unclear responsibility for ML decisions</a:t>
            </a:r>
          </a:p>
          <a:p>
            <a:pPr marL="0" indent="0">
              <a:buNone/>
            </a:pPr>
            <a:r>
              <a:rPr dirty="0"/>
              <a:t>• Developers, organizations, or algorithms?</a:t>
            </a:r>
          </a:p>
          <a:p>
            <a:pPr marL="0" indent="0">
              <a:buNone/>
            </a:pPr>
            <a:r>
              <a:rPr dirty="0"/>
              <a:t>• Legal and ethical challenges</a:t>
            </a:r>
          </a:p>
          <a:p>
            <a:r>
              <a:rPr dirty="0"/>
              <a:t>Example: Autonomous vehicle accidents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Informed Consent &amp; Data Misuse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often collected without clear consent</a:t>
            </a:r>
          </a:p>
          <a:p>
            <a:pPr marL="0" indent="0">
              <a:buNone/>
            </a:pPr>
            <a:r>
              <a:rPr dirty="0"/>
              <a:t>• Secondary use of data without permission</a:t>
            </a:r>
          </a:p>
          <a:p>
            <a:r>
              <a:rPr dirty="0"/>
              <a:t>Ethical violation of user trust</a:t>
            </a:r>
          </a:p>
          <a:p>
            <a:r>
              <a:rPr dirty="0"/>
              <a:t>Example: Social media data used for profiling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Risks &amp; Misuse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Adversarial attacks on ML models</a:t>
            </a:r>
          </a:p>
          <a:p>
            <a:pPr marL="0" indent="0">
              <a:buNone/>
            </a:pPr>
            <a:r>
              <a:rPr dirty="0"/>
              <a:t>• Data poisoning and model manipulation</a:t>
            </a:r>
          </a:p>
          <a:p>
            <a:pPr marL="0" indent="0">
              <a:buNone/>
            </a:pPr>
            <a:r>
              <a:rPr dirty="0"/>
              <a:t>• Deepfakes and misinformation</a:t>
            </a:r>
          </a:p>
          <a:p>
            <a:r>
              <a:rPr dirty="0"/>
              <a:t>Example: AI-generated fake media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Displacement &amp; 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Automation replaces human labor</a:t>
            </a:r>
          </a:p>
          <a:p>
            <a:pPr marL="0" indent="0">
              <a:buNone/>
            </a:pPr>
            <a:r>
              <a:rPr dirty="0"/>
              <a:t>• Risk of unemployment in some sectors</a:t>
            </a:r>
          </a:p>
          <a:p>
            <a:pPr marL="0" indent="0">
              <a:buNone/>
            </a:pPr>
            <a:r>
              <a:rPr dirty="0"/>
              <a:t>• Need for reskilling and social policies</a:t>
            </a:r>
          </a:p>
          <a:p>
            <a:r>
              <a:rPr dirty="0"/>
              <a:t>Example: AI replacing customer support roles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Autonomy &amp; Over-Reliance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Excessive trust in ML decisions</a:t>
            </a:r>
          </a:p>
          <a:p>
            <a:pPr marL="0" indent="0">
              <a:buNone/>
            </a:pPr>
            <a:r>
              <a:rPr dirty="0"/>
              <a:t>• Reduced human judgment</a:t>
            </a:r>
          </a:p>
          <a:p>
            <a:pPr marL="0" indent="0">
              <a:buNone/>
            </a:pPr>
            <a:r>
              <a:rPr dirty="0"/>
              <a:t>• Ethical need for human oversight</a:t>
            </a:r>
          </a:p>
          <a:p>
            <a:r>
              <a:rPr dirty="0"/>
              <a:t>Example: AI-assisted medical diagnosis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 of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energy consumption</a:t>
            </a:r>
          </a:p>
          <a:p>
            <a:pPr marL="0" indent="0">
              <a:buNone/>
            </a:pPr>
            <a:r>
              <a:rPr dirty="0"/>
              <a:t>• Carbon footprint of large models</a:t>
            </a:r>
          </a:p>
          <a:p>
            <a:pPr marL="0" indent="0">
              <a:buNone/>
            </a:pPr>
            <a:r>
              <a:rPr dirty="0"/>
              <a:t>• Sustainability concerns</a:t>
            </a:r>
          </a:p>
          <a:p>
            <a:r>
              <a:rPr dirty="0"/>
              <a:t>Example: Large data centers powering AI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Principles for Responsible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Fairness and non-discrimination</a:t>
            </a:r>
          </a:p>
          <a:p>
            <a:pPr marL="0" indent="0">
              <a:buNone/>
            </a:pPr>
            <a:r>
              <a:rPr dirty="0"/>
              <a:t>• Transparency and explainability</a:t>
            </a:r>
          </a:p>
          <a:p>
            <a:pPr marL="0" indent="0">
              <a:buNone/>
            </a:pPr>
            <a:r>
              <a:rPr dirty="0"/>
              <a:t>• Privacy protection</a:t>
            </a:r>
          </a:p>
          <a:p>
            <a:pPr marL="0" indent="0">
              <a:buNone/>
            </a:pPr>
            <a:r>
              <a:rPr dirty="0"/>
              <a:t>• Accountability</a:t>
            </a:r>
          </a:p>
          <a:p>
            <a:pPr marL="0" indent="0">
              <a:buNone/>
            </a:pPr>
            <a:r>
              <a:rPr dirty="0"/>
              <a:t>• Human-in-the-loop systems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ML ensures trust, fairness, and social benefit.</a:t>
            </a:r>
          </a:p>
          <a:p>
            <a:r>
              <a:t>Responsible design and regulation are essential for sustainable AI.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0E16-3B66-EB31-410F-F0A76715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/>
              <a:t>Exercise </a:t>
            </a:r>
            <a:r>
              <a:rPr lang="en-IN" b="1" dirty="0"/>
              <a:t>: Social Media Mental Health Prediction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BFFFC-4C25-626F-A83E-D65198F64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The company wants to sell insights about users’ mental health to insurance companies.</a:t>
            </a:r>
          </a:p>
          <a:p>
            <a:pPr lvl="0"/>
            <a:r>
              <a:rPr lang="en-IN" dirty="0"/>
              <a:t>Decision options:</a:t>
            </a:r>
          </a:p>
          <a:p>
            <a:pPr lvl="1"/>
            <a:r>
              <a:rPr lang="en-IN" dirty="0"/>
              <a:t>Sell the data as-is.</a:t>
            </a:r>
          </a:p>
          <a:p>
            <a:pPr lvl="1"/>
            <a:r>
              <a:rPr lang="en-IN" dirty="0"/>
              <a:t>Anonymize the data before selling.</a:t>
            </a:r>
          </a:p>
          <a:p>
            <a:pPr lvl="1"/>
            <a:r>
              <a:rPr lang="en-IN" dirty="0"/>
              <a:t>Ask users for consent before selling.</a:t>
            </a:r>
          </a:p>
          <a:p>
            <a:pPr lvl="1"/>
            <a:r>
              <a:rPr lang="en-IN" dirty="0"/>
              <a:t>Refuse to sell the data.</a:t>
            </a:r>
          </a:p>
          <a:p>
            <a:pPr lvl="0"/>
            <a:r>
              <a:rPr lang="en-IN" b="1" dirty="0"/>
              <a:t>Immediate feedback:</a:t>
            </a:r>
            <a:endParaRPr lang="en-IN" dirty="0"/>
          </a:p>
          <a:p>
            <a:pPr lvl="1"/>
            <a:r>
              <a:rPr lang="en-IN" dirty="0"/>
              <a:t>Option 1 → Legal and ethical risk, potential backlash, profit increase</a:t>
            </a:r>
          </a:p>
          <a:p>
            <a:pPr lvl="1"/>
            <a:r>
              <a:rPr lang="en-IN" dirty="0"/>
              <a:t>Option 2 → Lower risk, some ethical concerns remain, profit moderate</a:t>
            </a:r>
          </a:p>
          <a:p>
            <a:pPr lvl="1"/>
            <a:r>
              <a:rPr lang="en-IN" dirty="0"/>
              <a:t>Option 3 → Ethical and legal safe, slower business outcome</a:t>
            </a:r>
          </a:p>
          <a:p>
            <a:pPr lvl="1"/>
            <a:r>
              <a:rPr lang="en-IN" dirty="0"/>
              <a:t>Option 4 → Fully ethical, business opportunity lost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560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Floridi</a:t>
            </a:r>
            <a:r>
              <a:rPr dirty="0"/>
              <a:t> et al. (2018), AI4People Ethical Framework</a:t>
            </a:r>
          </a:p>
          <a:p>
            <a:r>
              <a:rPr lang="en-US" dirty="0"/>
              <a:t> </a:t>
            </a:r>
            <a:r>
              <a:rPr dirty="0"/>
              <a:t>GDPR – General Data Protection Regulation</a:t>
            </a:r>
          </a:p>
          <a:p>
            <a:r>
              <a:rPr dirty="0"/>
              <a:t> OECD Principles on AI (2019)</a:t>
            </a:r>
          </a:p>
          <a:p>
            <a:r>
              <a:rPr dirty="0"/>
              <a:t> ACM Code of Ethics</a:t>
            </a:r>
          </a:p>
          <a:p>
            <a:r>
              <a:rPr dirty="0"/>
              <a:t> IEEE Ethically Aligned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2079</Words>
  <Application>Microsoft Macintosh PowerPoint</Application>
  <PresentationFormat>Widescreen</PresentationFormat>
  <Paragraphs>341</Paragraphs>
  <Slides>64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74" baseType="lpstr">
      <vt:lpstr>Aptos</vt:lpstr>
      <vt:lpstr>Aptos Display</vt:lpstr>
      <vt:lpstr>Arial</vt:lpstr>
      <vt:lpstr>Monotype Sorts</vt:lpstr>
      <vt:lpstr>Tahoma</vt:lpstr>
      <vt:lpstr>Times New Roman</vt:lpstr>
      <vt:lpstr>Wingdings</vt:lpstr>
      <vt:lpstr>Office Theme</vt:lpstr>
      <vt:lpstr>VISIO</vt:lpstr>
      <vt:lpstr>Document</vt:lpstr>
      <vt:lpstr>Introduction to data mining  </vt:lpstr>
      <vt:lpstr>Data Mining</vt:lpstr>
      <vt:lpstr>Data Mining</vt:lpstr>
      <vt:lpstr>Data Mining</vt:lpstr>
      <vt:lpstr>What is Data Mining?</vt:lpstr>
      <vt:lpstr>PowerPoint Presentation</vt:lpstr>
      <vt:lpstr>Data</vt:lpstr>
      <vt:lpstr>Types of Attributes </vt:lpstr>
      <vt:lpstr>Data Quality</vt:lpstr>
      <vt:lpstr>Data Quality</vt:lpstr>
      <vt:lpstr>Classification Tasks</vt:lpstr>
      <vt:lpstr>Classification: Application </vt:lpstr>
      <vt:lpstr>Classification Techniques</vt:lpstr>
      <vt:lpstr>Assessment Methods</vt:lpstr>
      <vt:lpstr>Assessment Methods</vt:lpstr>
      <vt:lpstr>Regression</vt:lpstr>
      <vt:lpstr>Clustering </vt:lpstr>
      <vt:lpstr>Clustering: Application</vt:lpstr>
      <vt:lpstr>Association Rule</vt:lpstr>
      <vt:lpstr>Why a Methodology?</vt:lpstr>
      <vt:lpstr>KDD</vt:lpstr>
      <vt:lpstr>Components of KDD</vt:lpstr>
      <vt:lpstr>CRISP-DM</vt:lpstr>
      <vt:lpstr>CRISP-DM Framework</vt:lpstr>
      <vt:lpstr>Iterative Nature of CRISP-DM</vt:lpstr>
      <vt:lpstr>Phase 1: Business Understanding – Tasks</vt:lpstr>
      <vt:lpstr>Business Objectives Example</vt:lpstr>
      <vt:lpstr>Situation Assessment</vt:lpstr>
      <vt:lpstr>PowerPoint Presentation</vt:lpstr>
      <vt:lpstr>SEMMA</vt:lpstr>
      <vt:lpstr>Outputs of Phase 1</vt:lpstr>
      <vt:lpstr>Phase 2: Data Collection</vt:lpstr>
      <vt:lpstr>Describe the Data</vt:lpstr>
      <vt:lpstr>Explore the Data</vt:lpstr>
      <vt:lpstr>Verify Data Quality</vt:lpstr>
      <vt:lpstr>Phase 3: Select Data</vt:lpstr>
      <vt:lpstr>Clean Data</vt:lpstr>
      <vt:lpstr>Construct Data</vt:lpstr>
      <vt:lpstr>Integrate Data</vt:lpstr>
      <vt:lpstr>Format Data</vt:lpstr>
      <vt:lpstr>Data Preparation Reality</vt:lpstr>
      <vt:lpstr>Phase 4: Select Modeling Techniques</vt:lpstr>
      <vt:lpstr>Test Design</vt:lpstr>
      <vt:lpstr>Build Models</vt:lpstr>
      <vt:lpstr>Assess Models</vt:lpstr>
      <vt:lpstr>Phase 5: Evaluation</vt:lpstr>
      <vt:lpstr>Phase 6: Deployment</vt:lpstr>
      <vt:lpstr>Technique Comparison</vt:lpstr>
      <vt:lpstr>References</vt:lpstr>
      <vt:lpstr>Ethical Implications of Machine Learning</vt:lpstr>
      <vt:lpstr>Introduction</vt:lpstr>
      <vt:lpstr>Bias and Discrimination</vt:lpstr>
      <vt:lpstr>Privacy Concerns</vt:lpstr>
      <vt:lpstr>Lack of Transparency (Black Box Models)</vt:lpstr>
      <vt:lpstr>Accountability and Responsibility</vt:lpstr>
      <vt:lpstr>Informed Consent &amp; Data Misuse</vt:lpstr>
      <vt:lpstr>Security Risks &amp; Misuse</vt:lpstr>
      <vt:lpstr>Job Displacement &amp; Economic Impact</vt:lpstr>
      <vt:lpstr>Human Autonomy &amp; Over-Reliance</vt:lpstr>
      <vt:lpstr>Environmental Impact of ML</vt:lpstr>
      <vt:lpstr>Ethical Principles for Responsible ML</vt:lpstr>
      <vt:lpstr>Conclusion</vt:lpstr>
      <vt:lpstr>Exercise : Social Media Mental Health Prediction 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Vikas tomer</dc:creator>
  <cp:keywords/>
  <dc:description/>
  <cp:lastModifiedBy>Vikas tomer</cp:lastModifiedBy>
  <cp:revision>13</cp:revision>
  <dcterms:created xsi:type="dcterms:W3CDTF">2025-12-24T11:15:48Z</dcterms:created>
  <dcterms:modified xsi:type="dcterms:W3CDTF">2026-01-09T19:43:36Z</dcterms:modified>
  <cp:category/>
</cp:coreProperties>
</file>