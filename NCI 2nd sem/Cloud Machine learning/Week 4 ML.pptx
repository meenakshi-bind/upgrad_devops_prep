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19"/>
  </p:notesMasterIdLst>
  <p:sldIdLst>
    <p:sldId id="256" r:id="rId5"/>
    <p:sldId id="275" r:id="rId6"/>
    <p:sldId id="276" r:id="rId7"/>
    <p:sldId id="277" r:id="rId8"/>
    <p:sldId id="278" r:id="rId9"/>
    <p:sldId id="279" r:id="rId10"/>
    <p:sldId id="280" r:id="rId11"/>
    <p:sldId id="287" r:id="rId12"/>
    <p:sldId id="281" r:id="rId13"/>
    <p:sldId id="282" r:id="rId14"/>
    <p:sldId id="283" r:id="rId15"/>
    <p:sldId id="284" r:id="rId16"/>
    <p:sldId id="285" r:id="rId17"/>
    <p:sldId id="25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63" autoAdjust="0"/>
    <p:restoredTop sz="84550" autoAdjust="0"/>
  </p:normalViewPr>
  <p:slideViewPr>
    <p:cSldViewPr snapToGrid="0">
      <p:cViewPr varScale="1">
        <p:scale>
          <a:sx n="93" d="100"/>
          <a:sy n="93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C32C0-4927-4001-9B9B-50FF3AF7F147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D7EC9-F7FA-4DE3-8826-40C4C5D4A68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052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This shows that there is strong positive linear correlation between ice-cream sales and maximum temperature. However, it is not always as easy to tell just by looking at the scatter graph, instead we quantify it using a numeric value known as the correlation coefficient.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D7EC9-F7FA-4DE3-8826-40C4C5D4A685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07980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D7EC9-F7FA-4DE3-8826-40C4C5D4A685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3133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5C94D-D582-44EE-D462-C5B572AA5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0892C-028A-1EAE-B0FE-44C379493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EFCB2-F400-696C-41AC-C84956C1C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2/18/26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ABB59-9BA3-CF14-37D7-62A5B1E65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1EBCF-2FAD-DF5A-9BB6-9EB1A01AC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306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25E85-61EB-79AB-B235-D262C2AC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BBC48-B35C-62C3-9BC7-FC1D42FA7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E71AA-CDDC-4C91-BF45-1862E0024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5A3E1-B4DE-DBA9-DC3C-4D29A51A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1166E-81C7-A4EE-75C4-4B827C8E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87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006A1-E58A-8F54-7418-AD61AEAB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D33E8-3925-20BD-2F4F-2AE4A8A47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992A7-192C-BEBE-90AA-942C40FE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2/18/26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6C672-0A45-1907-3323-AB106D78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BC99A-A98E-9666-3DC0-731DFE8CE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99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EBD0-335D-F9BA-4DAE-0A320CE08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3D3F9-2AFC-87A0-D90C-8C9A477EC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9836A-6CA4-F8CE-1AE3-0EE862383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EB8CC-CBCC-E008-D80C-25E391D1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26D2C-F335-6625-2529-115A884BB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991B5-8C7F-5FD6-4A6B-088824FDD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89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12E7-7002-3EE7-5374-20EA0C06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2578F-2D97-3654-C509-697597145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1002D-7C5F-3CE1-60C6-8432C33FF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D83FE-FDA0-3796-D892-3A7455BEA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E8F733-3874-EB1B-4DD9-24F4CC807C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4A4289-FC1F-A741-FD6E-4D500635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6A22B-CDFB-B067-EC60-F5187E7C4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7E6686-CD84-8DA1-38EF-1F522F07C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2609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7525E-356F-18F2-BBCD-7A2C1583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4F749-5440-B546-DAF9-F9160E8D4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C31C5-072D-4027-73BE-9C32E59D0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80157-C681-C6DF-1572-84458EDE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111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4AE6F-ADA4-29F8-C8C2-E0DCEAAD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72021-FCB8-44E3-87A2-1BD87B42D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FA3D6-DB75-481C-E8C3-D96FD905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20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1A8A-85AD-D200-AF55-A54A916D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57DE8-5564-5D46-C60A-E90C32462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D677F-5132-35D8-17B3-E2290A0E5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615D3-BB01-B58A-AC03-EA37DAC7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1387C-38C6-DBBF-A76B-F79A6121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63864-9E37-B041-6F03-C85E13E1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632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814F-3271-9F7B-9AA5-7D33990D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AFDF02-63E8-F661-CB0D-7FBDBE83B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FC365-514C-9AF2-E517-7EF86D207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CAFC9-0C37-890F-1A62-B559B8454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FC5E6-8B6C-DDDF-985F-FF75E324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A76C5-F075-5DA4-2D37-450CDFB6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261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10086-BB09-ED20-6FE3-04033B8A0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A78BD1-8951-F225-DA2A-8578E91C2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30401-27D2-3B07-AE2E-81EF95C4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513AC-EF5B-F6EF-B622-AE690061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96EAC-A8A5-D314-78BE-72C233D7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63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58D94-D75B-7C15-8329-D15FA71B37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FAB9A-7609-6E27-41E8-A1875870D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C3909-CE21-2420-F57A-441FE9E39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F4123-C622-BA07-5D7F-20C934E8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749BD-DEC8-C89B-EFAC-F663FF59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40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47F21-BC1B-6F86-77E7-9FA7D3876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0BED4-6BFD-4110-2A31-BA75E4155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6CA5B-D92C-C4EF-C9B4-CA8663709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2/18/26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33335-58F9-C915-D25A-8F1CF79F3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205FA-BD99-5DDB-31F9-6C9D3FA93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ternal.ncl.ac.uk/ask/numeracy-maths-statistics/statistics/regression-and-correlation/types-of-correlation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ternal.ncl.ac.uk/ask/numeracy-maths-statistics/statistics/regression-and-correlation/types-of-correlation.html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ternal.ncl.ac.uk/ask/numeracy-maths-statistics/statistics/regression-and-correlation/types-of-correlation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nal.ncl.ac.uk/ask/numeracy-maths-statistics/statistics/regression-and-correlation/types-of-correlation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Karl_Pearso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arl_Pearson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nal.ncl.ac.uk/ask/numeracy-maths-statistics/statistics/regression-and-correlation/types-of-correlation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nal.ncl.ac.uk/ask/numeracy-maths-statistics/statistics/regression-and-correlation/types-of-correlation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.uk/Statistics-People-Think-They-Hate/dp/1544381859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3E4B6-4D76-4DF9-BA4E-EE2BCA301B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INTRODUCTION TO correlation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7534-1203-499C-B620-E52F87568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Week 4</a:t>
            </a:r>
          </a:p>
        </p:txBody>
      </p:sp>
    </p:spTree>
    <p:extLst>
      <p:ext uri="{BB962C8B-B14F-4D97-AF65-F5344CB8AC3E}">
        <p14:creationId xmlns:p14="http://schemas.microsoft.com/office/powerpoint/2010/main" val="10222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FEC8-9FC9-49AE-9585-2C63C085C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382385"/>
            <a:ext cx="10274015" cy="1492132"/>
          </a:xfrm>
        </p:spPr>
        <p:txBody>
          <a:bodyPr/>
          <a:lstStyle/>
          <a:p>
            <a:r>
              <a:rPr lang="en-GB" dirty="0"/>
              <a:t>Relationships between variables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4D39C-959E-4C9A-8E9F-799F1715A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7755" y="1708988"/>
            <a:ext cx="4312307" cy="4247803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Relationships</a:t>
            </a:r>
          </a:p>
          <a:p>
            <a:pPr lvl="1"/>
            <a:r>
              <a:rPr lang="en-IE" dirty="0"/>
              <a:t>how the value of one variable changes when the value of another variable changes</a:t>
            </a:r>
          </a:p>
          <a:p>
            <a:pPr lvl="1"/>
            <a:r>
              <a:rPr lang="en-IE" dirty="0"/>
              <a:t>simple correlation coefficient</a:t>
            </a:r>
          </a:p>
          <a:p>
            <a:r>
              <a:rPr lang="en-IE" dirty="0"/>
              <a:t>Examples:</a:t>
            </a:r>
          </a:p>
          <a:p>
            <a:pPr lvl="1"/>
            <a:r>
              <a:rPr lang="en-IE" dirty="0"/>
              <a:t>Age and strength? </a:t>
            </a:r>
          </a:p>
          <a:p>
            <a:pPr lvl="1"/>
            <a:r>
              <a:rPr lang="en-IE" dirty="0"/>
              <a:t>Income and years of education? </a:t>
            </a:r>
          </a:p>
          <a:p>
            <a:pPr lvl="1"/>
            <a:r>
              <a:rPr lang="en-IE" dirty="0"/>
              <a:t>Memory skills and amount of drug use?</a:t>
            </a:r>
          </a:p>
          <a:p>
            <a:pPr lvl="1"/>
            <a:r>
              <a:rPr lang="en-IE" dirty="0"/>
              <a:t>Your political attitudes and the attitudes of your parents?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6D7BCE-C820-47F3-9C23-0A495BEF7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961" y="1708988"/>
            <a:ext cx="3998422" cy="30937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9F45E4-1766-4781-9304-91BF3985EBAD}"/>
              </a:ext>
            </a:extLst>
          </p:cNvPr>
          <p:cNvSpPr txBox="1"/>
          <p:nvPr/>
        </p:nvSpPr>
        <p:spPr>
          <a:xfrm>
            <a:off x="7153037" y="4798826"/>
            <a:ext cx="3746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Image source: </a:t>
            </a:r>
            <a:r>
              <a:rPr lang="en-GB" sz="1400" dirty="0">
                <a:hlinkClick r:id="rId4"/>
              </a:rPr>
              <a:t>Newcastle University</a:t>
            </a:r>
            <a:r>
              <a:rPr lang="en-GB" sz="1400" dirty="0"/>
              <a:t>.</a:t>
            </a:r>
            <a:endParaRPr lang="en-IE" sz="1400" dirty="0"/>
          </a:p>
        </p:txBody>
      </p:sp>
    </p:spTree>
    <p:extLst>
      <p:ext uri="{BB962C8B-B14F-4D97-AF65-F5344CB8AC3E}">
        <p14:creationId xmlns:p14="http://schemas.microsoft.com/office/powerpoint/2010/main" val="3757208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09CD6-0D50-4AF6-816F-EEFA014D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correlation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240E-6D05-4EF4-AB60-ADE8F6140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623" y="1970117"/>
            <a:ext cx="3168525" cy="3593591"/>
          </a:xfrm>
        </p:spPr>
        <p:txBody>
          <a:bodyPr/>
          <a:lstStyle/>
          <a:p>
            <a:r>
              <a:rPr lang="en-IE" dirty="0"/>
              <a:t>Purpose:</a:t>
            </a:r>
          </a:p>
          <a:p>
            <a:pPr lvl="1"/>
            <a:r>
              <a:rPr lang="en-IE" dirty="0"/>
              <a:t>a way to measure how associated or related two variables are</a:t>
            </a:r>
          </a:p>
          <a:p>
            <a:endParaRPr lang="en-I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B774EC-6B4A-4AE7-BFD0-48ED6DB3B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04" y="1445341"/>
            <a:ext cx="3088204" cy="23856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177601-A4D6-4A2C-AEA3-C009854AD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493" y="1448889"/>
            <a:ext cx="3088204" cy="23779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DEF19D-D5B9-42CD-9544-D841E8A0B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503" y="4221770"/>
            <a:ext cx="3088203" cy="2381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FE964D-AEF5-4581-BE26-860E734EF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2493" y="4221770"/>
            <a:ext cx="3106322" cy="23779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DDB17D-D0DF-4A34-945E-0501ED090C2D}"/>
              </a:ext>
            </a:extLst>
          </p:cNvPr>
          <p:cNvSpPr txBox="1"/>
          <p:nvPr/>
        </p:nvSpPr>
        <p:spPr>
          <a:xfrm>
            <a:off x="2984965" y="6601586"/>
            <a:ext cx="3746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Image sources: </a:t>
            </a:r>
            <a:r>
              <a:rPr lang="en-GB" sz="1400" dirty="0">
                <a:hlinkClick r:id="rId6"/>
              </a:rPr>
              <a:t>Newcastle University</a:t>
            </a:r>
            <a:r>
              <a:rPr lang="en-GB" sz="1400" dirty="0"/>
              <a:t>.</a:t>
            </a:r>
            <a:endParaRPr lang="en-IE" sz="1400" dirty="0"/>
          </a:p>
        </p:txBody>
      </p:sp>
    </p:spTree>
    <p:extLst>
      <p:ext uri="{BB962C8B-B14F-4D97-AF65-F5344CB8AC3E}">
        <p14:creationId xmlns:p14="http://schemas.microsoft.com/office/powerpoint/2010/main" val="248237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0323F-B6A2-41EA-9618-32262FBF8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5400" dirty="0">
                <a:solidFill>
                  <a:srgbClr val="000000"/>
                </a:solidFill>
                <a:effectLst/>
              </a:rPr>
              <a:t>Direction of the Correlation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55F6A-8737-44A8-9239-02208D0EB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88591"/>
            <a:ext cx="4844322" cy="4273825"/>
          </a:xfrm>
        </p:spPr>
        <p:txBody>
          <a:bodyPr>
            <a:normAutofit fontScale="85000" lnSpcReduction="10000"/>
          </a:bodyPr>
          <a:lstStyle/>
          <a:p>
            <a:pPr marL="457200" indent="-457200" defTabSz="457200">
              <a:buFont typeface="Wingdings 2" pitchFamily="18" charset="2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0000"/>
                </a:solidFill>
              </a:rPr>
              <a:t>Positive relationship</a:t>
            </a:r>
            <a:r>
              <a:rPr lang="en-GB" dirty="0"/>
              <a:t> – </a:t>
            </a:r>
            <a:r>
              <a:rPr lang="en-GB" dirty="0">
                <a:solidFill>
                  <a:srgbClr val="000000"/>
                </a:solidFill>
              </a:rPr>
              <a:t>Variables change in the same direction.</a:t>
            </a:r>
          </a:p>
          <a:p>
            <a:pPr marL="1368425" lvl="2" defTabSz="4572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rgbClr val="000000"/>
                </a:solidFill>
              </a:rPr>
              <a:t>As X is increasing, Y is increasing</a:t>
            </a:r>
          </a:p>
          <a:p>
            <a:pPr marL="1368425" lvl="2" defTabSz="4572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rgbClr val="000000"/>
                </a:solidFill>
              </a:rPr>
              <a:t>As X is decreasing, Y is decreasing</a:t>
            </a:r>
          </a:p>
          <a:p>
            <a:pPr marL="1025525" lvl="1" indent="-455613" defTabSz="457200">
              <a:buFont typeface="Verdana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rgbClr val="000000"/>
                </a:solidFill>
              </a:rPr>
              <a:t>E.g., As height increases, so does weight.</a:t>
            </a:r>
            <a:br>
              <a:rPr lang="en-GB" dirty="0">
                <a:solidFill>
                  <a:srgbClr val="000000"/>
                </a:solidFill>
              </a:rPr>
            </a:br>
            <a:endParaRPr lang="en-GB" dirty="0">
              <a:solidFill>
                <a:srgbClr val="000000"/>
              </a:solidFill>
            </a:endParaRPr>
          </a:p>
          <a:p>
            <a:pPr marL="457200" indent="-457200" defTabSz="457200">
              <a:buFont typeface="Wingdings 2" pitchFamily="18" charset="2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solidFill>
                  <a:srgbClr val="000000"/>
                </a:solidFill>
              </a:rPr>
              <a:t>Negative relationship</a:t>
            </a:r>
            <a:r>
              <a:rPr lang="en-GB" dirty="0"/>
              <a:t> – </a:t>
            </a:r>
            <a:r>
              <a:rPr lang="en-GB" dirty="0">
                <a:solidFill>
                  <a:srgbClr val="000000"/>
                </a:solidFill>
              </a:rPr>
              <a:t>Variables change in</a:t>
            </a:r>
            <a:r>
              <a:rPr lang="en-GB" dirty="0"/>
              <a:t> </a:t>
            </a:r>
            <a:r>
              <a:rPr lang="en-GB" dirty="0">
                <a:solidFill>
                  <a:srgbClr val="000000"/>
                </a:solidFill>
              </a:rPr>
              <a:t>opposite directions.</a:t>
            </a:r>
          </a:p>
          <a:p>
            <a:pPr marL="1368425" lvl="2" defTabSz="4572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rgbClr val="000000"/>
                </a:solidFill>
              </a:rPr>
              <a:t>As X is increasing, Y is decreasing</a:t>
            </a:r>
          </a:p>
          <a:p>
            <a:pPr marL="1368425" lvl="2" defTabSz="457200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rgbClr val="000000"/>
                </a:solidFill>
              </a:rPr>
              <a:t>As X is decreasing, Y is increasing</a:t>
            </a:r>
          </a:p>
          <a:p>
            <a:pPr marL="1025525" lvl="1" indent="-455613" defTabSz="457200">
              <a:buFont typeface="Verdana" pitchFamily="34" charset="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solidFill>
                  <a:srgbClr val="000000"/>
                </a:solidFill>
              </a:rPr>
              <a:t>E.g., As TV time increases, grades decrease</a:t>
            </a:r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8D377B-F298-460A-99E9-C8E6A45F1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302" y="2059982"/>
            <a:ext cx="1931562" cy="1492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3ECAFE-27D2-4226-8DE0-75041713E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030" y="4119410"/>
            <a:ext cx="1937834" cy="149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3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8B64-0942-4396-A0DE-825EA617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Worked example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BA89C-4724-4F6C-B203-3D2E45477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4142" y="2286001"/>
            <a:ext cx="4620928" cy="3593591"/>
          </a:xfrm>
        </p:spPr>
        <p:txBody>
          <a:bodyPr/>
          <a:lstStyle/>
          <a:p>
            <a:r>
              <a:rPr lang="en-IE" dirty="0"/>
              <a:t>The local ice-cream shop have kept track of how much ice-cream they sell and the maximum temperature on that day</a:t>
            </a:r>
          </a:p>
          <a:p>
            <a:r>
              <a:rPr lang="en-IE" dirty="0"/>
              <a:t>The data shown is obtained during the last 15 days</a:t>
            </a:r>
          </a:p>
          <a:p>
            <a:endParaRPr lang="en-I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F75C72-32AB-412A-9571-A19A0BD8E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59880"/>
              </p:ext>
            </p:extLst>
          </p:nvPr>
        </p:nvGraphicFramePr>
        <p:xfrm>
          <a:off x="1496762" y="1192262"/>
          <a:ext cx="4335221" cy="54968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6753">
                  <a:extLst>
                    <a:ext uri="{9D8B030D-6E8A-4147-A177-3AD203B41FA5}">
                      <a16:colId xmlns:a16="http://schemas.microsoft.com/office/drawing/2014/main" val="2389779258"/>
                    </a:ext>
                  </a:extLst>
                </a:gridCol>
                <a:gridCol w="2258468">
                  <a:extLst>
                    <a:ext uri="{9D8B030D-6E8A-4147-A177-3AD203B41FA5}">
                      <a16:colId xmlns:a16="http://schemas.microsoft.com/office/drawing/2014/main" val="2890867064"/>
                    </a:ext>
                  </a:extLst>
                </a:gridCol>
              </a:tblGrid>
              <a:tr h="13442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u="none" strike="noStrike" dirty="0">
                          <a:effectLst/>
                        </a:rPr>
                        <a:t>Temperature (°C)</a:t>
                      </a:r>
                      <a:endParaRPr lang="en-I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35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b="1" u="none" strike="noStrike" dirty="0">
                          <a:effectLst/>
                        </a:rPr>
                        <a:t>Ice-cream Sales (€)</a:t>
                      </a:r>
                      <a:endParaRPr lang="en-IE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3538" marB="0" anchor="b"/>
                </a:tc>
                <a:extLst>
                  <a:ext uri="{0D108BD9-81ED-4DB2-BD59-A6C34878D82A}">
                    <a16:rowId xmlns:a16="http://schemas.microsoft.com/office/drawing/2014/main" val="2068765566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12.5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211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2654958465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15.8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230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2611626896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22.1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359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2376522251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18.9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284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733695016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17.7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254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1530799331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19.3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287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400995100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15.3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248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1283054037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19.2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303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85402946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13.4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235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847704780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14.1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209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1212316750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16.7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267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963040892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18.6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295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3337769014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11.9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199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775367285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18.4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274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4135944119"/>
                  </a:ext>
                </a:extLst>
              </a:tr>
              <a:tr h="230645"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>
                          <a:effectLst/>
                        </a:rPr>
                        <a:t>18.9</a:t>
                      </a:r>
                      <a:endParaRPr lang="en-IE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E" sz="1600" u="none" strike="noStrike" dirty="0">
                          <a:effectLst/>
                        </a:rPr>
                        <a:t>279</a:t>
                      </a:r>
                      <a:endParaRPr lang="en-IE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38" marR="3538" marT="53063" marB="53063" anchor="b"/>
                </a:tc>
                <a:extLst>
                  <a:ext uri="{0D108BD9-81ED-4DB2-BD59-A6C34878D82A}">
                    <a16:rowId xmlns:a16="http://schemas.microsoft.com/office/drawing/2014/main" val="697747428"/>
                  </a:ext>
                </a:extLst>
              </a:tr>
            </a:tbl>
          </a:graphicData>
        </a:graphic>
      </p:graphicFrame>
      <p:pic>
        <p:nvPicPr>
          <p:cNvPr id="10" name="Graphic 9" descr="Ice cream">
            <a:extLst>
              <a:ext uri="{FF2B5EF4-FFF2-40B4-BE49-F238E27FC236}">
                <a16:creationId xmlns:a16="http://schemas.microsoft.com/office/drawing/2014/main" id="{B141435E-3359-4CE8-8BC9-BC9FB8E10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5618" y="-56726"/>
            <a:ext cx="2497975" cy="24979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FBD535-712D-4C0C-BA9D-0DDC00A03439}"/>
              </a:ext>
            </a:extLst>
          </p:cNvPr>
          <p:cNvSpPr txBox="1"/>
          <p:nvPr/>
        </p:nvSpPr>
        <p:spPr>
          <a:xfrm>
            <a:off x="1648965" y="6645604"/>
            <a:ext cx="37462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dirty="0"/>
              <a:t>Data source: </a:t>
            </a:r>
            <a:r>
              <a:rPr lang="en-GB" sz="1050" dirty="0">
                <a:hlinkClick r:id="rId4"/>
              </a:rPr>
              <a:t>Newcastle University</a:t>
            </a:r>
            <a:r>
              <a:rPr lang="en-GB" sz="1050" dirty="0"/>
              <a:t>.</a:t>
            </a:r>
            <a:endParaRPr lang="en-IE" sz="1050" dirty="0"/>
          </a:p>
        </p:txBody>
      </p:sp>
    </p:spTree>
    <p:extLst>
      <p:ext uri="{BB962C8B-B14F-4D97-AF65-F5344CB8AC3E}">
        <p14:creationId xmlns:p14="http://schemas.microsoft.com/office/powerpoint/2010/main" val="85297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D571-7D8D-4994-A425-D0E951FA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Scatter diagram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FE911-5C5E-4DD3-9845-27D0CFCE2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67294"/>
            <a:ext cx="5017445" cy="4447308"/>
          </a:xfrm>
        </p:spPr>
        <p:txBody>
          <a:bodyPr>
            <a:normAutofit/>
          </a:bodyPr>
          <a:lstStyle/>
          <a:p>
            <a:r>
              <a:rPr lang="en-IE" sz="1600" dirty="0"/>
              <a:t>This shows that there is strong positive linear correlation between ice-cream sales and maximum temperature</a:t>
            </a:r>
          </a:p>
          <a:p>
            <a:endParaRPr lang="en-IE" sz="1600" dirty="0"/>
          </a:p>
          <a:p>
            <a:r>
              <a:rPr lang="en-IE" sz="1600" dirty="0"/>
              <a:t>However, it is not always as easy to tell just by looking at the scatter graph (subjective)</a:t>
            </a:r>
          </a:p>
          <a:p>
            <a:endParaRPr lang="en-IE" sz="1600" dirty="0"/>
          </a:p>
          <a:p>
            <a:r>
              <a:rPr lang="en-IE" sz="1600" dirty="0"/>
              <a:t>Instead we quantify it using a numeric value known as the correlation coefficient</a:t>
            </a:r>
          </a:p>
          <a:p>
            <a:endParaRPr lang="en-IE" sz="1600" dirty="0"/>
          </a:p>
          <a:p>
            <a:r>
              <a:rPr lang="en-IE" sz="1600" dirty="0"/>
              <a:t>The correlation coefficient is a measure of the strength and the direction of a linear relationship between two variables</a:t>
            </a:r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EAD50-A21A-4239-A000-097CDCCB8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973" y="1467294"/>
            <a:ext cx="4872977" cy="37704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60C40A-A3CD-4FCC-9A9C-41E70894127B}"/>
              </a:ext>
            </a:extLst>
          </p:cNvPr>
          <p:cNvSpPr txBox="1"/>
          <p:nvPr/>
        </p:nvSpPr>
        <p:spPr>
          <a:xfrm>
            <a:off x="7264326" y="5237760"/>
            <a:ext cx="3746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Image source: </a:t>
            </a:r>
            <a:r>
              <a:rPr lang="en-GB" sz="1400" dirty="0">
                <a:hlinkClick r:id="rId3"/>
              </a:rPr>
              <a:t>Newcastle University</a:t>
            </a:r>
            <a:r>
              <a:rPr lang="en-GB" sz="1400" dirty="0"/>
              <a:t>.</a:t>
            </a:r>
            <a:endParaRPr lang="en-IE" sz="1400" dirty="0"/>
          </a:p>
        </p:txBody>
      </p:sp>
    </p:spTree>
    <p:extLst>
      <p:ext uri="{BB962C8B-B14F-4D97-AF65-F5344CB8AC3E}">
        <p14:creationId xmlns:p14="http://schemas.microsoft.com/office/powerpoint/2010/main" val="3878918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DCBC-8CBE-436E-9651-65C437B6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Pearson Correlation </a:t>
            </a:r>
            <a:br>
              <a:rPr lang="en-IE" dirty="0"/>
            </a:br>
            <a:r>
              <a:rPr lang="en-IE" dirty="0"/>
              <a:t>coefficient</a:t>
            </a:r>
          </a:p>
        </p:txBody>
      </p:sp>
      <p:pic>
        <p:nvPicPr>
          <p:cNvPr id="5" name="Picture 4" descr="http://ww2.tnstate.edu/ganter/BIO311-Ch12-Eq8.gif">
            <a:extLst>
              <a:ext uri="{FF2B5EF4-FFF2-40B4-BE49-F238E27FC236}">
                <a16:creationId xmlns:a16="http://schemas.microsoft.com/office/drawing/2014/main" id="{42E18099-32DE-4DC7-B7A8-52598AA28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91081" y="2482204"/>
            <a:ext cx="6120680" cy="2955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B74679-B156-4688-8332-D3088245B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781" y="601577"/>
            <a:ext cx="2499563" cy="32721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1A8CC1-2A96-4FF5-8E53-BE3AD1F6AF16}"/>
              </a:ext>
            </a:extLst>
          </p:cNvPr>
          <p:cNvSpPr txBox="1"/>
          <p:nvPr/>
        </p:nvSpPr>
        <p:spPr>
          <a:xfrm>
            <a:off x="9045951" y="3873732"/>
            <a:ext cx="1975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Professor Carl Pearson.</a:t>
            </a:r>
          </a:p>
          <a:p>
            <a:pPr algn="ctr"/>
            <a:r>
              <a:rPr lang="en-GB" sz="1400" dirty="0"/>
              <a:t>Image source: </a:t>
            </a:r>
            <a:r>
              <a:rPr lang="en-GB" sz="1400" dirty="0">
                <a:hlinkClick r:id="rId4"/>
              </a:rPr>
              <a:t>Wikipedia</a:t>
            </a:r>
            <a:r>
              <a:rPr lang="en-GB" sz="1400" dirty="0"/>
              <a:t>.</a:t>
            </a:r>
            <a:endParaRPr lang="en-IE" sz="1400" dirty="0"/>
          </a:p>
        </p:txBody>
      </p:sp>
    </p:spTree>
    <p:extLst>
      <p:ext uri="{BB962C8B-B14F-4D97-AF65-F5344CB8AC3E}">
        <p14:creationId xmlns:p14="http://schemas.microsoft.com/office/powerpoint/2010/main" val="1597187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DCBC-8CBE-436E-9651-65C437B6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Pearson Correlation </a:t>
            </a:r>
            <a:br>
              <a:rPr lang="en-IE" dirty="0"/>
            </a:br>
            <a:r>
              <a:rPr lang="en-IE" dirty="0"/>
              <a:t>coefficient alternative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B74679-B156-4688-8332-D3088245B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3781" y="601577"/>
            <a:ext cx="2499563" cy="32721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1A8CC1-2A96-4FF5-8E53-BE3AD1F6AF16}"/>
              </a:ext>
            </a:extLst>
          </p:cNvPr>
          <p:cNvSpPr txBox="1"/>
          <p:nvPr/>
        </p:nvSpPr>
        <p:spPr>
          <a:xfrm>
            <a:off x="9045951" y="3873732"/>
            <a:ext cx="1975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Professor Carl Pearson.</a:t>
            </a:r>
          </a:p>
          <a:p>
            <a:pPr algn="ctr"/>
            <a:r>
              <a:rPr lang="en-GB" sz="1400" dirty="0"/>
              <a:t>Image source: </a:t>
            </a:r>
            <a:r>
              <a:rPr lang="en-GB" sz="1400" dirty="0">
                <a:hlinkClick r:id="rId3"/>
              </a:rPr>
              <a:t>Wikipedia</a:t>
            </a:r>
            <a:r>
              <a:rPr lang="en-GB" sz="1400" dirty="0"/>
              <a:t>.</a:t>
            </a:r>
            <a:endParaRPr lang="en-IE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FE3782-C7E8-49C6-99F5-0F94A915C015}"/>
                  </a:ext>
                </a:extLst>
              </p:cNvPr>
              <p:cNvSpPr txBox="1"/>
              <p:nvPr/>
            </p:nvSpPr>
            <p:spPr>
              <a:xfrm>
                <a:off x="997288" y="3662255"/>
                <a:ext cx="7786491" cy="12512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𝑥𝑦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𝑋𝑌</m:t>
                              </m:r>
                            </m:e>
                          </m:nary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e>
                          </m:nary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𝑋</m:t>
                                          </m:r>
                                        </m:e>
                                        <m:sup>
                                          <m:r>
                                            <a:rPr lang="en-US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32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nary>
                                                <m:naryPr>
                                                  <m:chr m:val="∑"/>
                                                  <m:subHide m:val="on"/>
                                                  <m:supHide m:val="on"/>
                                                  <m:ctrlPr>
                                                    <a:rPr lang="en-US" sz="320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naryPr>
                                                <m:sub/>
                                                <m:sup/>
                                                <m:e>
                                                  <m:r>
                                                    <a:rPr lang="en-US" sz="32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</m:nary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𝑌</m:t>
                                          </m:r>
                                        </m:e>
                                        <m:sup>
                                          <m:r>
                                            <a:rPr lang="en-US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  <m: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3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a:rPr lang="en-US" sz="32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/>
                                                </a:rPr>
                                                <m:t>𝑌</m:t>
                                              </m:r>
                                            </m:e>
                                          </m:nary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FE3782-C7E8-49C6-99F5-0F94A915C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288" y="3662255"/>
                <a:ext cx="7786491" cy="12512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317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75C8-FE70-448B-A0DF-4CC738231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Values of r</a:t>
            </a:r>
            <a:endParaRPr lang="en-IE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CCEAAC65-C7D0-45BB-BA16-229B9228D4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4597"/>
              </p:ext>
            </p:extLst>
          </p:nvPr>
        </p:nvGraphicFramePr>
        <p:xfrm>
          <a:off x="1480983" y="4187480"/>
          <a:ext cx="6310814" cy="1692390"/>
        </p:xfrm>
        <a:graphic>
          <a:graphicData uri="http://schemas.openxmlformats.org/drawingml/2006/table">
            <a:tbl>
              <a:tblPr firstRow="1" firstCol="1" bandRow="1">
                <a:tableStyleId>{793D81CF-94F2-401A-BA57-92F5A7B2D0C5}</a:tableStyleId>
              </a:tblPr>
              <a:tblGrid>
                <a:gridCol w="3155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5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06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Size of the Correlation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Coefficient General Interpretation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06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.8 to 1.0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Very strong relationship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6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.6 to .8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Strong relationship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06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.4 to .6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Moderate relationship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06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.2 to .4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Weak relationship</a:t>
                      </a:r>
                      <a:endParaRPr lang="en-US" sz="12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06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.0 to .2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Weak or no relationship</a:t>
                      </a:r>
                      <a:endParaRPr lang="en-US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2" descr="Correlation Coefficient Graph">
            <a:extLst>
              <a:ext uri="{FF2B5EF4-FFF2-40B4-BE49-F238E27FC236}">
                <a16:creationId xmlns:a16="http://schemas.microsoft.com/office/drawing/2014/main" id="{80EA679F-A04D-47A2-B62A-557D3E800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65763" y="686385"/>
            <a:ext cx="5843780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A7AE1E-305E-4E67-9A21-DA7DCA6CB59F}"/>
              </a:ext>
            </a:extLst>
          </p:cNvPr>
          <p:cNvSpPr txBox="1"/>
          <p:nvPr/>
        </p:nvSpPr>
        <p:spPr>
          <a:xfrm>
            <a:off x="3052214" y="5951676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E" sz="1400" dirty="0"/>
              <a:t>“Rule of Thumb” (Salkind &amp; Frey, 2019)</a:t>
            </a:r>
          </a:p>
        </p:txBody>
      </p:sp>
      <p:pic>
        <p:nvPicPr>
          <p:cNvPr id="8" name="Picture 7" descr="http://ww2.tnstate.edu/ganter/BIO311-Ch12-Eq8.gif">
            <a:extLst>
              <a:ext uri="{FF2B5EF4-FFF2-40B4-BE49-F238E27FC236}">
                <a16:creationId xmlns:a16="http://schemas.microsoft.com/office/drawing/2014/main" id="{2F6A2B73-37D7-4363-B83A-B15E70E40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33798" y="1745142"/>
            <a:ext cx="3102592" cy="149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328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3020-244C-43D0-94FD-51BDF0A4E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effectLst/>
              </a:rPr>
              <a:t>Strength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80C73-3D45-4C9D-BE7A-FE75725B5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72" y="1389684"/>
            <a:ext cx="4461937" cy="3593591"/>
          </a:xfrm>
        </p:spPr>
        <p:txBody>
          <a:bodyPr/>
          <a:lstStyle/>
          <a:p>
            <a:r>
              <a:rPr lang="en-IE" dirty="0"/>
              <a:t>Correlations, whether positive or negative, range in their strength from weak to strong</a:t>
            </a:r>
          </a:p>
          <a:p>
            <a:endParaRPr lang="en-IE" dirty="0"/>
          </a:p>
        </p:txBody>
      </p:sp>
      <p:pic>
        <p:nvPicPr>
          <p:cNvPr id="5" name="Picture 2" descr="Scatterplot positive correlation">
            <a:extLst>
              <a:ext uri="{FF2B5EF4-FFF2-40B4-BE49-F238E27FC236}">
                <a16:creationId xmlns:a16="http://schemas.microsoft.com/office/drawing/2014/main" id="{BB7E93AE-B781-497D-883C-79194B8D7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00015" y="1494906"/>
            <a:ext cx="3024336" cy="242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1BB853A-50BA-4BFA-8A64-E6A3A6516075}"/>
              </a:ext>
            </a:extLst>
          </p:cNvPr>
          <p:cNvSpPr/>
          <p:nvPr/>
        </p:nvSpPr>
        <p:spPr>
          <a:xfrm>
            <a:off x="1478236" y="4015186"/>
            <a:ext cx="32912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600" dirty="0"/>
              <a:t>In this sample, the correlation is 0.79.</a:t>
            </a:r>
          </a:p>
        </p:txBody>
      </p:sp>
      <p:pic>
        <p:nvPicPr>
          <p:cNvPr id="9" name="Picture 4" descr="Scatterplot negative correlation">
            <a:extLst>
              <a:ext uri="{FF2B5EF4-FFF2-40B4-BE49-F238E27FC236}">
                <a16:creationId xmlns:a16="http://schemas.microsoft.com/office/drawing/2014/main" id="{94F64691-E9E3-4358-BC53-D47E26145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26839" y="3715374"/>
            <a:ext cx="3168352" cy="253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232251-5125-460C-AC67-5FDE3B347241}"/>
              </a:ext>
            </a:extLst>
          </p:cNvPr>
          <p:cNvSpPr/>
          <p:nvPr/>
        </p:nvSpPr>
        <p:spPr>
          <a:xfrm>
            <a:off x="6340839" y="6293286"/>
            <a:ext cx="33569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600" dirty="0"/>
              <a:t>In this sample, the correlation is -0.63.</a:t>
            </a:r>
          </a:p>
        </p:txBody>
      </p:sp>
    </p:spTree>
    <p:extLst>
      <p:ext uri="{BB962C8B-B14F-4D97-AF65-F5344CB8AC3E}">
        <p14:creationId xmlns:p14="http://schemas.microsoft.com/office/powerpoint/2010/main" val="483605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45D7-3205-4386-8A3E-D9E20F73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Compare correlations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E897B-E480-4CE8-A6E3-19BC689DF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993951" cy="4386348"/>
          </a:xfrm>
        </p:spPr>
        <p:txBody>
          <a:bodyPr>
            <a:normAutofit/>
          </a:bodyPr>
          <a:lstStyle/>
          <a:p>
            <a:r>
              <a:rPr lang="en-IE" dirty="0"/>
              <a:t>Imagine reading four correlational studies with the following scores.  You want to decide which study had the strongest results:</a:t>
            </a:r>
          </a:p>
          <a:p>
            <a:pPr lvl="1"/>
            <a:endParaRPr lang="en-IE" b="1" dirty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E" sz="2400" b="1" dirty="0">
                <a:latin typeface="Courier New" pitchFamily="49" charset="0"/>
                <a:cs typeface="Courier New" pitchFamily="49" charset="0"/>
              </a:rPr>
              <a:t>-0.3 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sz="2400" b="1" dirty="0">
                <a:latin typeface="Courier New" pitchFamily="49" charset="0"/>
                <a:cs typeface="Courier New" pitchFamily="49" charset="0"/>
              </a:rPr>
              <a:t>-0.8  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sz="2400" b="1" dirty="0">
                <a:latin typeface="Courier New" pitchFamily="49" charset="0"/>
                <a:cs typeface="Courier New" pitchFamily="49" charset="0"/>
              </a:rPr>
              <a:t> 0.4   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E" sz="2400" b="1" dirty="0">
                <a:latin typeface="Courier New" pitchFamily="49" charset="0"/>
                <a:cs typeface="Courier New" pitchFamily="49" charset="0"/>
              </a:rPr>
              <a:t> 0.7</a:t>
            </a:r>
          </a:p>
          <a:p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131B1E-223E-41CF-AF53-A8FB3A09E3A3}"/>
              </a:ext>
            </a:extLst>
          </p:cNvPr>
          <p:cNvSpPr/>
          <p:nvPr/>
        </p:nvSpPr>
        <p:spPr>
          <a:xfrm>
            <a:off x="4125484" y="4087026"/>
            <a:ext cx="5042338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Which is strongest correlation?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89ADE-3BEC-4A11-87B8-3D238A4E6F47}"/>
              </a:ext>
            </a:extLst>
          </p:cNvPr>
          <p:cNvSpPr txBox="1"/>
          <p:nvPr/>
        </p:nvSpPr>
        <p:spPr>
          <a:xfrm>
            <a:off x="7047676" y="2325822"/>
            <a:ext cx="45141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 this example, -0.8 is the strongest correlation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negative sign means that its direction is negative.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6E0C1F-F3FA-450E-90D9-49CD05E81564}"/>
              </a:ext>
            </a:extLst>
          </p:cNvPr>
          <p:cNvSpPr txBox="1"/>
          <p:nvPr/>
        </p:nvSpPr>
        <p:spPr>
          <a:xfrm>
            <a:off x="1501002" y="4603147"/>
            <a:ext cx="1755872" cy="465614"/>
          </a:xfrm>
          <a:prstGeom prst="rect">
            <a:avLst/>
          </a:prstGeom>
          <a:solidFill>
            <a:srgbClr val="FF0000">
              <a:alpha val="2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1568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5B18-7471-4B50-919D-5BACA6EF6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Advantage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90D2E-D835-4514-A6DA-CF20B1021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89893"/>
            <a:ext cx="4844322" cy="3593591"/>
          </a:xfrm>
        </p:spPr>
        <p:txBody>
          <a:bodyPr>
            <a:normAutofit lnSpcReduction="10000"/>
          </a:bodyPr>
          <a:lstStyle/>
          <a:p>
            <a:r>
              <a:rPr lang="en-IE" dirty="0"/>
              <a:t>An advantage of the correlation method is that we can make predictions about things when we know about correlations</a:t>
            </a:r>
          </a:p>
          <a:p>
            <a:endParaRPr lang="en-IE" dirty="0"/>
          </a:p>
          <a:p>
            <a:r>
              <a:rPr lang="en-IE" dirty="0"/>
              <a:t>If two variables are correlated, we can predict one based on the other</a:t>
            </a:r>
          </a:p>
          <a:p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84451-4667-41D9-B7D0-40655BC0D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023" y="1389879"/>
            <a:ext cx="4872977" cy="37704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AAB295-016D-4481-AF33-D84D2184BDB7}"/>
              </a:ext>
            </a:extLst>
          </p:cNvPr>
          <p:cNvSpPr txBox="1"/>
          <p:nvPr/>
        </p:nvSpPr>
        <p:spPr>
          <a:xfrm>
            <a:off x="7120376" y="5160345"/>
            <a:ext cx="3746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Image source: </a:t>
            </a:r>
            <a:r>
              <a:rPr lang="en-GB" sz="1400" dirty="0">
                <a:hlinkClick r:id="rId3"/>
              </a:rPr>
              <a:t>Newcastle University</a:t>
            </a:r>
            <a:r>
              <a:rPr lang="en-GB" sz="1400" dirty="0"/>
              <a:t>.</a:t>
            </a:r>
            <a:endParaRPr lang="en-IE" sz="1400" dirty="0"/>
          </a:p>
        </p:txBody>
      </p:sp>
    </p:spTree>
    <p:extLst>
      <p:ext uri="{BB962C8B-B14F-4D97-AF65-F5344CB8AC3E}">
        <p14:creationId xmlns:p14="http://schemas.microsoft.com/office/powerpoint/2010/main" val="1505890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D994-2F06-4B01-AABE-30F26607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Disadvantage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04C35-66DF-428D-9061-97F83EDEB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89893"/>
            <a:ext cx="4533980" cy="3593591"/>
          </a:xfrm>
        </p:spPr>
        <p:txBody>
          <a:bodyPr>
            <a:normAutofit lnSpcReduction="10000"/>
          </a:bodyPr>
          <a:lstStyle/>
          <a:p>
            <a:r>
              <a:rPr lang="en-IE" dirty="0"/>
              <a:t>A correlation tells us that the two variables are related, but we cannot say anything about whether one caused the other</a:t>
            </a:r>
          </a:p>
          <a:p>
            <a:r>
              <a:rPr lang="en-IE" dirty="0"/>
              <a:t>This method does not allow us to come to any conclusions about cause and effect.</a:t>
            </a:r>
          </a:p>
          <a:p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0293E-05DC-426F-8246-85E2B749F858}"/>
              </a:ext>
            </a:extLst>
          </p:cNvPr>
          <p:cNvSpPr/>
          <p:nvPr/>
        </p:nvSpPr>
        <p:spPr>
          <a:xfrm>
            <a:off x="1427713" y="4983484"/>
            <a:ext cx="507389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Correlation is not Causation!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3FEF04-542D-4C69-9605-F6D3ABA04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023" y="1389879"/>
            <a:ext cx="4872977" cy="37704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649898-1FD0-4456-A93E-5517A290066B}"/>
              </a:ext>
            </a:extLst>
          </p:cNvPr>
          <p:cNvSpPr txBox="1"/>
          <p:nvPr/>
        </p:nvSpPr>
        <p:spPr>
          <a:xfrm>
            <a:off x="7120376" y="5160345"/>
            <a:ext cx="3746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Image source: </a:t>
            </a:r>
            <a:r>
              <a:rPr lang="en-GB" sz="1400" dirty="0">
                <a:hlinkClick r:id="rId3"/>
              </a:rPr>
              <a:t>Newcastle University</a:t>
            </a:r>
            <a:r>
              <a:rPr lang="en-GB" sz="1400" dirty="0"/>
              <a:t>.</a:t>
            </a:r>
            <a:endParaRPr lang="en-IE" sz="1400" dirty="0"/>
          </a:p>
        </p:txBody>
      </p:sp>
    </p:spTree>
    <p:extLst>
      <p:ext uri="{BB962C8B-B14F-4D97-AF65-F5344CB8AC3E}">
        <p14:creationId xmlns:p14="http://schemas.microsoft.com/office/powerpoint/2010/main" val="3242156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015B0-7E74-4289-82E9-F1E2E5D94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IE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8E961CA-11B0-4814-B8E3-103A1E12E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738" y="1969584"/>
            <a:ext cx="6529870" cy="3593591"/>
          </a:xfrm>
        </p:spPr>
        <p:txBody>
          <a:bodyPr>
            <a:normAutofit/>
          </a:bodyPr>
          <a:lstStyle/>
          <a:p>
            <a:r>
              <a:rPr lang="en-GB" dirty="0"/>
              <a:t>Salkind &amp; Frey (2019)</a:t>
            </a:r>
          </a:p>
          <a:p>
            <a:r>
              <a:rPr lang="en-GB" dirty="0"/>
              <a:t>Chapter 5: </a:t>
            </a:r>
            <a:r>
              <a:rPr lang="en-GB" i="1" dirty="0"/>
              <a:t>	</a:t>
            </a:r>
          </a:p>
          <a:p>
            <a:pPr lvl="1"/>
            <a:r>
              <a:rPr lang="en-IE" b="0" i="1" dirty="0">
                <a:solidFill>
                  <a:srgbClr val="333333"/>
                </a:solidFill>
                <a:effectLst/>
                <a:latin typeface="Open Sans"/>
              </a:rPr>
              <a:t>Computing Correlation Coefficients</a:t>
            </a:r>
            <a:endParaRPr lang="en-GB" b="0" i="1" dirty="0">
              <a:solidFill>
                <a:srgbClr val="333333"/>
              </a:solidFill>
              <a:effectLst/>
              <a:latin typeface="Open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3E9DAE-A285-46A1-981D-C1B9DCCC2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333" y="1389893"/>
            <a:ext cx="3333750" cy="47529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0114CB-F3BE-43DD-9137-CFA76DCF9DC1}"/>
              </a:ext>
            </a:extLst>
          </p:cNvPr>
          <p:cNvSpPr txBox="1"/>
          <p:nvPr/>
        </p:nvSpPr>
        <p:spPr>
          <a:xfrm>
            <a:off x="867177" y="6142868"/>
            <a:ext cx="4778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Image source: </a:t>
            </a:r>
            <a:r>
              <a:rPr lang="en-GB" sz="1400" dirty="0">
                <a:hlinkClick r:id="rId3"/>
              </a:rPr>
              <a:t>Amazon</a:t>
            </a:r>
            <a:r>
              <a:rPr lang="en-GB" sz="1400" dirty="0"/>
              <a:t>.</a:t>
            </a:r>
            <a:endParaRPr lang="en-IE" sz="1400" dirty="0"/>
          </a:p>
        </p:txBody>
      </p:sp>
    </p:spTree>
    <p:extLst>
      <p:ext uri="{BB962C8B-B14F-4D97-AF65-F5344CB8AC3E}">
        <p14:creationId xmlns:p14="http://schemas.microsoft.com/office/powerpoint/2010/main" val="3111938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7DF6EF2098B34BB7951F7338C3D120" ma:contentTypeVersion="11" ma:contentTypeDescription="Create a new document." ma:contentTypeScope="" ma:versionID="45493b65c7e6af0595b367fdc11b9a4e">
  <xsd:schema xmlns:xsd="http://www.w3.org/2001/XMLSchema" xmlns:xs="http://www.w3.org/2001/XMLSchema" xmlns:p="http://schemas.microsoft.com/office/2006/metadata/properties" xmlns:ns2="0ed0259a-62d4-4072-8c08-35fafd327d1e" xmlns:ns3="cf02d4c9-13bb-43f9-bba9-9c2d8726dad1" targetNamespace="http://schemas.microsoft.com/office/2006/metadata/properties" ma:root="true" ma:fieldsID="96b792138ceb22cd79712cc97fba7ae6" ns2:_="" ns3:_="">
    <xsd:import namespace="0ed0259a-62d4-4072-8c08-35fafd327d1e"/>
    <xsd:import namespace="cf02d4c9-13bb-43f9-bba9-9c2d8726da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d0259a-62d4-4072-8c08-35fafd327d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02d4c9-13bb-43f9-bba9-9c2d8726da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3FF088-3EE2-41A1-9822-849B0FDD8070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f02d4c9-13bb-43f9-bba9-9c2d8726dad1"/>
    <ds:schemaRef ds:uri="0ed0259a-62d4-4072-8c08-35fafd327d1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5FC04BF-F858-460C-8495-8A02C2E899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d0259a-62d4-4072-8c08-35fafd327d1e"/>
    <ds:schemaRef ds:uri="cf02d4c9-13bb-43f9-bba9-9c2d8726da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1C02ABB-F6FB-489C-8948-C7CFB8FBE0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15390</TotalTime>
  <Words>652</Words>
  <Application>Microsoft Macintosh PowerPoint</Application>
  <PresentationFormat>Widescreen</PresentationFormat>
  <Paragraphs>123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Cambria Math</vt:lpstr>
      <vt:lpstr>Courier New</vt:lpstr>
      <vt:lpstr>Open Sans</vt:lpstr>
      <vt:lpstr>Times New Roman</vt:lpstr>
      <vt:lpstr>Verdana</vt:lpstr>
      <vt:lpstr>Wingdings 2</vt:lpstr>
      <vt:lpstr>Office Theme</vt:lpstr>
      <vt:lpstr>INTRODUCTION TO correlation</vt:lpstr>
      <vt:lpstr>Relationships between variables</vt:lpstr>
      <vt:lpstr>correlation</vt:lpstr>
      <vt:lpstr>Direction of the Correlation</vt:lpstr>
      <vt:lpstr>Worked example</vt:lpstr>
      <vt:lpstr>Scatter diagram</vt:lpstr>
      <vt:lpstr>Pearson Correlation  coefficient</vt:lpstr>
      <vt:lpstr>Pearson Correlation  coefficient alternative</vt:lpstr>
      <vt:lpstr>Values of r</vt:lpstr>
      <vt:lpstr>Strength</vt:lpstr>
      <vt:lpstr>Compare correlations</vt:lpstr>
      <vt:lpstr>Advantage</vt:lpstr>
      <vt:lpstr>Disadvantage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Vikas tomer</cp:lastModifiedBy>
  <cp:revision>231</cp:revision>
  <dcterms:created xsi:type="dcterms:W3CDTF">2020-08-28T10:08:26Z</dcterms:created>
  <dcterms:modified xsi:type="dcterms:W3CDTF">2026-02-18T11:02:14Z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0x0101003A7DF6EF2098B34BB7951F7338C3D120</vt:lpwstr>
  </property>
</Properties>
</file>