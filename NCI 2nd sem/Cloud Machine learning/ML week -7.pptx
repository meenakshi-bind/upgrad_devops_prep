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5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</p:sldIdLst>
  <p:sldSz cx="12192000" cy="6858000"/>
  <p:notesSz cx="12192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20"/>
    <p:restoredTop sz="94712"/>
  </p:normalViewPr>
  <p:slideViewPr>
    <p:cSldViewPr>
      <p:cViewPr varScale="1">
        <p:scale>
          <a:sx n="104" d="100"/>
          <a:sy n="104" d="100"/>
        </p:scale>
        <p:origin x="232" y="2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606054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29133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896484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868595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838861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0948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800797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734598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428153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270198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379364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84624" y="2432606"/>
            <a:ext cx="6824345" cy="101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6FC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8367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291515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jp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naive_bayes.GaussianNB.html#sklearn.naive_bayes.GaussianNB" TargetMode="External"/><Relationship Id="rId2" Type="http://schemas.openxmlformats.org/officeDocument/2006/relationships/hyperlink" Target="https://scikit-learn.org/stable/modules/classes.html#module-sklearn.naive_baye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modules/generated/sklearn.naive_bayes.BernoulliNB.html#sklearn.naive_bayes.BernoulliNB" TargetMode="External"/><Relationship Id="rId4" Type="http://schemas.openxmlformats.org/officeDocument/2006/relationships/hyperlink" Target="https://scikit-learn.org/stable/modules/generated/sklearn.naive_bayes.MultinomialNB.html#sklearn.naive_bayes.MultinomialNB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00" b="1" dirty="0">
                <a:solidFill>
                  <a:srgbClr val="000000"/>
                </a:solidFill>
                <a:latin typeface="Cambria"/>
                <a:cs typeface="Cambria"/>
              </a:rPr>
              <a:t>Machine</a:t>
            </a:r>
            <a:r>
              <a:rPr sz="6500" b="1" spc="-1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6500" b="1" spc="-10" dirty="0">
                <a:solidFill>
                  <a:srgbClr val="000000"/>
                </a:solidFill>
                <a:latin typeface="Cambria"/>
                <a:cs typeface="Cambria"/>
              </a:rPr>
              <a:t>Learning</a:t>
            </a:r>
            <a:endParaRPr sz="65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77453" y="3920404"/>
            <a:ext cx="42373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7E7E7E"/>
                </a:solidFill>
                <a:latin typeface="Calibri"/>
                <a:cs typeface="Calibri"/>
              </a:rPr>
              <a:t>Naïve</a:t>
            </a:r>
            <a:r>
              <a:rPr sz="3200" spc="-114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7E7E7E"/>
                </a:solidFill>
                <a:latin typeface="Calibri"/>
                <a:cs typeface="Calibri"/>
              </a:rPr>
              <a:t>Bayes</a:t>
            </a:r>
            <a:r>
              <a:rPr sz="3200" spc="-114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7E7E7E"/>
                </a:solidFill>
                <a:latin typeface="Calibri"/>
                <a:cs typeface="Calibri"/>
              </a:rPr>
              <a:t>Classification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Opening</a:t>
            </a:r>
            <a:r>
              <a:rPr spc="-130" dirty="0"/>
              <a:t> </a:t>
            </a:r>
            <a:r>
              <a:rPr spc="-20" dirty="0"/>
              <a:t>Questions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2438400" y="3276600"/>
            <a:ext cx="10515600" cy="43513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63855" algn="l"/>
              </a:tabLst>
            </a:pPr>
            <a:r>
              <a:rPr dirty="0"/>
              <a:t>What</a:t>
            </a:r>
            <a:r>
              <a:rPr spc="-60" dirty="0"/>
              <a:t> </a:t>
            </a:r>
            <a:r>
              <a:rPr dirty="0"/>
              <a:t>is</a:t>
            </a:r>
            <a:r>
              <a:rPr spc="-7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Naïve</a:t>
            </a:r>
            <a:r>
              <a:rPr spc="-55" dirty="0"/>
              <a:t> </a:t>
            </a:r>
            <a:r>
              <a:rPr dirty="0"/>
              <a:t>Bayes</a:t>
            </a:r>
            <a:r>
              <a:rPr spc="-70" dirty="0"/>
              <a:t> </a:t>
            </a:r>
            <a:r>
              <a:rPr spc="-10" dirty="0"/>
              <a:t>Classifier?</a:t>
            </a:r>
          </a:p>
          <a:p>
            <a:pPr marL="363855" indent="-351155">
              <a:lnSpc>
                <a:spcPct val="100000"/>
              </a:lnSpc>
              <a:spcBef>
                <a:spcPts val="1800"/>
              </a:spcBef>
              <a:buFont typeface="Wingdings"/>
              <a:buChar char=""/>
              <a:tabLst>
                <a:tab pos="363855" algn="l"/>
              </a:tabLst>
            </a:pPr>
            <a:r>
              <a:rPr dirty="0"/>
              <a:t>What</a:t>
            </a:r>
            <a:r>
              <a:rPr spc="-65" dirty="0"/>
              <a:t> </a:t>
            </a:r>
            <a:r>
              <a:rPr dirty="0"/>
              <a:t>can</a:t>
            </a:r>
            <a:r>
              <a:rPr spc="-70" dirty="0"/>
              <a:t> </a:t>
            </a:r>
            <a:r>
              <a:rPr dirty="0"/>
              <a:t>we</a:t>
            </a:r>
            <a:r>
              <a:rPr spc="-65" dirty="0"/>
              <a:t> </a:t>
            </a:r>
            <a:r>
              <a:rPr dirty="0"/>
              <a:t>use</a:t>
            </a:r>
            <a:r>
              <a:rPr spc="-55" dirty="0"/>
              <a:t> </a:t>
            </a:r>
            <a:r>
              <a:rPr dirty="0"/>
              <a:t>Naïve</a:t>
            </a:r>
            <a:r>
              <a:rPr spc="-60" dirty="0"/>
              <a:t> </a:t>
            </a:r>
            <a:r>
              <a:rPr dirty="0"/>
              <a:t>Bayes</a:t>
            </a:r>
            <a:r>
              <a:rPr spc="-70" dirty="0"/>
              <a:t> </a:t>
            </a:r>
            <a:r>
              <a:rPr spc="-10" dirty="0"/>
              <a:t>Classifiers</a:t>
            </a:r>
            <a:r>
              <a:rPr spc="-110" dirty="0"/>
              <a:t> </a:t>
            </a:r>
            <a:r>
              <a:rPr spc="-20" dirty="0"/>
              <a:t>for?</a:t>
            </a:r>
          </a:p>
          <a:p>
            <a:pPr marL="363855" marR="335280" indent="-351790">
              <a:lnSpc>
                <a:spcPct val="100000"/>
              </a:lnSpc>
              <a:spcBef>
                <a:spcPts val="1800"/>
              </a:spcBef>
              <a:buFont typeface="Wingdings"/>
              <a:buChar char=""/>
              <a:tabLst>
                <a:tab pos="363855" algn="l"/>
              </a:tabLst>
            </a:pPr>
            <a:r>
              <a:rPr dirty="0"/>
              <a:t>What</a:t>
            </a:r>
            <a:r>
              <a:rPr spc="-55" dirty="0"/>
              <a:t> </a:t>
            </a:r>
            <a:r>
              <a:rPr dirty="0"/>
              <a:t>is</a:t>
            </a:r>
            <a:r>
              <a:rPr spc="-60" dirty="0"/>
              <a:t> </a:t>
            </a:r>
            <a:r>
              <a:rPr dirty="0"/>
              <a:t>posterior</a:t>
            </a:r>
            <a:r>
              <a:rPr spc="-55" dirty="0"/>
              <a:t> </a:t>
            </a:r>
            <a:r>
              <a:rPr dirty="0"/>
              <a:t>probability</a:t>
            </a:r>
            <a:r>
              <a:rPr spc="-6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how</a:t>
            </a:r>
            <a:r>
              <a:rPr spc="-55" dirty="0"/>
              <a:t> </a:t>
            </a:r>
            <a:r>
              <a:rPr dirty="0"/>
              <a:t>it</a:t>
            </a:r>
            <a:r>
              <a:rPr spc="-55" dirty="0"/>
              <a:t> </a:t>
            </a:r>
            <a:r>
              <a:rPr spc="-25" dirty="0"/>
              <a:t>is </a:t>
            </a:r>
            <a:r>
              <a:rPr dirty="0"/>
              <a:t>applied</a:t>
            </a:r>
            <a:r>
              <a:rPr spc="-6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Naïve</a:t>
            </a:r>
            <a:r>
              <a:rPr spc="-75" dirty="0"/>
              <a:t> </a:t>
            </a:r>
            <a:r>
              <a:rPr spc="-10" dirty="0"/>
              <a:t>Bayes</a:t>
            </a:r>
            <a:r>
              <a:rPr spc="-85" dirty="0"/>
              <a:t> </a:t>
            </a:r>
            <a:r>
              <a:rPr spc="-10" dirty="0"/>
              <a:t>Classifiers?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2612" y="1487331"/>
            <a:ext cx="9076690" cy="438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390" marR="339725" indent="-31432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dirty="0">
                <a:latin typeface="Calibri"/>
                <a:cs typeface="Calibri"/>
              </a:rPr>
              <a:t>When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meteorologist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provides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weather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forecast,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precipitation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typically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predicted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using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terms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such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"70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percent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chance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rain".</a:t>
            </a:r>
            <a:endParaRPr sz="2200">
              <a:latin typeface="Calibri"/>
              <a:cs typeface="Calibri"/>
            </a:endParaRPr>
          </a:p>
          <a:p>
            <a:pPr marL="327025" marR="161290" indent="-314325">
              <a:lnSpc>
                <a:spcPct val="100000"/>
              </a:lnSpc>
              <a:spcBef>
                <a:spcPts val="2640"/>
              </a:spcBef>
              <a:buFont typeface="Wingdings"/>
              <a:buChar char=""/>
              <a:tabLst>
                <a:tab pos="327025" algn="l"/>
              </a:tabLst>
            </a:pPr>
            <a:r>
              <a:rPr sz="2200" dirty="0">
                <a:latin typeface="Calibri"/>
                <a:cs typeface="Calibri"/>
              </a:rPr>
              <a:t>These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estimates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based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probabilistic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methods,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methods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concerned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describing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uncertainty.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They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past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events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extrapolate </a:t>
            </a:r>
            <a:r>
              <a:rPr sz="2200" dirty="0">
                <a:latin typeface="Calibri"/>
                <a:cs typeface="Calibri"/>
              </a:rPr>
              <a:t>future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events.</a:t>
            </a:r>
            <a:endParaRPr sz="2200">
              <a:latin typeface="Calibri"/>
              <a:cs typeface="Calibri"/>
            </a:endParaRPr>
          </a:p>
          <a:p>
            <a:pPr marL="327025" marR="220979" indent="-314325" algn="just">
              <a:lnSpc>
                <a:spcPct val="100000"/>
              </a:lnSpc>
              <a:spcBef>
                <a:spcPts val="2640"/>
              </a:spcBef>
              <a:buFont typeface="Wingdings"/>
              <a:buChar char=""/>
              <a:tabLst>
                <a:tab pos="327025" algn="l"/>
              </a:tabLst>
            </a:pPr>
            <a:r>
              <a:rPr sz="2200" dirty="0">
                <a:latin typeface="Calibri"/>
                <a:cs typeface="Calibri"/>
              </a:rPr>
              <a:t>In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case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weather,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chance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rain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describes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proportion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prior </a:t>
            </a:r>
            <a:r>
              <a:rPr sz="2200" dirty="0">
                <a:latin typeface="Calibri"/>
                <a:cs typeface="Calibri"/>
              </a:rPr>
              <a:t>days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similar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measurable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atmospheric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conditions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precipitation occurred.</a:t>
            </a:r>
            <a:endParaRPr sz="2200">
              <a:latin typeface="Calibri"/>
              <a:cs typeface="Calibri"/>
            </a:endParaRPr>
          </a:p>
          <a:p>
            <a:pPr marL="327025" marR="5080" indent="-314325">
              <a:lnSpc>
                <a:spcPct val="100000"/>
              </a:lnSpc>
              <a:spcBef>
                <a:spcPts val="2645"/>
              </a:spcBef>
              <a:buFont typeface="Wingdings"/>
              <a:buChar char=""/>
              <a:tabLst>
                <a:tab pos="327025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70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percent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chance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rain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therefore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implies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7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10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past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cases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similar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weather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patterns,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precipitation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occurred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somewhere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area.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Background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37059" y="1633854"/>
            <a:ext cx="8529320" cy="3926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Naïve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Bayes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statistical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classification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technique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 </a:t>
            </a:r>
            <a:r>
              <a:rPr sz="2400" b="1" dirty="0">
                <a:latin typeface="Calibri"/>
                <a:cs typeface="Calibri"/>
              </a:rPr>
              <a:t>Bayes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Theorem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simplest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supervised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learning algorithms.</a:t>
            </a:r>
            <a:endParaRPr sz="2400">
              <a:latin typeface="Calibri"/>
              <a:cs typeface="Calibri"/>
            </a:endParaRPr>
          </a:p>
          <a:p>
            <a:pPr marL="364490" marR="329565" indent="-35242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64490" algn="l"/>
              </a:tabLst>
            </a:pPr>
            <a:r>
              <a:rPr sz="2400" dirty="0">
                <a:latin typeface="Calibri"/>
                <a:cs typeface="Calibri"/>
              </a:rPr>
              <a:t>Naïve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Bayes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Bayes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theorem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prediction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unknown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class.</a:t>
            </a:r>
            <a:endParaRPr sz="2400">
              <a:latin typeface="Calibri"/>
              <a:cs typeface="Calibri"/>
            </a:endParaRPr>
          </a:p>
          <a:p>
            <a:pPr marL="355600" marR="610235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Naïve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Bayes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classifiers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accuracy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large datasets.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Somethings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cover:</a:t>
            </a:r>
            <a:endParaRPr sz="2400">
              <a:latin typeface="Calibri"/>
              <a:cs typeface="Calibri"/>
            </a:endParaRPr>
          </a:p>
          <a:p>
            <a:pPr marL="803275" lvl="1" indent="-31496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803275" algn="l"/>
              </a:tabLst>
            </a:pPr>
            <a:r>
              <a:rPr sz="2400" dirty="0">
                <a:latin typeface="Calibri"/>
                <a:cs typeface="Calibri"/>
              </a:rPr>
              <a:t>Basic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principles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utilized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Naïve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Bayes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1346" y="1483042"/>
            <a:ext cx="8714740" cy="398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326390" indent="-342900" algn="just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Naïve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Bayes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about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prior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events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estimate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probability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of </a:t>
            </a:r>
            <a:r>
              <a:rPr sz="2200" dirty="0">
                <a:latin typeface="Calibri"/>
                <a:cs typeface="Calibri"/>
              </a:rPr>
              <a:t>future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events.</a:t>
            </a:r>
            <a:endParaRPr sz="2200">
              <a:latin typeface="Calibri"/>
              <a:cs typeface="Calibri"/>
            </a:endParaRPr>
          </a:p>
          <a:p>
            <a:pPr marL="802640" marR="177800" lvl="1" indent="-314325" algn="just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Wingdings"/>
              <a:buChar char=""/>
              <a:tabLst>
                <a:tab pos="802640" algn="l"/>
              </a:tabLst>
            </a:pPr>
            <a:r>
              <a:rPr sz="2200" dirty="0">
                <a:solidFill>
                  <a:srgbClr val="006FC0"/>
                </a:solidFill>
                <a:latin typeface="Calibri"/>
                <a:cs typeface="Calibri"/>
              </a:rPr>
              <a:t>For</a:t>
            </a:r>
            <a:r>
              <a:rPr sz="2200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6FC0"/>
                </a:solidFill>
                <a:latin typeface="Calibri"/>
                <a:cs typeface="Calibri"/>
              </a:rPr>
              <a:t>instance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common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application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naïve</a:t>
            </a:r>
            <a:r>
              <a:rPr sz="2200" i="1" spc="-6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Bayes</a:t>
            </a:r>
            <a:r>
              <a:rPr sz="2200" i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filtering </a:t>
            </a:r>
            <a:r>
              <a:rPr sz="2200" dirty="0">
                <a:latin typeface="Calibri"/>
                <a:cs typeface="Calibri"/>
              </a:rPr>
              <a:t>uses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frequency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of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words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past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junk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email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messages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identify </a:t>
            </a:r>
            <a:r>
              <a:rPr sz="2200" dirty="0">
                <a:latin typeface="Calibri"/>
                <a:cs typeface="Calibri"/>
              </a:rPr>
              <a:t>new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junk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mail.</a:t>
            </a:r>
            <a:endParaRPr sz="2200">
              <a:latin typeface="Calibri"/>
              <a:cs typeface="Calibri"/>
            </a:endParaRPr>
          </a:p>
          <a:p>
            <a:pPr marL="354965" marR="225425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Naïve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Bayes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classifier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assumes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effect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particular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feature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0" dirty="0">
                <a:latin typeface="Calibri"/>
                <a:cs typeface="Calibri"/>
              </a:rPr>
              <a:t> a </a:t>
            </a:r>
            <a:r>
              <a:rPr sz="2200" dirty="0">
                <a:latin typeface="Calibri"/>
                <a:cs typeface="Calibri"/>
              </a:rPr>
              <a:t>class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independent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other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features</a:t>
            </a:r>
            <a:endParaRPr sz="2200">
              <a:latin typeface="Calibri"/>
              <a:cs typeface="Calibri"/>
            </a:endParaRPr>
          </a:p>
          <a:p>
            <a:pPr marL="354965" marR="5080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This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assumption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simplifies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computation,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that's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considered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as </a:t>
            </a:r>
            <a:r>
              <a:rPr sz="2200" spc="-10" dirty="0">
                <a:latin typeface="Calibri"/>
                <a:cs typeface="Calibri"/>
              </a:rPr>
              <a:t>Naïve.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sz="2200" dirty="0">
                <a:latin typeface="Calibri"/>
                <a:cs typeface="Calibri"/>
              </a:rPr>
              <a:t>This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assumption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called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class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conditional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independence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0069" y="1730523"/>
            <a:ext cx="8384540" cy="3408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474345" indent="-35179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63855" algn="l"/>
              </a:tabLst>
            </a:pPr>
            <a:r>
              <a:rPr sz="2400" dirty="0">
                <a:latin typeface="Calibri"/>
                <a:cs typeface="Calibri"/>
              </a:rPr>
              <a:t>Classifiers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Bayesian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methods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training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calculate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observed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probability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based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feature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values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363855" marR="368935" indent="-351790">
              <a:lnSpc>
                <a:spcPct val="100000"/>
              </a:lnSpc>
              <a:spcBef>
                <a:spcPts val="1800"/>
              </a:spcBef>
              <a:buFont typeface="Wingdings"/>
              <a:buChar char=""/>
              <a:tabLst>
                <a:tab pos="363855" algn="l"/>
              </a:tabLst>
            </a:pPr>
            <a:r>
              <a:rPr lang="en-IN" sz="2400" dirty="0">
                <a:latin typeface="Calibri"/>
                <a:cs typeface="Calibri"/>
              </a:rPr>
              <a:t>When</a:t>
            </a:r>
            <a:r>
              <a:rPr lang="en-IN" sz="2400" spc="-60" dirty="0">
                <a:latin typeface="Calibri"/>
                <a:cs typeface="Calibri"/>
              </a:rPr>
              <a:t> </a:t>
            </a:r>
            <a:r>
              <a:rPr lang="en-IN" sz="2400" dirty="0">
                <a:latin typeface="Calibri"/>
                <a:cs typeface="Calibri"/>
              </a:rPr>
              <a:t>the</a:t>
            </a:r>
            <a:r>
              <a:rPr lang="en-IN" sz="2400" spc="-65" dirty="0">
                <a:latin typeface="Calibri"/>
                <a:cs typeface="Calibri"/>
              </a:rPr>
              <a:t> </a:t>
            </a:r>
            <a:r>
              <a:rPr lang="en-IN" sz="2400" dirty="0">
                <a:latin typeface="Calibri"/>
                <a:cs typeface="Calibri"/>
              </a:rPr>
              <a:t>classifier</a:t>
            </a:r>
            <a:r>
              <a:rPr lang="en-IN" sz="2400" spc="-65" dirty="0">
                <a:latin typeface="Calibri"/>
                <a:cs typeface="Calibri"/>
              </a:rPr>
              <a:t> </a:t>
            </a:r>
            <a:r>
              <a:rPr lang="en-IN" sz="2400" dirty="0">
                <a:latin typeface="Calibri"/>
                <a:cs typeface="Calibri"/>
              </a:rPr>
              <a:t>is</a:t>
            </a:r>
            <a:r>
              <a:rPr lang="en-IN" sz="2400" spc="-70" dirty="0">
                <a:latin typeface="Calibri"/>
                <a:cs typeface="Calibri"/>
              </a:rPr>
              <a:t> </a:t>
            </a:r>
            <a:r>
              <a:rPr lang="en-IN" sz="2400" dirty="0">
                <a:latin typeface="Calibri"/>
                <a:cs typeface="Calibri"/>
              </a:rPr>
              <a:t>used</a:t>
            </a:r>
            <a:r>
              <a:rPr lang="en-IN" sz="2400" spc="-60" dirty="0">
                <a:latin typeface="Calibri"/>
                <a:cs typeface="Calibri"/>
              </a:rPr>
              <a:t> </a:t>
            </a:r>
            <a:r>
              <a:rPr lang="en-IN" sz="2400" dirty="0">
                <a:latin typeface="Calibri"/>
                <a:cs typeface="Calibri"/>
              </a:rPr>
              <a:t>later</a:t>
            </a:r>
            <a:r>
              <a:rPr lang="en-IN" sz="2400" spc="-70" dirty="0">
                <a:latin typeface="Calibri"/>
                <a:cs typeface="Calibri"/>
              </a:rPr>
              <a:t> </a:t>
            </a:r>
            <a:r>
              <a:rPr lang="en-IN" sz="2400" dirty="0">
                <a:latin typeface="Calibri"/>
                <a:cs typeface="Calibri"/>
              </a:rPr>
              <a:t>on</a:t>
            </a:r>
            <a:r>
              <a:rPr lang="en-IN" sz="2400" spc="-75" dirty="0">
                <a:latin typeface="Calibri"/>
                <a:cs typeface="Calibri"/>
              </a:rPr>
              <a:t> </a:t>
            </a:r>
            <a:r>
              <a:rPr lang="en-IN" sz="2400" dirty="0" err="1">
                <a:latin typeface="Calibri"/>
                <a:cs typeface="Calibri"/>
              </a:rPr>
              <a:t>unlabeled</a:t>
            </a:r>
            <a:r>
              <a:rPr lang="en-IN" sz="2400" spc="-50" dirty="0">
                <a:latin typeface="Calibri"/>
                <a:cs typeface="Calibri"/>
              </a:rPr>
              <a:t> </a:t>
            </a:r>
            <a:r>
              <a:rPr lang="en-IN" sz="2400" dirty="0">
                <a:latin typeface="Calibri"/>
                <a:cs typeface="Calibri"/>
              </a:rPr>
              <a:t>data</a:t>
            </a:r>
            <a:r>
              <a:rPr lang="en-IN" sz="2400" spc="-75" dirty="0">
                <a:latin typeface="Calibri"/>
                <a:cs typeface="Calibri"/>
              </a:rPr>
              <a:t> </a:t>
            </a:r>
            <a:r>
              <a:rPr lang="en-IN" sz="2400" dirty="0">
                <a:latin typeface="Calibri"/>
                <a:cs typeface="Calibri"/>
              </a:rPr>
              <a:t>(test</a:t>
            </a:r>
            <a:r>
              <a:rPr lang="en-IN" sz="2400" spc="-70" dirty="0">
                <a:latin typeface="Calibri"/>
                <a:cs typeface="Calibri"/>
              </a:rPr>
              <a:t> </a:t>
            </a:r>
            <a:r>
              <a:rPr lang="en-IN" sz="2400" spc="-10" dirty="0">
                <a:latin typeface="Calibri"/>
                <a:cs typeface="Calibri"/>
              </a:rPr>
              <a:t>data), </a:t>
            </a:r>
            <a:r>
              <a:rPr lang="en-IN" sz="2400" dirty="0">
                <a:latin typeface="Calibri"/>
                <a:cs typeface="Calibri"/>
              </a:rPr>
              <a:t>it</a:t>
            </a:r>
            <a:r>
              <a:rPr lang="en-IN" sz="2400" spc="-65" dirty="0">
                <a:latin typeface="Calibri"/>
                <a:cs typeface="Calibri"/>
              </a:rPr>
              <a:t> </a:t>
            </a:r>
            <a:r>
              <a:rPr lang="en-IN" sz="2400" dirty="0">
                <a:latin typeface="Calibri"/>
                <a:cs typeface="Calibri"/>
              </a:rPr>
              <a:t>uses</a:t>
            </a:r>
            <a:r>
              <a:rPr lang="en-IN" sz="2400" spc="-50" dirty="0">
                <a:latin typeface="Calibri"/>
                <a:cs typeface="Calibri"/>
              </a:rPr>
              <a:t> </a:t>
            </a:r>
            <a:r>
              <a:rPr lang="en-IN" sz="2400" dirty="0">
                <a:latin typeface="Calibri"/>
                <a:cs typeface="Calibri"/>
              </a:rPr>
              <a:t>the</a:t>
            </a:r>
            <a:r>
              <a:rPr lang="en-IN" sz="2400" spc="-60" dirty="0">
                <a:latin typeface="Calibri"/>
                <a:cs typeface="Calibri"/>
              </a:rPr>
              <a:t> </a:t>
            </a:r>
            <a:r>
              <a:rPr lang="en-IN" sz="2400" dirty="0">
                <a:latin typeface="Calibri"/>
                <a:cs typeface="Calibri"/>
              </a:rPr>
              <a:t>observed</a:t>
            </a:r>
            <a:r>
              <a:rPr lang="en-IN" sz="2400" spc="-40" dirty="0">
                <a:latin typeface="Calibri"/>
                <a:cs typeface="Calibri"/>
              </a:rPr>
              <a:t> </a:t>
            </a:r>
            <a:r>
              <a:rPr lang="en-IN" sz="2400" dirty="0">
                <a:latin typeface="Calibri"/>
                <a:cs typeface="Calibri"/>
              </a:rPr>
              <a:t>probabilities</a:t>
            </a:r>
            <a:r>
              <a:rPr lang="en-IN" sz="2400" spc="-60" dirty="0">
                <a:latin typeface="Calibri"/>
                <a:cs typeface="Calibri"/>
              </a:rPr>
              <a:t> </a:t>
            </a:r>
            <a:r>
              <a:rPr lang="en-IN" sz="2400" dirty="0">
                <a:latin typeface="Calibri"/>
                <a:cs typeface="Calibri"/>
              </a:rPr>
              <a:t>to</a:t>
            </a:r>
            <a:r>
              <a:rPr lang="en-IN" sz="2400" spc="-65" dirty="0">
                <a:latin typeface="Calibri"/>
                <a:cs typeface="Calibri"/>
              </a:rPr>
              <a:t> </a:t>
            </a:r>
            <a:r>
              <a:rPr lang="en-IN" sz="2400" b="1" dirty="0">
                <a:latin typeface="Calibri"/>
                <a:cs typeface="Calibri"/>
              </a:rPr>
              <a:t>predict</a:t>
            </a:r>
            <a:r>
              <a:rPr lang="en-IN" sz="2400" b="1" spc="-60" dirty="0">
                <a:latin typeface="Calibri"/>
                <a:cs typeface="Calibri"/>
              </a:rPr>
              <a:t> </a:t>
            </a:r>
            <a:r>
              <a:rPr lang="en-IN" sz="2400" dirty="0">
                <a:latin typeface="Calibri"/>
                <a:cs typeface="Calibri"/>
              </a:rPr>
              <a:t>the</a:t>
            </a:r>
            <a:r>
              <a:rPr lang="en-IN" sz="2400" spc="-50" dirty="0">
                <a:latin typeface="Calibri"/>
                <a:cs typeface="Calibri"/>
              </a:rPr>
              <a:t> </a:t>
            </a:r>
            <a:r>
              <a:rPr lang="en-IN" sz="2400" dirty="0">
                <a:latin typeface="Calibri"/>
                <a:cs typeface="Calibri"/>
              </a:rPr>
              <a:t>most</a:t>
            </a:r>
            <a:r>
              <a:rPr lang="en-IN" sz="2400" spc="-75" dirty="0">
                <a:latin typeface="Calibri"/>
                <a:cs typeface="Calibri"/>
              </a:rPr>
              <a:t> </a:t>
            </a:r>
            <a:r>
              <a:rPr lang="en-IN" sz="2400" spc="-10" dirty="0">
                <a:latin typeface="Calibri"/>
                <a:cs typeface="Calibri"/>
              </a:rPr>
              <a:t>likely </a:t>
            </a:r>
            <a:r>
              <a:rPr lang="en-IN" sz="2400" dirty="0">
                <a:latin typeface="Calibri"/>
                <a:cs typeface="Calibri"/>
              </a:rPr>
              <a:t>class</a:t>
            </a:r>
            <a:r>
              <a:rPr lang="en-IN" sz="2400" spc="-55" dirty="0">
                <a:latin typeface="Calibri"/>
                <a:cs typeface="Calibri"/>
              </a:rPr>
              <a:t> </a:t>
            </a:r>
            <a:r>
              <a:rPr lang="en-IN" sz="2400" dirty="0">
                <a:latin typeface="Calibri"/>
                <a:cs typeface="Calibri"/>
              </a:rPr>
              <a:t>for</a:t>
            </a:r>
            <a:r>
              <a:rPr lang="en-IN" sz="2400" spc="-45" dirty="0">
                <a:latin typeface="Calibri"/>
                <a:cs typeface="Calibri"/>
              </a:rPr>
              <a:t> </a:t>
            </a:r>
            <a:r>
              <a:rPr lang="en-IN" sz="2400" dirty="0">
                <a:latin typeface="Calibri"/>
                <a:cs typeface="Calibri"/>
              </a:rPr>
              <a:t>the</a:t>
            </a:r>
            <a:r>
              <a:rPr lang="en-IN" sz="2400" spc="-40" dirty="0">
                <a:latin typeface="Calibri"/>
                <a:cs typeface="Calibri"/>
              </a:rPr>
              <a:t> </a:t>
            </a:r>
            <a:r>
              <a:rPr lang="en-IN" sz="2400" dirty="0">
                <a:latin typeface="Calibri"/>
                <a:cs typeface="Calibri"/>
              </a:rPr>
              <a:t>new</a:t>
            </a:r>
            <a:r>
              <a:rPr lang="en-IN" sz="2400" spc="-50" dirty="0">
                <a:latin typeface="Calibri"/>
                <a:cs typeface="Calibri"/>
              </a:rPr>
              <a:t> </a:t>
            </a:r>
            <a:r>
              <a:rPr lang="en-IN" sz="2400" spc="-10" dirty="0">
                <a:latin typeface="Calibri"/>
                <a:cs typeface="Calibri"/>
              </a:rPr>
              <a:t>features.</a:t>
            </a:r>
            <a:endParaRPr lang="en-IN" sz="2400" dirty="0">
              <a:latin typeface="Calibri"/>
              <a:cs typeface="Calibri"/>
            </a:endParaRPr>
          </a:p>
          <a:p>
            <a:pPr marL="363220" marR="5080" indent="-351155">
              <a:lnSpc>
                <a:spcPct val="100000"/>
              </a:lnSpc>
              <a:spcBef>
                <a:spcPts val="1800"/>
              </a:spcBef>
              <a:buFont typeface="Wingdings"/>
              <a:buChar char=""/>
              <a:tabLst>
                <a:tab pos="363220" algn="l"/>
              </a:tabLst>
            </a:pPr>
            <a:r>
              <a:rPr sz="2400" dirty="0">
                <a:latin typeface="Calibri"/>
                <a:cs typeface="Calibri"/>
              </a:rPr>
              <a:t>It's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idea,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method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often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results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sophisticated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algorithms.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Introduction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6530" y="1457506"/>
            <a:ext cx="8841105" cy="433197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63855" indent="-351155">
              <a:lnSpc>
                <a:spcPct val="100000"/>
              </a:lnSpc>
              <a:spcBef>
                <a:spcPts val="765"/>
              </a:spcBef>
              <a:buFont typeface="Wingdings"/>
              <a:buChar char=""/>
              <a:tabLst>
                <a:tab pos="363855" algn="l"/>
              </a:tabLst>
            </a:pPr>
            <a:r>
              <a:rPr sz="2400" spc="-10" dirty="0">
                <a:latin typeface="Calibri"/>
                <a:cs typeface="Calibri"/>
              </a:rPr>
              <a:t>Bayesian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classifiers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been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for:</a:t>
            </a:r>
            <a:endParaRPr sz="2400">
              <a:latin typeface="Calibri"/>
              <a:cs typeface="Calibri"/>
            </a:endParaRPr>
          </a:p>
          <a:p>
            <a:pPr marL="715010" marR="1261110" lvl="1" indent="-285750">
              <a:lnSpc>
                <a:spcPct val="100000"/>
              </a:lnSpc>
              <a:spcBef>
                <a:spcPts val="615"/>
              </a:spcBef>
              <a:buSzPct val="79545"/>
              <a:buFont typeface="Courier New"/>
              <a:buChar char="o"/>
              <a:tabLst>
                <a:tab pos="715010" algn="l"/>
              </a:tabLst>
            </a:pPr>
            <a:r>
              <a:rPr sz="2200" spc="-50" dirty="0">
                <a:latin typeface="Calibri"/>
                <a:cs typeface="Calibri"/>
              </a:rPr>
              <a:t>Text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classification,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such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junk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email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(spam)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filtering,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author identification,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topic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categorization</a:t>
            </a:r>
            <a:endParaRPr sz="2200">
              <a:latin typeface="Calibri"/>
              <a:cs typeface="Calibri"/>
            </a:endParaRPr>
          </a:p>
          <a:p>
            <a:pPr marL="714375" lvl="1" indent="-285115">
              <a:lnSpc>
                <a:spcPct val="100000"/>
              </a:lnSpc>
              <a:spcBef>
                <a:spcPts val="600"/>
              </a:spcBef>
              <a:buSzPct val="79545"/>
              <a:buFont typeface="Courier New"/>
              <a:buChar char="o"/>
              <a:tabLst>
                <a:tab pos="714375" algn="l"/>
              </a:tabLst>
            </a:pPr>
            <a:r>
              <a:rPr sz="2200" dirty="0">
                <a:latin typeface="Calibri"/>
                <a:cs typeface="Calibri"/>
              </a:rPr>
              <a:t>Sentiment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analysis</a:t>
            </a:r>
            <a:endParaRPr sz="2200">
              <a:latin typeface="Calibri"/>
              <a:cs typeface="Calibri"/>
            </a:endParaRPr>
          </a:p>
          <a:p>
            <a:pPr marL="714375" lvl="1" indent="-285115">
              <a:lnSpc>
                <a:spcPct val="100000"/>
              </a:lnSpc>
              <a:spcBef>
                <a:spcPts val="600"/>
              </a:spcBef>
              <a:buSzPct val="79545"/>
              <a:buFont typeface="Courier New"/>
              <a:buChar char="o"/>
              <a:tabLst>
                <a:tab pos="714375" algn="l"/>
              </a:tabLst>
            </a:pPr>
            <a:r>
              <a:rPr sz="2200" dirty="0">
                <a:latin typeface="Calibri"/>
                <a:cs typeface="Calibri"/>
              </a:rPr>
              <a:t>Intrusion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detection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anomaly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detection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computer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networks</a:t>
            </a:r>
            <a:endParaRPr sz="2200">
              <a:latin typeface="Calibri"/>
              <a:cs typeface="Calibri"/>
            </a:endParaRPr>
          </a:p>
          <a:p>
            <a:pPr marL="714375" lvl="1" indent="-285115">
              <a:lnSpc>
                <a:spcPct val="100000"/>
              </a:lnSpc>
              <a:spcBef>
                <a:spcPts val="600"/>
              </a:spcBef>
              <a:buSzPct val="79545"/>
              <a:buFont typeface="Courier New"/>
              <a:buChar char="o"/>
              <a:tabLst>
                <a:tab pos="714375" algn="l"/>
              </a:tabLst>
            </a:pPr>
            <a:r>
              <a:rPr sz="2200" dirty="0">
                <a:latin typeface="Calibri"/>
                <a:cs typeface="Calibri"/>
              </a:rPr>
              <a:t>Diagnosing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medical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conditions,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given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observed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symptoms</a:t>
            </a:r>
            <a:endParaRPr sz="2200">
              <a:latin typeface="Calibri"/>
              <a:cs typeface="Calibri"/>
            </a:endParaRPr>
          </a:p>
          <a:p>
            <a:pPr marL="714375" lvl="1" indent="-285115">
              <a:lnSpc>
                <a:spcPct val="100000"/>
              </a:lnSpc>
              <a:spcBef>
                <a:spcPts val="600"/>
              </a:spcBef>
              <a:buSzPct val="79545"/>
              <a:buFont typeface="Courier New"/>
              <a:buChar char="o"/>
              <a:tabLst>
                <a:tab pos="714375" algn="l"/>
              </a:tabLst>
            </a:pPr>
            <a:r>
              <a:rPr sz="2200" spc="-10" dirty="0">
                <a:latin typeface="Calibri"/>
                <a:cs typeface="Calibri"/>
              </a:rPr>
              <a:t>Recommender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systems</a:t>
            </a:r>
            <a:endParaRPr sz="2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80"/>
              </a:spcBef>
              <a:buFont typeface="Courier New"/>
              <a:buChar char="o"/>
            </a:pPr>
            <a:endParaRPr sz="2200">
              <a:latin typeface="Calibri"/>
              <a:cs typeface="Calibri"/>
            </a:endParaRPr>
          </a:p>
          <a:p>
            <a:pPr marL="326390" marR="196215" indent="-314325">
              <a:lnSpc>
                <a:spcPct val="100000"/>
              </a:lnSpc>
              <a:buFont typeface="Wingdings"/>
              <a:buChar char=""/>
              <a:tabLst>
                <a:tab pos="326390" algn="l"/>
              </a:tabLst>
            </a:pPr>
            <a:r>
              <a:rPr sz="2400" spc="-30" dirty="0">
                <a:latin typeface="Calibri"/>
                <a:cs typeface="Calibri"/>
              </a:rPr>
              <a:t>Typically,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Bayesian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classifiers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best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applied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which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numerous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considered simultaneously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estimate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outcome.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9446" y="1491772"/>
            <a:ext cx="8875395" cy="4233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390" marR="207645" indent="-31432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26390" algn="l"/>
              </a:tabLst>
            </a:pP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ignore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weak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effects, Bayesian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methods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utilize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all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available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evidence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subtly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predictions.</a:t>
            </a:r>
            <a:endParaRPr sz="2400">
              <a:latin typeface="Calibri"/>
              <a:cs typeface="Calibri"/>
            </a:endParaRPr>
          </a:p>
          <a:p>
            <a:pPr marL="326390" marR="622935" indent="-31432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26390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relatively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effects,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taken </a:t>
            </a:r>
            <a:r>
              <a:rPr sz="2400" dirty="0">
                <a:latin typeface="Calibri"/>
                <a:cs typeface="Calibri"/>
              </a:rPr>
              <a:t>together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impact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could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quite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large.</a:t>
            </a:r>
            <a:endParaRPr sz="2400">
              <a:latin typeface="Calibri"/>
              <a:cs typeface="Calibri"/>
            </a:endParaRPr>
          </a:p>
          <a:p>
            <a:pPr marL="326390" marR="229870" indent="-31432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26390" algn="l"/>
              </a:tabLst>
            </a:pPr>
            <a:r>
              <a:rPr sz="2400" spc="-10" dirty="0">
                <a:latin typeface="Calibri"/>
                <a:cs typeface="Calibri"/>
              </a:rPr>
              <a:t>Bayesian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theory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rooted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estimated </a:t>
            </a:r>
            <a:r>
              <a:rPr sz="2400" b="1" i="1" dirty="0">
                <a:latin typeface="Calibri"/>
                <a:cs typeface="Calibri"/>
              </a:rPr>
              <a:t>likelihood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of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an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event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should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be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based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on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the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evidence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at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hand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715010" marR="5080" lvl="1" indent="-266700">
              <a:lnSpc>
                <a:spcPct val="100000"/>
              </a:lnSpc>
              <a:spcBef>
                <a:spcPts val="610"/>
              </a:spcBef>
              <a:buSzPct val="79545"/>
              <a:buFont typeface="Courier New"/>
              <a:buChar char="o"/>
              <a:tabLst>
                <a:tab pos="715010" algn="l"/>
              </a:tabLst>
            </a:pPr>
            <a:r>
              <a:rPr sz="2200" b="1" spc="-10" dirty="0">
                <a:latin typeface="Calibri"/>
                <a:cs typeface="Calibri"/>
              </a:rPr>
              <a:t>Events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possible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outcomes,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such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sunny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rainy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weather,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heads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tails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result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coin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flip,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email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messages.</a:t>
            </a:r>
            <a:endParaRPr sz="2200">
              <a:latin typeface="Calibri"/>
              <a:cs typeface="Calibri"/>
            </a:endParaRPr>
          </a:p>
          <a:p>
            <a:pPr marL="713740" marR="593090" lvl="1" indent="-266065">
              <a:lnSpc>
                <a:spcPct val="100000"/>
              </a:lnSpc>
              <a:spcBef>
                <a:spcPts val="605"/>
              </a:spcBef>
              <a:buSzPct val="79545"/>
              <a:buFont typeface="Courier New"/>
              <a:buChar char="o"/>
              <a:tabLst>
                <a:tab pos="715010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trial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single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opportunity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event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occur,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such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day's 	</a:t>
            </a:r>
            <a:r>
              <a:rPr sz="2200" spc="-25" dirty="0">
                <a:latin typeface="Calibri"/>
                <a:cs typeface="Calibri"/>
              </a:rPr>
              <a:t>weather,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coin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flip,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email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message.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0082" y="1351650"/>
            <a:ext cx="9801860" cy="4578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16865" indent="-34353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probability</a:t>
            </a:r>
            <a:r>
              <a:rPr sz="2200" b="1" i="1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event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estimated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observed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dividing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trials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event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occurred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total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trials.</a:t>
            </a:r>
            <a:endParaRPr sz="2200" dirty="0">
              <a:latin typeface="Calibri"/>
              <a:cs typeface="Calibri"/>
            </a:endParaRPr>
          </a:p>
          <a:p>
            <a:pPr marL="715010" marR="163830" lvl="1" indent="-266700">
              <a:lnSpc>
                <a:spcPct val="100000"/>
              </a:lnSpc>
              <a:spcBef>
                <a:spcPts val="415"/>
              </a:spcBef>
              <a:buSzPct val="80000"/>
              <a:buFont typeface="Courier New"/>
              <a:buChar char="o"/>
              <a:tabLst>
                <a:tab pos="715010" algn="l"/>
              </a:tabLst>
            </a:pPr>
            <a:r>
              <a:rPr sz="2000" dirty="0">
                <a:latin typeface="Calibri"/>
                <a:cs typeface="Calibri"/>
              </a:rPr>
              <a:t>For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instance,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rained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days,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estimated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30 </a:t>
            </a:r>
            <a:r>
              <a:rPr sz="2000" dirty="0">
                <a:latin typeface="Calibri"/>
                <a:cs typeface="Calibri"/>
              </a:rPr>
              <a:t>percent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(30%).</a:t>
            </a:r>
            <a:endParaRPr sz="2000" dirty="0">
              <a:latin typeface="Calibri"/>
              <a:cs typeface="Calibri"/>
            </a:endParaRPr>
          </a:p>
          <a:p>
            <a:pPr marL="715010" marR="166370" lvl="1" indent="-266700">
              <a:lnSpc>
                <a:spcPct val="100000"/>
              </a:lnSpc>
              <a:spcBef>
                <a:spcPts val="400"/>
              </a:spcBef>
              <a:buSzPct val="80000"/>
              <a:buFont typeface="Courier New"/>
              <a:buChar char="o"/>
              <a:tabLst>
                <a:tab pos="715010" algn="l"/>
              </a:tabLst>
            </a:pPr>
            <a:r>
              <a:rPr sz="2000" spc="-10" dirty="0">
                <a:latin typeface="Calibri"/>
                <a:cs typeface="Calibri"/>
              </a:rPr>
              <a:t>Similarly,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50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email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messages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spam,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be </a:t>
            </a:r>
            <a:r>
              <a:rPr sz="2000" spc="-10" dirty="0">
                <a:latin typeface="Calibri"/>
                <a:cs typeface="Calibri"/>
              </a:rPr>
              <a:t>estimated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20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percent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(20%).</a:t>
            </a:r>
            <a:endParaRPr sz="2000" dirty="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119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notation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P(A)</a:t>
            </a:r>
            <a:r>
              <a:rPr sz="2200" i="1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denote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probability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event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P(spam)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=</a:t>
            </a:r>
            <a:r>
              <a:rPr sz="2200" b="1" i="1" spc="-20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0.20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327025" marR="132715" indent="-31432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27025" algn="l"/>
              </a:tabLst>
            </a:pPr>
            <a:r>
              <a:rPr sz="2200" dirty="0">
                <a:latin typeface="Calibri"/>
                <a:cs typeface="Calibri"/>
              </a:rPr>
              <a:t>If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trial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only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two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outcomes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cannot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occur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simultaneously,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such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heads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tails,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(non-</a:t>
            </a:r>
            <a:r>
              <a:rPr sz="2200" dirty="0">
                <a:latin typeface="Calibri"/>
                <a:cs typeface="Calibri"/>
              </a:rPr>
              <a:t>spam),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knowing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probability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either </a:t>
            </a:r>
            <a:r>
              <a:rPr sz="2200" dirty="0">
                <a:latin typeface="Calibri"/>
                <a:cs typeface="Calibri"/>
              </a:rPr>
              <a:t>outcome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reveals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probability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other.</a:t>
            </a:r>
            <a:endParaRPr sz="2200" dirty="0">
              <a:latin typeface="Calibri"/>
              <a:cs typeface="Calibri"/>
            </a:endParaRPr>
          </a:p>
          <a:p>
            <a:pPr marL="714375" lvl="1" indent="-266065">
              <a:lnSpc>
                <a:spcPct val="100000"/>
              </a:lnSpc>
              <a:spcBef>
                <a:spcPts val="10"/>
              </a:spcBef>
              <a:buSzPct val="80000"/>
              <a:buFont typeface="Courier New"/>
              <a:buChar char="o"/>
              <a:tabLst>
                <a:tab pos="714375" algn="l"/>
              </a:tabLst>
            </a:pPr>
            <a:r>
              <a:rPr sz="2000" dirty="0">
                <a:latin typeface="Calibri"/>
                <a:cs typeface="Calibri"/>
              </a:rPr>
              <a:t>For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example,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given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P(spam)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0.20,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able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calculate</a:t>
            </a:r>
            <a:endParaRPr sz="2000" dirty="0">
              <a:latin typeface="Calibri"/>
              <a:cs typeface="Calibri"/>
            </a:endParaRPr>
          </a:p>
          <a:p>
            <a:pPr marL="715010">
              <a:lnSpc>
                <a:spcPct val="100000"/>
              </a:lnSpc>
            </a:pPr>
            <a:r>
              <a:rPr sz="2000" i="1" dirty="0">
                <a:latin typeface="Calibri"/>
                <a:cs typeface="Calibri"/>
              </a:rPr>
              <a:t>P(ham)</a:t>
            </a:r>
            <a:r>
              <a:rPr sz="2000" i="1" spc="-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=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1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–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0.20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=</a:t>
            </a:r>
            <a:r>
              <a:rPr sz="2000" i="1" spc="-20" dirty="0">
                <a:latin typeface="Calibri"/>
                <a:cs typeface="Calibri"/>
              </a:rPr>
              <a:t> 0.80</a:t>
            </a:r>
            <a:r>
              <a:rPr sz="2000" spc="-2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714375" lvl="1" indent="-266065">
              <a:lnSpc>
                <a:spcPct val="100000"/>
              </a:lnSpc>
              <a:buSzPct val="80000"/>
              <a:buFont typeface="Courier New"/>
              <a:buChar char="o"/>
              <a:tabLst>
                <a:tab pos="714375" algn="l"/>
              </a:tabLst>
            </a:pPr>
            <a:r>
              <a:rPr sz="2000" dirty="0">
                <a:latin typeface="Calibri"/>
                <a:cs typeface="Calibri"/>
              </a:rPr>
              <a:t>This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because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events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mutually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exclusive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exhaustive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Probability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51660" y="3685032"/>
            <a:ext cx="8829675" cy="2545080"/>
            <a:chOff x="1851660" y="3685032"/>
            <a:chExt cx="8829675" cy="25450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3189" y="3685032"/>
              <a:ext cx="4207763" cy="254507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51660" y="4444745"/>
              <a:ext cx="4206875" cy="1689735"/>
            </a:xfrm>
            <a:custGeom>
              <a:avLst/>
              <a:gdLst/>
              <a:ahLst/>
              <a:cxnLst/>
              <a:rect l="l" t="t" r="r" b="b"/>
              <a:pathLst>
                <a:path w="4206875" h="1689735">
                  <a:moveTo>
                    <a:pt x="4206773" y="0"/>
                  </a:moveTo>
                  <a:lnTo>
                    <a:pt x="0" y="0"/>
                  </a:lnTo>
                  <a:lnTo>
                    <a:pt x="0" y="1689353"/>
                  </a:lnTo>
                  <a:lnTo>
                    <a:pt x="4206773" y="1689353"/>
                  </a:lnTo>
                  <a:lnTo>
                    <a:pt x="4206773" y="0"/>
                  </a:lnTo>
                  <a:close/>
                </a:path>
              </a:pathLst>
            </a:custGeom>
            <a:solidFill>
              <a:srgbClr val="6C6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019966" y="4532200"/>
            <a:ext cx="393382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040" marR="24130" indent="-180975" algn="just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Arial MT"/>
              <a:buChar char="•"/>
              <a:tabLst>
                <a:tab pos="193040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Viagra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circle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does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not completely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fill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spam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circle,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nor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completely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contained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by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spam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circle.</a:t>
            </a:r>
            <a:endParaRPr sz="1600">
              <a:latin typeface="Calibri"/>
              <a:cs typeface="Calibri"/>
            </a:endParaRPr>
          </a:p>
          <a:p>
            <a:pPr marL="193040" marR="5080" indent="-180975">
              <a:lnSpc>
                <a:spcPct val="100000"/>
              </a:lnSpc>
              <a:buFont typeface="Arial MT"/>
              <a:buChar char="•"/>
              <a:tabLst>
                <a:tab pos="193040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implies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that not all</a:t>
            </a:r>
            <a:r>
              <a:rPr sz="1600" spc="-1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spam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messages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contain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word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Viagra,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every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email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word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Viagra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6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spam.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868918" y="4612385"/>
            <a:ext cx="1497949" cy="832647"/>
            <a:chOff x="5868918" y="4612385"/>
            <a:chExt cx="1497949" cy="832647"/>
          </a:xfrm>
        </p:grpSpPr>
        <p:sp>
          <p:nvSpPr>
            <p:cNvPr id="7" name="object 7"/>
            <p:cNvSpPr/>
            <p:nvPr/>
          </p:nvSpPr>
          <p:spPr>
            <a:xfrm>
              <a:off x="5868918" y="4662077"/>
              <a:ext cx="1382395" cy="782955"/>
            </a:xfrm>
            <a:custGeom>
              <a:avLst/>
              <a:gdLst/>
              <a:ahLst/>
              <a:cxnLst/>
              <a:rect l="l" t="t" r="r" b="b"/>
              <a:pathLst>
                <a:path w="1382395" h="782954">
                  <a:moveTo>
                    <a:pt x="1358061" y="0"/>
                  </a:moveTo>
                  <a:lnTo>
                    <a:pt x="0" y="741032"/>
                  </a:lnTo>
                  <a:lnTo>
                    <a:pt x="24091" y="782599"/>
                  </a:lnTo>
                  <a:lnTo>
                    <a:pt x="1382153" y="41567"/>
                  </a:lnTo>
                  <a:lnTo>
                    <a:pt x="1358061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2707" y="4612385"/>
              <a:ext cx="164160" cy="13251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241977" y="1277524"/>
            <a:ext cx="8686800" cy="2962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3855" marR="5080" indent="-35179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63855" algn="l"/>
              </a:tabLst>
            </a:pPr>
            <a:r>
              <a:rPr sz="2000" dirty="0">
                <a:latin typeface="Calibri"/>
                <a:cs typeface="Calibri"/>
              </a:rPr>
              <a:t>Often,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interested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monitoring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several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non-mutually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exclusive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events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trial.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events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occur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event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interest,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them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make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predictions.</a:t>
            </a:r>
            <a:endParaRPr sz="2000">
              <a:latin typeface="Calibri"/>
              <a:cs typeface="Calibri"/>
            </a:endParaRPr>
          </a:p>
          <a:p>
            <a:pPr marL="363855" marR="581025" indent="-351790">
              <a:lnSpc>
                <a:spcPct val="100000"/>
              </a:lnSpc>
              <a:spcBef>
                <a:spcPts val="484"/>
              </a:spcBef>
              <a:buFont typeface="Wingdings"/>
              <a:buChar char=""/>
              <a:tabLst>
                <a:tab pos="363855" algn="l"/>
              </a:tabLst>
            </a:pPr>
            <a:r>
              <a:rPr sz="2000" spc="-25" dirty="0">
                <a:latin typeface="Calibri"/>
                <a:cs typeface="Calibri"/>
              </a:rPr>
              <a:t>Consider,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instance,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second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event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outcome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email message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contains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Viagra.</a:t>
            </a:r>
            <a:endParaRPr sz="2000">
              <a:latin typeface="Calibri"/>
              <a:cs typeface="Calibri"/>
            </a:endParaRPr>
          </a:p>
          <a:p>
            <a:pPr marL="368935" marR="3921760" indent="-350520" algn="just">
              <a:lnSpc>
                <a:spcPct val="100000"/>
              </a:lnSpc>
              <a:spcBef>
                <a:spcPts val="1050"/>
              </a:spcBef>
              <a:buFont typeface="Wingdings"/>
              <a:buChar char=""/>
              <a:tabLst>
                <a:tab pos="370205" algn="l"/>
              </a:tabLst>
            </a:pPr>
            <a:r>
              <a:rPr sz="2000" dirty="0">
                <a:latin typeface="Calibri"/>
                <a:cs typeface="Calibri"/>
              </a:rPr>
              <a:t>For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most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people, this word is only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likely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	</a:t>
            </a:r>
            <a:r>
              <a:rPr sz="2000" dirty="0">
                <a:latin typeface="Calibri"/>
                <a:cs typeface="Calibri"/>
              </a:rPr>
              <a:t>appear in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spam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message;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 presence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in 	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message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therefore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very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strong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piece 	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evidence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email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spam.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Joint</a:t>
            </a:r>
            <a:r>
              <a:rPr spc="-140" dirty="0"/>
              <a:t> </a:t>
            </a:r>
            <a:r>
              <a:rPr spc="-25" dirty="0"/>
              <a:t>Probability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0457" y="1331682"/>
            <a:ext cx="9486900" cy="4700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6390" indent="-31369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26390" algn="l"/>
              </a:tabLst>
            </a:pPr>
            <a:r>
              <a:rPr sz="2000" dirty="0">
                <a:latin typeface="Calibri"/>
                <a:cs typeface="Calibri"/>
              </a:rPr>
              <a:t>We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know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20%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messages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spam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5%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messages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contained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Viagra.</a:t>
            </a:r>
            <a:endParaRPr sz="2000" dirty="0">
              <a:latin typeface="Calibri"/>
              <a:cs typeface="Calibri"/>
            </a:endParaRPr>
          </a:p>
          <a:p>
            <a:pPr marL="715010" lvl="1" indent="-226695">
              <a:lnSpc>
                <a:spcPct val="100000"/>
              </a:lnSpc>
              <a:spcBef>
                <a:spcPts val="15"/>
              </a:spcBef>
              <a:buSzPct val="80555"/>
              <a:buFont typeface="Courier New"/>
              <a:buChar char="o"/>
              <a:tabLst>
                <a:tab pos="715010" algn="l"/>
              </a:tabLst>
            </a:pPr>
            <a:r>
              <a:rPr sz="1800" dirty="0">
                <a:latin typeface="Calibri"/>
                <a:cs typeface="Calibri"/>
              </a:rPr>
              <a:t>Our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job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quantify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degree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overlap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between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these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proportions.</a:t>
            </a:r>
            <a:endParaRPr sz="1800" dirty="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1185"/>
              </a:spcBef>
              <a:buFont typeface="Wingdings"/>
              <a:buChar char=""/>
              <a:tabLst>
                <a:tab pos="326390" algn="l"/>
              </a:tabLst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other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words,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hope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estimate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both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P(spam)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P(Viagra)</a:t>
            </a:r>
            <a:endParaRPr sz="2000" dirty="0">
              <a:latin typeface="Calibri"/>
              <a:cs typeface="Calibri"/>
            </a:endParaRPr>
          </a:p>
          <a:p>
            <a:pPr marL="32639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occurring,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written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P(spam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∩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Viagra)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326390" marR="5080" indent="-31432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26390" algn="l"/>
              </a:tabLst>
            </a:pPr>
            <a:r>
              <a:rPr sz="2000" dirty="0">
                <a:latin typeface="Calibri"/>
                <a:cs typeface="Calibri"/>
              </a:rPr>
              <a:t>Calculating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P(spam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∩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Viagra)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depends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joint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probability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events,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how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probability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event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related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probability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other.</a:t>
            </a:r>
            <a:endParaRPr sz="2000" dirty="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buFont typeface="Wingdings"/>
              <a:buChar char=""/>
              <a:tabLst>
                <a:tab pos="326390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events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totally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unrelated,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independent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events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715010" marR="555625" lvl="1" indent="-226060">
              <a:lnSpc>
                <a:spcPct val="100000"/>
              </a:lnSpc>
              <a:spcBef>
                <a:spcPts val="415"/>
              </a:spcBef>
              <a:buSzPct val="80555"/>
              <a:buFont typeface="Courier New"/>
              <a:buChar char="o"/>
              <a:tabLst>
                <a:tab pos="715010" algn="l"/>
              </a:tabLst>
            </a:pP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instance,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the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outcome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of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coin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flip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is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independent</a:t>
            </a:r>
            <a:r>
              <a:rPr sz="1800" i="1" spc="-1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from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whether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the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weather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is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rainy </a:t>
            </a:r>
            <a:r>
              <a:rPr sz="1800" i="1" dirty="0">
                <a:latin typeface="Calibri"/>
                <a:cs typeface="Calibri"/>
              </a:rPr>
              <a:t>or</a:t>
            </a:r>
            <a:r>
              <a:rPr sz="1800" i="1" spc="-10" dirty="0">
                <a:latin typeface="Calibri"/>
                <a:cs typeface="Calibri"/>
              </a:rPr>
              <a:t> sunny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  <a:p>
            <a:pPr marL="326390" marR="451484" indent="-314325">
              <a:lnSpc>
                <a:spcPct val="100000"/>
              </a:lnSpc>
              <a:spcBef>
                <a:spcPts val="1190"/>
              </a:spcBef>
              <a:buFont typeface="Wingdings"/>
              <a:buChar char=""/>
              <a:tabLst>
                <a:tab pos="326390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events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independent,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would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impossible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predict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obtained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another.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other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hand,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dependent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events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predictive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modeling.</a:t>
            </a:r>
            <a:endParaRPr sz="2000" dirty="0">
              <a:latin typeface="Calibri"/>
              <a:cs typeface="Calibri"/>
            </a:endParaRPr>
          </a:p>
          <a:p>
            <a:pPr marL="715010" marR="1141095" lvl="1" indent="-225425">
              <a:lnSpc>
                <a:spcPct val="100000"/>
              </a:lnSpc>
              <a:spcBef>
                <a:spcPts val="409"/>
              </a:spcBef>
              <a:buSzPct val="80555"/>
              <a:buFont typeface="Courier New"/>
              <a:buChar char="o"/>
              <a:tabLst>
                <a:tab pos="715010" algn="l"/>
              </a:tabLst>
            </a:pP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instance,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the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presence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of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clouds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is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likely</a:t>
            </a:r>
            <a:r>
              <a:rPr sz="1800" i="1" spc="-5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to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be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predictive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of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rainy</a:t>
            </a:r>
            <a:r>
              <a:rPr sz="1800" i="1" spc="-5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day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i="1" spc="-25" dirty="0">
                <a:latin typeface="Calibri"/>
                <a:cs typeface="Calibri"/>
              </a:rPr>
              <a:t>the </a:t>
            </a:r>
            <a:r>
              <a:rPr sz="1800" i="1" dirty="0">
                <a:latin typeface="Calibri"/>
                <a:cs typeface="Calibri"/>
              </a:rPr>
              <a:t>appearance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of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the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word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Viagra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is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predictive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of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a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spam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email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Joint</a:t>
            </a:r>
            <a:r>
              <a:rPr spc="-140" dirty="0"/>
              <a:t> </a:t>
            </a:r>
            <a:r>
              <a:rPr spc="-25" dirty="0"/>
              <a:t>Probability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7" name="object 7"/>
          <p:cNvSpPr/>
          <p:nvPr/>
        </p:nvSpPr>
        <p:spPr>
          <a:xfrm>
            <a:off x="7999026" y="505225"/>
            <a:ext cx="45720" cy="19685"/>
          </a:xfrm>
          <a:custGeom>
            <a:avLst/>
            <a:gdLst/>
            <a:ahLst/>
            <a:cxnLst/>
            <a:rect l="l" t="t" r="r" b="b"/>
            <a:pathLst>
              <a:path w="45720" h="19684">
                <a:moveTo>
                  <a:pt x="28973" y="17195"/>
                </a:moveTo>
                <a:lnTo>
                  <a:pt x="11560" y="17195"/>
                </a:lnTo>
                <a:lnTo>
                  <a:pt x="14227" y="18072"/>
                </a:lnTo>
                <a:lnTo>
                  <a:pt x="13057" y="18072"/>
                </a:lnTo>
                <a:lnTo>
                  <a:pt x="13643" y="18414"/>
                </a:lnTo>
                <a:lnTo>
                  <a:pt x="16907" y="19329"/>
                </a:lnTo>
                <a:lnTo>
                  <a:pt x="19066" y="19392"/>
                </a:lnTo>
                <a:lnTo>
                  <a:pt x="21593" y="19329"/>
                </a:lnTo>
                <a:lnTo>
                  <a:pt x="23968" y="18834"/>
                </a:lnTo>
                <a:lnTo>
                  <a:pt x="25612" y="18173"/>
                </a:lnTo>
                <a:lnTo>
                  <a:pt x="24578" y="18173"/>
                </a:lnTo>
                <a:lnTo>
                  <a:pt x="25049" y="18072"/>
                </a:lnTo>
                <a:lnTo>
                  <a:pt x="14227" y="18072"/>
                </a:lnTo>
                <a:lnTo>
                  <a:pt x="12810" y="17927"/>
                </a:lnTo>
                <a:lnTo>
                  <a:pt x="25718" y="17927"/>
                </a:lnTo>
                <a:lnTo>
                  <a:pt x="26813" y="17691"/>
                </a:lnTo>
                <a:lnTo>
                  <a:pt x="27727" y="17691"/>
                </a:lnTo>
                <a:lnTo>
                  <a:pt x="28973" y="17195"/>
                </a:lnTo>
                <a:close/>
              </a:path>
              <a:path w="45720" h="19684">
                <a:moveTo>
                  <a:pt x="26813" y="17691"/>
                </a:moveTo>
                <a:lnTo>
                  <a:pt x="24578" y="18173"/>
                </a:lnTo>
                <a:lnTo>
                  <a:pt x="25730" y="18126"/>
                </a:lnTo>
                <a:lnTo>
                  <a:pt x="26813" y="17691"/>
                </a:lnTo>
                <a:close/>
              </a:path>
              <a:path w="45720" h="19684">
                <a:moveTo>
                  <a:pt x="25730" y="18126"/>
                </a:moveTo>
                <a:lnTo>
                  <a:pt x="24578" y="18173"/>
                </a:lnTo>
                <a:lnTo>
                  <a:pt x="25612" y="18173"/>
                </a:lnTo>
                <a:close/>
              </a:path>
              <a:path w="45720" h="19684">
                <a:moveTo>
                  <a:pt x="27727" y="17691"/>
                </a:moveTo>
                <a:lnTo>
                  <a:pt x="26813" y="17691"/>
                </a:lnTo>
                <a:lnTo>
                  <a:pt x="25730" y="18126"/>
                </a:lnTo>
                <a:lnTo>
                  <a:pt x="26769" y="18072"/>
                </a:lnTo>
                <a:lnTo>
                  <a:pt x="27727" y="17691"/>
                </a:lnTo>
                <a:close/>
              </a:path>
              <a:path w="45720" h="19684">
                <a:moveTo>
                  <a:pt x="11560" y="17195"/>
                </a:moveTo>
                <a:lnTo>
                  <a:pt x="12810" y="17927"/>
                </a:lnTo>
                <a:lnTo>
                  <a:pt x="14227" y="18072"/>
                </a:lnTo>
                <a:lnTo>
                  <a:pt x="11560" y="17195"/>
                </a:lnTo>
                <a:close/>
              </a:path>
              <a:path w="45720" h="19684">
                <a:moveTo>
                  <a:pt x="3922" y="11704"/>
                </a:moveTo>
                <a:lnTo>
                  <a:pt x="12810" y="17927"/>
                </a:lnTo>
                <a:lnTo>
                  <a:pt x="11560" y="17195"/>
                </a:lnTo>
                <a:lnTo>
                  <a:pt x="28973" y="17195"/>
                </a:lnTo>
                <a:lnTo>
                  <a:pt x="30826" y="16459"/>
                </a:lnTo>
                <a:lnTo>
                  <a:pt x="32308" y="15189"/>
                </a:lnTo>
                <a:lnTo>
                  <a:pt x="32782" y="14782"/>
                </a:lnTo>
                <a:lnTo>
                  <a:pt x="33151" y="14566"/>
                </a:lnTo>
                <a:lnTo>
                  <a:pt x="32058" y="14566"/>
                </a:lnTo>
                <a:lnTo>
                  <a:pt x="34624" y="13550"/>
                </a:lnTo>
                <a:lnTo>
                  <a:pt x="36020" y="13550"/>
                </a:lnTo>
                <a:lnTo>
                  <a:pt x="36364" y="13423"/>
                </a:lnTo>
                <a:lnTo>
                  <a:pt x="38159" y="12306"/>
                </a:lnTo>
                <a:lnTo>
                  <a:pt x="4677" y="12306"/>
                </a:lnTo>
                <a:lnTo>
                  <a:pt x="3922" y="11704"/>
                </a:lnTo>
                <a:close/>
              </a:path>
              <a:path w="45720" h="19684">
                <a:moveTo>
                  <a:pt x="32782" y="14782"/>
                </a:moveTo>
                <a:lnTo>
                  <a:pt x="32249" y="15189"/>
                </a:lnTo>
                <a:lnTo>
                  <a:pt x="32552" y="14979"/>
                </a:lnTo>
                <a:lnTo>
                  <a:pt x="32782" y="14782"/>
                </a:lnTo>
                <a:close/>
              </a:path>
              <a:path w="45720" h="19684">
                <a:moveTo>
                  <a:pt x="32552" y="14979"/>
                </a:moveTo>
                <a:lnTo>
                  <a:pt x="32249" y="15189"/>
                </a:lnTo>
                <a:lnTo>
                  <a:pt x="32552" y="14979"/>
                </a:lnTo>
                <a:close/>
              </a:path>
              <a:path w="45720" h="19684">
                <a:moveTo>
                  <a:pt x="32838" y="14782"/>
                </a:moveTo>
                <a:lnTo>
                  <a:pt x="32552" y="14979"/>
                </a:lnTo>
                <a:lnTo>
                  <a:pt x="32838" y="14782"/>
                </a:lnTo>
                <a:close/>
              </a:path>
              <a:path w="45720" h="19684">
                <a:moveTo>
                  <a:pt x="34624" y="13550"/>
                </a:moveTo>
                <a:lnTo>
                  <a:pt x="32058" y="14566"/>
                </a:lnTo>
                <a:lnTo>
                  <a:pt x="33472" y="14345"/>
                </a:lnTo>
                <a:lnTo>
                  <a:pt x="34624" y="13550"/>
                </a:lnTo>
                <a:close/>
              </a:path>
              <a:path w="45720" h="19684">
                <a:moveTo>
                  <a:pt x="33472" y="14345"/>
                </a:moveTo>
                <a:lnTo>
                  <a:pt x="32058" y="14566"/>
                </a:lnTo>
                <a:lnTo>
                  <a:pt x="33151" y="14566"/>
                </a:lnTo>
                <a:lnTo>
                  <a:pt x="33472" y="14345"/>
                </a:lnTo>
                <a:close/>
              </a:path>
              <a:path w="45720" h="19684">
                <a:moveTo>
                  <a:pt x="36020" y="13550"/>
                </a:moveTo>
                <a:lnTo>
                  <a:pt x="34624" y="13550"/>
                </a:lnTo>
                <a:lnTo>
                  <a:pt x="33472" y="14345"/>
                </a:lnTo>
                <a:lnTo>
                  <a:pt x="34166" y="14236"/>
                </a:lnTo>
                <a:lnTo>
                  <a:pt x="36020" y="13550"/>
                </a:lnTo>
                <a:close/>
              </a:path>
              <a:path w="45720" h="19684">
                <a:moveTo>
                  <a:pt x="3445" y="10833"/>
                </a:moveTo>
                <a:lnTo>
                  <a:pt x="3922" y="11704"/>
                </a:lnTo>
                <a:lnTo>
                  <a:pt x="4677" y="12306"/>
                </a:lnTo>
                <a:lnTo>
                  <a:pt x="3445" y="10833"/>
                </a:lnTo>
                <a:close/>
              </a:path>
              <a:path w="45720" h="19684">
                <a:moveTo>
                  <a:pt x="33613" y="10833"/>
                </a:moveTo>
                <a:lnTo>
                  <a:pt x="3445" y="10833"/>
                </a:lnTo>
                <a:lnTo>
                  <a:pt x="4677" y="12306"/>
                </a:lnTo>
                <a:lnTo>
                  <a:pt x="38159" y="12306"/>
                </a:lnTo>
                <a:lnTo>
                  <a:pt x="39709" y="11341"/>
                </a:lnTo>
                <a:lnTo>
                  <a:pt x="34535" y="11341"/>
                </a:lnTo>
                <a:lnTo>
                  <a:pt x="33613" y="10833"/>
                </a:lnTo>
                <a:close/>
              </a:path>
              <a:path w="45720" h="19684">
                <a:moveTo>
                  <a:pt x="1238" y="6038"/>
                </a:moveTo>
                <a:lnTo>
                  <a:pt x="795" y="6845"/>
                </a:lnTo>
                <a:lnTo>
                  <a:pt x="705" y="7721"/>
                </a:lnTo>
                <a:lnTo>
                  <a:pt x="1045" y="9410"/>
                </a:lnTo>
                <a:lnTo>
                  <a:pt x="3922" y="11704"/>
                </a:lnTo>
                <a:lnTo>
                  <a:pt x="3445" y="10833"/>
                </a:lnTo>
                <a:lnTo>
                  <a:pt x="33613" y="10833"/>
                </a:lnTo>
                <a:lnTo>
                  <a:pt x="31931" y="9905"/>
                </a:lnTo>
                <a:lnTo>
                  <a:pt x="31259" y="7721"/>
                </a:lnTo>
                <a:lnTo>
                  <a:pt x="2213" y="7721"/>
                </a:lnTo>
                <a:lnTo>
                  <a:pt x="1238" y="6038"/>
                </a:lnTo>
                <a:close/>
              </a:path>
              <a:path w="45720" h="19684">
                <a:moveTo>
                  <a:pt x="31983" y="2449"/>
                </a:moveTo>
                <a:lnTo>
                  <a:pt x="31607" y="2502"/>
                </a:lnTo>
                <a:lnTo>
                  <a:pt x="30560" y="4584"/>
                </a:lnTo>
                <a:lnTo>
                  <a:pt x="30481" y="5194"/>
                </a:lnTo>
                <a:lnTo>
                  <a:pt x="31931" y="9905"/>
                </a:lnTo>
                <a:lnTo>
                  <a:pt x="34535" y="11341"/>
                </a:lnTo>
                <a:lnTo>
                  <a:pt x="39399" y="10058"/>
                </a:lnTo>
                <a:lnTo>
                  <a:pt x="41475" y="8765"/>
                </a:lnTo>
                <a:lnTo>
                  <a:pt x="41774" y="7848"/>
                </a:lnTo>
                <a:lnTo>
                  <a:pt x="40817" y="5435"/>
                </a:lnTo>
                <a:lnTo>
                  <a:pt x="30801" y="5435"/>
                </a:lnTo>
                <a:lnTo>
                  <a:pt x="31983" y="2449"/>
                </a:lnTo>
                <a:close/>
              </a:path>
              <a:path w="45720" h="19684">
                <a:moveTo>
                  <a:pt x="41475" y="8765"/>
                </a:moveTo>
                <a:lnTo>
                  <a:pt x="39399" y="10058"/>
                </a:lnTo>
                <a:lnTo>
                  <a:pt x="34535" y="11341"/>
                </a:lnTo>
                <a:lnTo>
                  <a:pt x="39709" y="11341"/>
                </a:lnTo>
                <a:lnTo>
                  <a:pt x="40872" y="10617"/>
                </a:lnTo>
                <a:lnTo>
                  <a:pt x="41475" y="8765"/>
                </a:lnTo>
                <a:close/>
              </a:path>
              <a:path w="45720" h="19684">
                <a:moveTo>
                  <a:pt x="40742" y="891"/>
                </a:moveTo>
                <a:lnTo>
                  <a:pt x="39767" y="1092"/>
                </a:lnTo>
                <a:lnTo>
                  <a:pt x="39271" y="1231"/>
                </a:lnTo>
                <a:lnTo>
                  <a:pt x="38645" y="1439"/>
                </a:lnTo>
                <a:lnTo>
                  <a:pt x="39361" y="1765"/>
                </a:lnTo>
                <a:lnTo>
                  <a:pt x="41774" y="7848"/>
                </a:lnTo>
                <a:lnTo>
                  <a:pt x="41475" y="8765"/>
                </a:lnTo>
                <a:lnTo>
                  <a:pt x="42840" y="7200"/>
                </a:lnTo>
                <a:lnTo>
                  <a:pt x="43145" y="6845"/>
                </a:lnTo>
                <a:lnTo>
                  <a:pt x="44568" y="5651"/>
                </a:lnTo>
                <a:lnTo>
                  <a:pt x="45190" y="2057"/>
                </a:lnTo>
                <a:lnTo>
                  <a:pt x="40097" y="2057"/>
                </a:lnTo>
                <a:lnTo>
                  <a:pt x="40742" y="891"/>
                </a:lnTo>
                <a:close/>
              </a:path>
              <a:path w="45720" h="19684">
                <a:moveTo>
                  <a:pt x="2175" y="4330"/>
                </a:moveTo>
                <a:lnTo>
                  <a:pt x="1302" y="5922"/>
                </a:lnTo>
                <a:lnTo>
                  <a:pt x="1294" y="6134"/>
                </a:lnTo>
                <a:lnTo>
                  <a:pt x="2213" y="7721"/>
                </a:lnTo>
                <a:lnTo>
                  <a:pt x="2175" y="4330"/>
                </a:lnTo>
                <a:close/>
              </a:path>
              <a:path w="45720" h="19684">
                <a:moveTo>
                  <a:pt x="7242" y="4330"/>
                </a:moveTo>
                <a:lnTo>
                  <a:pt x="2175" y="4330"/>
                </a:lnTo>
                <a:lnTo>
                  <a:pt x="2213" y="7721"/>
                </a:lnTo>
                <a:lnTo>
                  <a:pt x="31259" y="7721"/>
                </a:lnTo>
                <a:lnTo>
                  <a:pt x="30770" y="6134"/>
                </a:lnTo>
                <a:lnTo>
                  <a:pt x="19777" y="6134"/>
                </a:lnTo>
                <a:lnTo>
                  <a:pt x="16907" y="5587"/>
                </a:lnTo>
                <a:lnTo>
                  <a:pt x="18405" y="5557"/>
                </a:lnTo>
                <a:lnTo>
                  <a:pt x="18126" y="5435"/>
                </a:lnTo>
                <a:lnTo>
                  <a:pt x="8843" y="5435"/>
                </a:lnTo>
                <a:lnTo>
                  <a:pt x="7242" y="4330"/>
                </a:lnTo>
                <a:close/>
              </a:path>
              <a:path w="45720" h="19684">
                <a:moveTo>
                  <a:pt x="43145" y="6845"/>
                </a:moveTo>
                <a:lnTo>
                  <a:pt x="42802" y="7188"/>
                </a:lnTo>
                <a:lnTo>
                  <a:pt x="42994" y="7021"/>
                </a:lnTo>
                <a:lnTo>
                  <a:pt x="43145" y="6845"/>
                </a:lnTo>
                <a:close/>
              </a:path>
              <a:path w="45720" h="19684">
                <a:moveTo>
                  <a:pt x="42994" y="7021"/>
                </a:moveTo>
                <a:lnTo>
                  <a:pt x="42802" y="7188"/>
                </a:lnTo>
                <a:lnTo>
                  <a:pt x="42994" y="7021"/>
                </a:lnTo>
                <a:close/>
              </a:path>
              <a:path w="45720" h="19684">
                <a:moveTo>
                  <a:pt x="43196" y="6845"/>
                </a:moveTo>
                <a:lnTo>
                  <a:pt x="42994" y="7021"/>
                </a:lnTo>
                <a:lnTo>
                  <a:pt x="43196" y="6845"/>
                </a:lnTo>
                <a:close/>
              </a:path>
              <a:path w="45720" h="19684">
                <a:moveTo>
                  <a:pt x="18414" y="5557"/>
                </a:moveTo>
                <a:lnTo>
                  <a:pt x="16907" y="5587"/>
                </a:lnTo>
                <a:lnTo>
                  <a:pt x="19777" y="6134"/>
                </a:lnTo>
                <a:lnTo>
                  <a:pt x="19387" y="5968"/>
                </a:lnTo>
                <a:lnTo>
                  <a:pt x="19142" y="5968"/>
                </a:lnTo>
                <a:lnTo>
                  <a:pt x="19276" y="5922"/>
                </a:lnTo>
                <a:lnTo>
                  <a:pt x="18414" y="5557"/>
                </a:lnTo>
                <a:close/>
              </a:path>
              <a:path w="45720" h="19684">
                <a:moveTo>
                  <a:pt x="24578" y="4584"/>
                </a:moveTo>
                <a:lnTo>
                  <a:pt x="22038" y="4952"/>
                </a:lnTo>
                <a:lnTo>
                  <a:pt x="20314" y="5557"/>
                </a:lnTo>
                <a:lnTo>
                  <a:pt x="21593" y="5587"/>
                </a:lnTo>
                <a:lnTo>
                  <a:pt x="19444" y="5922"/>
                </a:lnTo>
                <a:lnTo>
                  <a:pt x="19777" y="6134"/>
                </a:lnTo>
                <a:lnTo>
                  <a:pt x="30770" y="6134"/>
                </a:lnTo>
                <a:lnTo>
                  <a:pt x="30539" y="5384"/>
                </a:lnTo>
                <a:lnTo>
                  <a:pt x="23448" y="5384"/>
                </a:lnTo>
                <a:lnTo>
                  <a:pt x="25004" y="4602"/>
                </a:lnTo>
                <a:lnTo>
                  <a:pt x="24578" y="4584"/>
                </a:lnTo>
                <a:close/>
              </a:path>
              <a:path w="45720" h="19684">
                <a:moveTo>
                  <a:pt x="3775" y="380"/>
                </a:moveTo>
                <a:lnTo>
                  <a:pt x="2239" y="393"/>
                </a:lnTo>
                <a:lnTo>
                  <a:pt x="211" y="2126"/>
                </a:lnTo>
                <a:lnTo>
                  <a:pt x="101" y="2438"/>
                </a:lnTo>
                <a:lnTo>
                  <a:pt x="0" y="3898"/>
                </a:lnTo>
                <a:lnTo>
                  <a:pt x="1238" y="6038"/>
                </a:lnTo>
                <a:lnTo>
                  <a:pt x="2175" y="4330"/>
                </a:lnTo>
                <a:lnTo>
                  <a:pt x="7242" y="4330"/>
                </a:lnTo>
                <a:lnTo>
                  <a:pt x="5769" y="3314"/>
                </a:lnTo>
                <a:lnTo>
                  <a:pt x="7403" y="3314"/>
                </a:lnTo>
                <a:lnTo>
                  <a:pt x="3775" y="380"/>
                </a:lnTo>
                <a:close/>
              </a:path>
              <a:path w="45720" h="19684">
                <a:moveTo>
                  <a:pt x="19276" y="5922"/>
                </a:moveTo>
                <a:lnTo>
                  <a:pt x="19142" y="5968"/>
                </a:lnTo>
                <a:lnTo>
                  <a:pt x="19321" y="5941"/>
                </a:lnTo>
                <a:close/>
              </a:path>
              <a:path w="45720" h="19684">
                <a:moveTo>
                  <a:pt x="19321" y="5941"/>
                </a:moveTo>
                <a:lnTo>
                  <a:pt x="19142" y="5968"/>
                </a:lnTo>
                <a:lnTo>
                  <a:pt x="19387" y="5968"/>
                </a:lnTo>
                <a:close/>
              </a:path>
              <a:path w="45720" h="19684">
                <a:moveTo>
                  <a:pt x="20314" y="5557"/>
                </a:moveTo>
                <a:lnTo>
                  <a:pt x="19276" y="5922"/>
                </a:lnTo>
                <a:lnTo>
                  <a:pt x="21593" y="5587"/>
                </a:lnTo>
                <a:lnTo>
                  <a:pt x="20314" y="5557"/>
                </a:lnTo>
                <a:close/>
              </a:path>
              <a:path w="45720" h="19684">
                <a:moveTo>
                  <a:pt x="19434" y="5537"/>
                </a:moveTo>
                <a:lnTo>
                  <a:pt x="18414" y="5557"/>
                </a:lnTo>
                <a:lnTo>
                  <a:pt x="19276" y="5922"/>
                </a:lnTo>
                <a:lnTo>
                  <a:pt x="20306" y="5557"/>
                </a:lnTo>
                <a:lnTo>
                  <a:pt x="19434" y="5537"/>
                </a:lnTo>
                <a:close/>
              </a:path>
              <a:path w="45720" h="19684">
                <a:moveTo>
                  <a:pt x="5769" y="3314"/>
                </a:moveTo>
                <a:lnTo>
                  <a:pt x="8843" y="5435"/>
                </a:lnTo>
                <a:lnTo>
                  <a:pt x="8246" y="4330"/>
                </a:lnTo>
                <a:lnTo>
                  <a:pt x="7611" y="3565"/>
                </a:lnTo>
                <a:lnTo>
                  <a:pt x="5769" y="3314"/>
                </a:lnTo>
                <a:close/>
              </a:path>
              <a:path w="45720" h="19684">
                <a:moveTo>
                  <a:pt x="7611" y="3565"/>
                </a:moveTo>
                <a:lnTo>
                  <a:pt x="8246" y="4330"/>
                </a:lnTo>
                <a:lnTo>
                  <a:pt x="8843" y="5435"/>
                </a:lnTo>
                <a:lnTo>
                  <a:pt x="18126" y="5435"/>
                </a:lnTo>
                <a:lnTo>
                  <a:pt x="14837" y="5384"/>
                </a:lnTo>
                <a:lnTo>
                  <a:pt x="11738" y="4952"/>
                </a:lnTo>
                <a:lnTo>
                  <a:pt x="13345" y="4780"/>
                </a:lnTo>
                <a:lnTo>
                  <a:pt x="12170" y="4305"/>
                </a:lnTo>
                <a:lnTo>
                  <a:pt x="10519" y="3898"/>
                </a:lnTo>
                <a:lnTo>
                  <a:pt x="8292" y="3657"/>
                </a:lnTo>
                <a:lnTo>
                  <a:pt x="7611" y="3565"/>
                </a:lnTo>
                <a:close/>
              </a:path>
              <a:path w="45720" h="19684">
                <a:moveTo>
                  <a:pt x="33819" y="2773"/>
                </a:moveTo>
                <a:lnTo>
                  <a:pt x="31842" y="2870"/>
                </a:lnTo>
                <a:lnTo>
                  <a:pt x="30801" y="5435"/>
                </a:lnTo>
                <a:lnTo>
                  <a:pt x="33819" y="2773"/>
                </a:lnTo>
                <a:close/>
              </a:path>
              <a:path w="45720" h="19684">
                <a:moveTo>
                  <a:pt x="39532" y="2197"/>
                </a:moveTo>
                <a:lnTo>
                  <a:pt x="34471" y="2197"/>
                </a:lnTo>
                <a:lnTo>
                  <a:pt x="33886" y="2713"/>
                </a:lnTo>
                <a:lnTo>
                  <a:pt x="34166" y="2755"/>
                </a:lnTo>
                <a:lnTo>
                  <a:pt x="33819" y="2773"/>
                </a:lnTo>
                <a:lnTo>
                  <a:pt x="30801" y="5435"/>
                </a:lnTo>
                <a:lnTo>
                  <a:pt x="40817" y="5435"/>
                </a:lnTo>
                <a:lnTo>
                  <a:pt x="39532" y="2197"/>
                </a:lnTo>
                <a:close/>
              </a:path>
              <a:path w="45720" h="19684">
                <a:moveTo>
                  <a:pt x="13345" y="4780"/>
                </a:moveTo>
                <a:lnTo>
                  <a:pt x="11738" y="4952"/>
                </a:lnTo>
                <a:lnTo>
                  <a:pt x="14837" y="5384"/>
                </a:lnTo>
                <a:lnTo>
                  <a:pt x="13345" y="4780"/>
                </a:lnTo>
                <a:close/>
              </a:path>
              <a:path w="45720" h="19684">
                <a:moveTo>
                  <a:pt x="14227" y="4686"/>
                </a:moveTo>
                <a:lnTo>
                  <a:pt x="13345" y="4780"/>
                </a:lnTo>
                <a:lnTo>
                  <a:pt x="14837" y="5384"/>
                </a:lnTo>
                <a:lnTo>
                  <a:pt x="18005" y="5384"/>
                </a:lnTo>
                <a:lnTo>
                  <a:pt x="17555" y="5194"/>
                </a:lnTo>
                <a:lnTo>
                  <a:pt x="14227" y="4686"/>
                </a:lnTo>
                <a:close/>
              </a:path>
              <a:path w="45720" h="19684">
                <a:moveTo>
                  <a:pt x="25004" y="4602"/>
                </a:moveTo>
                <a:lnTo>
                  <a:pt x="23448" y="5384"/>
                </a:lnTo>
                <a:lnTo>
                  <a:pt x="26737" y="4673"/>
                </a:lnTo>
                <a:lnTo>
                  <a:pt x="25004" y="4602"/>
                </a:lnTo>
                <a:close/>
              </a:path>
              <a:path w="45720" h="19684">
                <a:moveTo>
                  <a:pt x="31607" y="2502"/>
                </a:moveTo>
                <a:lnTo>
                  <a:pt x="28553" y="2933"/>
                </a:lnTo>
                <a:lnTo>
                  <a:pt x="25544" y="4330"/>
                </a:lnTo>
                <a:lnTo>
                  <a:pt x="25004" y="4602"/>
                </a:lnTo>
                <a:lnTo>
                  <a:pt x="26737" y="4673"/>
                </a:lnTo>
                <a:lnTo>
                  <a:pt x="23448" y="5384"/>
                </a:lnTo>
                <a:lnTo>
                  <a:pt x="30539" y="5384"/>
                </a:lnTo>
                <a:lnTo>
                  <a:pt x="30481" y="5194"/>
                </a:lnTo>
                <a:lnTo>
                  <a:pt x="30560" y="4584"/>
                </a:lnTo>
                <a:lnTo>
                  <a:pt x="31607" y="2502"/>
                </a:lnTo>
                <a:close/>
              </a:path>
              <a:path w="45720" h="19684">
                <a:moveTo>
                  <a:pt x="8292" y="3657"/>
                </a:moveTo>
                <a:close/>
              </a:path>
              <a:path w="45720" h="19684">
                <a:moveTo>
                  <a:pt x="7403" y="3314"/>
                </a:moveTo>
                <a:lnTo>
                  <a:pt x="5769" y="3314"/>
                </a:lnTo>
                <a:lnTo>
                  <a:pt x="7611" y="3565"/>
                </a:lnTo>
                <a:lnTo>
                  <a:pt x="7403" y="3314"/>
                </a:lnTo>
                <a:close/>
              </a:path>
              <a:path w="45720" h="19684">
                <a:moveTo>
                  <a:pt x="32058" y="2438"/>
                </a:moveTo>
                <a:lnTo>
                  <a:pt x="31932" y="2577"/>
                </a:lnTo>
                <a:lnTo>
                  <a:pt x="31816" y="2870"/>
                </a:lnTo>
                <a:lnTo>
                  <a:pt x="32984" y="2577"/>
                </a:lnTo>
                <a:lnTo>
                  <a:pt x="32058" y="2438"/>
                </a:lnTo>
                <a:close/>
              </a:path>
              <a:path w="45720" h="19684">
                <a:moveTo>
                  <a:pt x="32984" y="2577"/>
                </a:moveTo>
                <a:lnTo>
                  <a:pt x="31842" y="2870"/>
                </a:lnTo>
                <a:lnTo>
                  <a:pt x="33819" y="2773"/>
                </a:lnTo>
                <a:lnTo>
                  <a:pt x="32984" y="2577"/>
                </a:lnTo>
                <a:close/>
              </a:path>
              <a:path w="45720" h="19684">
                <a:moveTo>
                  <a:pt x="33886" y="2713"/>
                </a:moveTo>
                <a:lnTo>
                  <a:pt x="34166" y="2755"/>
                </a:lnTo>
                <a:lnTo>
                  <a:pt x="33886" y="2713"/>
                </a:lnTo>
                <a:close/>
              </a:path>
              <a:path w="45720" h="19684">
                <a:moveTo>
                  <a:pt x="34471" y="2197"/>
                </a:moveTo>
                <a:lnTo>
                  <a:pt x="32984" y="2577"/>
                </a:lnTo>
                <a:lnTo>
                  <a:pt x="33886" y="2713"/>
                </a:lnTo>
                <a:lnTo>
                  <a:pt x="34471" y="2197"/>
                </a:lnTo>
                <a:close/>
              </a:path>
              <a:path w="45720" h="19684">
                <a:moveTo>
                  <a:pt x="33529" y="2438"/>
                </a:moveTo>
                <a:lnTo>
                  <a:pt x="32058" y="2438"/>
                </a:lnTo>
                <a:lnTo>
                  <a:pt x="32984" y="2577"/>
                </a:lnTo>
                <a:lnTo>
                  <a:pt x="33529" y="2438"/>
                </a:lnTo>
                <a:close/>
              </a:path>
              <a:path w="45720" h="19684">
                <a:moveTo>
                  <a:pt x="32110" y="2126"/>
                </a:moveTo>
                <a:lnTo>
                  <a:pt x="31728" y="2260"/>
                </a:lnTo>
                <a:lnTo>
                  <a:pt x="31607" y="2502"/>
                </a:lnTo>
                <a:lnTo>
                  <a:pt x="31983" y="2449"/>
                </a:lnTo>
                <a:lnTo>
                  <a:pt x="32110" y="2126"/>
                </a:lnTo>
                <a:close/>
              </a:path>
              <a:path w="45720" h="19684">
                <a:moveTo>
                  <a:pt x="35599" y="903"/>
                </a:moveTo>
                <a:lnTo>
                  <a:pt x="32110" y="2126"/>
                </a:lnTo>
                <a:lnTo>
                  <a:pt x="31983" y="2449"/>
                </a:lnTo>
                <a:lnTo>
                  <a:pt x="33529" y="2438"/>
                </a:lnTo>
                <a:lnTo>
                  <a:pt x="34471" y="2197"/>
                </a:lnTo>
                <a:lnTo>
                  <a:pt x="39532" y="2197"/>
                </a:lnTo>
                <a:lnTo>
                  <a:pt x="39446" y="1981"/>
                </a:lnTo>
                <a:lnTo>
                  <a:pt x="37011" y="1981"/>
                </a:lnTo>
                <a:lnTo>
                  <a:pt x="38196" y="1588"/>
                </a:lnTo>
                <a:lnTo>
                  <a:pt x="35599" y="903"/>
                </a:lnTo>
                <a:close/>
              </a:path>
              <a:path w="45720" h="19684">
                <a:moveTo>
                  <a:pt x="34674" y="660"/>
                </a:moveTo>
                <a:lnTo>
                  <a:pt x="32198" y="1904"/>
                </a:lnTo>
                <a:lnTo>
                  <a:pt x="32110" y="2126"/>
                </a:lnTo>
                <a:lnTo>
                  <a:pt x="35599" y="903"/>
                </a:lnTo>
                <a:lnTo>
                  <a:pt x="34674" y="660"/>
                </a:lnTo>
                <a:close/>
              </a:path>
              <a:path w="45720" h="19684">
                <a:moveTo>
                  <a:pt x="42053" y="622"/>
                </a:moveTo>
                <a:lnTo>
                  <a:pt x="40742" y="891"/>
                </a:lnTo>
                <a:lnTo>
                  <a:pt x="40097" y="2057"/>
                </a:lnTo>
                <a:lnTo>
                  <a:pt x="42053" y="622"/>
                </a:lnTo>
                <a:close/>
              </a:path>
              <a:path w="45720" h="19684">
                <a:moveTo>
                  <a:pt x="44398" y="622"/>
                </a:moveTo>
                <a:lnTo>
                  <a:pt x="42053" y="622"/>
                </a:lnTo>
                <a:lnTo>
                  <a:pt x="40097" y="2057"/>
                </a:lnTo>
                <a:lnTo>
                  <a:pt x="45190" y="2057"/>
                </a:lnTo>
                <a:lnTo>
                  <a:pt x="44398" y="622"/>
                </a:lnTo>
                <a:close/>
              </a:path>
              <a:path w="45720" h="19684">
                <a:moveTo>
                  <a:pt x="38196" y="1588"/>
                </a:moveTo>
                <a:lnTo>
                  <a:pt x="37011" y="1981"/>
                </a:lnTo>
                <a:lnTo>
                  <a:pt x="39399" y="1904"/>
                </a:lnTo>
                <a:lnTo>
                  <a:pt x="38196" y="1588"/>
                </a:lnTo>
                <a:close/>
              </a:path>
              <a:path w="45720" h="19684">
                <a:moveTo>
                  <a:pt x="38645" y="1439"/>
                </a:moveTo>
                <a:lnTo>
                  <a:pt x="38196" y="1588"/>
                </a:lnTo>
                <a:lnTo>
                  <a:pt x="39399" y="1904"/>
                </a:lnTo>
                <a:lnTo>
                  <a:pt x="37011" y="1981"/>
                </a:lnTo>
                <a:lnTo>
                  <a:pt x="39446" y="1981"/>
                </a:lnTo>
                <a:lnTo>
                  <a:pt x="39361" y="1765"/>
                </a:lnTo>
                <a:lnTo>
                  <a:pt x="38645" y="1439"/>
                </a:lnTo>
                <a:close/>
              </a:path>
              <a:path w="45720" h="19684">
                <a:moveTo>
                  <a:pt x="36656" y="533"/>
                </a:moveTo>
                <a:lnTo>
                  <a:pt x="35599" y="903"/>
                </a:lnTo>
                <a:lnTo>
                  <a:pt x="38196" y="1588"/>
                </a:lnTo>
                <a:lnTo>
                  <a:pt x="38645" y="1439"/>
                </a:lnTo>
                <a:lnTo>
                  <a:pt x="36656" y="533"/>
                </a:lnTo>
                <a:close/>
              </a:path>
              <a:path w="45720" h="19684">
                <a:moveTo>
                  <a:pt x="43514" y="0"/>
                </a:moveTo>
                <a:lnTo>
                  <a:pt x="41774" y="0"/>
                </a:lnTo>
                <a:lnTo>
                  <a:pt x="40974" y="469"/>
                </a:lnTo>
                <a:lnTo>
                  <a:pt x="40742" y="891"/>
                </a:lnTo>
                <a:lnTo>
                  <a:pt x="42053" y="622"/>
                </a:lnTo>
                <a:lnTo>
                  <a:pt x="44398" y="622"/>
                </a:lnTo>
                <a:lnTo>
                  <a:pt x="44314" y="469"/>
                </a:lnTo>
                <a:lnTo>
                  <a:pt x="4351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1977" y="1474339"/>
            <a:ext cx="8874125" cy="417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390" marR="5080" indent="-314325" algn="just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dirty="0">
                <a:latin typeface="Calibri"/>
                <a:cs typeface="Calibri"/>
              </a:rPr>
              <a:t>If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assume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P(spam)</a:t>
            </a:r>
            <a:r>
              <a:rPr sz="2200" i="1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P(Viagra)</a:t>
            </a:r>
            <a:r>
              <a:rPr sz="2200" i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were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independent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could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then </a:t>
            </a:r>
            <a:r>
              <a:rPr sz="2200" dirty="0">
                <a:latin typeface="Calibri"/>
                <a:cs typeface="Calibri"/>
              </a:rPr>
              <a:t>easily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calculate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P(spam</a:t>
            </a:r>
            <a:r>
              <a:rPr sz="2200" i="1" spc="-5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∩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Viagra)</a:t>
            </a:r>
            <a:r>
              <a:rPr sz="2200" dirty="0">
                <a:latin typeface="Calibri"/>
                <a:cs typeface="Calibri"/>
              </a:rPr>
              <a:t>;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probability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both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events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happening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same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time.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NOTE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that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they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are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however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not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independent!</a:t>
            </a:r>
            <a:endParaRPr sz="2200" dirty="0">
              <a:latin typeface="Calibri"/>
              <a:cs typeface="Calibri"/>
            </a:endParaRPr>
          </a:p>
          <a:p>
            <a:pPr marL="326390" marR="264160" indent="-31432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dirty="0">
                <a:latin typeface="Calibri"/>
                <a:cs typeface="Calibri"/>
              </a:rPr>
              <a:t>Because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20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percent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messages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spam,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5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percent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emails </a:t>
            </a:r>
            <a:r>
              <a:rPr sz="2200" dirty="0">
                <a:latin typeface="Calibri"/>
                <a:cs typeface="Calibri"/>
              </a:rPr>
              <a:t>contain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word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Viagra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could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assume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5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percent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20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percent </a:t>
            </a:r>
            <a:r>
              <a:rPr sz="2200" dirty="0">
                <a:latin typeface="Calibri"/>
                <a:cs typeface="Calibri"/>
              </a:rPr>
              <a:t>(</a:t>
            </a:r>
            <a:r>
              <a:rPr sz="2200" i="1" dirty="0">
                <a:latin typeface="Calibri"/>
                <a:cs typeface="Calibri"/>
              </a:rPr>
              <a:t>0.05</a:t>
            </a:r>
            <a:r>
              <a:rPr sz="2200" i="1" spc="-3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*</a:t>
            </a:r>
            <a:r>
              <a:rPr sz="2200" i="1" spc="-3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0.20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=</a:t>
            </a:r>
            <a:r>
              <a:rPr sz="2200" i="1" spc="-2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0.01</a:t>
            </a:r>
            <a:r>
              <a:rPr sz="2200" dirty="0">
                <a:latin typeface="Calibri"/>
                <a:cs typeface="Calibri"/>
              </a:rPr>
              <a:t>),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percent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messages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containing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word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Viagra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327025" marR="949960" indent="-31432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27025" algn="l"/>
              </a:tabLst>
            </a:pPr>
            <a:r>
              <a:rPr sz="2200" dirty="0">
                <a:latin typeface="Calibri"/>
                <a:cs typeface="Calibri"/>
              </a:rPr>
              <a:t>More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generally,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for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independent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events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A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and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B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probability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of </a:t>
            </a:r>
            <a:r>
              <a:rPr sz="2200" dirty="0">
                <a:latin typeface="Calibri"/>
                <a:cs typeface="Calibri"/>
              </a:rPr>
              <a:t>both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happening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P(A</a:t>
            </a:r>
            <a:r>
              <a:rPr sz="2200" i="1" spc="-1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∩</a:t>
            </a:r>
            <a:r>
              <a:rPr sz="2200" i="1" spc="-2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B)</a:t>
            </a:r>
            <a:r>
              <a:rPr sz="2200" i="1" spc="-2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=</a:t>
            </a:r>
            <a:r>
              <a:rPr sz="2200" i="1" spc="-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P(A)</a:t>
            </a:r>
            <a:r>
              <a:rPr sz="2200" i="1" spc="-2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*</a:t>
            </a:r>
            <a:r>
              <a:rPr sz="2200" i="1" spc="-10" dirty="0">
                <a:latin typeface="Calibri"/>
                <a:cs typeface="Calibri"/>
              </a:rPr>
              <a:t> P(B)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327025" marR="433705" indent="-314325">
              <a:lnSpc>
                <a:spcPct val="100000"/>
              </a:lnSpc>
              <a:spcBef>
                <a:spcPts val="1205"/>
              </a:spcBef>
              <a:buFont typeface="Wingdings"/>
              <a:buChar char=""/>
              <a:tabLst>
                <a:tab pos="327025" algn="l"/>
              </a:tabLst>
            </a:pPr>
            <a:r>
              <a:rPr sz="2200" dirty="0">
                <a:latin typeface="Calibri"/>
                <a:cs typeface="Calibri"/>
              </a:rPr>
              <a:t>In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reality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more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likely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P(spam)</a:t>
            </a:r>
            <a:r>
              <a:rPr sz="2200" i="1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P(Viagra)</a:t>
            </a:r>
            <a:r>
              <a:rPr sz="2200" i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highly </a:t>
            </a:r>
            <a:r>
              <a:rPr sz="2200" dirty="0">
                <a:latin typeface="Calibri"/>
                <a:cs typeface="Calibri"/>
              </a:rPr>
              <a:t>dependent,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means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calculation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incorrect.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need…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501858"/>
            <a:ext cx="784606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Joint</a:t>
            </a:r>
            <a:r>
              <a:rPr spc="-95" dirty="0"/>
              <a:t> </a:t>
            </a:r>
            <a:r>
              <a:rPr spc="-30" dirty="0"/>
              <a:t>Probability</a:t>
            </a:r>
            <a:r>
              <a:rPr spc="-110" dirty="0"/>
              <a:t> </a:t>
            </a:r>
            <a:r>
              <a:rPr dirty="0"/>
              <a:t>–</a:t>
            </a:r>
            <a:r>
              <a:rPr spc="-110" dirty="0"/>
              <a:t> </a:t>
            </a:r>
            <a:r>
              <a:rPr spc="-10" dirty="0"/>
              <a:t>Independence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2608" y="1655072"/>
            <a:ext cx="9369425" cy="2342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relationships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between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dependent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events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described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using</a:t>
            </a:r>
            <a:endParaRPr sz="2200" dirty="0">
              <a:latin typeface="Calibri"/>
              <a:cs typeface="Calibri"/>
            </a:endParaRPr>
          </a:p>
          <a:p>
            <a:pPr marL="326390">
              <a:lnSpc>
                <a:spcPct val="100000"/>
              </a:lnSpc>
            </a:pPr>
            <a:r>
              <a:rPr sz="2200" b="1" spc="-10" dirty="0">
                <a:latin typeface="Calibri"/>
                <a:cs typeface="Calibri"/>
              </a:rPr>
              <a:t>Bayes‘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Theorem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shown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following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formula.</a:t>
            </a:r>
            <a:endParaRPr sz="2200" dirty="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notation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P(A|B)</a:t>
            </a:r>
            <a:r>
              <a:rPr sz="2200" b="1" i="1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probability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of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event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given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that</a:t>
            </a:r>
            <a:endParaRPr sz="2200" dirty="0">
              <a:latin typeface="Calibri"/>
              <a:cs typeface="Calibri"/>
            </a:endParaRPr>
          </a:p>
          <a:p>
            <a:pPr marL="326390">
              <a:lnSpc>
                <a:spcPct val="100000"/>
              </a:lnSpc>
            </a:pPr>
            <a:r>
              <a:rPr sz="2200" b="1" dirty="0">
                <a:latin typeface="Calibri"/>
                <a:cs typeface="Calibri"/>
              </a:rPr>
              <a:t>event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B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occurred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326390" marR="5080" indent="-31432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dirty="0">
                <a:latin typeface="Calibri"/>
                <a:cs typeface="Calibri"/>
              </a:rPr>
              <a:t>This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conditional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probability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since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probability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A</a:t>
            </a:r>
            <a:r>
              <a:rPr sz="2200" i="1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dependent </a:t>
            </a:r>
            <a:r>
              <a:rPr sz="2200" dirty="0">
                <a:latin typeface="Calibri"/>
                <a:cs typeface="Calibri"/>
              </a:rPr>
              <a:t>(that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conditional)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what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happened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event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i="1" spc="-25" dirty="0">
                <a:latin typeface="Calibri"/>
                <a:cs typeface="Calibri"/>
              </a:rPr>
              <a:t>B</a:t>
            </a:r>
            <a:r>
              <a:rPr sz="2200" spc="-2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6654" y="4495050"/>
            <a:ext cx="6131813" cy="1206233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16939" y="589963"/>
            <a:ext cx="36760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Conditional</a:t>
            </a:r>
            <a:r>
              <a:rPr spc="-114" dirty="0"/>
              <a:t> </a:t>
            </a:r>
            <a:r>
              <a:rPr spc="-20" dirty="0"/>
              <a:t>Probability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1344" y="1417102"/>
            <a:ext cx="9057005" cy="157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390" marR="5080" indent="-31432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dirty="0">
                <a:latin typeface="Calibri"/>
                <a:cs typeface="Calibri"/>
              </a:rPr>
              <a:t>Suppose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you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were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tasked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guessing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probability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incoming </a:t>
            </a:r>
            <a:r>
              <a:rPr sz="2200" dirty="0">
                <a:latin typeface="Calibri"/>
                <a:cs typeface="Calibri"/>
              </a:rPr>
              <a:t>email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spam.</a:t>
            </a:r>
            <a:endParaRPr sz="2200">
              <a:latin typeface="Calibri"/>
              <a:cs typeface="Calibri"/>
            </a:endParaRPr>
          </a:p>
          <a:p>
            <a:pPr marL="326390" marR="316865" indent="-314325">
              <a:lnSpc>
                <a:spcPct val="100000"/>
              </a:lnSpc>
              <a:spcBef>
                <a:spcPts val="160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dirty="0">
                <a:latin typeface="Calibri"/>
                <a:cs typeface="Calibri"/>
              </a:rPr>
              <a:t>Without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additional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evidence,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most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reasonable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guess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would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probability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prior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message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(that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20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percent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45396" y="2961631"/>
            <a:ext cx="232664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preceding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example).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1344" y="3500245"/>
            <a:ext cx="8668385" cy="1234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dirty="0">
                <a:latin typeface="Calibri"/>
                <a:cs typeface="Calibri"/>
              </a:rPr>
              <a:t>This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estimate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prior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probability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326390" marR="5080" indent="-314325">
              <a:lnSpc>
                <a:spcPct val="100000"/>
              </a:lnSpc>
              <a:spcBef>
                <a:spcPts val="1595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spc="-45" dirty="0">
                <a:latin typeface="Calibri"/>
                <a:cs typeface="Calibri"/>
              </a:rPr>
              <a:t>Now,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also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suppose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you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obtained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additional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piece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evidence;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you </a:t>
            </a:r>
            <a:r>
              <a:rPr sz="2200" dirty="0">
                <a:latin typeface="Calibri"/>
                <a:cs typeface="Calibri"/>
              </a:rPr>
              <a:t>were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told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incoming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message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term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Viagra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1344" y="4912218"/>
            <a:ext cx="912939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390" marR="5080" indent="-31432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probability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word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Viagra</a:t>
            </a:r>
            <a:r>
              <a:rPr sz="2200" i="1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previous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messages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is </a:t>
            </a:r>
            <a:r>
              <a:rPr sz="2200" dirty="0">
                <a:latin typeface="Calibri"/>
                <a:cs typeface="Calibri"/>
              </a:rPr>
              <a:t>called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likelihood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probability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Viagra</a:t>
            </a:r>
            <a:r>
              <a:rPr sz="2200" i="1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appeared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message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marginal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likelihood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Probability</a:t>
            </a:r>
            <a:r>
              <a:rPr spc="-90" dirty="0"/>
              <a:t> </a:t>
            </a:r>
            <a:r>
              <a:rPr dirty="0"/>
              <a:t>–</a:t>
            </a:r>
            <a:r>
              <a:rPr spc="-85" dirty="0"/>
              <a:t> </a:t>
            </a:r>
            <a:r>
              <a:rPr spc="-20" dirty="0"/>
              <a:t>Example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7463790" y="3113532"/>
            <a:ext cx="3849370" cy="830580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33019" rIns="0" bIns="0" rtlCol="0">
            <a:spAutoFit/>
          </a:bodyPr>
          <a:lstStyle/>
          <a:p>
            <a:pPr marL="90805" marR="86360">
              <a:lnSpc>
                <a:spcPct val="100000"/>
              </a:lnSpc>
              <a:spcBef>
                <a:spcPts val="259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describes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degree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believe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accurately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describes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reality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based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our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prior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information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900675" y="3342640"/>
            <a:ext cx="548640" cy="264160"/>
            <a:chOff x="6900675" y="3342640"/>
            <a:chExt cx="548640" cy="264160"/>
          </a:xfrm>
        </p:grpSpPr>
        <p:sp>
          <p:nvSpPr>
            <p:cNvPr id="9" name="object 9"/>
            <p:cNvSpPr/>
            <p:nvPr/>
          </p:nvSpPr>
          <p:spPr>
            <a:xfrm>
              <a:off x="6958122" y="3348990"/>
              <a:ext cx="485140" cy="228600"/>
            </a:xfrm>
            <a:custGeom>
              <a:avLst/>
              <a:gdLst/>
              <a:ahLst/>
              <a:cxnLst/>
              <a:rect l="l" t="t" r="r" b="b"/>
              <a:pathLst>
                <a:path w="485140" h="228600">
                  <a:moveTo>
                    <a:pt x="484809" y="0"/>
                  </a:moveTo>
                  <a:lnTo>
                    <a:pt x="0" y="22814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00675" y="3537249"/>
              <a:ext cx="85725" cy="69215"/>
            </a:xfrm>
            <a:custGeom>
              <a:avLst/>
              <a:gdLst/>
              <a:ahLst/>
              <a:cxnLst/>
              <a:rect l="l" t="t" r="r" b="b"/>
              <a:pathLst>
                <a:path w="85725" h="69214">
                  <a:moveTo>
                    <a:pt x="52717" y="0"/>
                  </a:moveTo>
                  <a:lnTo>
                    <a:pt x="0" y="66916"/>
                  </a:lnTo>
                  <a:lnTo>
                    <a:pt x="85166" y="68948"/>
                  </a:lnTo>
                  <a:lnTo>
                    <a:pt x="527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0142" y="3839717"/>
            <a:ext cx="6871715" cy="233400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41976" y="1420760"/>
            <a:ext cx="8776335" cy="201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390" marR="184150" indent="-31432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dirty="0">
                <a:latin typeface="Calibri"/>
                <a:cs typeface="Calibri"/>
              </a:rPr>
              <a:t>By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applying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Bayes'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theorem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evidence,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compute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posterior probability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measures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how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likely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message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spam.</a:t>
            </a:r>
            <a:endParaRPr sz="2200" dirty="0">
              <a:latin typeface="Calibri"/>
              <a:cs typeface="Calibri"/>
            </a:endParaRPr>
          </a:p>
          <a:p>
            <a:pPr marL="327025" marR="5080" indent="-31432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27025" algn="l"/>
              </a:tabLst>
            </a:pPr>
            <a:r>
              <a:rPr sz="2200" dirty="0">
                <a:latin typeface="Calibri"/>
                <a:cs typeface="Calibri"/>
              </a:rPr>
              <a:t>If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posterior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probability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greater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than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50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percent</a:t>
            </a:r>
            <a:r>
              <a:rPr sz="2200" spc="-10" dirty="0">
                <a:latin typeface="Calibri"/>
                <a:cs typeface="Calibri"/>
              </a:rPr>
              <a:t>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message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more </a:t>
            </a:r>
            <a:r>
              <a:rPr sz="2200" spc="-10" dirty="0">
                <a:latin typeface="Calibri"/>
                <a:cs typeface="Calibri"/>
              </a:rPr>
              <a:t>likely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ham,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it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can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potentially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be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filtered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1305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following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formula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Bayes'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theorem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given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70" dirty="0">
                <a:latin typeface="Calibri"/>
                <a:cs typeface="Calibri"/>
              </a:rPr>
              <a:t>problem: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Probability</a:t>
            </a:r>
            <a:r>
              <a:rPr spc="-90" dirty="0"/>
              <a:t> </a:t>
            </a:r>
            <a:r>
              <a:rPr dirty="0"/>
              <a:t>–</a:t>
            </a:r>
            <a:r>
              <a:rPr spc="-85" dirty="0"/>
              <a:t> </a:t>
            </a:r>
            <a:r>
              <a:rPr spc="-20" dirty="0"/>
              <a:t>Example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3623" y="1321361"/>
            <a:ext cx="8343900" cy="86423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spcBef>
                <a:spcPts val="1000"/>
              </a:spcBef>
              <a:buFont typeface="Wingdings"/>
              <a:buChar char=""/>
              <a:tabLst>
                <a:tab pos="326390" algn="l"/>
              </a:tabLst>
            </a:pPr>
            <a:r>
              <a:rPr sz="2000" dirty="0">
                <a:latin typeface="Calibri"/>
                <a:cs typeface="Calibri"/>
              </a:rPr>
              <a:t>We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how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frequently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Viagra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occurred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ham.</a:t>
            </a:r>
            <a:endParaRPr sz="200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326390" algn="l"/>
              </a:tabLst>
            </a:pPr>
            <a:r>
              <a:rPr sz="2000" spc="-40" dirty="0">
                <a:latin typeface="Calibri"/>
                <a:cs typeface="Calibri"/>
              </a:rPr>
              <a:t>Now,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Lets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assume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these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numbers: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3623" y="4512566"/>
            <a:ext cx="8874760" cy="1409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6390" marR="113664" indent="-31432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2639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likelihood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reveals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6FC0"/>
                </a:solidFill>
                <a:latin typeface="Calibri"/>
                <a:cs typeface="Calibri"/>
              </a:rPr>
              <a:t>P(Viagra|spam)</a:t>
            </a:r>
            <a:r>
              <a:rPr sz="2000" i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000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6FC0"/>
                </a:solidFill>
                <a:latin typeface="Calibri"/>
                <a:cs typeface="Calibri"/>
              </a:rPr>
              <a:t>4/20</a:t>
            </a:r>
            <a:r>
              <a:rPr sz="2000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000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6FC0"/>
                </a:solidFill>
                <a:latin typeface="Calibri"/>
                <a:cs typeface="Calibri"/>
              </a:rPr>
              <a:t>0.20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indicating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probability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20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percent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message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contains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term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Viagra.</a:t>
            </a:r>
            <a:endParaRPr sz="2000" dirty="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1305"/>
              </a:spcBef>
              <a:buFont typeface="Wingdings"/>
              <a:buChar char=""/>
              <a:tabLst>
                <a:tab pos="326390" algn="l"/>
              </a:tabLst>
            </a:pPr>
            <a:r>
              <a:rPr sz="2000" spc="-10" dirty="0">
                <a:latin typeface="Calibri"/>
                <a:cs typeface="Calibri"/>
              </a:rPr>
              <a:t>Additionally,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since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theorem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says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6FC0"/>
                </a:solidFill>
                <a:latin typeface="Calibri"/>
                <a:cs typeface="Calibri"/>
              </a:rPr>
              <a:t>P(B|A)</a:t>
            </a:r>
            <a:r>
              <a:rPr sz="2000" i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6FC0"/>
                </a:solidFill>
                <a:latin typeface="Calibri"/>
                <a:cs typeface="Calibri"/>
              </a:rPr>
              <a:t>*</a:t>
            </a:r>
            <a:r>
              <a:rPr sz="2000" i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6FC0"/>
                </a:solidFill>
                <a:latin typeface="Calibri"/>
                <a:cs typeface="Calibri"/>
              </a:rPr>
              <a:t>P(A)</a:t>
            </a:r>
            <a:r>
              <a:rPr sz="2000" i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000" i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6FC0"/>
                </a:solidFill>
                <a:latin typeface="Calibri"/>
                <a:cs typeface="Calibri"/>
              </a:rPr>
              <a:t>P(A</a:t>
            </a:r>
            <a:r>
              <a:rPr sz="2000" i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6FC0"/>
                </a:solidFill>
                <a:latin typeface="Calibri"/>
                <a:cs typeface="Calibri"/>
              </a:rPr>
              <a:t>∩</a:t>
            </a:r>
            <a:r>
              <a:rPr sz="2000" i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6FC0"/>
                </a:solidFill>
                <a:latin typeface="Calibri"/>
                <a:cs typeface="Calibri"/>
              </a:rPr>
              <a:t>B)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calculate</a:t>
            </a:r>
            <a:endParaRPr sz="2000" dirty="0">
              <a:latin typeface="Calibri"/>
              <a:cs typeface="Calibri"/>
            </a:endParaRPr>
          </a:p>
          <a:p>
            <a:pPr marL="326390">
              <a:lnSpc>
                <a:spcPct val="100000"/>
              </a:lnSpc>
            </a:pPr>
            <a:r>
              <a:rPr sz="2000" i="1" dirty="0">
                <a:solidFill>
                  <a:srgbClr val="006FC0"/>
                </a:solidFill>
                <a:latin typeface="Calibri"/>
                <a:cs typeface="Calibri"/>
              </a:rPr>
              <a:t>P(spam</a:t>
            </a:r>
            <a:r>
              <a:rPr sz="2000" i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6FC0"/>
                </a:solidFill>
                <a:latin typeface="Calibri"/>
                <a:cs typeface="Calibri"/>
              </a:rPr>
              <a:t>∩</a:t>
            </a:r>
            <a:r>
              <a:rPr sz="2000" i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6FC0"/>
                </a:solidFill>
                <a:latin typeface="Calibri"/>
                <a:cs typeface="Calibri"/>
              </a:rPr>
              <a:t>Viagra)</a:t>
            </a:r>
            <a:r>
              <a:rPr sz="2000" i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6FC0"/>
                </a:solidFill>
                <a:latin typeface="Calibri"/>
                <a:cs typeface="Calibri"/>
              </a:rPr>
              <a:t>P(Viagra|spam)</a:t>
            </a:r>
            <a:r>
              <a:rPr sz="2000" i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6FC0"/>
                </a:solidFill>
                <a:latin typeface="Calibri"/>
                <a:cs typeface="Calibri"/>
              </a:rPr>
              <a:t>*</a:t>
            </a:r>
            <a:r>
              <a:rPr sz="2000" i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6FC0"/>
                </a:solidFill>
                <a:latin typeface="Calibri"/>
                <a:cs typeface="Calibri"/>
              </a:rPr>
              <a:t>P(spam)</a:t>
            </a:r>
            <a:r>
              <a:rPr sz="2000" i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000" i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6FC0"/>
                </a:solidFill>
                <a:latin typeface="Calibri"/>
                <a:cs typeface="Calibri"/>
              </a:rPr>
              <a:t>(4/20)</a:t>
            </a:r>
            <a:r>
              <a:rPr sz="2000" i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6FC0"/>
                </a:solidFill>
                <a:latin typeface="Calibri"/>
                <a:cs typeface="Calibri"/>
              </a:rPr>
              <a:t>*</a:t>
            </a:r>
            <a:r>
              <a:rPr sz="2000" i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6FC0"/>
                </a:solidFill>
                <a:latin typeface="Calibri"/>
                <a:cs typeface="Calibri"/>
              </a:rPr>
              <a:t>(20/100)</a:t>
            </a:r>
            <a:r>
              <a:rPr sz="2000" i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006FC0"/>
                </a:solidFill>
                <a:latin typeface="Calibri"/>
                <a:cs typeface="Calibri"/>
              </a:rPr>
              <a:t>=</a:t>
            </a:r>
            <a:r>
              <a:rPr sz="2000" i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i="1" spc="-10" dirty="0">
                <a:solidFill>
                  <a:srgbClr val="006FC0"/>
                </a:solidFill>
                <a:latin typeface="Calibri"/>
                <a:cs typeface="Calibri"/>
              </a:rPr>
              <a:t>0.04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66684" y="2430779"/>
            <a:ext cx="9058910" cy="1863089"/>
            <a:chOff x="1566684" y="2430779"/>
            <a:chExt cx="9058910" cy="186308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6684" y="2430779"/>
              <a:ext cx="9058642" cy="18630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65180" y="2831769"/>
              <a:ext cx="540346" cy="7152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66355" y="4038297"/>
              <a:ext cx="229819" cy="726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62601" y="3720129"/>
              <a:ext cx="149426" cy="236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40121" y="3443789"/>
              <a:ext cx="203778" cy="480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51726" y="2847599"/>
              <a:ext cx="186004" cy="3921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87839" y="3267382"/>
              <a:ext cx="326859" cy="2768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41473" y="3285981"/>
              <a:ext cx="504874" cy="21752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91110" y="3270162"/>
              <a:ext cx="379368" cy="27431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09176" y="3727468"/>
              <a:ext cx="274827" cy="684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251476" y="3271439"/>
              <a:ext cx="129819" cy="22106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279205" y="3740452"/>
              <a:ext cx="211953" cy="8661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87926" y="3261067"/>
              <a:ext cx="832789" cy="28448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885993" y="3253652"/>
              <a:ext cx="321805" cy="19938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773186" y="3804766"/>
              <a:ext cx="542213" cy="279400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Probability</a:t>
            </a:r>
            <a:r>
              <a:rPr spc="-90" dirty="0"/>
              <a:t> </a:t>
            </a:r>
            <a:r>
              <a:rPr dirty="0"/>
              <a:t>–</a:t>
            </a:r>
            <a:r>
              <a:rPr spc="-85" dirty="0"/>
              <a:t> </a:t>
            </a:r>
            <a:r>
              <a:rPr spc="-20" dirty="0"/>
              <a:t>Example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3242" y="1403581"/>
            <a:ext cx="8942705" cy="40344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800100">
              <a:lnSpc>
                <a:spcPct val="100000"/>
              </a:lnSpc>
              <a:spcBef>
                <a:spcPts val="100"/>
              </a:spcBef>
              <a:tabLst>
                <a:tab pos="326390" algn="l"/>
              </a:tabLst>
            </a:pPr>
            <a:endParaRPr sz="2200" dirty="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192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dirty="0">
                <a:latin typeface="Calibri"/>
                <a:cs typeface="Calibri"/>
              </a:rPr>
              <a:t>Also,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compute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posterior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probability,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P(spam|Viagra)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simply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take</a:t>
            </a:r>
            <a:endParaRPr sz="2200" dirty="0">
              <a:latin typeface="Calibri"/>
              <a:cs typeface="Calibri"/>
            </a:endParaRPr>
          </a:p>
          <a:p>
            <a:pPr marL="326390">
              <a:lnSpc>
                <a:spcPct val="100000"/>
              </a:lnSpc>
            </a:pPr>
            <a:r>
              <a:rPr sz="2200" i="1" dirty="0">
                <a:latin typeface="Calibri"/>
                <a:cs typeface="Calibri"/>
              </a:rPr>
              <a:t>P(Viagra|spam)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*</a:t>
            </a:r>
            <a:r>
              <a:rPr sz="2200" i="1" spc="-2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P(spam)</a:t>
            </a:r>
            <a:r>
              <a:rPr sz="2200" i="1" spc="-3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/</a:t>
            </a:r>
            <a:r>
              <a:rPr sz="2200" i="1" spc="-3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P(Viagra)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(4/20)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*</a:t>
            </a:r>
            <a:r>
              <a:rPr sz="2200" i="1" spc="-1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(20/100)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/</a:t>
            </a:r>
            <a:r>
              <a:rPr sz="2200" i="1" spc="-2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(5/100)</a:t>
            </a:r>
            <a:r>
              <a:rPr sz="2200" i="1" spc="-3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=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0.80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326390" marR="5080" indent="-314325">
              <a:lnSpc>
                <a:spcPct val="100000"/>
              </a:lnSpc>
              <a:spcBef>
                <a:spcPts val="192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spc="-10" dirty="0">
                <a:latin typeface="Calibri"/>
                <a:cs typeface="Calibri"/>
              </a:rPr>
              <a:t>Therefore,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probability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80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percent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message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spam,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given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it </a:t>
            </a:r>
            <a:r>
              <a:rPr sz="2200" dirty="0">
                <a:latin typeface="Calibri"/>
                <a:cs typeface="Calibri"/>
              </a:rPr>
              <a:t>contains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word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Viagra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192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spc="-10" dirty="0">
                <a:latin typeface="Calibri"/>
                <a:cs typeface="Calibri"/>
              </a:rPr>
              <a:t>Therefore,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message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containing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term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should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filtered.</a:t>
            </a:r>
            <a:endParaRPr sz="2200" dirty="0">
              <a:latin typeface="Calibri"/>
              <a:cs typeface="Calibri"/>
            </a:endParaRPr>
          </a:p>
          <a:p>
            <a:pPr marL="326390" marR="254635" indent="-314325">
              <a:lnSpc>
                <a:spcPct val="100000"/>
              </a:lnSpc>
              <a:spcBef>
                <a:spcPts val="192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i="1" dirty="0">
                <a:latin typeface="Calibri"/>
                <a:cs typeface="Calibri"/>
              </a:rPr>
              <a:t>This</a:t>
            </a:r>
            <a:r>
              <a:rPr sz="2200" i="1" spc="-4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is</a:t>
            </a:r>
            <a:r>
              <a:rPr sz="2200" i="1" spc="-3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very</a:t>
            </a:r>
            <a:r>
              <a:rPr sz="2200" i="1" spc="-3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much</a:t>
            </a:r>
            <a:r>
              <a:rPr sz="2200" i="1" spc="-2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how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commercial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spam</a:t>
            </a:r>
            <a:r>
              <a:rPr sz="2200" i="1" spc="-3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filters</a:t>
            </a:r>
            <a:r>
              <a:rPr sz="2200" i="1" spc="-4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work,</a:t>
            </a:r>
            <a:r>
              <a:rPr sz="2200" i="1" spc="-3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although</a:t>
            </a:r>
            <a:r>
              <a:rPr sz="2200" i="1" spc="-45" dirty="0">
                <a:latin typeface="Calibri"/>
                <a:cs typeface="Calibri"/>
              </a:rPr>
              <a:t> </a:t>
            </a:r>
            <a:r>
              <a:rPr sz="2200" i="1" spc="-20" dirty="0">
                <a:latin typeface="Calibri"/>
                <a:cs typeface="Calibri"/>
              </a:rPr>
              <a:t>they </a:t>
            </a:r>
            <a:r>
              <a:rPr sz="2200" i="1" dirty="0">
                <a:latin typeface="Calibri"/>
                <a:cs typeface="Calibri"/>
              </a:rPr>
              <a:t>consider</a:t>
            </a:r>
            <a:r>
              <a:rPr sz="2200" i="1" spc="-6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a</a:t>
            </a:r>
            <a:r>
              <a:rPr sz="2200" i="1" spc="-35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much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larger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number</a:t>
            </a:r>
            <a:r>
              <a:rPr sz="2200" b="1" i="1" spc="-5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of</a:t>
            </a:r>
            <a:r>
              <a:rPr sz="2200" b="1" i="1" spc="-30" dirty="0">
                <a:latin typeface="Calibri"/>
                <a:cs typeface="Calibri"/>
              </a:rPr>
              <a:t> </a:t>
            </a:r>
            <a:r>
              <a:rPr sz="2200" b="1" i="1" dirty="0">
                <a:latin typeface="Calibri"/>
                <a:cs typeface="Calibri"/>
              </a:rPr>
              <a:t>words</a:t>
            </a:r>
            <a:r>
              <a:rPr sz="2200" b="1" i="1" spc="-4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simultaneously</a:t>
            </a:r>
            <a:r>
              <a:rPr sz="2200" i="1" spc="-5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when</a:t>
            </a:r>
            <a:r>
              <a:rPr sz="2200" i="1" spc="-45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computing </a:t>
            </a:r>
            <a:r>
              <a:rPr sz="2200" i="1" dirty="0">
                <a:latin typeface="Calibri"/>
                <a:cs typeface="Calibri"/>
              </a:rPr>
              <a:t>the</a:t>
            </a:r>
            <a:r>
              <a:rPr sz="2200" i="1" spc="-5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frequency</a:t>
            </a:r>
            <a:r>
              <a:rPr sz="2200" i="1" spc="-5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and</a:t>
            </a:r>
            <a:r>
              <a:rPr sz="2200" i="1" spc="-4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likelihood</a:t>
            </a:r>
            <a:r>
              <a:rPr sz="2200" i="1" spc="-45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tables.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Probability</a:t>
            </a:r>
            <a:r>
              <a:rPr spc="-90" dirty="0"/>
              <a:t> </a:t>
            </a:r>
            <a:r>
              <a:rPr dirty="0"/>
              <a:t>–</a:t>
            </a:r>
            <a:r>
              <a:rPr spc="-85" dirty="0"/>
              <a:t> </a:t>
            </a:r>
            <a:r>
              <a:rPr spc="-20" dirty="0"/>
              <a:t>Example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26900" y="1523477"/>
            <a:ext cx="2700213" cy="307199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69864" y="5436565"/>
            <a:ext cx="2029499" cy="6378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94061" y="4928414"/>
            <a:ext cx="3733611" cy="35150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41977" y="1206397"/>
            <a:ext cx="5960745" cy="5003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5755" marR="548005" indent="-313690" algn="just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2575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7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naïve</a:t>
            </a:r>
            <a:r>
              <a:rPr sz="2000" spc="7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Bayes</a:t>
            </a:r>
            <a:r>
              <a:rPr sz="2000" spc="6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algorithm</a:t>
            </a:r>
            <a:r>
              <a:rPr sz="2000" spc="7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7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named</a:t>
            </a:r>
            <a:r>
              <a:rPr sz="2000" spc="7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70" dirty="0">
                <a:latin typeface="Calibri"/>
                <a:cs typeface="Calibri"/>
              </a:rPr>
              <a:t>  </a:t>
            </a:r>
            <a:r>
              <a:rPr sz="2000" spc="-20" dirty="0">
                <a:latin typeface="Calibri"/>
                <a:cs typeface="Calibri"/>
              </a:rPr>
              <a:t>such </a:t>
            </a:r>
            <a:r>
              <a:rPr sz="2000" dirty="0">
                <a:latin typeface="Calibri"/>
                <a:cs typeface="Calibri"/>
              </a:rPr>
              <a:t>because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makes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couple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EC7C30"/>
                </a:solidFill>
                <a:latin typeface="Calibri"/>
                <a:cs typeface="Calibri"/>
              </a:rPr>
              <a:t>naïve</a:t>
            </a:r>
            <a:r>
              <a:rPr sz="2000" b="1" spc="9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assumptions </a:t>
            </a:r>
            <a:r>
              <a:rPr sz="2000" dirty="0">
                <a:latin typeface="Calibri"/>
                <a:cs typeface="Calibri"/>
              </a:rPr>
              <a:t>about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  <a:p>
            <a:pPr marL="713740" marR="139700" lvl="1" indent="-224790" algn="just">
              <a:lnSpc>
                <a:spcPct val="100000"/>
              </a:lnSpc>
              <a:spcBef>
                <a:spcPts val="420"/>
              </a:spcBef>
              <a:buFont typeface="Wingdings"/>
              <a:buChar char=""/>
              <a:tabLst>
                <a:tab pos="715010" algn="l"/>
              </a:tabLst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7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particular,</a:t>
            </a:r>
            <a:r>
              <a:rPr sz="1800" spc="7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Naïve</a:t>
            </a:r>
            <a:r>
              <a:rPr sz="1800" spc="7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Bayes</a:t>
            </a:r>
            <a:r>
              <a:rPr sz="1800" spc="6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assumes</a:t>
            </a:r>
            <a:r>
              <a:rPr sz="1800" spc="70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6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75" dirty="0">
                <a:latin typeface="Calibri"/>
                <a:cs typeface="Calibri"/>
              </a:rPr>
              <a:t> 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65" dirty="0">
                <a:latin typeface="Calibri"/>
                <a:cs typeface="Calibri"/>
              </a:rPr>
              <a:t>  </a:t>
            </a:r>
            <a:r>
              <a:rPr sz="1800" spc="-25" dirty="0">
                <a:latin typeface="Calibri"/>
                <a:cs typeface="Calibri"/>
              </a:rPr>
              <a:t>the 	</a:t>
            </a:r>
            <a:r>
              <a:rPr sz="1800" dirty="0">
                <a:latin typeface="Calibri"/>
                <a:cs typeface="Calibri"/>
              </a:rPr>
              <a:t>features</a:t>
            </a:r>
            <a:r>
              <a:rPr sz="1800" spc="4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4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4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dataset</a:t>
            </a:r>
            <a:r>
              <a:rPr sz="1800" spc="4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49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equally</a:t>
            </a:r>
            <a:r>
              <a:rPr sz="1800" b="1" spc="48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important</a:t>
            </a:r>
            <a:r>
              <a:rPr sz="1800" b="1" spc="49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and 	</a:t>
            </a:r>
            <a:r>
              <a:rPr sz="1800" b="1" spc="-10" dirty="0">
                <a:latin typeface="Calibri"/>
                <a:cs typeface="Calibri"/>
              </a:rPr>
              <a:t>independent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715010" marR="5080" lvl="1" indent="-225425" algn="just">
              <a:lnSpc>
                <a:spcPct val="100000"/>
              </a:lnSpc>
              <a:spcBef>
                <a:spcPts val="195"/>
              </a:spcBef>
              <a:buFont typeface="Wingdings"/>
              <a:buChar char=""/>
              <a:tabLst>
                <a:tab pos="715010" algn="l"/>
              </a:tabLst>
            </a:pPr>
            <a:r>
              <a:rPr sz="1800" dirty="0">
                <a:latin typeface="Calibri"/>
                <a:cs typeface="Calibri"/>
              </a:rPr>
              <a:t>These</a:t>
            </a:r>
            <a:r>
              <a:rPr sz="1800" spc="1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assumptions</a:t>
            </a:r>
            <a:r>
              <a:rPr sz="1800" spc="1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1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rarely</a:t>
            </a:r>
            <a:r>
              <a:rPr sz="1800" b="1" spc="1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true</a:t>
            </a:r>
            <a:r>
              <a:rPr sz="1800" b="1" spc="1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1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most</a:t>
            </a:r>
            <a:r>
              <a:rPr sz="1800" spc="1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1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1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real- </a:t>
            </a:r>
            <a:r>
              <a:rPr sz="1800" dirty="0">
                <a:latin typeface="Calibri"/>
                <a:cs typeface="Calibri"/>
              </a:rPr>
              <a:t>world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applications.</a:t>
            </a:r>
            <a:endParaRPr sz="1800">
              <a:latin typeface="Calibri"/>
              <a:cs typeface="Calibri"/>
            </a:endParaRPr>
          </a:p>
          <a:p>
            <a:pPr marL="326390" marR="167640" indent="-314325">
              <a:lnSpc>
                <a:spcPct val="100000"/>
              </a:lnSpc>
              <a:spcBef>
                <a:spcPts val="1385"/>
              </a:spcBef>
              <a:buFont typeface="Wingdings"/>
              <a:buChar char=""/>
              <a:tabLst>
                <a:tab pos="326390" algn="l"/>
              </a:tabLst>
            </a:pPr>
            <a:r>
              <a:rPr sz="2000" spc="-25" dirty="0">
                <a:latin typeface="Calibri"/>
                <a:cs typeface="Calibri"/>
              </a:rPr>
              <a:t>However,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most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these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assumptions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are </a:t>
            </a:r>
            <a:r>
              <a:rPr sz="2000" spc="-20" dirty="0">
                <a:latin typeface="Calibri"/>
                <a:cs typeface="Calibri"/>
              </a:rPr>
              <a:t>violated,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naïve</a:t>
            </a:r>
            <a:r>
              <a:rPr sz="2000" b="1" spc="-10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Bayes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still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performs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fairly</a:t>
            </a:r>
            <a:r>
              <a:rPr sz="2000" b="1" spc="-9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well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25755" marR="11430" indent="-31369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25755" algn="l"/>
                <a:tab pos="875665" algn="l"/>
                <a:tab pos="1167130" algn="l"/>
                <a:tab pos="1735455" algn="l"/>
                <a:tab pos="2367280" algn="l"/>
                <a:tab pos="2692400" algn="l"/>
                <a:tab pos="3688079" algn="l"/>
                <a:tab pos="5287645" algn="l"/>
              </a:tabLst>
            </a:pPr>
            <a:r>
              <a:rPr sz="2000" spc="-20" dirty="0">
                <a:latin typeface="Calibri"/>
                <a:cs typeface="Calibri"/>
              </a:rPr>
              <a:t>This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is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true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even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in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extreme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circumstances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where </a:t>
            </a:r>
            <a:r>
              <a:rPr sz="2000" dirty="0">
                <a:latin typeface="Calibri"/>
                <a:cs typeface="Calibri"/>
              </a:rPr>
              <a:t>strong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dependencies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found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among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features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325120" marR="8890" indent="-313055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26390" algn="l"/>
              </a:tabLst>
            </a:pPr>
            <a:r>
              <a:rPr sz="2000" dirty="0">
                <a:latin typeface="Calibri"/>
                <a:cs typeface="Calibri"/>
              </a:rPr>
              <a:t>Due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algorithm's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versatility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accuracy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across 	</a:t>
            </a:r>
            <a:r>
              <a:rPr sz="2000" dirty="0">
                <a:latin typeface="Calibri"/>
                <a:cs typeface="Calibri"/>
              </a:rPr>
              <a:t>many</a:t>
            </a:r>
            <a:r>
              <a:rPr sz="2000" spc="5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types</a:t>
            </a:r>
            <a:r>
              <a:rPr sz="2000" spc="6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5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conditions,</a:t>
            </a:r>
            <a:r>
              <a:rPr sz="2000" spc="60" dirty="0">
                <a:latin typeface="Calibri"/>
                <a:cs typeface="Calibri"/>
              </a:rPr>
              <a:t>  </a:t>
            </a:r>
            <a:r>
              <a:rPr sz="2000" b="1" dirty="0">
                <a:latin typeface="Calibri"/>
                <a:cs typeface="Calibri"/>
              </a:rPr>
              <a:t>naïve</a:t>
            </a:r>
            <a:r>
              <a:rPr sz="2000" b="1" spc="60" dirty="0">
                <a:latin typeface="Calibri"/>
                <a:cs typeface="Calibri"/>
              </a:rPr>
              <a:t>  </a:t>
            </a:r>
            <a:r>
              <a:rPr sz="2000" b="1" dirty="0">
                <a:latin typeface="Calibri"/>
                <a:cs typeface="Calibri"/>
              </a:rPr>
              <a:t>Bayes</a:t>
            </a:r>
            <a:r>
              <a:rPr sz="2000" b="1" spc="60" dirty="0">
                <a:latin typeface="Calibri"/>
                <a:cs typeface="Calibri"/>
              </a:rPr>
              <a:t>  </a:t>
            </a:r>
            <a:r>
              <a:rPr sz="2000" b="1" dirty="0">
                <a:latin typeface="Calibri"/>
                <a:cs typeface="Calibri"/>
              </a:rPr>
              <a:t>is</a:t>
            </a:r>
            <a:r>
              <a:rPr sz="2000" b="1" spc="60" dirty="0">
                <a:latin typeface="Calibri"/>
                <a:cs typeface="Calibri"/>
              </a:rPr>
              <a:t>  </a:t>
            </a:r>
            <a:r>
              <a:rPr sz="2000" b="1" dirty="0">
                <a:latin typeface="Calibri"/>
                <a:cs typeface="Calibri"/>
              </a:rPr>
              <a:t>often</a:t>
            </a:r>
            <a:r>
              <a:rPr sz="2000" b="1" spc="60" dirty="0">
                <a:latin typeface="Calibri"/>
                <a:cs typeface="Calibri"/>
              </a:rPr>
              <a:t>  </a:t>
            </a:r>
            <a:r>
              <a:rPr sz="2000" b="1" spc="-50" dirty="0">
                <a:latin typeface="Calibri"/>
                <a:cs typeface="Calibri"/>
              </a:rPr>
              <a:t>a 	</a:t>
            </a:r>
            <a:r>
              <a:rPr sz="2000" b="1" dirty="0">
                <a:latin typeface="Calibri"/>
                <a:cs typeface="Calibri"/>
              </a:rPr>
              <a:t>strong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first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candidate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for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classification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learning</a:t>
            </a:r>
            <a:r>
              <a:rPr sz="2000" b="1" spc="-10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tasks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501858"/>
            <a:ext cx="342646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Naïve</a:t>
            </a:r>
            <a:r>
              <a:rPr spc="-135" dirty="0"/>
              <a:t> </a:t>
            </a:r>
            <a:r>
              <a:rPr spc="-35" dirty="0"/>
              <a:t>Bayes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16515" y="1073277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242" y="0"/>
                </a:lnTo>
              </a:path>
            </a:pathLst>
          </a:custGeom>
          <a:ln w="685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52611" y="1335571"/>
            <a:ext cx="9357995" cy="147002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63855" marR="113030" indent="-351790">
              <a:lnSpc>
                <a:spcPts val="2200"/>
              </a:lnSpc>
              <a:spcBef>
                <a:spcPts val="335"/>
              </a:spcBef>
              <a:buFont typeface="Wingdings"/>
              <a:buChar char=""/>
              <a:tabLst>
                <a:tab pos="363855" algn="l"/>
              </a:tabLst>
            </a:pPr>
            <a:r>
              <a:rPr sz="2000" dirty="0">
                <a:latin typeface="Calibri"/>
                <a:cs typeface="Calibri"/>
              </a:rPr>
              <a:t>Let's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extend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filter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few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additional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terms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monitored: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money, </a:t>
            </a:r>
            <a:r>
              <a:rPr sz="2000" dirty="0">
                <a:latin typeface="Calibri"/>
                <a:cs typeface="Calibri"/>
              </a:rPr>
              <a:t>groceries,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unsubscribe.</a:t>
            </a:r>
            <a:endParaRPr sz="2000">
              <a:latin typeface="Calibri"/>
              <a:cs typeface="Calibri"/>
            </a:endParaRPr>
          </a:p>
          <a:p>
            <a:pPr marL="363855" marR="5080" indent="-351790">
              <a:lnSpc>
                <a:spcPts val="2160"/>
              </a:lnSpc>
              <a:spcBef>
                <a:spcPts val="290"/>
              </a:spcBef>
              <a:buFont typeface="Wingdings"/>
              <a:buChar char=""/>
              <a:tabLst>
                <a:tab pos="36385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Naïve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Bayes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learner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trained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constructing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likelihood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appearance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four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words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(W1,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W2,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W3,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W4),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shown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following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diagram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100 </a:t>
            </a:r>
            <a:r>
              <a:rPr sz="2000" spc="-10" dirty="0">
                <a:latin typeface="Calibri"/>
                <a:cs typeface="Calibri"/>
              </a:rPr>
              <a:t>emails: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2611" y="4684003"/>
            <a:ext cx="9389745" cy="1612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3855" marR="5080" indent="-35179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63855" algn="l"/>
              </a:tabLst>
            </a:pPr>
            <a:r>
              <a:rPr sz="2000" dirty="0">
                <a:latin typeface="Calibri"/>
                <a:cs typeface="Calibri"/>
              </a:rPr>
              <a:t>As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messages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received,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posterior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probability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calculated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dirty="0">
                <a:latin typeface="Calibri"/>
                <a:cs typeface="Calibri"/>
              </a:rPr>
              <a:t>determine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whether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likely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ham,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given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likelihood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words </a:t>
            </a:r>
            <a:r>
              <a:rPr sz="2000" dirty="0">
                <a:latin typeface="Calibri"/>
                <a:cs typeface="Calibri"/>
              </a:rPr>
              <a:t>found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message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text.</a:t>
            </a:r>
            <a:endParaRPr sz="2000">
              <a:latin typeface="Calibri"/>
              <a:cs typeface="Calibri"/>
            </a:endParaRPr>
          </a:p>
          <a:p>
            <a:pPr marL="808355" marR="131445" lvl="1" indent="-320040">
              <a:lnSpc>
                <a:spcPct val="100000"/>
              </a:lnSpc>
              <a:spcBef>
                <a:spcPts val="500"/>
              </a:spcBef>
              <a:buFont typeface="Courier New"/>
              <a:buChar char="o"/>
              <a:tabLst>
                <a:tab pos="809625" algn="l"/>
              </a:tabLst>
            </a:pPr>
            <a:r>
              <a:rPr sz="2000" dirty="0">
                <a:latin typeface="Calibri"/>
                <a:cs typeface="Calibri"/>
              </a:rPr>
              <a:t>For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example,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suppose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message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contains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terms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50"/>
                </a:solidFill>
                <a:latin typeface="Calibri"/>
                <a:cs typeface="Calibri"/>
              </a:rPr>
              <a:t>Viagra</a:t>
            </a:r>
            <a:r>
              <a:rPr sz="20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AF50"/>
                </a:solidFill>
                <a:latin typeface="Calibri"/>
                <a:cs typeface="Calibri"/>
              </a:rPr>
              <a:t>Unsubscribe</a:t>
            </a:r>
            <a:r>
              <a:rPr sz="2000" spc="-10" dirty="0">
                <a:latin typeface="Calibri"/>
                <a:cs typeface="Calibri"/>
              </a:rPr>
              <a:t>, 	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contain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either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Money</a:t>
            </a:r>
            <a:r>
              <a:rPr sz="20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Calibri"/>
                <a:cs typeface="Calibri"/>
              </a:rPr>
              <a:t>Groceries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27810" y="2925317"/>
            <a:ext cx="9136367" cy="1658873"/>
            <a:chOff x="1527810" y="2925317"/>
            <a:chExt cx="9136367" cy="1658873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7810" y="2925317"/>
              <a:ext cx="9136367" cy="165887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9623" y="3618629"/>
              <a:ext cx="572693" cy="35941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7681" y="3603962"/>
              <a:ext cx="543310" cy="3746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66685" y="3512117"/>
              <a:ext cx="636333" cy="46228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98768" y="3592253"/>
              <a:ext cx="452782" cy="33146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Naïve</a:t>
            </a:r>
            <a:r>
              <a:rPr spc="-105" dirty="0"/>
              <a:t> </a:t>
            </a:r>
            <a:r>
              <a:rPr spc="-45" dirty="0"/>
              <a:t>Bayes</a:t>
            </a:r>
            <a:r>
              <a:rPr spc="-95" dirty="0"/>
              <a:t> </a:t>
            </a:r>
            <a:r>
              <a:rPr dirty="0"/>
              <a:t>–</a:t>
            </a:r>
            <a:r>
              <a:rPr spc="-9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3242" y="1463845"/>
            <a:ext cx="891413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390" marR="5080" indent="-314325" algn="just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dirty="0">
                <a:latin typeface="Calibri"/>
                <a:cs typeface="Calibri"/>
              </a:rPr>
              <a:t>Using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Bayes'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theorem,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define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problem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shown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following </a:t>
            </a:r>
            <a:r>
              <a:rPr sz="2200" dirty="0">
                <a:latin typeface="Calibri"/>
                <a:cs typeface="Calibri"/>
              </a:rPr>
              <a:t>formula,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captures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probability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message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spam,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given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that: </a:t>
            </a:r>
            <a:r>
              <a:rPr sz="2200" dirty="0">
                <a:latin typeface="Calibri"/>
                <a:cs typeface="Calibri"/>
              </a:rPr>
              <a:t>Viagra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Yes,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Money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Groceries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Unsubscribe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Yes: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63241" y="4116835"/>
            <a:ext cx="8692515" cy="1740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390" marR="5080" indent="-31432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dirty="0">
                <a:latin typeface="Calibri"/>
                <a:cs typeface="Calibri"/>
              </a:rPr>
              <a:t>For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reasons,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formula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computationally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difficult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solve.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additional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features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added,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tremendous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amounts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memory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are </a:t>
            </a:r>
            <a:r>
              <a:rPr sz="2200" dirty="0">
                <a:latin typeface="Calibri"/>
                <a:cs typeface="Calibri"/>
              </a:rPr>
              <a:t>needed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store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probabilities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possible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intersecting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events; </a:t>
            </a:r>
            <a:r>
              <a:rPr sz="2200" dirty="0">
                <a:latin typeface="Calibri"/>
                <a:cs typeface="Calibri"/>
              </a:rPr>
              <a:t>imagine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complexity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Venn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diagram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events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four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words,</a:t>
            </a:r>
            <a:endParaRPr sz="2200">
              <a:latin typeface="Calibri"/>
              <a:cs typeface="Calibri"/>
            </a:endParaRPr>
          </a:p>
          <a:p>
            <a:pPr marL="363855">
              <a:lnSpc>
                <a:spcPct val="100000"/>
              </a:lnSpc>
              <a:spcBef>
                <a:spcPts val="300"/>
              </a:spcBef>
            </a:pPr>
            <a:r>
              <a:rPr sz="2200" dirty="0">
                <a:latin typeface="Calibri"/>
                <a:cs typeface="Calibri"/>
              </a:rPr>
              <a:t>………………..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alone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hundreds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more…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Naïve</a:t>
            </a:r>
            <a:r>
              <a:rPr spc="-105" dirty="0"/>
              <a:t> </a:t>
            </a:r>
            <a:r>
              <a:rPr spc="-45" dirty="0"/>
              <a:t>Bayes</a:t>
            </a:r>
            <a:r>
              <a:rPr spc="-95" dirty="0"/>
              <a:t> </a:t>
            </a:r>
            <a:r>
              <a:rPr dirty="0"/>
              <a:t>–</a:t>
            </a:r>
            <a:r>
              <a:rPr spc="-9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grpSp>
        <p:nvGrpSpPr>
          <p:cNvPr id="10" name="object 10"/>
          <p:cNvGrpSpPr/>
          <p:nvPr/>
        </p:nvGrpSpPr>
        <p:grpSpPr>
          <a:xfrm>
            <a:off x="1589532" y="2823972"/>
            <a:ext cx="8596121" cy="962405"/>
            <a:chOff x="1589532" y="2823972"/>
            <a:chExt cx="8596121" cy="96240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9532" y="2823972"/>
              <a:ext cx="8596121" cy="96240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7283" y="2887135"/>
              <a:ext cx="386206" cy="13716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519152" y="3168738"/>
              <a:ext cx="28575" cy="22860"/>
            </a:xfrm>
            <a:custGeom>
              <a:avLst/>
              <a:gdLst/>
              <a:ahLst/>
              <a:cxnLst/>
              <a:rect l="l" t="t" r="r" b="b"/>
              <a:pathLst>
                <a:path w="28575" h="22860">
                  <a:moveTo>
                    <a:pt x="13017" y="11620"/>
                  </a:moveTo>
                  <a:lnTo>
                    <a:pt x="4051" y="11620"/>
                  </a:lnTo>
                  <a:lnTo>
                    <a:pt x="3683" y="11747"/>
                  </a:lnTo>
                  <a:lnTo>
                    <a:pt x="3126" y="12001"/>
                  </a:lnTo>
                  <a:lnTo>
                    <a:pt x="2324" y="12433"/>
                  </a:lnTo>
                  <a:lnTo>
                    <a:pt x="533" y="15151"/>
                  </a:lnTo>
                  <a:lnTo>
                    <a:pt x="0" y="20624"/>
                  </a:lnTo>
                  <a:lnTo>
                    <a:pt x="1193" y="22161"/>
                  </a:lnTo>
                  <a:lnTo>
                    <a:pt x="4572" y="22707"/>
                  </a:lnTo>
                  <a:lnTo>
                    <a:pt x="6184" y="21628"/>
                  </a:lnTo>
                  <a:lnTo>
                    <a:pt x="6868" y="18618"/>
                  </a:lnTo>
                  <a:lnTo>
                    <a:pt x="5537" y="18618"/>
                  </a:lnTo>
                  <a:lnTo>
                    <a:pt x="7404" y="16256"/>
                  </a:lnTo>
                  <a:lnTo>
                    <a:pt x="10040" y="16256"/>
                  </a:lnTo>
                  <a:lnTo>
                    <a:pt x="10845" y="15595"/>
                  </a:lnTo>
                  <a:lnTo>
                    <a:pt x="11709" y="14706"/>
                  </a:lnTo>
                  <a:lnTo>
                    <a:pt x="12065" y="14287"/>
                  </a:lnTo>
                  <a:lnTo>
                    <a:pt x="12727" y="13379"/>
                  </a:lnTo>
                  <a:lnTo>
                    <a:pt x="12369" y="13296"/>
                  </a:lnTo>
                  <a:lnTo>
                    <a:pt x="11571" y="13005"/>
                  </a:lnTo>
                  <a:lnTo>
                    <a:pt x="10261" y="12865"/>
                  </a:lnTo>
                  <a:lnTo>
                    <a:pt x="10814" y="12615"/>
                  </a:lnTo>
                  <a:lnTo>
                    <a:pt x="13017" y="11620"/>
                  </a:lnTo>
                  <a:close/>
                </a:path>
                <a:path w="28575" h="22860">
                  <a:moveTo>
                    <a:pt x="7404" y="16256"/>
                  </a:moveTo>
                  <a:lnTo>
                    <a:pt x="5537" y="18618"/>
                  </a:lnTo>
                  <a:lnTo>
                    <a:pt x="5956" y="18415"/>
                  </a:lnTo>
                  <a:lnTo>
                    <a:pt x="6375" y="18211"/>
                  </a:lnTo>
                  <a:lnTo>
                    <a:pt x="7004" y="18019"/>
                  </a:lnTo>
                  <a:lnTo>
                    <a:pt x="7404" y="16256"/>
                  </a:lnTo>
                  <a:close/>
                </a:path>
                <a:path w="28575" h="22860">
                  <a:moveTo>
                    <a:pt x="7004" y="18019"/>
                  </a:moveTo>
                  <a:lnTo>
                    <a:pt x="6179" y="18306"/>
                  </a:lnTo>
                  <a:lnTo>
                    <a:pt x="5537" y="18618"/>
                  </a:lnTo>
                  <a:lnTo>
                    <a:pt x="6868" y="18618"/>
                  </a:lnTo>
                  <a:lnTo>
                    <a:pt x="7004" y="18019"/>
                  </a:lnTo>
                  <a:close/>
                </a:path>
                <a:path w="28575" h="22860">
                  <a:moveTo>
                    <a:pt x="6375" y="18211"/>
                  </a:moveTo>
                  <a:lnTo>
                    <a:pt x="5854" y="18415"/>
                  </a:lnTo>
                  <a:lnTo>
                    <a:pt x="6179" y="18306"/>
                  </a:lnTo>
                  <a:lnTo>
                    <a:pt x="6375" y="18211"/>
                  </a:lnTo>
                  <a:close/>
                </a:path>
                <a:path w="28575" h="22860">
                  <a:moveTo>
                    <a:pt x="6179" y="18306"/>
                  </a:moveTo>
                  <a:lnTo>
                    <a:pt x="5854" y="18415"/>
                  </a:lnTo>
                  <a:lnTo>
                    <a:pt x="6179" y="18306"/>
                  </a:lnTo>
                  <a:close/>
                </a:path>
                <a:path w="28575" h="22860">
                  <a:moveTo>
                    <a:pt x="6464" y="18211"/>
                  </a:moveTo>
                  <a:lnTo>
                    <a:pt x="6179" y="18306"/>
                  </a:lnTo>
                  <a:lnTo>
                    <a:pt x="6464" y="18211"/>
                  </a:lnTo>
                  <a:close/>
                </a:path>
                <a:path w="28575" h="22860">
                  <a:moveTo>
                    <a:pt x="10040" y="16256"/>
                  </a:moveTo>
                  <a:lnTo>
                    <a:pt x="7404" y="16256"/>
                  </a:lnTo>
                  <a:lnTo>
                    <a:pt x="7004" y="18019"/>
                  </a:lnTo>
                  <a:lnTo>
                    <a:pt x="7874" y="17640"/>
                  </a:lnTo>
                  <a:lnTo>
                    <a:pt x="8826" y="17119"/>
                  </a:lnTo>
                  <a:lnTo>
                    <a:pt x="9715" y="16522"/>
                  </a:lnTo>
                  <a:lnTo>
                    <a:pt x="10040" y="16256"/>
                  </a:lnTo>
                  <a:close/>
                </a:path>
                <a:path w="28575" h="22860">
                  <a:moveTo>
                    <a:pt x="18900" y="10693"/>
                  </a:moveTo>
                  <a:lnTo>
                    <a:pt x="14071" y="10693"/>
                  </a:lnTo>
                  <a:lnTo>
                    <a:pt x="13639" y="11747"/>
                  </a:lnTo>
                  <a:lnTo>
                    <a:pt x="12727" y="13379"/>
                  </a:lnTo>
                  <a:lnTo>
                    <a:pt x="13309" y="13512"/>
                  </a:lnTo>
                  <a:lnTo>
                    <a:pt x="14300" y="13614"/>
                  </a:lnTo>
                  <a:lnTo>
                    <a:pt x="15290" y="13576"/>
                  </a:lnTo>
                  <a:lnTo>
                    <a:pt x="20227" y="10998"/>
                  </a:lnTo>
                  <a:lnTo>
                    <a:pt x="18542" y="10998"/>
                  </a:lnTo>
                  <a:lnTo>
                    <a:pt x="18900" y="10693"/>
                  </a:lnTo>
                  <a:close/>
                </a:path>
                <a:path w="28575" h="22860">
                  <a:moveTo>
                    <a:pt x="11571" y="13005"/>
                  </a:moveTo>
                  <a:lnTo>
                    <a:pt x="12369" y="13296"/>
                  </a:lnTo>
                  <a:lnTo>
                    <a:pt x="12727" y="13379"/>
                  </a:lnTo>
                  <a:lnTo>
                    <a:pt x="12908" y="13081"/>
                  </a:lnTo>
                  <a:lnTo>
                    <a:pt x="12280" y="13081"/>
                  </a:lnTo>
                  <a:lnTo>
                    <a:pt x="11571" y="13005"/>
                  </a:lnTo>
                  <a:close/>
                </a:path>
                <a:path w="28575" h="22860">
                  <a:moveTo>
                    <a:pt x="10833" y="12606"/>
                  </a:moveTo>
                  <a:lnTo>
                    <a:pt x="11571" y="13005"/>
                  </a:lnTo>
                  <a:lnTo>
                    <a:pt x="12280" y="13081"/>
                  </a:lnTo>
                  <a:lnTo>
                    <a:pt x="10833" y="12606"/>
                  </a:lnTo>
                  <a:close/>
                </a:path>
                <a:path w="28575" h="22860">
                  <a:moveTo>
                    <a:pt x="13749" y="11289"/>
                  </a:moveTo>
                  <a:lnTo>
                    <a:pt x="10908" y="12573"/>
                  </a:lnTo>
                  <a:lnTo>
                    <a:pt x="12280" y="13081"/>
                  </a:lnTo>
                  <a:lnTo>
                    <a:pt x="12908" y="13081"/>
                  </a:lnTo>
                  <a:lnTo>
                    <a:pt x="13296" y="12433"/>
                  </a:lnTo>
                  <a:lnTo>
                    <a:pt x="13639" y="11747"/>
                  </a:lnTo>
                  <a:lnTo>
                    <a:pt x="13639" y="11493"/>
                  </a:lnTo>
                  <a:lnTo>
                    <a:pt x="13749" y="11289"/>
                  </a:lnTo>
                  <a:close/>
                </a:path>
                <a:path w="28575" h="22860">
                  <a:moveTo>
                    <a:pt x="10814" y="12615"/>
                  </a:moveTo>
                  <a:lnTo>
                    <a:pt x="10261" y="12865"/>
                  </a:lnTo>
                  <a:lnTo>
                    <a:pt x="11571" y="13005"/>
                  </a:lnTo>
                  <a:lnTo>
                    <a:pt x="10814" y="12615"/>
                  </a:lnTo>
                  <a:close/>
                </a:path>
                <a:path w="28575" h="22860">
                  <a:moveTo>
                    <a:pt x="10908" y="12573"/>
                  </a:moveTo>
                  <a:lnTo>
                    <a:pt x="10731" y="12573"/>
                  </a:lnTo>
                  <a:lnTo>
                    <a:pt x="10908" y="12573"/>
                  </a:lnTo>
                  <a:close/>
                </a:path>
                <a:path w="28575" h="22860">
                  <a:moveTo>
                    <a:pt x="7626" y="11430"/>
                  </a:moveTo>
                  <a:lnTo>
                    <a:pt x="4444" y="11442"/>
                  </a:lnTo>
                  <a:lnTo>
                    <a:pt x="4127" y="11595"/>
                  </a:lnTo>
                  <a:lnTo>
                    <a:pt x="3898" y="11671"/>
                  </a:lnTo>
                  <a:lnTo>
                    <a:pt x="4051" y="11620"/>
                  </a:lnTo>
                  <a:lnTo>
                    <a:pt x="13017" y="11620"/>
                  </a:lnTo>
                  <a:lnTo>
                    <a:pt x="13298" y="11493"/>
                  </a:lnTo>
                  <a:lnTo>
                    <a:pt x="7670" y="11493"/>
                  </a:lnTo>
                  <a:close/>
                </a:path>
                <a:path w="28575" h="22860">
                  <a:moveTo>
                    <a:pt x="7554" y="11328"/>
                  </a:moveTo>
                  <a:lnTo>
                    <a:pt x="4673" y="11328"/>
                  </a:lnTo>
                  <a:lnTo>
                    <a:pt x="4330" y="11493"/>
                  </a:lnTo>
                  <a:lnTo>
                    <a:pt x="4470" y="11430"/>
                  </a:lnTo>
                  <a:lnTo>
                    <a:pt x="7626" y="11430"/>
                  </a:lnTo>
                  <a:close/>
                </a:path>
                <a:path w="28575" h="22860">
                  <a:moveTo>
                    <a:pt x="7368" y="9258"/>
                  </a:moveTo>
                  <a:lnTo>
                    <a:pt x="6743" y="9258"/>
                  </a:lnTo>
                  <a:lnTo>
                    <a:pt x="6667" y="9398"/>
                  </a:lnTo>
                  <a:lnTo>
                    <a:pt x="6748" y="10185"/>
                  </a:lnTo>
                  <a:lnTo>
                    <a:pt x="7670" y="11493"/>
                  </a:lnTo>
                  <a:lnTo>
                    <a:pt x="7368" y="9258"/>
                  </a:lnTo>
                  <a:close/>
                </a:path>
                <a:path w="28575" h="22860">
                  <a:moveTo>
                    <a:pt x="23674" y="8115"/>
                  </a:moveTo>
                  <a:lnTo>
                    <a:pt x="7213" y="8115"/>
                  </a:lnTo>
                  <a:lnTo>
                    <a:pt x="7670" y="11493"/>
                  </a:lnTo>
                  <a:lnTo>
                    <a:pt x="13298" y="11493"/>
                  </a:lnTo>
                  <a:lnTo>
                    <a:pt x="13664" y="11328"/>
                  </a:lnTo>
                  <a:lnTo>
                    <a:pt x="14071" y="10693"/>
                  </a:lnTo>
                  <a:lnTo>
                    <a:pt x="18900" y="10693"/>
                  </a:lnTo>
                  <a:lnTo>
                    <a:pt x="21780" y="8242"/>
                  </a:lnTo>
                  <a:lnTo>
                    <a:pt x="23564" y="8242"/>
                  </a:lnTo>
                  <a:lnTo>
                    <a:pt x="23674" y="8115"/>
                  </a:lnTo>
                  <a:close/>
                </a:path>
                <a:path w="28575" h="22860">
                  <a:moveTo>
                    <a:pt x="13804" y="11264"/>
                  </a:moveTo>
                  <a:lnTo>
                    <a:pt x="13639" y="11493"/>
                  </a:lnTo>
                  <a:lnTo>
                    <a:pt x="13804" y="11264"/>
                  </a:lnTo>
                  <a:close/>
                </a:path>
                <a:path w="28575" h="22860">
                  <a:moveTo>
                    <a:pt x="13841" y="11264"/>
                  </a:moveTo>
                  <a:lnTo>
                    <a:pt x="13639" y="11493"/>
                  </a:lnTo>
                  <a:lnTo>
                    <a:pt x="13841" y="11264"/>
                  </a:lnTo>
                  <a:close/>
                </a:path>
                <a:path w="28575" h="22860">
                  <a:moveTo>
                    <a:pt x="7473" y="11214"/>
                  </a:moveTo>
                  <a:lnTo>
                    <a:pt x="4876" y="11214"/>
                  </a:lnTo>
                  <a:lnTo>
                    <a:pt x="4533" y="11391"/>
                  </a:lnTo>
                  <a:lnTo>
                    <a:pt x="4673" y="11328"/>
                  </a:lnTo>
                  <a:lnTo>
                    <a:pt x="7554" y="11328"/>
                  </a:lnTo>
                  <a:close/>
                </a:path>
                <a:path w="28575" h="22860">
                  <a:moveTo>
                    <a:pt x="13804" y="11264"/>
                  </a:moveTo>
                  <a:close/>
                </a:path>
                <a:path w="28575" h="22860">
                  <a:moveTo>
                    <a:pt x="7294" y="10960"/>
                  </a:moveTo>
                  <a:lnTo>
                    <a:pt x="5257" y="10960"/>
                  </a:lnTo>
                  <a:lnTo>
                    <a:pt x="4775" y="11266"/>
                  </a:lnTo>
                  <a:lnTo>
                    <a:pt x="7473" y="11214"/>
                  </a:lnTo>
                  <a:lnTo>
                    <a:pt x="7294" y="10960"/>
                  </a:lnTo>
                  <a:close/>
                </a:path>
                <a:path w="28575" h="22860">
                  <a:moveTo>
                    <a:pt x="14071" y="10693"/>
                  </a:moveTo>
                  <a:lnTo>
                    <a:pt x="13763" y="11264"/>
                  </a:lnTo>
                  <a:lnTo>
                    <a:pt x="14071" y="10693"/>
                  </a:lnTo>
                  <a:close/>
                </a:path>
                <a:path w="28575" h="22860">
                  <a:moveTo>
                    <a:pt x="7088" y="10668"/>
                  </a:moveTo>
                  <a:lnTo>
                    <a:pt x="5613" y="10668"/>
                  </a:lnTo>
                  <a:lnTo>
                    <a:pt x="5130" y="11036"/>
                  </a:lnTo>
                  <a:lnTo>
                    <a:pt x="5257" y="10960"/>
                  </a:lnTo>
                  <a:lnTo>
                    <a:pt x="7294" y="10960"/>
                  </a:lnTo>
                  <a:lnTo>
                    <a:pt x="7088" y="10668"/>
                  </a:lnTo>
                  <a:close/>
                </a:path>
                <a:path w="28575" h="22860">
                  <a:moveTo>
                    <a:pt x="21780" y="8242"/>
                  </a:moveTo>
                  <a:lnTo>
                    <a:pt x="18542" y="10998"/>
                  </a:lnTo>
                  <a:lnTo>
                    <a:pt x="19278" y="10858"/>
                  </a:lnTo>
                  <a:lnTo>
                    <a:pt x="20142" y="10604"/>
                  </a:lnTo>
                  <a:lnTo>
                    <a:pt x="20742" y="10350"/>
                  </a:lnTo>
                  <a:lnTo>
                    <a:pt x="21195" y="9639"/>
                  </a:lnTo>
                  <a:lnTo>
                    <a:pt x="21608" y="8727"/>
                  </a:lnTo>
                  <a:lnTo>
                    <a:pt x="21780" y="8242"/>
                  </a:lnTo>
                  <a:close/>
                </a:path>
                <a:path w="28575" h="22860">
                  <a:moveTo>
                    <a:pt x="20766" y="10340"/>
                  </a:moveTo>
                  <a:lnTo>
                    <a:pt x="20099" y="10617"/>
                  </a:lnTo>
                  <a:lnTo>
                    <a:pt x="19278" y="10858"/>
                  </a:lnTo>
                  <a:lnTo>
                    <a:pt x="18542" y="10998"/>
                  </a:lnTo>
                  <a:lnTo>
                    <a:pt x="20227" y="10998"/>
                  </a:lnTo>
                  <a:lnTo>
                    <a:pt x="20681" y="10464"/>
                  </a:lnTo>
                  <a:close/>
                </a:path>
                <a:path w="28575" h="22860">
                  <a:moveTo>
                    <a:pt x="6981" y="10515"/>
                  </a:moveTo>
                  <a:lnTo>
                    <a:pt x="5778" y="10515"/>
                  </a:lnTo>
                  <a:lnTo>
                    <a:pt x="5593" y="10683"/>
                  </a:lnTo>
                  <a:lnTo>
                    <a:pt x="7088" y="10668"/>
                  </a:lnTo>
                  <a:lnTo>
                    <a:pt x="6981" y="10515"/>
                  </a:lnTo>
                  <a:close/>
                </a:path>
                <a:path w="28575" h="22860">
                  <a:moveTo>
                    <a:pt x="6864" y="10350"/>
                  </a:moveTo>
                  <a:lnTo>
                    <a:pt x="5943" y="10350"/>
                  </a:lnTo>
                  <a:lnTo>
                    <a:pt x="5664" y="10617"/>
                  </a:lnTo>
                  <a:lnTo>
                    <a:pt x="6981" y="10515"/>
                  </a:lnTo>
                  <a:lnTo>
                    <a:pt x="6864" y="10350"/>
                  </a:lnTo>
                  <a:close/>
                </a:path>
                <a:path w="28575" h="22860">
                  <a:moveTo>
                    <a:pt x="6748" y="10185"/>
                  </a:moveTo>
                  <a:lnTo>
                    <a:pt x="6096" y="10185"/>
                  </a:lnTo>
                  <a:lnTo>
                    <a:pt x="5885" y="10406"/>
                  </a:lnTo>
                  <a:lnTo>
                    <a:pt x="6864" y="10350"/>
                  </a:lnTo>
                  <a:lnTo>
                    <a:pt x="6748" y="10185"/>
                  </a:lnTo>
                  <a:close/>
                </a:path>
                <a:path w="28575" h="22860">
                  <a:moveTo>
                    <a:pt x="23564" y="8242"/>
                  </a:moveTo>
                  <a:lnTo>
                    <a:pt x="21780" y="8242"/>
                  </a:lnTo>
                  <a:lnTo>
                    <a:pt x="21569" y="8839"/>
                  </a:lnTo>
                  <a:lnTo>
                    <a:pt x="21234" y="9575"/>
                  </a:lnTo>
                  <a:lnTo>
                    <a:pt x="20766" y="10340"/>
                  </a:lnTo>
                  <a:lnTo>
                    <a:pt x="21510" y="9956"/>
                  </a:lnTo>
                  <a:lnTo>
                    <a:pt x="22468" y="9322"/>
                  </a:lnTo>
                  <a:lnTo>
                    <a:pt x="23213" y="8648"/>
                  </a:lnTo>
                  <a:lnTo>
                    <a:pt x="23564" y="8242"/>
                  </a:lnTo>
                  <a:close/>
                </a:path>
                <a:path w="28575" h="22860">
                  <a:moveTo>
                    <a:pt x="6639" y="9639"/>
                  </a:moveTo>
                  <a:lnTo>
                    <a:pt x="6146" y="10134"/>
                  </a:lnTo>
                  <a:lnTo>
                    <a:pt x="6748" y="10185"/>
                  </a:lnTo>
                  <a:lnTo>
                    <a:pt x="6639" y="9639"/>
                  </a:lnTo>
                  <a:close/>
                </a:path>
                <a:path w="28575" h="22860">
                  <a:moveTo>
                    <a:pt x="6636" y="9588"/>
                  </a:moveTo>
                  <a:lnTo>
                    <a:pt x="6446" y="9734"/>
                  </a:lnTo>
                  <a:lnTo>
                    <a:pt x="6639" y="9639"/>
                  </a:lnTo>
                  <a:close/>
                </a:path>
                <a:path w="28575" h="22860">
                  <a:moveTo>
                    <a:pt x="6627" y="9458"/>
                  </a:moveTo>
                  <a:lnTo>
                    <a:pt x="6553" y="9588"/>
                  </a:lnTo>
                  <a:lnTo>
                    <a:pt x="6627" y="9458"/>
                  </a:lnTo>
                  <a:close/>
                </a:path>
                <a:path w="28575" h="22860">
                  <a:moveTo>
                    <a:pt x="9296" y="5130"/>
                  </a:moveTo>
                  <a:lnTo>
                    <a:pt x="7952" y="5909"/>
                  </a:lnTo>
                  <a:lnTo>
                    <a:pt x="6701" y="8242"/>
                  </a:lnTo>
                  <a:lnTo>
                    <a:pt x="6627" y="9448"/>
                  </a:lnTo>
                  <a:lnTo>
                    <a:pt x="6870" y="8991"/>
                  </a:lnTo>
                  <a:lnTo>
                    <a:pt x="7213" y="8115"/>
                  </a:lnTo>
                  <a:lnTo>
                    <a:pt x="23674" y="8115"/>
                  </a:lnTo>
                  <a:lnTo>
                    <a:pt x="24155" y="7467"/>
                  </a:lnTo>
                  <a:lnTo>
                    <a:pt x="24288" y="7226"/>
                  </a:lnTo>
                  <a:lnTo>
                    <a:pt x="24079" y="7226"/>
                  </a:lnTo>
                  <a:lnTo>
                    <a:pt x="24752" y="6388"/>
                  </a:lnTo>
                  <a:lnTo>
                    <a:pt x="25067" y="6388"/>
                  </a:lnTo>
                  <a:lnTo>
                    <a:pt x="25381" y="6121"/>
                  </a:lnTo>
                  <a:lnTo>
                    <a:pt x="13931" y="6121"/>
                  </a:lnTo>
                  <a:lnTo>
                    <a:pt x="14099" y="5566"/>
                  </a:lnTo>
                  <a:lnTo>
                    <a:pt x="12788" y="5219"/>
                  </a:lnTo>
                  <a:lnTo>
                    <a:pt x="9296" y="5130"/>
                  </a:lnTo>
                  <a:close/>
                </a:path>
                <a:path w="28575" h="22860">
                  <a:moveTo>
                    <a:pt x="7340" y="9055"/>
                  </a:moveTo>
                  <a:lnTo>
                    <a:pt x="6845" y="9055"/>
                  </a:lnTo>
                  <a:lnTo>
                    <a:pt x="6706" y="9322"/>
                  </a:lnTo>
                  <a:lnTo>
                    <a:pt x="7368" y="9258"/>
                  </a:lnTo>
                  <a:lnTo>
                    <a:pt x="7340" y="9055"/>
                  </a:lnTo>
                  <a:close/>
                </a:path>
                <a:path w="28575" h="22860">
                  <a:moveTo>
                    <a:pt x="7313" y="8851"/>
                  </a:moveTo>
                  <a:lnTo>
                    <a:pt x="6946" y="8851"/>
                  </a:lnTo>
                  <a:lnTo>
                    <a:pt x="6769" y="9194"/>
                  </a:lnTo>
                  <a:lnTo>
                    <a:pt x="6845" y="9055"/>
                  </a:lnTo>
                  <a:lnTo>
                    <a:pt x="7340" y="9055"/>
                  </a:lnTo>
                  <a:lnTo>
                    <a:pt x="7313" y="8851"/>
                  </a:lnTo>
                  <a:close/>
                </a:path>
                <a:path w="28575" h="22860">
                  <a:moveTo>
                    <a:pt x="7285" y="8648"/>
                  </a:moveTo>
                  <a:lnTo>
                    <a:pt x="7023" y="8648"/>
                  </a:lnTo>
                  <a:lnTo>
                    <a:pt x="6870" y="8991"/>
                  </a:lnTo>
                  <a:lnTo>
                    <a:pt x="6946" y="8851"/>
                  </a:lnTo>
                  <a:lnTo>
                    <a:pt x="7313" y="8851"/>
                  </a:lnTo>
                  <a:lnTo>
                    <a:pt x="7285" y="8648"/>
                  </a:lnTo>
                  <a:close/>
                </a:path>
                <a:path w="28575" h="22860">
                  <a:moveTo>
                    <a:pt x="7213" y="8115"/>
                  </a:moveTo>
                  <a:lnTo>
                    <a:pt x="6987" y="8727"/>
                  </a:lnTo>
                  <a:lnTo>
                    <a:pt x="7285" y="8648"/>
                  </a:lnTo>
                  <a:lnTo>
                    <a:pt x="7213" y="8115"/>
                  </a:lnTo>
                  <a:close/>
                </a:path>
                <a:path w="28575" h="22860">
                  <a:moveTo>
                    <a:pt x="24625" y="6616"/>
                  </a:moveTo>
                  <a:lnTo>
                    <a:pt x="24079" y="7226"/>
                  </a:lnTo>
                  <a:lnTo>
                    <a:pt x="24473" y="6891"/>
                  </a:lnTo>
                  <a:lnTo>
                    <a:pt x="24625" y="6616"/>
                  </a:lnTo>
                  <a:close/>
                </a:path>
                <a:path w="28575" h="22860">
                  <a:moveTo>
                    <a:pt x="24473" y="6891"/>
                  </a:moveTo>
                  <a:lnTo>
                    <a:pt x="24079" y="7226"/>
                  </a:lnTo>
                  <a:lnTo>
                    <a:pt x="24288" y="7226"/>
                  </a:lnTo>
                  <a:lnTo>
                    <a:pt x="24473" y="6891"/>
                  </a:lnTo>
                  <a:close/>
                </a:path>
                <a:path w="28575" h="22860">
                  <a:moveTo>
                    <a:pt x="24647" y="6743"/>
                  </a:moveTo>
                  <a:lnTo>
                    <a:pt x="24473" y="6891"/>
                  </a:lnTo>
                  <a:lnTo>
                    <a:pt x="24647" y="6743"/>
                  </a:lnTo>
                  <a:close/>
                </a:path>
                <a:path w="28575" h="22860">
                  <a:moveTo>
                    <a:pt x="25067" y="6388"/>
                  </a:moveTo>
                  <a:lnTo>
                    <a:pt x="24752" y="6388"/>
                  </a:lnTo>
                  <a:lnTo>
                    <a:pt x="24561" y="6743"/>
                  </a:lnTo>
                  <a:lnTo>
                    <a:pt x="25067" y="6388"/>
                  </a:lnTo>
                  <a:close/>
                </a:path>
                <a:path w="28575" h="22860">
                  <a:moveTo>
                    <a:pt x="24752" y="6388"/>
                  </a:moveTo>
                  <a:lnTo>
                    <a:pt x="24568" y="6616"/>
                  </a:lnTo>
                  <a:lnTo>
                    <a:pt x="24752" y="6388"/>
                  </a:lnTo>
                  <a:close/>
                </a:path>
                <a:path w="28575" h="22860">
                  <a:moveTo>
                    <a:pt x="14360" y="5665"/>
                  </a:moveTo>
                  <a:lnTo>
                    <a:pt x="14184" y="5729"/>
                  </a:lnTo>
                  <a:lnTo>
                    <a:pt x="13931" y="6121"/>
                  </a:lnTo>
                  <a:lnTo>
                    <a:pt x="25381" y="6121"/>
                  </a:lnTo>
                  <a:lnTo>
                    <a:pt x="25830" y="5740"/>
                  </a:lnTo>
                  <a:lnTo>
                    <a:pt x="14655" y="5740"/>
                  </a:lnTo>
                  <a:lnTo>
                    <a:pt x="14360" y="5665"/>
                  </a:lnTo>
                  <a:close/>
                </a:path>
                <a:path w="28575" h="22860">
                  <a:moveTo>
                    <a:pt x="14051" y="5829"/>
                  </a:moveTo>
                  <a:close/>
                </a:path>
                <a:path w="28575" h="22860">
                  <a:moveTo>
                    <a:pt x="14084" y="5791"/>
                  </a:moveTo>
                  <a:close/>
                </a:path>
                <a:path w="28575" h="22860">
                  <a:moveTo>
                    <a:pt x="14123" y="5753"/>
                  </a:moveTo>
                  <a:close/>
                </a:path>
                <a:path w="28575" h="22860">
                  <a:moveTo>
                    <a:pt x="14099" y="5566"/>
                  </a:moveTo>
                  <a:lnTo>
                    <a:pt x="14043" y="5753"/>
                  </a:lnTo>
                  <a:lnTo>
                    <a:pt x="14224" y="5689"/>
                  </a:lnTo>
                  <a:lnTo>
                    <a:pt x="14420" y="5651"/>
                  </a:lnTo>
                  <a:lnTo>
                    <a:pt x="14099" y="5566"/>
                  </a:lnTo>
                  <a:close/>
                </a:path>
                <a:path w="28575" h="22860">
                  <a:moveTo>
                    <a:pt x="25920" y="5664"/>
                  </a:moveTo>
                  <a:lnTo>
                    <a:pt x="14490" y="5664"/>
                  </a:lnTo>
                  <a:lnTo>
                    <a:pt x="14655" y="5740"/>
                  </a:lnTo>
                  <a:lnTo>
                    <a:pt x="25830" y="5740"/>
                  </a:lnTo>
                  <a:close/>
                </a:path>
                <a:path w="28575" h="22860">
                  <a:moveTo>
                    <a:pt x="14617" y="5722"/>
                  </a:moveTo>
                  <a:close/>
                </a:path>
                <a:path w="28575" h="22860">
                  <a:moveTo>
                    <a:pt x="14563" y="5697"/>
                  </a:moveTo>
                  <a:close/>
                </a:path>
                <a:path w="28575" h="22860">
                  <a:moveTo>
                    <a:pt x="14528" y="5681"/>
                  </a:moveTo>
                  <a:close/>
                </a:path>
                <a:path w="28575" h="22860">
                  <a:moveTo>
                    <a:pt x="14513" y="5674"/>
                  </a:moveTo>
                  <a:close/>
                </a:path>
                <a:path w="28575" h="22860">
                  <a:moveTo>
                    <a:pt x="14506" y="5671"/>
                  </a:moveTo>
                  <a:close/>
                </a:path>
                <a:path w="28575" h="22860">
                  <a:moveTo>
                    <a:pt x="14400" y="5657"/>
                  </a:moveTo>
                  <a:close/>
                </a:path>
                <a:path w="28575" h="22860">
                  <a:moveTo>
                    <a:pt x="25935" y="5651"/>
                  </a:moveTo>
                  <a:lnTo>
                    <a:pt x="14439" y="5651"/>
                  </a:lnTo>
                  <a:lnTo>
                    <a:pt x="25935" y="5651"/>
                  </a:lnTo>
                  <a:close/>
                </a:path>
                <a:path w="28575" h="22860">
                  <a:moveTo>
                    <a:pt x="14379" y="5653"/>
                  </a:moveTo>
                  <a:close/>
                </a:path>
                <a:path w="28575" h="22860">
                  <a:moveTo>
                    <a:pt x="18110" y="2781"/>
                  </a:moveTo>
                  <a:lnTo>
                    <a:pt x="16992" y="2882"/>
                  </a:lnTo>
                  <a:lnTo>
                    <a:pt x="15062" y="3898"/>
                  </a:lnTo>
                  <a:lnTo>
                    <a:pt x="14338" y="4775"/>
                  </a:lnTo>
                  <a:lnTo>
                    <a:pt x="14099" y="5566"/>
                  </a:lnTo>
                  <a:lnTo>
                    <a:pt x="14427" y="5651"/>
                  </a:lnTo>
                  <a:lnTo>
                    <a:pt x="25935" y="5651"/>
                  </a:lnTo>
                  <a:lnTo>
                    <a:pt x="27851" y="4025"/>
                  </a:lnTo>
                  <a:lnTo>
                    <a:pt x="27962" y="3263"/>
                  </a:lnTo>
                  <a:lnTo>
                    <a:pt x="19659" y="3263"/>
                  </a:lnTo>
                  <a:lnTo>
                    <a:pt x="19172" y="3124"/>
                  </a:lnTo>
                  <a:lnTo>
                    <a:pt x="18110" y="2781"/>
                  </a:lnTo>
                  <a:close/>
                </a:path>
                <a:path w="28575" h="22860">
                  <a:moveTo>
                    <a:pt x="19902" y="3035"/>
                  </a:moveTo>
                  <a:lnTo>
                    <a:pt x="19659" y="3263"/>
                  </a:lnTo>
                  <a:lnTo>
                    <a:pt x="19902" y="3035"/>
                  </a:lnTo>
                  <a:close/>
                </a:path>
                <a:path w="28575" h="22860">
                  <a:moveTo>
                    <a:pt x="28020" y="2870"/>
                  </a:moveTo>
                  <a:lnTo>
                    <a:pt x="20078" y="2870"/>
                  </a:lnTo>
                  <a:lnTo>
                    <a:pt x="19659" y="3263"/>
                  </a:lnTo>
                  <a:lnTo>
                    <a:pt x="27962" y="3263"/>
                  </a:lnTo>
                  <a:lnTo>
                    <a:pt x="28020" y="2870"/>
                  </a:lnTo>
                  <a:close/>
                </a:path>
                <a:path w="28575" h="22860">
                  <a:moveTo>
                    <a:pt x="19297" y="3164"/>
                  </a:moveTo>
                  <a:close/>
                </a:path>
                <a:path w="28575" h="22860">
                  <a:moveTo>
                    <a:pt x="19304" y="3165"/>
                  </a:moveTo>
                  <a:close/>
                </a:path>
                <a:path w="28575" h="22860">
                  <a:moveTo>
                    <a:pt x="19363" y="3174"/>
                  </a:moveTo>
                  <a:close/>
                </a:path>
                <a:path w="28575" h="22860">
                  <a:moveTo>
                    <a:pt x="19371" y="3173"/>
                  </a:moveTo>
                  <a:close/>
                </a:path>
                <a:path w="28575" h="22860">
                  <a:moveTo>
                    <a:pt x="19378" y="3173"/>
                  </a:moveTo>
                  <a:close/>
                </a:path>
                <a:path w="28575" h="22860">
                  <a:moveTo>
                    <a:pt x="19409" y="3172"/>
                  </a:moveTo>
                  <a:close/>
                </a:path>
                <a:path w="28575" h="22860">
                  <a:moveTo>
                    <a:pt x="19770" y="3136"/>
                  </a:moveTo>
                  <a:lnTo>
                    <a:pt x="19443" y="3175"/>
                  </a:lnTo>
                  <a:lnTo>
                    <a:pt x="19737" y="3175"/>
                  </a:lnTo>
                  <a:close/>
                </a:path>
                <a:path w="28575" h="22860">
                  <a:moveTo>
                    <a:pt x="19323" y="3162"/>
                  </a:moveTo>
                  <a:close/>
                </a:path>
                <a:path w="28575" h="22860">
                  <a:moveTo>
                    <a:pt x="19312" y="3162"/>
                  </a:moveTo>
                  <a:close/>
                </a:path>
                <a:path w="28575" h="22860">
                  <a:moveTo>
                    <a:pt x="19284" y="3162"/>
                  </a:moveTo>
                  <a:close/>
                </a:path>
                <a:path w="28575" h="22860">
                  <a:moveTo>
                    <a:pt x="19232" y="3149"/>
                  </a:moveTo>
                  <a:close/>
                </a:path>
                <a:path w="28575" h="22860">
                  <a:moveTo>
                    <a:pt x="19202" y="3136"/>
                  </a:moveTo>
                  <a:close/>
                </a:path>
                <a:path w="28575" h="22860">
                  <a:moveTo>
                    <a:pt x="19196" y="3136"/>
                  </a:moveTo>
                  <a:close/>
                </a:path>
                <a:path w="28575" h="22860">
                  <a:moveTo>
                    <a:pt x="19211" y="3136"/>
                  </a:moveTo>
                  <a:close/>
                </a:path>
                <a:path w="28575" h="22860">
                  <a:moveTo>
                    <a:pt x="19172" y="3124"/>
                  </a:moveTo>
                  <a:close/>
                </a:path>
                <a:path w="28575" h="22860">
                  <a:moveTo>
                    <a:pt x="19804" y="3098"/>
                  </a:moveTo>
                  <a:lnTo>
                    <a:pt x="19638" y="3128"/>
                  </a:lnTo>
                  <a:lnTo>
                    <a:pt x="19781" y="3124"/>
                  </a:lnTo>
                  <a:close/>
                </a:path>
                <a:path w="28575" h="22860">
                  <a:moveTo>
                    <a:pt x="19826" y="3073"/>
                  </a:moveTo>
                  <a:close/>
                </a:path>
                <a:path w="28575" h="22860">
                  <a:moveTo>
                    <a:pt x="19857" y="3037"/>
                  </a:moveTo>
                  <a:close/>
                </a:path>
                <a:path w="28575" h="22860">
                  <a:moveTo>
                    <a:pt x="19997" y="2946"/>
                  </a:moveTo>
                  <a:close/>
                </a:path>
                <a:path w="28575" h="22860">
                  <a:moveTo>
                    <a:pt x="25133" y="0"/>
                  </a:moveTo>
                  <a:lnTo>
                    <a:pt x="20764" y="2311"/>
                  </a:lnTo>
                  <a:lnTo>
                    <a:pt x="19876" y="3016"/>
                  </a:lnTo>
                  <a:lnTo>
                    <a:pt x="20078" y="2870"/>
                  </a:lnTo>
                  <a:lnTo>
                    <a:pt x="28020" y="2870"/>
                  </a:lnTo>
                  <a:lnTo>
                    <a:pt x="28067" y="2552"/>
                  </a:lnTo>
                  <a:lnTo>
                    <a:pt x="26581" y="355"/>
                  </a:lnTo>
                  <a:lnTo>
                    <a:pt x="25133" y="0"/>
                  </a:lnTo>
                  <a:close/>
                </a:path>
              </a:pathLst>
            </a:custGeom>
            <a:solidFill>
              <a:srgbClr val="004F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2093" y="3669792"/>
              <a:ext cx="2107588" cy="951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2611" y="1473196"/>
            <a:ext cx="9036685" cy="4673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5120" marR="5080" indent="-313055" algn="just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26390" algn="l"/>
              </a:tabLst>
            </a:pPr>
            <a:r>
              <a:rPr sz="2000" dirty="0">
                <a:latin typeface="Calibri"/>
                <a:cs typeface="Calibri"/>
              </a:rPr>
              <a:t>Using</a:t>
            </a:r>
            <a:r>
              <a:rPr sz="2000" spc="4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values</a:t>
            </a:r>
            <a:r>
              <a:rPr sz="2000" spc="4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4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likelihood</a:t>
            </a:r>
            <a:r>
              <a:rPr sz="2000" spc="4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table,</a:t>
            </a:r>
            <a:r>
              <a:rPr sz="2000" spc="4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4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4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start</a:t>
            </a:r>
            <a:r>
              <a:rPr sz="2000" spc="4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filling</a:t>
            </a:r>
            <a:r>
              <a:rPr sz="2000" spc="4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numbers</a:t>
            </a:r>
            <a:r>
              <a:rPr sz="2000" spc="4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4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these 	</a:t>
            </a:r>
            <a:r>
              <a:rPr sz="2000" dirty="0">
                <a:latin typeface="Calibri"/>
                <a:cs typeface="Calibri"/>
              </a:rPr>
              <a:t>equations.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Because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denominator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both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cases,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ignored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 	</a:t>
            </a:r>
            <a:r>
              <a:rPr sz="2000" spc="-20" dirty="0">
                <a:latin typeface="Calibri"/>
                <a:cs typeface="Calibri"/>
              </a:rPr>
              <a:t>now.</a:t>
            </a:r>
            <a:endParaRPr sz="2000" dirty="0">
              <a:latin typeface="Calibri"/>
              <a:cs typeface="Calibri"/>
            </a:endParaRPr>
          </a:p>
          <a:p>
            <a:pPr marL="325755" indent="-313055" algn="just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2575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overall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likelihood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then:</a:t>
            </a:r>
            <a:endParaRPr sz="2000" dirty="0">
              <a:latin typeface="Calibri"/>
              <a:cs typeface="Calibri"/>
            </a:endParaRPr>
          </a:p>
          <a:p>
            <a:pPr marL="1882775" algn="just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(4/20)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*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(10/20)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*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(20/20)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*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(12/20)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*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(20/100)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0.012</a:t>
            </a:r>
            <a:endParaRPr sz="2000" dirty="0">
              <a:latin typeface="Calibri"/>
              <a:cs typeface="Calibri"/>
            </a:endParaRPr>
          </a:p>
          <a:p>
            <a:pPr marL="325755" indent="-313055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25755" algn="l"/>
              </a:tabLst>
            </a:pPr>
            <a:r>
              <a:rPr sz="2000" dirty="0">
                <a:latin typeface="Calibri"/>
                <a:cs typeface="Calibri"/>
              </a:rPr>
              <a:t>While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likelihood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given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pattern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words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is:</a:t>
            </a:r>
            <a:endParaRPr sz="2000" dirty="0">
              <a:latin typeface="Calibri"/>
              <a:cs typeface="Calibri"/>
            </a:endParaRPr>
          </a:p>
          <a:p>
            <a:pPr marL="1882775" algn="just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(1/80)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*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(66/80)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*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(71/80)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*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(23/80)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*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(80/100)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0.002</a:t>
            </a:r>
            <a:endParaRPr sz="2000" dirty="0">
              <a:latin typeface="Calibri"/>
              <a:cs typeface="Calibri"/>
            </a:endParaRPr>
          </a:p>
          <a:p>
            <a:pPr marL="325755" marR="86995" indent="-313055" algn="just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27025" algn="l"/>
              </a:tabLst>
            </a:pPr>
            <a:r>
              <a:rPr sz="2000" dirty="0">
                <a:latin typeface="Calibri"/>
                <a:cs typeface="Calibri"/>
              </a:rPr>
              <a:t>Because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0.012</a:t>
            </a:r>
            <a:r>
              <a:rPr sz="2000" i="1" spc="6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/</a:t>
            </a:r>
            <a:r>
              <a:rPr sz="2000" i="1" spc="6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0.002</a:t>
            </a:r>
            <a:r>
              <a:rPr sz="2000" i="1" spc="7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=</a:t>
            </a:r>
            <a:r>
              <a:rPr sz="2000" i="1" spc="6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6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say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message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six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times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likely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	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spam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ham.</a:t>
            </a:r>
            <a:endParaRPr sz="2000" dirty="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26390" algn="l"/>
              </a:tabLst>
            </a:pPr>
            <a:r>
              <a:rPr sz="2000" spc="-30" dirty="0">
                <a:latin typeface="Calibri"/>
                <a:cs typeface="Calibri"/>
              </a:rPr>
              <a:t>However,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convert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these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numbers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probabilities,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step.</a:t>
            </a:r>
            <a:endParaRPr sz="2000" dirty="0">
              <a:latin typeface="Calibri"/>
              <a:cs typeface="Calibri"/>
            </a:endParaRPr>
          </a:p>
          <a:p>
            <a:pPr marL="326390" marR="190500" indent="-314325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2639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probability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equal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likelihood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message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divided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likelihood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message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either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ham:</a:t>
            </a:r>
            <a:endParaRPr sz="2000" dirty="0">
              <a:latin typeface="Calibri"/>
              <a:cs typeface="Calibri"/>
            </a:endParaRPr>
          </a:p>
          <a:p>
            <a:pPr marL="311404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0.012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(0.012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0.002)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0.857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Naïve</a:t>
            </a:r>
            <a:r>
              <a:rPr spc="-105" dirty="0"/>
              <a:t> </a:t>
            </a:r>
            <a:r>
              <a:rPr spc="-45" dirty="0"/>
              <a:t>Bayes</a:t>
            </a:r>
            <a:r>
              <a:rPr spc="-95" dirty="0"/>
              <a:t> </a:t>
            </a:r>
            <a:r>
              <a:rPr dirty="0"/>
              <a:t>–</a:t>
            </a:r>
            <a:r>
              <a:rPr spc="-9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1344" y="1369158"/>
            <a:ext cx="92690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5080" indent="-35179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63855" algn="l"/>
              </a:tabLst>
            </a:pPr>
            <a:r>
              <a:rPr sz="2200" dirty="0">
                <a:latin typeface="Calibri"/>
                <a:cs typeface="Calibri"/>
              </a:rPr>
              <a:t>Suppose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received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another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message,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containing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terms: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6FAC46"/>
                </a:solidFill>
                <a:latin typeface="Calibri"/>
                <a:cs typeface="Calibri"/>
              </a:rPr>
              <a:t>Viagra, </a:t>
            </a:r>
            <a:r>
              <a:rPr sz="2200" b="1" spc="-25" dirty="0">
                <a:solidFill>
                  <a:srgbClr val="6FAC46"/>
                </a:solidFill>
                <a:latin typeface="Calibri"/>
                <a:cs typeface="Calibri"/>
              </a:rPr>
              <a:t>Money,</a:t>
            </a:r>
            <a:r>
              <a:rPr sz="2200" b="1" spc="-65" dirty="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6FAC46"/>
                </a:solidFill>
                <a:latin typeface="Calibri"/>
                <a:cs typeface="Calibri"/>
              </a:rPr>
              <a:t>Groceries</a:t>
            </a:r>
            <a:r>
              <a:rPr sz="2200" b="1" spc="-40" dirty="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6FAC46"/>
                </a:solidFill>
                <a:latin typeface="Calibri"/>
                <a:cs typeface="Calibri"/>
              </a:rPr>
              <a:t>Unsubscribe</a:t>
            </a:r>
            <a:r>
              <a:rPr sz="2200" dirty="0">
                <a:latin typeface="Calibri"/>
                <a:cs typeface="Calibri"/>
              </a:rPr>
              <a:t>.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likelihood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table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is: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20718" y="1931506"/>
            <a:ext cx="9787255" cy="429196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813435" indent="-314960">
              <a:lnSpc>
                <a:spcPct val="100000"/>
              </a:lnSpc>
              <a:spcBef>
                <a:spcPts val="1015"/>
              </a:spcBef>
              <a:buFont typeface="Wingdings"/>
              <a:buChar char=""/>
              <a:tabLst>
                <a:tab pos="813435" algn="l"/>
              </a:tabLst>
            </a:pPr>
            <a:r>
              <a:rPr sz="1650" dirty="0">
                <a:latin typeface="Calibri"/>
                <a:cs typeface="Calibri"/>
              </a:rPr>
              <a:t>(4/20)</a:t>
            </a:r>
            <a:r>
              <a:rPr sz="1650" spc="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*</a:t>
            </a:r>
            <a:r>
              <a:rPr sz="1650" spc="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(10/20)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*</a:t>
            </a:r>
            <a:r>
              <a:rPr sz="1650" spc="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(0/20)</a:t>
            </a:r>
            <a:r>
              <a:rPr sz="1650" spc="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*</a:t>
            </a:r>
            <a:r>
              <a:rPr sz="1650" spc="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(12/20)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*</a:t>
            </a:r>
            <a:r>
              <a:rPr sz="1650" spc="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(20/100)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=</a:t>
            </a:r>
            <a:r>
              <a:rPr sz="1650" spc="15" dirty="0">
                <a:latin typeface="Calibri"/>
                <a:cs typeface="Calibri"/>
              </a:rPr>
              <a:t> </a:t>
            </a:r>
            <a:r>
              <a:rPr sz="1650" spc="-50" dirty="0">
                <a:latin typeface="Calibri"/>
                <a:cs typeface="Calibri"/>
              </a:rPr>
              <a:t>0</a:t>
            </a:r>
            <a:endParaRPr sz="1650">
              <a:latin typeface="Calibri"/>
              <a:cs typeface="Calibri"/>
            </a:endParaRPr>
          </a:p>
          <a:p>
            <a:pPr marL="374015" indent="-351155">
              <a:lnSpc>
                <a:spcPct val="100000"/>
              </a:lnSpc>
              <a:spcBef>
                <a:spcPts val="1175"/>
              </a:spcBef>
              <a:buFont typeface="Wingdings"/>
              <a:buChar char=""/>
              <a:tabLst>
                <a:tab pos="374015" algn="l"/>
              </a:tabLst>
            </a:pPr>
            <a:r>
              <a:rPr sz="2200" dirty="0">
                <a:latin typeface="Calibri"/>
                <a:cs typeface="Calibri"/>
              </a:rPr>
              <a:t>Surely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misclassification?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Right?</a:t>
            </a:r>
            <a:endParaRPr sz="2200">
              <a:latin typeface="Calibri"/>
              <a:cs typeface="Calibri"/>
            </a:endParaRPr>
          </a:p>
          <a:p>
            <a:pPr marL="374015" marR="538480" indent="-36195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74015" algn="l"/>
              </a:tabLst>
            </a:pPr>
            <a:r>
              <a:rPr sz="2200" dirty="0">
                <a:latin typeface="Calibri"/>
                <a:cs typeface="Calibri"/>
              </a:rPr>
              <a:t>This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problem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might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arise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event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never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occurs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more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levels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class.</a:t>
            </a:r>
            <a:endParaRPr sz="2200">
              <a:latin typeface="Calibri"/>
              <a:cs typeface="Calibri"/>
            </a:endParaRPr>
          </a:p>
          <a:p>
            <a:pPr marL="725805" lvl="1" indent="-342900">
              <a:lnSpc>
                <a:spcPct val="100000"/>
              </a:lnSpc>
              <a:spcBef>
                <a:spcPts val="15"/>
              </a:spcBef>
              <a:buSzPct val="80000"/>
              <a:buFont typeface="Courier New"/>
              <a:buChar char="o"/>
              <a:tabLst>
                <a:tab pos="725805" algn="l"/>
              </a:tabLst>
            </a:pPr>
            <a:r>
              <a:rPr sz="2000" dirty="0">
                <a:latin typeface="Calibri"/>
                <a:cs typeface="Calibri"/>
              </a:rPr>
              <a:t>For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instance,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term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Groceries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never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previously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appeared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message</a:t>
            </a:r>
            <a:endParaRPr sz="2000">
              <a:latin typeface="Calibri"/>
              <a:cs typeface="Calibri"/>
            </a:endParaRPr>
          </a:p>
          <a:p>
            <a:pPr marL="725805" lvl="1" indent="-342900">
              <a:lnSpc>
                <a:spcPct val="100000"/>
              </a:lnSpc>
              <a:buSzPct val="80000"/>
              <a:buFont typeface="Courier New"/>
              <a:buChar char="o"/>
              <a:tabLst>
                <a:tab pos="725805" algn="l"/>
              </a:tabLst>
            </a:pPr>
            <a:r>
              <a:rPr sz="2000" spc="-20" dirty="0">
                <a:latin typeface="Calibri"/>
                <a:cs typeface="Calibri"/>
              </a:rPr>
              <a:t>Consequently,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P</a:t>
            </a:r>
            <a:r>
              <a:rPr sz="2000" spc="-10" dirty="0">
                <a:latin typeface="Calibri"/>
                <a:cs typeface="Calibri"/>
              </a:rPr>
              <a:t>(</a:t>
            </a:r>
            <a:r>
              <a:rPr sz="2000" i="1" spc="-10" dirty="0">
                <a:latin typeface="Calibri"/>
                <a:cs typeface="Calibri"/>
              </a:rPr>
              <a:t>spam|groceries</a:t>
            </a:r>
            <a:r>
              <a:rPr sz="2000" spc="-10" dirty="0">
                <a:latin typeface="Calibri"/>
                <a:cs typeface="Calibri"/>
              </a:rPr>
              <a:t>)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25" dirty="0">
                <a:latin typeface="Calibri"/>
                <a:cs typeface="Calibri"/>
              </a:rPr>
              <a:t>0%.</a:t>
            </a:r>
            <a:endParaRPr sz="2000">
              <a:latin typeface="Calibri"/>
              <a:cs typeface="Calibri"/>
            </a:endParaRPr>
          </a:p>
          <a:p>
            <a:pPr marL="374015" marR="78740" indent="-351790">
              <a:lnSpc>
                <a:spcPct val="100000"/>
              </a:lnSpc>
              <a:spcBef>
                <a:spcPts val="1185"/>
              </a:spcBef>
              <a:buFont typeface="Wingdings"/>
              <a:buChar char=""/>
              <a:tabLst>
                <a:tab pos="374015" algn="l"/>
              </a:tabLst>
            </a:pPr>
            <a:r>
              <a:rPr sz="2200" dirty="0">
                <a:latin typeface="Calibri"/>
                <a:cs typeface="Calibri"/>
              </a:rPr>
              <a:t>Because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probabilities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naïve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Bayes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multiplied,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percent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causes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posterior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probability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zero,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giving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word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Groceries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ability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to </a:t>
            </a:r>
            <a:r>
              <a:rPr sz="2200" b="1" spc="-10" dirty="0">
                <a:latin typeface="Calibri"/>
                <a:cs typeface="Calibri"/>
              </a:rPr>
              <a:t>effectively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nullify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overrule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other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evidence.</a:t>
            </a:r>
            <a:endParaRPr sz="2200">
              <a:latin typeface="Calibri"/>
              <a:cs typeface="Calibri"/>
            </a:endParaRPr>
          </a:p>
          <a:p>
            <a:pPr marL="374015" marR="5080" indent="-35179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74015" algn="l"/>
              </a:tabLst>
            </a:pPr>
            <a:r>
              <a:rPr sz="2200" dirty="0">
                <a:latin typeface="Calibri"/>
                <a:cs typeface="Calibri"/>
              </a:rPr>
              <a:t>Even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email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otherwise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overwhelmingly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expected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spam,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absence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word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Groceries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will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always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result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probability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being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zero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589963"/>
            <a:ext cx="38169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Naïve</a:t>
            </a:r>
            <a:r>
              <a:rPr spc="-105" dirty="0"/>
              <a:t> </a:t>
            </a:r>
            <a:r>
              <a:rPr spc="-45" dirty="0"/>
              <a:t>Bayes</a:t>
            </a:r>
            <a:r>
              <a:rPr spc="-95" dirty="0"/>
              <a:t> </a:t>
            </a:r>
            <a:r>
              <a:rPr dirty="0"/>
              <a:t>–</a:t>
            </a:r>
            <a:r>
              <a:rPr spc="-95" dirty="0"/>
              <a:t> </a:t>
            </a:r>
            <a:r>
              <a:rPr spc="-20" dirty="0"/>
              <a:t>Problems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16515" y="1073277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242" y="0"/>
                </a:lnTo>
              </a:path>
            </a:pathLst>
          </a:custGeom>
          <a:ln w="6858">
            <a:solidFill>
              <a:srgbClr val="FDFDF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04165" y="1528522"/>
            <a:ext cx="8848725" cy="422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390" marR="212090" indent="-31432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2639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involves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something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b="1" dirty="0">
                <a:latin typeface="Calibri"/>
                <a:cs typeface="Calibri"/>
              </a:rPr>
              <a:t>Laplace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estimator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French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mathematician </a:t>
            </a:r>
            <a:r>
              <a:rPr sz="2400" i="1" spc="-20" dirty="0">
                <a:latin typeface="Calibri"/>
                <a:cs typeface="Calibri"/>
              </a:rPr>
              <a:t>Pierre-</a:t>
            </a:r>
            <a:r>
              <a:rPr sz="2400" i="1" dirty="0">
                <a:latin typeface="Calibri"/>
                <a:cs typeface="Calibri"/>
              </a:rPr>
              <a:t>Simon</a:t>
            </a:r>
            <a:r>
              <a:rPr sz="2400" i="1" spc="1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Laplace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325120" marR="5080" indent="-313055" algn="just">
              <a:lnSpc>
                <a:spcPct val="100000"/>
              </a:lnSpc>
              <a:spcBef>
                <a:spcPts val="1920"/>
              </a:spcBef>
              <a:buFont typeface="Wingdings"/>
              <a:buChar char=""/>
              <a:tabLst>
                <a:tab pos="32639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Laplace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estimator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essentially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counts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frequency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ensures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spc="-10" dirty="0">
                <a:latin typeface="Calibri"/>
                <a:cs typeface="Calibri"/>
              </a:rPr>
              <a:t>nonzero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occurring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class.</a:t>
            </a:r>
            <a:endParaRPr sz="2400">
              <a:latin typeface="Calibri"/>
              <a:cs typeface="Calibri"/>
            </a:endParaRPr>
          </a:p>
          <a:p>
            <a:pPr marL="326390" marR="271780" indent="-314325">
              <a:lnSpc>
                <a:spcPct val="100000"/>
              </a:lnSpc>
              <a:spcBef>
                <a:spcPts val="1920"/>
              </a:spcBef>
              <a:buFont typeface="Wingdings"/>
              <a:buChar char=""/>
              <a:tabLst>
                <a:tab pos="326390" algn="l"/>
              </a:tabLst>
            </a:pPr>
            <a:r>
              <a:rPr sz="2400" spc="-35" dirty="0">
                <a:latin typeface="Calibri"/>
                <a:cs typeface="Calibri"/>
              </a:rPr>
              <a:t>Typically,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Laplace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estimator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ensures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each </a:t>
            </a:r>
            <a:r>
              <a:rPr sz="2400" spc="-10" dirty="0">
                <a:latin typeface="Calibri"/>
                <a:cs typeface="Calibri"/>
              </a:rPr>
              <a:t>class-feature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combination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found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once.</a:t>
            </a:r>
            <a:endParaRPr sz="2400">
              <a:latin typeface="Calibri"/>
              <a:cs typeface="Calibri"/>
            </a:endParaRPr>
          </a:p>
          <a:p>
            <a:pPr marL="713740" marR="475615" lvl="1" indent="-341630">
              <a:lnSpc>
                <a:spcPct val="100000"/>
              </a:lnSpc>
              <a:spcBef>
                <a:spcPts val="400"/>
              </a:spcBef>
              <a:buSzPct val="79166"/>
              <a:buFont typeface="Courier New"/>
              <a:buChar char="o"/>
              <a:tabLst>
                <a:tab pos="71501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Laplace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estimator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not 	</a:t>
            </a:r>
            <a:r>
              <a:rPr sz="2400" dirty="0">
                <a:latin typeface="Calibri"/>
                <a:cs typeface="Calibri"/>
              </a:rPr>
              <a:t>necessarily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589963"/>
            <a:ext cx="51485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Naïve</a:t>
            </a:r>
            <a:r>
              <a:rPr spc="-110" dirty="0"/>
              <a:t> </a:t>
            </a:r>
            <a:r>
              <a:rPr spc="-45" dirty="0"/>
              <a:t>Bayes</a:t>
            </a:r>
            <a:r>
              <a:rPr spc="-105" dirty="0"/>
              <a:t> </a:t>
            </a:r>
            <a:r>
              <a:rPr dirty="0"/>
              <a:t>–</a:t>
            </a:r>
            <a:r>
              <a:rPr spc="-100" dirty="0"/>
              <a:t> </a:t>
            </a:r>
            <a:r>
              <a:rPr spc="-20" dirty="0"/>
              <a:t>Laplace</a:t>
            </a:r>
            <a:r>
              <a:rPr spc="-114" dirty="0"/>
              <a:t> </a:t>
            </a:r>
            <a:r>
              <a:rPr spc="-10" dirty="0"/>
              <a:t>Estimator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1976" y="1553129"/>
            <a:ext cx="8768080" cy="4177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390" marR="5080" indent="-31432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dirty="0">
                <a:latin typeface="Calibri"/>
                <a:cs typeface="Calibri"/>
              </a:rPr>
              <a:t>Using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Laplace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numerator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likelihood </a:t>
            </a:r>
            <a:r>
              <a:rPr sz="2200" dirty="0">
                <a:latin typeface="Calibri"/>
                <a:cs typeface="Calibri"/>
              </a:rPr>
              <a:t>function.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total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number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must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also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added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denominator.</a:t>
            </a:r>
            <a:endParaRPr sz="2200" dirty="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264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likelihood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 spam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10" dirty="0">
                <a:latin typeface="Calibri"/>
                <a:cs typeface="Calibri"/>
              </a:rPr>
              <a:t> therefore:</a:t>
            </a:r>
            <a:endParaRPr sz="2200" dirty="0">
              <a:latin typeface="Calibri"/>
              <a:cs typeface="Calibri"/>
            </a:endParaRPr>
          </a:p>
          <a:p>
            <a:pPr marL="488315">
              <a:lnSpc>
                <a:spcPct val="100000"/>
              </a:lnSpc>
              <a:spcBef>
                <a:spcPts val="505"/>
              </a:spcBef>
            </a:pPr>
            <a:r>
              <a:rPr sz="2200" dirty="0">
                <a:latin typeface="Calibri"/>
                <a:cs typeface="Calibri"/>
              </a:rPr>
              <a:t>(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5</a:t>
            </a:r>
            <a:r>
              <a:rPr sz="2200" dirty="0">
                <a:latin typeface="Calibri"/>
                <a:cs typeface="Calibri"/>
              </a:rPr>
              <a:t>/24)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*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(11/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24</a:t>
            </a:r>
            <a:r>
              <a:rPr sz="2200" dirty="0">
                <a:latin typeface="Calibri"/>
                <a:cs typeface="Calibri"/>
              </a:rPr>
              <a:t>)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*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(1/24)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*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(13/24)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*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(20/100)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0.0004</a:t>
            </a:r>
            <a:endParaRPr sz="2200" dirty="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264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dirty="0">
                <a:latin typeface="Calibri"/>
                <a:cs typeface="Calibri"/>
              </a:rPr>
              <a:t>And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likelihood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ham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is:</a:t>
            </a:r>
            <a:endParaRPr sz="2200" dirty="0">
              <a:latin typeface="Calibri"/>
              <a:cs typeface="Calibri"/>
            </a:endParaRPr>
          </a:p>
          <a:p>
            <a:pPr marL="488315">
              <a:lnSpc>
                <a:spcPct val="100000"/>
              </a:lnSpc>
              <a:spcBef>
                <a:spcPts val="500"/>
              </a:spcBef>
            </a:pPr>
            <a:r>
              <a:rPr sz="2200" dirty="0">
                <a:latin typeface="Calibri"/>
                <a:cs typeface="Calibri"/>
              </a:rPr>
              <a:t>(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2200" dirty="0">
                <a:latin typeface="Calibri"/>
                <a:cs typeface="Calibri"/>
              </a:rPr>
              <a:t>/84)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*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(15/84)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*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(9/84)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*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(24/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84</a:t>
            </a:r>
            <a:r>
              <a:rPr sz="2200" dirty="0">
                <a:latin typeface="Calibri"/>
                <a:cs typeface="Calibri"/>
              </a:rPr>
              <a:t>)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*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(80/100)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0.0001</a:t>
            </a:r>
            <a:endParaRPr sz="2200" dirty="0">
              <a:latin typeface="Calibri"/>
              <a:cs typeface="Calibri"/>
            </a:endParaRPr>
          </a:p>
          <a:p>
            <a:pPr marL="326390" marR="96520" indent="-314325">
              <a:lnSpc>
                <a:spcPct val="100000"/>
              </a:lnSpc>
              <a:spcBef>
                <a:spcPts val="264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dirty="0">
                <a:latin typeface="Calibri"/>
                <a:cs typeface="Calibri"/>
              </a:rPr>
              <a:t>This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means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probability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spam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80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percent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probability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ham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20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percent;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more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plausible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result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obtained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when </a:t>
            </a:r>
            <a:r>
              <a:rPr sz="2200" dirty="0">
                <a:latin typeface="Calibri"/>
                <a:cs typeface="Calibri"/>
              </a:rPr>
              <a:t>Groceries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alone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determined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result.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589963"/>
            <a:ext cx="51485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Naïve</a:t>
            </a:r>
            <a:r>
              <a:rPr spc="-110" dirty="0"/>
              <a:t> </a:t>
            </a:r>
            <a:r>
              <a:rPr spc="-45" dirty="0"/>
              <a:t>Bayes</a:t>
            </a:r>
            <a:r>
              <a:rPr spc="-105" dirty="0"/>
              <a:t> </a:t>
            </a:r>
            <a:r>
              <a:rPr dirty="0"/>
              <a:t>–</a:t>
            </a:r>
            <a:r>
              <a:rPr spc="-100" dirty="0"/>
              <a:t> </a:t>
            </a:r>
            <a:r>
              <a:rPr spc="-20" dirty="0"/>
              <a:t>Laplace</a:t>
            </a:r>
            <a:r>
              <a:rPr spc="-114" dirty="0"/>
              <a:t> </a:t>
            </a:r>
            <a:r>
              <a:rPr spc="-10" dirty="0"/>
              <a:t>Estimator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2107" y="1548765"/>
            <a:ext cx="9116060" cy="415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6390" marR="5080" indent="-31432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26390" algn="l"/>
              </a:tabLst>
            </a:pP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Naïve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Bayes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frequency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data,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each </a:t>
            </a:r>
            <a:r>
              <a:rPr sz="2400" spc="-10" dirty="0">
                <a:latin typeface="Calibri"/>
                <a:cs typeface="Calibri"/>
              </a:rPr>
              <a:t>feature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categorical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create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the</a:t>
            </a:r>
            <a:r>
              <a:rPr sz="2400" spc="-1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combinations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class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comprising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matrix.</a:t>
            </a:r>
            <a:endParaRPr sz="2400">
              <a:latin typeface="Calibri"/>
              <a:cs typeface="Calibri"/>
            </a:endParaRPr>
          </a:p>
          <a:p>
            <a:pPr marL="326390" marR="1097280" indent="-31432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26390" algn="l"/>
              </a:tabLst>
            </a:pPr>
            <a:r>
              <a:rPr sz="2400" dirty="0">
                <a:latin typeface="Calibri"/>
                <a:cs typeface="Calibri"/>
              </a:rPr>
              <a:t>Since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numeric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categories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preceding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directly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numeric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  <a:p>
            <a:pPr marL="326390" marR="6985" indent="-31432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26390" algn="l"/>
              </a:tabLst>
            </a:pPr>
            <a:r>
              <a:rPr sz="2400" dirty="0">
                <a:latin typeface="Calibri"/>
                <a:cs typeface="Calibri"/>
              </a:rPr>
              <a:t>One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effective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solution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discretize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numeric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which </a:t>
            </a:r>
            <a:r>
              <a:rPr sz="2400" dirty="0">
                <a:latin typeface="Calibri"/>
                <a:cs typeface="Calibri"/>
              </a:rPr>
              <a:t>simply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categories</a:t>
            </a:r>
            <a:r>
              <a:rPr sz="2400" spc="-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bins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713740" lvl="1" indent="-341630">
              <a:lnSpc>
                <a:spcPct val="100000"/>
              </a:lnSpc>
              <a:spcBef>
                <a:spcPts val="500"/>
              </a:spcBef>
              <a:buSzPct val="79166"/>
              <a:buFont typeface="Courier New"/>
              <a:buChar char="o"/>
              <a:tabLst>
                <a:tab pos="71374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reason,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discretization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sometimes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binning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713105" marR="679450" lvl="1" indent="-341630">
              <a:lnSpc>
                <a:spcPct val="101000"/>
              </a:lnSpc>
              <a:spcBef>
                <a:spcPts val="310"/>
              </a:spcBef>
              <a:buSzPct val="79166"/>
              <a:buFont typeface="Courier New"/>
              <a:buChar char="o"/>
              <a:tabLst>
                <a:tab pos="715010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method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ideal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amounts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training 	</a:t>
            </a:r>
            <a:r>
              <a:rPr sz="2400" spc="-20" dirty="0">
                <a:latin typeface="Calibri"/>
                <a:cs typeface="Calibri"/>
              </a:rPr>
              <a:t>data,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common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condition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working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Naïve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Bayes.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589963"/>
            <a:ext cx="51555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Naïve</a:t>
            </a:r>
            <a:r>
              <a:rPr spc="-110" dirty="0"/>
              <a:t> </a:t>
            </a:r>
            <a:r>
              <a:rPr spc="-45" dirty="0"/>
              <a:t>Bayes</a:t>
            </a:r>
            <a:r>
              <a:rPr spc="-105" dirty="0"/>
              <a:t> </a:t>
            </a:r>
            <a:r>
              <a:rPr dirty="0"/>
              <a:t>–</a:t>
            </a:r>
            <a:r>
              <a:rPr spc="-100" dirty="0"/>
              <a:t> </a:t>
            </a:r>
            <a:r>
              <a:rPr spc="-25" dirty="0"/>
              <a:t>Numeric</a:t>
            </a:r>
            <a:r>
              <a:rPr spc="-105" dirty="0"/>
              <a:t> </a:t>
            </a:r>
            <a:r>
              <a:rPr spc="-10" dirty="0"/>
              <a:t>Features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1977" y="1312225"/>
            <a:ext cx="9244330" cy="463169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spcBef>
                <a:spcPts val="130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dirty="0">
                <a:latin typeface="Calibri"/>
                <a:cs typeface="Calibri"/>
              </a:rPr>
              <a:t>Naïve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Bayes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available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scikit-</a:t>
            </a:r>
            <a:r>
              <a:rPr sz="2200" dirty="0">
                <a:latin typeface="Calibri"/>
                <a:cs typeface="Calibri"/>
              </a:rPr>
              <a:t>learn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library: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sklearn.Naïve_bayes</a:t>
            </a:r>
            <a:endParaRPr sz="2200">
              <a:latin typeface="Calibri"/>
              <a:cs typeface="Calibri"/>
            </a:endParaRPr>
          </a:p>
          <a:p>
            <a:pPr marL="326390" indent="-313690">
              <a:lnSpc>
                <a:spcPct val="100000"/>
              </a:lnSpc>
              <a:spcBef>
                <a:spcPts val="1200"/>
              </a:spcBef>
              <a:buFont typeface="Wingdings"/>
              <a:buChar char=""/>
              <a:tabLst>
                <a:tab pos="326390" algn="l"/>
              </a:tabLst>
            </a:pPr>
            <a:r>
              <a:rPr sz="2200" dirty="0">
                <a:latin typeface="Calibri"/>
                <a:cs typeface="Calibri"/>
              </a:rPr>
              <a:t>Below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some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implementations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Naïve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Bayes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model:</a:t>
            </a:r>
            <a:endParaRPr sz="2200">
              <a:latin typeface="Calibri"/>
              <a:cs typeface="Calibri"/>
            </a:endParaRPr>
          </a:p>
          <a:p>
            <a:pPr marL="783590" marR="307340" lvl="1" indent="-314325">
              <a:lnSpc>
                <a:spcPct val="100000"/>
              </a:lnSpc>
              <a:spcBef>
                <a:spcPts val="1225"/>
              </a:spcBef>
              <a:buClr>
                <a:srgbClr val="000000"/>
              </a:buClr>
              <a:buFont typeface="Wingdings"/>
              <a:buChar char=""/>
              <a:tabLst>
                <a:tab pos="783590" algn="l"/>
              </a:tabLst>
            </a:pPr>
            <a:r>
              <a:rPr sz="18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3"/>
              </a:rPr>
              <a:t>GaussianNB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Gaussian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Naïve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bayes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good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handling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continuous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values.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implements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Gaussian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Naïve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Bayes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algorithm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classification.</a:t>
            </a:r>
            <a:endParaRPr sz="1800">
              <a:latin typeface="Calibri"/>
              <a:cs typeface="Calibri"/>
            </a:endParaRPr>
          </a:p>
          <a:p>
            <a:pPr marL="783590" marR="5080" lvl="1" indent="-314325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Wingdings"/>
              <a:buChar char=""/>
              <a:tabLst>
                <a:tab pos="783590" algn="l"/>
              </a:tabLst>
            </a:pPr>
            <a:r>
              <a:rPr sz="18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4"/>
              </a:rPr>
              <a:t>MultinomialNB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Multinomial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Naïve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bayes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good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handling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discrete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values.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implements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Naïve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Bayes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algorithm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multinomially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distributed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classic </a:t>
            </a:r>
            <a:r>
              <a:rPr sz="1800" dirty="0">
                <a:latin typeface="Calibri"/>
                <a:cs typeface="Calibri"/>
              </a:rPr>
              <a:t>Naïve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Bayes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variants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text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classification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(where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typically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represented</a:t>
            </a:r>
            <a:r>
              <a:rPr sz="1800" spc="-25" dirty="0">
                <a:latin typeface="Calibri"/>
                <a:cs typeface="Calibri"/>
              </a:rPr>
              <a:t> as </a:t>
            </a:r>
            <a:r>
              <a:rPr sz="1800" dirty="0">
                <a:latin typeface="Calibri"/>
                <a:cs typeface="Calibri"/>
              </a:rPr>
              <a:t>word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vector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counts,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although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TF-</a:t>
            </a:r>
            <a:r>
              <a:rPr sz="1800" dirty="0">
                <a:latin typeface="Calibri"/>
                <a:cs typeface="Calibri"/>
              </a:rPr>
              <a:t>IDF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(Term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Frequency-inverse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Document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Frequency) vectors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known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work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practice).</a:t>
            </a:r>
            <a:endParaRPr sz="1800">
              <a:latin typeface="Calibri"/>
              <a:cs typeface="Calibri"/>
            </a:endParaRPr>
          </a:p>
          <a:p>
            <a:pPr marL="783590" marR="391795" lvl="1" indent="-314325">
              <a:lnSpc>
                <a:spcPct val="100000"/>
              </a:lnSpc>
              <a:spcBef>
                <a:spcPts val="1800"/>
              </a:spcBef>
              <a:buClr>
                <a:srgbClr val="000000"/>
              </a:buClr>
              <a:buFont typeface="Wingdings"/>
              <a:buChar char=""/>
              <a:tabLst>
                <a:tab pos="783590" algn="l"/>
              </a:tabLst>
            </a:pPr>
            <a:r>
              <a:rPr sz="18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5"/>
              </a:rPr>
              <a:t>BernoulliNB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Bernoulli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Naïve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bayes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good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handling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boolean/binary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attributes.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It </a:t>
            </a:r>
            <a:r>
              <a:rPr sz="1800" dirty="0">
                <a:latin typeface="Calibri"/>
                <a:cs typeface="Calibri"/>
              </a:rPr>
              <a:t>implements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Naïve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Bayes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training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classification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algorithms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is </a:t>
            </a:r>
            <a:r>
              <a:rPr sz="1800" spc="-10" dirty="0">
                <a:latin typeface="Calibri"/>
                <a:cs typeface="Calibri"/>
              </a:rPr>
              <a:t>distributed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according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multivariate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Bernoulli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distributions;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i.e.,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10" dirty="0">
                <a:latin typeface="Calibri"/>
                <a:cs typeface="Calibri"/>
              </a:rPr>
              <a:t> multiple features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assumed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binary-</a:t>
            </a:r>
            <a:r>
              <a:rPr sz="1800" dirty="0">
                <a:latin typeface="Calibri"/>
                <a:cs typeface="Calibri"/>
              </a:rPr>
              <a:t>valued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(Bernoulli,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boolean)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variable.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Naïve</a:t>
            </a:r>
            <a:r>
              <a:rPr spc="-105" dirty="0"/>
              <a:t> </a:t>
            </a:r>
            <a:r>
              <a:rPr spc="-45" dirty="0"/>
              <a:t>Bayes</a:t>
            </a:r>
            <a:r>
              <a:rPr spc="-95" dirty="0"/>
              <a:t> </a:t>
            </a:r>
            <a:r>
              <a:rPr dirty="0"/>
              <a:t>–</a:t>
            </a:r>
            <a:r>
              <a:rPr spc="-95" dirty="0"/>
              <a:t> </a:t>
            </a:r>
            <a:r>
              <a:rPr spc="-10" dirty="0"/>
              <a:t>Python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8935" y="1578168"/>
            <a:ext cx="8004809" cy="363601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Naïve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Bayes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is:</a:t>
            </a:r>
            <a:endParaRPr sz="2400">
              <a:latin typeface="Calibri"/>
              <a:cs typeface="Calibri"/>
            </a:endParaRPr>
          </a:p>
          <a:p>
            <a:pPr marL="802640" marR="5080" lvl="1" indent="-314960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80264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probabilistic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classification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applying </a:t>
            </a:r>
            <a:r>
              <a:rPr sz="2400" b="1" dirty="0">
                <a:latin typeface="Calibri"/>
                <a:cs typeface="Calibri"/>
              </a:rPr>
              <a:t>Bayes’</a:t>
            </a:r>
            <a:r>
              <a:rPr sz="2400" b="1" spc="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theorem</a:t>
            </a:r>
            <a:r>
              <a:rPr sz="2400" b="1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</a:t>
            </a:r>
            <a:r>
              <a:rPr sz="2400" b="1" i="1" dirty="0">
                <a:latin typeface="Calibri"/>
                <a:cs typeface="Calibri"/>
              </a:rPr>
              <a:t>Naïve</a:t>
            </a:r>
            <a:r>
              <a:rPr sz="2400" dirty="0">
                <a:latin typeface="Calibri"/>
                <a:cs typeface="Calibri"/>
              </a:rPr>
              <a:t>”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assumption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conditional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independence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every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pair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variable</a:t>
            </a:r>
            <a:endParaRPr sz="2400">
              <a:latin typeface="Calibri"/>
              <a:cs typeface="Calibri"/>
            </a:endParaRPr>
          </a:p>
          <a:p>
            <a:pPr marL="802640" lvl="1" indent="-314960">
              <a:lnSpc>
                <a:spcPct val="100000"/>
              </a:lnSpc>
              <a:spcBef>
                <a:spcPts val="500"/>
              </a:spcBef>
              <a:buFont typeface="Wingdings"/>
              <a:buChar char=""/>
              <a:tabLst>
                <a:tab pos="802640" algn="l"/>
              </a:tabLst>
            </a:pPr>
            <a:r>
              <a:rPr sz="2400" dirty="0">
                <a:latin typeface="Calibri"/>
                <a:cs typeface="Calibri"/>
              </a:rPr>
              <a:t>Really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easy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implement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often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works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well</a:t>
            </a:r>
            <a:endParaRPr sz="2400">
              <a:latin typeface="Calibri"/>
              <a:cs typeface="Calibri"/>
            </a:endParaRPr>
          </a:p>
          <a:p>
            <a:pPr marL="802640" lvl="1" indent="-314960">
              <a:lnSpc>
                <a:spcPct val="100000"/>
              </a:lnSpc>
              <a:spcBef>
                <a:spcPts val="495"/>
              </a:spcBef>
              <a:buFont typeface="Wingdings"/>
              <a:buChar char=""/>
              <a:tabLst>
                <a:tab pos="802640" algn="l"/>
              </a:tabLst>
            </a:pPr>
            <a:r>
              <a:rPr sz="2400" dirty="0">
                <a:latin typeface="Calibri"/>
                <a:cs typeface="Calibri"/>
              </a:rPr>
              <a:t>Often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good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thing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try</a:t>
            </a:r>
            <a:endParaRPr sz="2400">
              <a:latin typeface="Calibri"/>
              <a:cs typeface="Calibri"/>
            </a:endParaRPr>
          </a:p>
          <a:p>
            <a:pPr marL="802005" marR="1120140" lvl="1" indent="-314325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802005" algn="l"/>
              </a:tabLst>
            </a:pPr>
            <a:r>
              <a:rPr sz="2400" dirty="0">
                <a:latin typeface="Calibri"/>
                <a:cs typeface="Calibri"/>
              </a:rPr>
              <a:t>Commonly used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</a:t>
            </a:r>
            <a:r>
              <a:rPr sz="2400" i="1" dirty="0">
                <a:latin typeface="Calibri"/>
                <a:cs typeface="Calibri"/>
              </a:rPr>
              <a:t>punching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bag</a:t>
            </a:r>
            <a:r>
              <a:rPr sz="2400" dirty="0">
                <a:latin typeface="Calibri"/>
                <a:cs typeface="Calibri"/>
              </a:rPr>
              <a:t>”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 </a:t>
            </a:r>
            <a:r>
              <a:rPr sz="2400" spc="-10" dirty="0">
                <a:latin typeface="Calibri"/>
                <a:cs typeface="Calibri"/>
              </a:rPr>
              <a:t>smarter algorithms.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Summary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E68BF-06E2-12FF-FA06-FE6E92B99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A338E0-16AB-3D3D-EEFC-E7B60B6FCC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2272099"/>
            <a:ext cx="98298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Scenario: Email Spam Classification</a:t>
            </a: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You are using Naive Bayes to classify emails as spam or not spam.</a:t>
            </a:r>
          </a:p>
          <a:p>
            <a:pPr marL="0" indent="0">
              <a:lnSpc>
                <a:spcPct val="100000"/>
              </a:lnSpc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Questions: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does the Naive Bayes assumption of feature independence affect model performance in this scenario?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would you handle words that appear in the test dataset but not in the training dataset?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some features are highly correlated (e.g., “free” and “offer”), how might that impact predictions, and what could you do about it?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49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1664</TotalTime>
  <Words>3190</Words>
  <Application>Microsoft Macintosh PowerPoint</Application>
  <PresentationFormat>Widescreen</PresentationFormat>
  <Paragraphs>201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Arial MT</vt:lpstr>
      <vt:lpstr>Calibri</vt:lpstr>
      <vt:lpstr>Calibri Light</vt:lpstr>
      <vt:lpstr>Cambria</vt:lpstr>
      <vt:lpstr>Courier New</vt:lpstr>
      <vt:lpstr>Wingdings</vt:lpstr>
      <vt:lpstr>Office 2013 - 2022 Theme</vt:lpstr>
      <vt:lpstr>Machine Learning</vt:lpstr>
      <vt:lpstr>Opening Questions</vt:lpstr>
      <vt:lpstr>Background</vt:lpstr>
      <vt:lpstr>Introduction</vt:lpstr>
      <vt:lpstr>Introduction</vt:lpstr>
      <vt:lpstr>Introduction</vt:lpstr>
      <vt:lpstr>Introduction</vt:lpstr>
      <vt:lpstr>Introduction</vt:lpstr>
      <vt:lpstr>Probability</vt:lpstr>
      <vt:lpstr>Joint Probability</vt:lpstr>
      <vt:lpstr>Joint Probability</vt:lpstr>
      <vt:lpstr>Joint Probability – Independence</vt:lpstr>
      <vt:lpstr>Conditional Probability</vt:lpstr>
      <vt:lpstr>Probability – Example</vt:lpstr>
      <vt:lpstr>Probability – Example</vt:lpstr>
      <vt:lpstr>Probability – Example</vt:lpstr>
      <vt:lpstr>Probability – Example</vt:lpstr>
      <vt:lpstr>Naïve Bayes</vt:lpstr>
      <vt:lpstr>Naïve Bayes – Example</vt:lpstr>
      <vt:lpstr>Naïve Bayes – Example</vt:lpstr>
      <vt:lpstr>Naïve Bayes – Example</vt:lpstr>
      <vt:lpstr>Naïve Bayes – Problems</vt:lpstr>
      <vt:lpstr>Naïve Bayes – Laplace Estimator</vt:lpstr>
      <vt:lpstr>Naïve Bayes – Laplace Estimator</vt:lpstr>
      <vt:lpstr>Naïve Bayes – Numeric Features</vt:lpstr>
      <vt:lpstr>Naïve Bayes – Python</vt:lpstr>
      <vt:lpstr>Summary</vt:lpstr>
      <vt:lpstr>Exercise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Vikas tomer</cp:lastModifiedBy>
  <cp:revision>17</cp:revision>
  <dcterms:created xsi:type="dcterms:W3CDTF">2024-07-25T16:37:23Z</dcterms:created>
  <dcterms:modified xsi:type="dcterms:W3CDTF">2026-03-11T10:59:05Z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2022-11-14T10:00:00Z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2024-07-25T10:00:00Z</vt:filetime>
  </property>
  <property fmtid="{D5CDD505-2E9C-101B-9397-08002B2CF9AE}" pid="5" name="Producer">
    <vt:lpwstr>Adobe PDF Library 20.6.74</vt:lpwstr>
  </property>
</Properties>
</file>